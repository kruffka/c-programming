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8"/>
  </p:notesMasterIdLst>
  <p:sldIdLst>
    <p:sldId id="256" r:id="rId2"/>
    <p:sldId id="319" r:id="rId3"/>
    <p:sldId id="322" r:id="rId4"/>
    <p:sldId id="320" r:id="rId5"/>
    <p:sldId id="325" r:id="rId6"/>
    <p:sldId id="327" r:id="rId7"/>
    <p:sldId id="328" r:id="rId8"/>
    <p:sldId id="329" r:id="rId9"/>
    <p:sldId id="330" r:id="rId10"/>
    <p:sldId id="331" r:id="rId11"/>
    <p:sldId id="332" r:id="rId12"/>
    <p:sldId id="333" r:id="rId13"/>
    <p:sldId id="334" r:id="rId14"/>
    <p:sldId id="335" r:id="rId15"/>
    <p:sldId id="336" r:id="rId16"/>
    <p:sldId id="337" r:id="rId17"/>
    <p:sldId id="376" r:id="rId18"/>
    <p:sldId id="341" r:id="rId19"/>
    <p:sldId id="377" r:id="rId20"/>
    <p:sldId id="338" r:id="rId21"/>
    <p:sldId id="378" r:id="rId22"/>
    <p:sldId id="379" r:id="rId23"/>
    <p:sldId id="380" r:id="rId24"/>
    <p:sldId id="381" r:id="rId25"/>
    <p:sldId id="348" r:id="rId26"/>
    <p:sldId id="349" r:id="rId27"/>
    <p:sldId id="350" r:id="rId28"/>
    <p:sldId id="351" r:id="rId29"/>
    <p:sldId id="352" r:id="rId30"/>
    <p:sldId id="353" r:id="rId31"/>
    <p:sldId id="355" r:id="rId32"/>
    <p:sldId id="356" r:id="rId33"/>
    <p:sldId id="357" r:id="rId34"/>
    <p:sldId id="361" r:id="rId35"/>
    <p:sldId id="362" r:id="rId36"/>
    <p:sldId id="363" r:id="rId37"/>
    <p:sldId id="358" r:id="rId38"/>
    <p:sldId id="359" r:id="rId39"/>
    <p:sldId id="360" r:id="rId40"/>
    <p:sldId id="364" r:id="rId41"/>
    <p:sldId id="366" r:id="rId42"/>
    <p:sldId id="382" r:id="rId43"/>
    <p:sldId id="383" r:id="rId44"/>
    <p:sldId id="384" r:id="rId45"/>
    <p:sldId id="385" r:id="rId46"/>
    <p:sldId id="290" r:id="rId4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drey Veyler" initials="AV" lastIdx="1" clrIdx="0">
    <p:extLst>
      <p:ext uri="{19B8F6BF-5375-455C-9EA6-DF929625EA0E}">
        <p15:presenceInfo xmlns:p15="http://schemas.microsoft.com/office/powerpoint/2012/main" userId="3d9934d1e83c21f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Стиль из темы 1 - акцент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6D9F66E-5EB9-4882-86FB-DCBF35E3C3E4}" styleName="Средний стиль 4 — акцент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7AC3CCA-C797-4891-BE02-D94E43425B78}" styleName="Средний стиль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Средний стиль 2 — акцент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3" autoAdjust="0"/>
    <p:restoredTop sz="94630" autoAdjust="0"/>
  </p:normalViewPr>
  <p:slideViewPr>
    <p:cSldViewPr snapToGrid="0">
      <p:cViewPr varScale="1">
        <p:scale>
          <a:sx n="109" d="100"/>
          <a:sy n="109" d="100"/>
        </p:scale>
        <p:origin x="126" y="107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EF5437-F444-4613-A039-4AD69D91C86A}" type="datetimeFigureOut">
              <a:rPr lang="ru-RU" smtClean="0"/>
              <a:t>28.02.2026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7EAB29-8E86-49C7-96F5-7C9D72076108}" type="slidenum">
              <a:rPr lang="ru-RU" smtClean="0"/>
              <a:t>‹#›</a:t>
            </a:fld>
            <a:endParaRPr lang="ru-RU"/>
          </a:p>
        </p:txBody>
      </p:sp>
    </p:spTree>
    <p:extLst>
      <p:ext uri="{BB962C8B-B14F-4D97-AF65-F5344CB8AC3E}">
        <p14:creationId xmlns:p14="http://schemas.microsoft.com/office/powerpoint/2010/main" val="3165886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a:t>
            </a:fld>
            <a:endParaRPr lang="ru-RU"/>
          </a:p>
        </p:txBody>
      </p:sp>
    </p:spTree>
    <p:extLst>
      <p:ext uri="{BB962C8B-B14F-4D97-AF65-F5344CB8AC3E}">
        <p14:creationId xmlns:p14="http://schemas.microsoft.com/office/powerpoint/2010/main" val="1829856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2</a:t>
            </a:fld>
            <a:endParaRPr lang="ru-RU"/>
          </a:p>
        </p:txBody>
      </p:sp>
    </p:spTree>
    <p:extLst>
      <p:ext uri="{BB962C8B-B14F-4D97-AF65-F5344CB8AC3E}">
        <p14:creationId xmlns:p14="http://schemas.microsoft.com/office/powerpoint/2010/main" val="3310145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3</a:t>
            </a:fld>
            <a:endParaRPr lang="ru-RU"/>
          </a:p>
        </p:txBody>
      </p:sp>
    </p:spTree>
    <p:extLst>
      <p:ext uri="{BB962C8B-B14F-4D97-AF65-F5344CB8AC3E}">
        <p14:creationId xmlns:p14="http://schemas.microsoft.com/office/powerpoint/2010/main" val="2461239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4</a:t>
            </a:fld>
            <a:endParaRPr lang="ru-RU"/>
          </a:p>
        </p:txBody>
      </p:sp>
    </p:spTree>
    <p:extLst>
      <p:ext uri="{BB962C8B-B14F-4D97-AF65-F5344CB8AC3E}">
        <p14:creationId xmlns:p14="http://schemas.microsoft.com/office/powerpoint/2010/main" val="3613742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5</a:t>
            </a:fld>
            <a:endParaRPr lang="ru-RU"/>
          </a:p>
        </p:txBody>
      </p:sp>
    </p:spTree>
    <p:extLst>
      <p:ext uri="{BB962C8B-B14F-4D97-AF65-F5344CB8AC3E}">
        <p14:creationId xmlns:p14="http://schemas.microsoft.com/office/powerpoint/2010/main" val="10948342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6</a:t>
            </a:fld>
            <a:endParaRPr lang="ru-RU"/>
          </a:p>
        </p:txBody>
      </p:sp>
    </p:spTree>
    <p:extLst>
      <p:ext uri="{BB962C8B-B14F-4D97-AF65-F5344CB8AC3E}">
        <p14:creationId xmlns:p14="http://schemas.microsoft.com/office/powerpoint/2010/main" val="1503754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7</a:t>
            </a:fld>
            <a:endParaRPr lang="ru-RU"/>
          </a:p>
        </p:txBody>
      </p:sp>
    </p:spTree>
    <p:extLst>
      <p:ext uri="{BB962C8B-B14F-4D97-AF65-F5344CB8AC3E}">
        <p14:creationId xmlns:p14="http://schemas.microsoft.com/office/powerpoint/2010/main" val="1494972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8</a:t>
            </a:fld>
            <a:endParaRPr lang="ru-RU"/>
          </a:p>
        </p:txBody>
      </p:sp>
    </p:spTree>
    <p:extLst>
      <p:ext uri="{BB962C8B-B14F-4D97-AF65-F5344CB8AC3E}">
        <p14:creationId xmlns:p14="http://schemas.microsoft.com/office/powerpoint/2010/main" val="1264880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9</a:t>
            </a:fld>
            <a:endParaRPr lang="ru-RU"/>
          </a:p>
        </p:txBody>
      </p:sp>
    </p:spTree>
    <p:extLst>
      <p:ext uri="{BB962C8B-B14F-4D97-AF65-F5344CB8AC3E}">
        <p14:creationId xmlns:p14="http://schemas.microsoft.com/office/powerpoint/2010/main" val="16856280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10</a:t>
            </a:fld>
            <a:endParaRPr lang="ru-RU"/>
          </a:p>
        </p:txBody>
      </p:sp>
    </p:spTree>
    <p:extLst>
      <p:ext uri="{BB962C8B-B14F-4D97-AF65-F5344CB8AC3E}">
        <p14:creationId xmlns:p14="http://schemas.microsoft.com/office/powerpoint/2010/main" val="19231152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11</a:t>
            </a:fld>
            <a:endParaRPr lang="ru-RU"/>
          </a:p>
        </p:txBody>
      </p:sp>
    </p:spTree>
    <p:extLst>
      <p:ext uri="{BB962C8B-B14F-4D97-AF65-F5344CB8AC3E}">
        <p14:creationId xmlns:p14="http://schemas.microsoft.com/office/powerpoint/2010/main" val="3321764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12</a:t>
            </a:fld>
            <a:endParaRPr lang="ru-RU"/>
          </a:p>
        </p:txBody>
      </p:sp>
    </p:spTree>
    <p:extLst>
      <p:ext uri="{BB962C8B-B14F-4D97-AF65-F5344CB8AC3E}">
        <p14:creationId xmlns:p14="http://schemas.microsoft.com/office/powerpoint/2010/main" val="3171475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13</a:t>
            </a:fld>
            <a:endParaRPr lang="ru-RU"/>
          </a:p>
        </p:txBody>
      </p:sp>
    </p:spTree>
    <p:extLst>
      <p:ext uri="{BB962C8B-B14F-4D97-AF65-F5344CB8AC3E}">
        <p14:creationId xmlns:p14="http://schemas.microsoft.com/office/powerpoint/2010/main" val="9567962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14</a:t>
            </a:fld>
            <a:endParaRPr lang="ru-RU"/>
          </a:p>
        </p:txBody>
      </p:sp>
    </p:spTree>
    <p:extLst>
      <p:ext uri="{BB962C8B-B14F-4D97-AF65-F5344CB8AC3E}">
        <p14:creationId xmlns:p14="http://schemas.microsoft.com/office/powerpoint/2010/main" val="8302511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15</a:t>
            </a:fld>
            <a:endParaRPr lang="ru-RU"/>
          </a:p>
        </p:txBody>
      </p:sp>
    </p:spTree>
    <p:extLst>
      <p:ext uri="{BB962C8B-B14F-4D97-AF65-F5344CB8AC3E}">
        <p14:creationId xmlns:p14="http://schemas.microsoft.com/office/powerpoint/2010/main" val="7806276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16</a:t>
            </a:fld>
            <a:endParaRPr lang="ru-RU"/>
          </a:p>
        </p:txBody>
      </p:sp>
    </p:spTree>
    <p:extLst>
      <p:ext uri="{BB962C8B-B14F-4D97-AF65-F5344CB8AC3E}">
        <p14:creationId xmlns:p14="http://schemas.microsoft.com/office/powerpoint/2010/main" val="37593886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17</a:t>
            </a:fld>
            <a:endParaRPr lang="ru-RU"/>
          </a:p>
        </p:txBody>
      </p:sp>
    </p:spTree>
    <p:extLst>
      <p:ext uri="{BB962C8B-B14F-4D97-AF65-F5344CB8AC3E}">
        <p14:creationId xmlns:p14="http://schemas.microsoft.com/office/powerpoint/2010/main" val="13675709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18</a:t>
            </a:fld>
            <a:endParaRPr lang="ru-RU"/>
          </a:p>
        </p:txBody>
      </p:sp>
    </p:spTree>
    <p:extLst>
      <p:ext uri="{BB962C8B-B14F-4D97-AF65-F5344CB8AC3E}">
        <p14:creationId xmlns:p14="http://schemas.microsoft.com/office/powerpoint/2010/main" val="36942381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19</a:t>
            </a:fld>
            <a:endParaRPr lang="ru-RU"/>
          </a:p>
        </p:txBody>
      </p:sp>
    </p:spTree>
    <p:extLst>
      <p:ext uri="{BB962C8B-B14F-4D97-AF65-F5344CB8AC3E}">
        <p14:creationId xmlns:p14="http://schemas.microsoft.com/office/powerpoint/2010/main" val="31206202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20</a:t>
            </a:fld>
            <a:endParaRPr lang="ru-RU"/>
          </a:p>
        </p:txBody>
      </p:sp>
    </p:spTree>
    <p:extLst>
      <p:ext uri="{BB962C8B-B14F-4D97-AF65-F5344CB8AC3E}">
        <p14:creationId xmlns:p14="http://schemas.microsoft.com/office/powerpoint/2010/main" val="1206545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21</a:t>
            </a:fld>
            <a:endParaRPr lang="ru-RU"/>
          </a:p>
        </p:txBody>
      </p:sp>
    </p:spTree>
    <p:extLst>
      <p:ext uri="{BB962C8B-B14F-4D97-AF65-F5344CB8AC3E}">
        <p14:creationId xmlns:p14="http://schemas.microsoft.com/office/powerpoint/2010/main" val="19992785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22</a:t>
            </a:fld>
            <a:endParaRPr lang="ru-RU"/>
          </a:p>
        </p:txBody>
      </p:sp>
    </p:spTree>
    <p:extLst>
      <p:ext uri="{BB962C8B-B14F-4D97-AF65-F5344CB8AC3E}">
        <p14:creationId xmlns:p14="http://schemas.microsoft.com/office/powerpoint/2010/main" val="14159315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23</a:t>
            </a:fld>
            <a:endParaRPr lang="ru-RU"/>
          </a:p>
        </p:txBody>
      </p:sp>
    </p:spTree>
    <p:extLst>
      <p:ext uri="{BB962C8B-B14F-4D97-AF65-F5344CB8AC3E}">
        <p14:creationId xmlns:p14="http://schemas.microsoft.com/office/powerpoint/2010/main" val="38439508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24</a:t>
            </a:fld>
            <a:endParaRPr lang="ru-RU"/>
          </a:p>
        </p:txBody>
      </p:sp>
    </p:spTree>
    <p:extLst>
      <p:ext uri="{BB962C8B-B14F-4D97-AF65-F5344CB8AC3E}">
        <p14:creationId xmlns:p14="http://schemas.microsoft.com/office/powerpoint/2010/main" val="24069437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25</a:t>
            </a:fld>
            <a:endParaRPr lang="ru-RU"/>
          </a:p>
        </p:txBody>
      </p:sp>
    </p:spTree>
    <p:extLst>
      <p:ext uri="{BB962C8B-B14F-4D97-AF65-F5344CB8AC3E}">
        <p14:creationId xmlns:p14="http://schemas.microsoft.com/office/powerpoint/2010/main" val="18646618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26</a:t>
            </a:fld>
            <a:endParaRPr lang="ru-RU"/>
          </a:p>
        </p:txBody>
      </p:sp>
    </p:spTree>
    <p:extLst>
      <p:ext uri="{BB962C8B-B14F-4D97-AF65-F5344CB8AC3E}">
        <p14:creationId xmlns:p14="http://schemas.microsoft.com/office/powerpoint/2010/main" val="21230662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27</a:t>
            </a:fld>
            <a:endParaRPr lang="ru-RU"/>
          </a:p>
        </p:txBody>
      </p:sp>
    </p:spTree>
    <p:extLst>
      <p:ext uri="{BB962C8B-B14F-4D97-AF65-F5344CB8AC3E}">
        <p14:creationId xmlns:p14="http://schemas.microsoft.com/office/powerpoint/2010/main" val="13936806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28</a:t>
            </a:fld>
            <a:endParaRPr lang="ru-RU"/>
          </a:p>
        </p:txBody>
      </p:sp>
    </p:spTree>
    <p:extLst>
      <p:ext uri="{BB962C8B-B14F-4D97-AF65-F5344CB8AC3E}">
        <p14:creationId xmlns:p14="http://schemas.microsoft.com/office/powerpoint/2010/main" val="3714791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29</a:t>
            </a:fld>
            <a:endParaRPr lang="ru-RU"/>
          </a:p>
        </p:txBody>
      </p:sp>
    </p:spTree>
    <p:extLst>
      <p:ext uri="{BB962C8B-B14F-4D97-AF65-F5344CB8AC3E}">
        <p14:creationId xmlns:p14="http://schemas.microsoft.com/office/powerpoint/2010/main" val="42507566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30</a:t>
            </a:fld>
            <a:endParaRPr lang="ru-RU"/>
          </a:p>
        </p:txBody>
      </p:sp>
    </p:spTree>
    <p:extLst>
      <p:ext uri="{BB962C8B-B14F-4D97-AF65-F5344CB8AC3E}">
        <p14:creationId xmlns:p14="http://schemas.microsoft.com/office/powerpoint/2010/main" val="4466031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31</a:t>
            </a:fld>
            <a:endParaRPr lang="ru-RU"/>
          </a:p>
        </p:txBody>
      </p:sp>
    </p:spTree>
    <p:extLst>
      <p:ext uri="{BB962C8B-B14F-4D97-AF65-F5344CB8AC3E}">
        <p14:creationId xmlns:p14="http://schemas.microsoft.com/office/powerpoint/2010/main" val="6567379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32</a:t>
            </a:fld>
            <a:endParaRPr lang="ru-RU"/>
          </a:p>
        </p:txBody>
      </p:sp>
    </p:spTree>
    <p:extLst>
      <p:ext uri="{BB962C8B-B14F-4D97-AF65-F5344CB8AC3E}">
        <p14:creationId xmlns:p14="http://schemas.microsoft.com/office/powerpoint/2010/main" val="13659228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33</a:t>
            </a:fld>
            <a:endParaRPr lang="ru-RU"/>
          </a:p>
        </p:txBody>
      </p:sp>
    </p:spTree>
    <p:extLst>
      <p:ext uri="{BB962C8B-B14F-4D97-AF65-F5344CB8AC3E}">
        <p14:creationId xmlns:p14="http://schemas.microsoft.com/office/powerpoint/2010/main" val="8055330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34</a:t>
            </a:fld>
            <a:endParaRPr lang="ru-RU"/>
          </a:p>
        </p:txBody>
      </p:sp>
    </p:spTree>
    <p:extLst>
      <p:ext uri="{BB962C8B-B14F-4D97-AF65-F5344CB8AC3E}">
        <p14:creationId xmlns:p14="http://schemas.microsoft.com/office/powerpoint/2010/main" val="19337338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35</a:t>
            </a:fld>
            <a:endParaRPr lang="ru-RU"/>
          </a:p>
        </p:txBody>
      </p:sp>
    </p:spTree>
    <p:extLst>
      <p:ext uri="{BB962C8B-B14F-4D97-AF65-F5344CB8AC3E}">
        <p14:creationId xmlns:p14="http://schemas.microsoft.com/office/powerpoint/2010/main" val="19060577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36</a:t>
            </a:fld>
            <a:endParaRPr lang="ru-RU"/>
          </a:p>
        </p:txBody>
      </p:sp>
    </p:spTree>
    <p:extLst>
      <p:ext uri="{BB962C8B-B14F-4D97-AF65-F5344CB8AC3E}">
        <p14:creationId xmlns:p14="http://schemas.microsoft.com/office/powerpoint/2010/main" val="3448702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37</a:t>
            </a:fld>
            <a:endParaRPr lang="ru-RU"/>
          </a:p>
        </p:txBody>
      </p:sp>
    </p:spTree>
    <p:extLst>
      <p:ext uri="{BB962C8B-B14F-4D97-AF65-F5344CB8AC3E}">
        <p14:creationId xmlns:p14="http://schemas.microsoft.com/office/powerpoint/2010/main" val="39033570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38</a:t>
            </a:fld>
            <a:endParaRPr lang="ru-RU"/>
          </a:p>
        </p:txBody>
      </p:sp>
    </p:spTree>
    <p:extLst>
      <p:ext uri="{BB962C8B-B14F-4D97-AF65-F5344CB8AC3E}">
        <p14:creationId xmlns:p14="http://schemas.microsoft.com/office/powerpoint/2010/main" val="39789244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39</a:t>
            </a:fld>
            <a:endParaRPr lang="ru-RU"/>
          </a:p>
        </p:txBody>
      </p:sp>
    </p:spTree>
    <p:extLst>
      <p:ext uri="{BB962C8B-B14F-4D97-AF65-F5344CB8AC3E}">
        <p14:creationId xmlns:p14="http://schemas.microsoft.com/office/powerpoint/2010/main" val="3759972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40</a:t>
            </a:fld>
            <a:endParaRPr lang="ru-RU"/>
          </a:p>
        </p:txBody>
      </p:sp>
    </p:spTree>
    <p:extLst>
      <p:ext uri="{BB962C8B-B14F-4D97-AF65-F5344CB8AC3E}">
        <p14:creationId xmlns:p14="http://schemas.microsoft.com/office/powerpoint/2010/main" val="30907389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41</a:t>
            </a:fld>
            <a:endParaRPr lang="ru-RU"/>
          </a:p>
        </p:txBody>
      </p:sp>
    </p:spTree>
    <p:extLst>
      <p:ext uri="{BB962C8B-B14F-4D97-AF65-F5344CB8AC3E}">
        <p14:creationId xmlns:p14="http://schemas.microsoft.com/office/powerpoint/2010/main" val="187352666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42</a:t>
            </a:fld>
            <a:endParaRPr lang="ru-RU"/>
          </a:p>
        </p:txBody>
      </p:sp>
    </p:spTree>
    <p:extLst>
      <p:ext uri="{BB962C8B-B14F-4D97-AF65-F5344CB8AC3E}">
        <p14:creationId xmlns:p14="http://schemas.microsoft.com/office/powerpoint/2010/main" val="13061559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43</a:t>
            </a:fld>
            <a:endParaRPr lang="ru-RU"/>
          </a:p>
        </p:txBody>
      </p:sp>
    </p:spTree>
    <p:extLst>
      <p:ext uri="{BB962C8B-B14F-4D97-AF65-F5344CB8AC3E}">
        <p14:creationId xmlns:p14="http://schemas.microsoft.com/office/powerpoint/2010/main" val="29768716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44</a:t>
            </a:fld>
            <a:endParaRPr lang="ru-RU"/>
          </a:p>
        </p:txBody>
      </p:sp>
    </p:spTree>
    <p:extLst>
      <p:ext uri="{BB962C8B-B14F-4D97-AF65-F5344CB8AC3E}">
        <p14:creationId xmlns:p14="http://schemas.microsoft.com/office/powerpoint/2010/main" val="205406135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45</a:t>
            </a:fld>
            <a:endParaRPr lang="ru-RU"/>
          </a:p>
        </p:txBody>
      </p:sp>
    </p:spTree>
    <p:extLst>
      <p:ext uri="{BB962C8B-B14F-4D97-AF65-F5344CB8AC3E}">
        <p14:creationId xmlns:p14="http://schemas.microsoft.com/office/powerpoint/2010/main" val="188818800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46</a:t>
            </a:fld>
            <a:endParaRPr lang="ru-RU"/>
          </a:p>
        </p:txBody>
      </p:sp>
    </p:spTree>
    <p:extLst>
      <p:ext uri="{BB962C8B-B14F-4D97-AF65-F5344CB8AC3E}">
        <p14:creationId xmlns:p14="http://schemas.microsoft.com/office/powerpoint/2010/main" val="12185604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58BF7D01-7D49-4F37-AA30-F04C65571A4A}" type="datetimeFigureOut">
              <a:rPr lang="ru-RU" smtClean="0"/>
              <a:t>28.02.2026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3804783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BF7D01-7D49-4F37-AA30-F04C65571A4A}" type="datetimeFigureOut">
              <a:rPr lang="ru-RU" smtClean="0"/>
              <a:t>28.02.2026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496502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58BF7D01-7D49-4F37-AA30-F04C65571A4A}" type="datetimeFigureOut">
              <a:rPr lang="ru-RU" smtClean="0"/>
              <a:t>28.02.2026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1181211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58BF7D01-7D49-4F37-AA30-F04C65571A4A}" type="datetimeFigureOut">
              <a:rPr lang="ru-RU" smtClean="0"/>
              <a:t>28.02.2026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1799404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58BF7D01-7D49-4F37-AA30-F04C65571A4A}" type="datetimeFigureOut">
              <a:rPr lang="ru-RU" smtClean="0"/>
              <a:t>28.02.2026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500888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58BF7D01-7D49-4F37-AA30-F04C65571A4A}" type="datetimeFigureOut">
              <a:rPr lang="ru-RU" smtClean="0"/>
              <a:t>28.02.2026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1482053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BF7D01-7D49-4F37-AA30-F04C65571A4A}" type="datetimeFigureOut">
              <a:rPr lang="ru-RU" smtClean="0"/>
              <a:t>28.02.2026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2989032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58BF7D01-7D49-4F37-AA30-F04C65571A4A}" type="datetimeFigureOut">
              <a:rPr lang="ru-RU" smtClean="0"/>
              <a:t>28.02.2026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340629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58BF7D01-7D49-4F37-AA30-F04C65571A4A}" type="datetimeFigureOut">
              <a:rPr lang="ru-RU" smtClean="0"/>
              <a:t>28.02.2026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1120088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BF7D01-7D49-4F37-AA30-F04C65571A4A}" type="datetimeFigureOut">
              <a:rPr lang="ru-RU" smtClean="0"/>
              <a:t>28.02.2026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2836095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BF7D01-7D49-4F37-AA30-F04C65571A4A}" type="datetimeFigureOut">
              <a:rPr lang="ru-RU" smtClean="0"/>
              <a:t>28.02.2026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2000999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BF7D01-7D49-4F37-AA30-F04C65571A4A}" type="datetimeFigureOut">
              <a:rPr lang="ru-RU" smtClean="0"/>
              <a:t>28.02.2026</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6C3A23-AFCE-4B49-9CB1-3B0B6D1FEC45}" type="slidenum">
              <a:rPr lang="ru-RU" smtClean="0"/>
              <a:t>‹#›</a:t>
            </a:fld>
            <a:endParaRPr lang="ru-RU"/>
          </a:p>
        </p:txBody>
      </p:sp>
    </p:spTree>
    <p:extLst>
      <p:ext uri="{BB962C8B-B14F-4D97-AF65-F5344CB8AC3E}">
        <p14:creationId xmlns:p14="http://schemas.microsoft.com/office/powerpoint/2010/main" val="225179066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0.jpe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ru.wikipedia.org/wiki/%D0%90%D0%BB%D0%B3%D0%BE%D1%80%D0%B8%D1%82%D0%BC_%D1%81%D0%BE%D1%80%D1%82%D0%B8%D1%80%D0%BE%D0%B2%D0%BA%D0%B8"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2.gif"/></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8.gif"/><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521262"/>
            <a:ext cx="9144000" cy="2387600"/>
          </a:xfrm>
        </p:spPr>
        <p:txBody>
          <a:bodyPr/>
          <a:lstStyle/>
          <a:p>
            <a:r>
              <a:rPr lang="en-US" dirty="0"/>
              <a:t>C Programming</a:t>
            </a:r>
            <a:br>
              <a:rPr lang="en-US" dirty="0"/>
            </a:br>
            <a:r>
              <a:rPr lang="en-US" sz="3200" dirty="0"/>
              <a:t>14_linked_lists</a:t>
            </a:r>
            <a:endParaRPr lang="ru-RU" dirty="0"/>
          </a:p>
        </p:txBody>
      </p:sp>
    </p:spTree>
    <p:extLst>
      <p:ext uri="{BB962C8B-B14F-4D97-AF65-F5344CB8AC3E}">
        <p14:creationId xmlns:p14="http://schemas.microsoft.com/office/powerpoint/2010/main" val="2678762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Заголовок 2">
            <a:extLst>
              <a:ext uri="{FF2B5EF4-FFF2-40B4-BE49-F238E27FC236}">
                <a16:creationId xmlns:a16="http://schemas.microsoft.com/office/drawing/2014/main" id="{95D51B6C-91AE-4569-B8E6-A8FC50FEB31D}"/>
              </a:ext>
            </a:extLst>
          </p:cNvPr>
          <p:cNvSpPr>
            <a:spLocks noGrp="1"/>
          </p:cNvSpPr>
          <p:nvPr>
            <p:ph type="ctrTitle"/>
          </p:nvPr>
        </p:nvSpPr>
        <p:spPr>
          <a:xfrm>
            <a:off x="1133141" y="70140"/>
            <a:ext cx="9925717" cy="927688"/>
          </a:xfrm>
        </p:spPr>
        <p:txBody>
          <a:bodyPr>
            <a:normAutofit/>
          </a:bodyPr>
          <a:lstStyle/>
          <a:p>
            <a:r>
              <a:rPr lang="ru-RU" dirty="0">
                <a:latin typeface="Times New Roman" panose="02020603050405020304" pitchFamily="18" charset="0"/>
                <a:cs typeface="Times New Roman" panose="02020603050405020304" pitchFamily="18" charset="0"/>
              </a:rPr>
              <a:t>Алгоритмы</a:t>
            </a:r>
          </a:p>
        </p:txBody>
      </p:sp>
      <p:sp>
        <p:nvSpPr>
          <p:cNvPr id="10" name="TextBox 9">
            <a:extLst>
              <a:ext uri="{FF2B5EF4-FFF2-40B4-BE49-F238E27FC236}">
                <a16:creationId xmlns:a16="http://schemas.microsoft.com/office/drawing/2014/main" id="{FFDDC4BE-C3C1-49AC-8D7B-63FFCE0907CE}"/>
              </a:ext>
            </a:extLst>
          </p:cNvPr>
          <p:cNvSpPr txBox="1"/>
          <p:nvPr/>
        </p:nvSpPr>
        <p:spPr>
          <a:xfrm>
            <a:off x="729761" y="1225933"/>
            <a:ext cx="10955216" cy="5016758"/>
          </a:xfrm>
          <a:prstGeom prst="rect">
            <a:avLst/>
          </a:prstGeom>
          <a:noFill/>
        </p:spPr>
        <p:txBody>
          <a:bodyPr wrap="square">
            <a:spAutoFit/>
          </a:bodyPr>
          <a:lstStyle/>
          <a:p>
            <a:r>
              <a:rPr lang="ru-RU" sz="2000" b="1" dirty="0">
                <a:latin typeface="Times New Roman" panose="02020603050405020304" pitchFamily="18" charset="0"/>
                <a:cs typeface="Times New Roman" panose="02020603050405020304" pitchFamily="18" charset="0"/>
              </a:rPr>
              <a:t>Алгоритм</a:t>
            </a:r>
            <a:r>
              <a:rPr lang="ru-RU" sz="2000" dirty="0">
                <a:latin typeface="Times New Roman" panose="02020603050405020304" pitchFamily="18" charset="0"/>
                <a:cs typeface="Times New Roman" panose="02020603050405020304" pitchFamily="18" charset="0"/>
              </a:rPr>
              <a:t> — есть последовательность действий (или инструкций) для выполнения задачи и получения некоторого результата. Зная алгоритм его легко можно перенести в программу написанную на </a:t>
            </a:r>
            <a:r>
              <a:rPr lang="ru-RU" sz="2000" b="1" dirty="0">
                <a:latin typeface="Times New Roman" panose="02020603050405020304" pitchFamily="18" charset="0"/>
                <a:cs typeface="Times New Roman" panose="02020603050405020304" pitchFamily="18" charset="0"/>
              </a:rPr>
              <a:t>любом</a:t>
            </a:r>
            <a:r>
              <a:rPr lang="ru-RU" sz="2000" dirty="0">
                <a:latin typeface="Times New Roman" panose="02020603050405020304" pitchFamily="18" charset="0"/>
                <a:cs typeface="Times New Roman" panose="02020603050405020304" pitchFamily="18" charset="0"/>
              </a:rPr>
              <a:t> языке, т.к. алгоритм от языка к языку остается прежним </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Алгоритмы повторяемы и выдают предсказуемые результаты каждый раз, когда они выполняются.</a:t>
            </a:r>
            <a:br>
              <a:rPr lang="en-US" sz="2000" dirty="0">
                <a:latin typeface="Times New Roman" panose="02020603050405020304" pitchFamily="18" charset="0"/>
                <a:cs typeface="Times New Roman" panose="02020603050405020304" pitchFamily="18" charset="0"/>
              </a:rPr>
            </a:br>
            <a:endParaRPr lang="ru-RU"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Алгоритмы можно стандартизировать и совместно использовать скажем в разных устройствах. Пример: стандарт 4G на телефоне - по сути это программа, состоящая из набора алгоритмов, благодаря которым в какой стране вы бы не оказались вам не придется менять телефон, чтобы пользоваться мобильной связью</a:t>
            </a:r>
            <a:br>
              <a:rPr lang="en-US" sz="2000" dirty="0">
                <a:latin typeface="Times New Roman" panose="02020603050405020304" pitchFamily="18" charset="0"/>
                <a:cs typeface="Times New Roman" panose="02020603050405020304" pitchFamily="18" charset="0"/>
              </a:rPr>
            </a:br>
            <a:endParaRPr lang="ru-RU"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Алгоритм не зависит от используемого языка. Он сообщает программисту логику, используемую для решения проблемы. Таким образом, алгоритм - это логическая пошаговая процедура, которая служит программистам своего рода планом.</a:t>
            </a:r>
          </a:p>
          <a:p>
            <a:endParaRPr lang="ru-RU" sz="2000" dirty="0">
              <a:latin typeface="Times New Roman" panose="02020603050405020304" pitchFamily="18" charset="0"/>
              <a:cs typeface="Times New Roman" panose="02020603050405020304" pitchFamily="18" charset="0"/>
            </a:endParaRPr>
          </a:p>
        </p:txBody>
      </p:sp>
      <p:pic>
        <p:nvPicPr>
          <p:cNvPr id="2054" name="Picture 6" descr="Algoritmo - Iconos gratis de computadora">
            <a:extLst>
              <a:ext uri="{FF2B5EF4-FFF2-40B4-BE49-F238E27FC236}">
                <a16:creationId xmlns:a16="http://schemas.microsoft.com/office/drawing/2014/main" id="{3E3CA476-037C-4B2D-B784-CC71F29F177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67374" y="5352655"/>
            <a:ext cx="1435205" cy="14352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5680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2">
            <a:extLst>
              <a:ext uri="{FF2B5EF4-FFF2-40B4-BE49-F238E27FC236}">
                <a16:creationId xmlns:a16="http://schemas.microsoft.com/office/drawing/2014/main" id="{CEF7D3C9-F027-4DFF-AC25-52606D3BE3A7}"/>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Типы</a:t>
            </a:r>
            <a:r>
              <a:rPr lang="ru-RU" dirty="0"/>
              <a:t> алгоритмов</a:t>
            </a:r>
          </a:p>
        </p:txBody>
      </p:sp>
      <p:sp>
        <p:nvSpPr>
          <p:cNvPr id="6" name="TextBox 5">
            <a:extLst>
              <a:ext uri="{FF2B5EF4-FFF2-40B4-BE49-F238E27FC236}">
                <a16:creationId xmlns:a16="http://schemas.microsoft.com/office/drawing/2014/main" id="{1F202808-04F9-4746-AC3F-021AB2827F52}"/>
              </a:ext>
            </a:extLst>
          </p:cNvPr>
          <p:cNvSpPr txBox="1"/>
          <p:nvPr/>
        </p:nvSpPr>
        <p:spPr>
          <a:xfrm>
            <a:off x="719957" y="1679453"/>
            <a:ext cx="10752083" cy="4154984"/>
          </a:xfrm>
          <a:prstGeom prst="rect">
            <a:avLst/>
          </a:prstGeom>
          <a:noFill/>
        </p:spPr>
        <p:txBody>
          <a:bodyPr wrap="square">
            <a:spAutoFit/>
          </a:bodyPr>
          <a:lstStyle/>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Алгоритмы сортировки - алгоритмы для упорядочивания каких-либо данных в определенном порядке. В интернет-магазине включаем фильтр по количеству отзывов. Пузырьковая сортировка, сортировка вставками, быстрая сортировка, сортировка подсчетом и много-много других..</a:t>
            </a:r>
            <a:br>
              <a:rPr lang="en-US" sz="2400" dirty="0">
                <a:latin typeface="Times New Roman" panose="02020603050405020304" pitchFamily="18" charset="0"/>
                <a:cs typeface="Times New Roman" panose="02020603050405020304" pitchFamily="18" charset="0"/>
              </a:rPr>
            </a:br>
            <a:endParaRPr lang="ru-RU"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Алгоритмы поиска - алгоритмы поиска значения в наборе данных. Линейный поиск, бинарный и т.д.</a:t>
            </a:r>
            <a:br>
              <a:rPr lang="en-US" sz="2400" dirty="0">
                <a:latin typeface="Times New Roman" panose="02020603050405020304" pitchFamily="18" charset="0"/>
                <a:cs typeface="Times New Roman" panose="02020603050405020304" pitchFamily="18" charset="0"/>
              </a:rPr>
            </a:br>
            <a:endParaRPr lang="ru-RU"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Алгоритмы с графами - поиск кратчайших путей. Алгоритм </a:t>
            </a:r>
            <a:r>
              <a:rPr lang="ru-RU" sz="2400" dirty="0" err="1">
                <a:latin typeface="Times New Roman" panose="02020603050405020304" pitchFamily="18" charset="0"/>
                <a:cs typeface="Times New Roman" panose="02020603050405020304" pitchFamily="18" charset="0"/>
              </a:rPr>
              <a:t>Дейкстра</a:t>
            </a:r>
            <a:r>
              <a:rPr lang="ru-RU" sz="2400" dirty="0">
                <a:latin typeface="Times New Roman" panose="02020603050405020304" pitchFamily="18" charset="0"/>
                <a:cs typeface="Times New Roman" panose="02020603050405020304" pitchFamily="18" charset="0"/>
              </a:rPr>
              <a:t>, BFS, DFS и т.д. Пример в 2gis ищем как пройти от какого-нибудь отеля до ТЦ. Социальные сети работают на алгоритмах с графами</a:t>
            </a:r>
          </a:p>
        </p:txBody>
      </p:sp>
      <p:pic>
        <p:nvPicPr>
          <p:cNvPr id="1028" name="Picture 4" descr="Структура данных – Бесплатные иконки: коммуникации">
            <a:extLst>
              <a:ext uri="{FF2B5EF4-FFF2-40B4-BE49-F238E27FC236}">
                <a16:creationId xmlns:a16="http://schemas.microsoft.com/office/drawing/2014/main" id="{C0DB302C-B29E-4579-AF1F-E0FD0599770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03523" y="5339738"/>
            <a:ext cx="1397977" cy="139797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Структура данных – Бесплатные иконки: коммуникации">
            <a:extLst>
              <a:ext uri="{FF2B5EF4-FFF2-40B4-BE49-F238E27FC236}">
                <a16:creationId xmlns:a16="http://schemas.microsoft.com/office/drawing/2014/main" id="{FB9D7AD7-B1C6-4853-AC5E-5D1D6F4D5A3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672" y="5662246"/>
            <a:ext cx="1075469" cy="1075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1613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2">
            <a:extLst>
              <a:ext uri="{FF2B5EF4-FFF2-40B4-BE49-F238E27FC236}">
                <a16:creationId xmlns:a16="http://schemas.microsoft.com/office/drawing/2014/main" id="{CEF7D3C9-F027-4DFF-AC25-52606D3BE3A7}"/>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Зачем алгоритмы?</a:t>
            </a:r>
          </a:p>
        </p:txBody>
      </p:sp>
      <p:pic>
        <p:nvPicPr>
          <p:cNvPr id="18" name="Рисунок 17">
            <a:extLst>
              <a:ext uri="{FF2B5EF4-FFF2-40B4-BE49-F238E27FC236}">
                <a16:creationId xmlns:a16="http://schemas.microsoft.com/office/drawing/2014/main" id="{6CE901E9-D6DF-48BF-8146-91E99A52AAAF}"/>
              </a:ext>
            </a:extLst>
          </p:cNvPr>
          <p:cNvPicPr>
            <a:picLocks noChangeAspect="1"/>
          </p:cNvPicPr>
          <p:nvPr/>
        </p:nvPicPr>
        <p:blipFill>
          <a:blip r:embed="rId3"/>
          <a:stretch>
            <a:fillRect/>
          </a:stretch>
        </p:blipFill>
        <p:spPr>
          <a:xfrm>
            <a:off x="347341" y="1688125"/>
            <a:ext cx="11497318" cy="4053254"/>
          </a:xfrm>
          <a:prstGeom prst="rect">
            <a:avLst/>
          </a:prstGeom>
        </p:spPr>
      </p:pic>
    </p:spTree>
    <p:extLst>
      <p:ext uri="{BB962C8B-B14F-4D97-AF65-F5344CB8AC3E}">
        <p14:creationId xmlns:p14="http://schemas.microsoft.com/office/powerpoint/2010/main" val="770451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2">
            <a:extLst>
              <a:ext uri="{FF2B5EF4-FFF2-40B4-BE49-F238E27FC236}">
                <a16:creationId xmlns:a16="http://schemas.microsoft.com/office/drawing/2014/main" id="{CEF7D3C9-F027-4DFF-AC25-52606D3BE3A7}"/>
              </a:ext>
            </a:extLst>
          </p:cNvPr>
          <p:cNvSpPr txBox="1">
            <a:spLocks/>
          </p:cNvSpPr>
          <p:nvPr/>
        </p:nvSpPr>
        <p:spPr>
          <a:xfrm>
            <a:off x="1133140" y="5506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Сложность</a:t>
            </a:r>
            <a:r>
              <a:rPr lang="ru-RU" dirty="0"/>
              <a:t> алгоритмов</a:t>
            </a:r>
          </a:p>
        </p:txBody>
      </p:sp>
      <p:pic>
        <p:nvPicPr>
          <p:cNvPr id="7170" name="Picture 2">
            <a:extLst>
              <a:ext uri="{FF2B5EF4-FFF2-40B4-BE49-F238E27FC236}">
                <a16:creationId xmlns:a16="http://schemas.microsoft.com/office/drawing/2014/main" id="{FBF9C2C1-D326-4884-A7B4-0C88A21C4D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6856" y="4608572"/>
            <a:ext cx="4932567" cy="219436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A2B1986-CBE6-488E-841E-9C236FEC5990}"/>
              </a:ext>
            </a:extLst>
          </p:cNvPr>
          <p:cNvSpPr txBox="1"/>
          <p:nvPr/>
        </p:nvSpPr>
        <p:spPr>
          <a:xfrm>
            <a:off x="711286" y="1054880"/>
            <a:ext cx="10769424" cy="3785652"/>
          </a:xfrm>
          <a:prstGeom prst="rect">
            <a:avLst/>
          </a:prstGeom>
          <a:noFill/>
        </p:spPr>
        <p:txBody>
          <a:bodyPr wrap="square">
            <a:spAutoFit/>
          </a:bodyPr>
          <a:lstStyle/>
          <a:p>
            <a:r>
              <a:rPr lang="ru-RU" sz="2400" dirty="0">
                <a:latin typeface="Times New Roman" panose="02020603050405020304" pitchFamily="18" charset="0"/>
                <a:cs typeface="Times New Roman" panose="02020603050405020304" pitchFamily="18" charset="0"/>
              </a:rPr>
              <a:t>Сложность в алгоритмах относится к количеству ресурсов, необходимых для решения проблемы или выполнения задачи. К таким ресурсам относят время и память. (Time </a:t>
            </a:r>
            <a:r>
              <a:rPr lang="ru-RU" sz="2400" dirty="0" err="1">
                <a:latin typeface="Times New Roman" panose="02020603050405020304" pitchFamily="18" charset="0"/>
                <a:cs typeface="Times New Roman" panose="02020603050405020304" pitchFamily="18" charset="0"/>
              </a:rPr>
              <a:t>and</a:t>
            </a:r>
            <a:r>
              <a:rPr lang="ru-RU" sz="2400" dirty="0">
                <a:latin typeface="Times New Roman" panose="02020603050405020304" pitchFamily="18" charset="0"/>
                <a:cs typeface="Times New Roman" panose="02020603050405020304" pitchFamily="18" charset="0"/>
              </a:rPr>
              <a:t> Space </a:t>
            </a:r>
            <a:r>
              <a:rPr lang="ru-RU" sz="2400" dirty="0" err="1">
                <a:latin typeface="Times New Roman" panose="02020603050405020304" pitchFamily="18" charset="0"/>
                <a:cs typeface="Times New Roman" panose="02020603050405020304" pitchFamily="18" charset="0"/>
              </a:rPr>
              <a:t>complexity</a:t>
            </a:r>
            <a:r>
              <a:rPr lang="ru-RU" sz="24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ru-RU"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Память (</a:t>
            </a:r>
            <a:r>
              <a:rPr lang="en-US" sz="2400" dirty="0">
                <a:latin typeface="Times New Roman" panose="02020603050405020304" pitchFamily="18" charset="0"/>
                <a:cs typeface="Times New Roman" panose="02020603050405020304" pitchFamily="18" charset="0"/>
              </a:rPr>
              <a:t>Space Complexity) </a:t>
            </a:r>
            <a:r>
              <a:rPr lang="ru-RU" sz="2400" dirty="0">
                <a:latin typeface="Times New Roman" panose="02020603050405020304" pitchFamily="18" charset="0"/>
                <a:cs typeface="Times New Roman" panose="02020603050405020304" pitchFamily="18" charset="0"/>
              </a:rPr>
              <a:t>- сколько</a:t>
            </a:r>
            <a:r>
              <a:rPr lang="en-US" sz="2400" dirty="0">
                <a:latin typeface="Times New Roman" panose="02020603050405020304" pitchFamily="18" charset="0"/>
                <a:cs typeface="Times New Roman" panose="02020603050405020304" pitchFamily="18" charset="0"/>
              </a:rPr>
              <a:t> </a:t>
            </a:r>
            <a:r>
              <a:rPr lang="ru-RU" sz="2400" dirty="0">
                <a:latin typeface="Times New Roman" panose="02020603050405020304" pitchFamily="18" charset="0"/>
                <a:cs typeface="Times New Roman" panose="02020603050405020304" pitchFamily="18" charset="0"/>
              </a:rPr>
              <a:t>оперативной памяти занимает программа, переменные и т.д. </a:t>
            </a:r>
          </a:p>
          <a:p>
            <a:endParaRPr lang="ru-RU"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Время (</a:t>
            </a:r>
            <a:r>
              <a:rPr lang="en-US" sz="2400" dirty="0">
                <a:latin typeface="Times New Roman" panose="02020603050405020304" pitchFamily="18" charset="0"/>
                <a:cs typeface="Times New Roman" panose="02020603050405020304" pitchFamily="18" charset="0"/>
              </a:rPr>
              <a:t>Time Complexity)</a:t>
            </a:r>
            <a:r>
              <a:rPr lang="ru-RU" sz="2400" dirty="0">
                <a:latin typeface="Times New Roman" panose="02020603050405020304" pitchFamily="18" charset="0"/>
                <a:cs typeface="Times New Roman" panose="02020603050405020304" pitchFamily="18" charset="0"/>
              </a:rPr>
              <a:t> - сколько времени нужно алгоритму на выполнение. Эта мера показывает зависимость между временем выполнения и кол-вом входных данных</a:t>
            </a:r>
          </a:p>
        </p:txBody>
      </p:sp>
    </p:spTree>
    <p:extLst>
      <p:ext uri="{BB962C8B-B14F-4D97-AF65-F5344CB8AC3E}">
        <p14:creationId xmlns:p14="http://schemas.microsoft.com/office/powerpoint/2010/main" val="3124484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D6C484A-193B-40DC-BF68-F82B821F376D}"/>
              </a:ext>
            </a:extLst>
          </p:cNvPr>
          <p:cNvSpPr txBox="1"/>
          <p:nvPr/>
        </p:nvSpPr>
        <p:spPr>
          <a:xfrm>
            <a:off x="1364463" y="3097572"/>
            <a:ext cx="4962859" cy="2862322"/>
          </a:xfrm>
          <a:prstGeom prst="rect">
            <a:avLst/>
          </a:prstGeom>
          <a:noFill/>
        </p:spPr>
        <p:txBody>
          <a:bodyPr wrap="square">
            <a:spAutoFit/>
          </a:bodyPr>
          <a:lstStyle/>
          <a:p>
            <a:r>
              <a:rPr lang="ru-RU" sz="2000" dirty="0"/>
              <a:t>Сложность: </a:t>
            </a:r>
          </a:p>
          <a:p>
            <a:pPr marL="285750" indent="-285750">
              <a:buFont typeface="Arial" panose="020B0604020202020204" pitchFamily="34" charset="0"/>
              <a:buChar char="•"/>
            </a:pPr>
            <a:r>
              <a:rPr lang="en-US" sz="2000" dirty="0"/>
              <a:t>O(1) - </a:t>
            </a:r>
            <a:r>
              <a:rPr lang="ru-RU" sz="2000" dirty="0"/>
              <a:t>Константная ~</a:t>
            </a:r>
          </a:p>
          <a:p>
            <a:pPr marL="285750" indent="-285750">
              <a:buFont typeface="Arial" panose="020B0604020202020204" pitchFamily="34" charset="0"/>
              <a:buChar char="•"/>
            </a:pPr>
            <a:r>
              <a:rPr lang="en-US" sz="2000" dirty="0"/>
              <a:t>O(log n) - </a:t>
            </a:r>
            <a:r>
              <a:rPr lang="ru-RU" sz="2000" dirty="0"/>
              <a:t>Логарифмическая ~</a:t>
            </a:r>
          </a:p>
          <a:p>
            <a:pPr marL="285750" indent="-285750">
              <a:buFont typeface="Arial" panose="020B0604020202020204" pitchFamily="34" charset="0"/>
              <a:buChar char="•"/>
            </a:pPr>
            <a:r>
              <a:rPr lang="en-US" sz="2000" dirty="0"/>
              <a:t>O(n) - </a:t>
            </a:r>
            <a:r>
              <a:rPr lang="ru-RU" sz="2000" dirty="0"/>
              <a:t>Линейная ~</a:t>
            </a:r>
          </a:p>
          <a:p>
            <a:pPr marL="285750" indent="-285750">
              <a:buFont typeface="Arial" panose="020B0604020202020204" pitchFamily="34" charset="0"/>
              <a:buChar char="•"/>
            </a:pPr>
            <a:r>
              <a:rPr lang="en-US" sz="2000" dirty="0"/>
              <a:t>O(n log n) - </a:t>
            </a:r>
            <a:r>
              <a:rPr lang="ru-RU" sz="2000" dirty="0"/>
              <a:t>Линейно-логарифмическая ~</a:t>
            </a:r>
          </a:p>
          <a:p>
            <a:pPr marL="285750" indent="-285750">
              <a:buFont typeface="Arial" panose="020B0604020202020204" pitchFamily="34" charset="0"/>
              <a:buChar char="•"/>
            </a:pPr>
            <a:r>
              <a:rPr lang="en-US" sz="2000" dirty="0"/>
              <a:t>O(n^2) - </a:t>
            </a:r>
            <a:r>
              <a:rPr lang="ru-RU" sz="2000" dirty="0"/>
              <a:t>Квадратичная ~</a:t>
            </a:r>
          </a:p>
          <a:p>
            <a:pPr marL="285750" indent="-285750">
              <a:buFont typeface="Arial" panose="020B0604020202020204" pitchFamily="34" charset="0"/>
              <a:buChar char="•"/>
            </a:pPr>
            <a:r>
              <a:rPr lang="en-US" sz="2000" dirty="0"/>
              <a:t>O(n^3) - </a:t>
            </a:r>
            <a:r>
              <a:rPr lang="ru-RU" sz="2000" dirty="0"/>
              <a:t>Кубическая ~</a:t>
            </a:r>
          </a:p>
          <a:p>
            <a:pPr marL="285750" indent="-285750">
              <a:buFont typeface="Arial" panose="020B0604020202020204" pitchFamily="34" charset="0"/>
              <a:buChar char="•"/>
            </a:pPr>
            <a:r>
              <a:rPr lang="en-US" sz="2000" dirty="0"/>
              <a:t>O(2^n) - </a:t>
            </a:r>
            <a:r>
              <a:rPr lang="ru-RU" sz="2000" dirty="0"/>
              <a:t>Экспоненциальная ~</a:t>
            </a:r>
          </a:p>
          <a:p>
            <a:pPr marL="285750" indent="-285750">
              <a:buFont typeface="Arial" panose="020B0604020202020204" pitchFamily="34" charset="0"/>
              <a:buChar char="•"/>
            </a:pPr>
            <a:r>
              <a:rPr lang="en-US" sz="2000" dirty="0"/>
              <a:t>O(n!) - </a:t>
            </a:r>
            <a:r>
              <a:rPr lang="ru-RU" sz="2000" dirty="0"/>
              <a:t>Факториальная ~</a:t>
            </a:r>
          </a:p>
        </p:txBody>
      </p:sp>
      <p:grpSp>
        <p:nvGrpSpPr>
          <p:cNvPr id="2" name="Группа 1">
            <a:extLst>
              <a:ext uri="{FF2B5EF4-FFF2-40B4-BE49-F238E27FC236}">
                <a16:creationId xmlns:a16="http://schemas.microsoft.com/office/drawing/2014/main" id="{1D39BE41-34E1-42C9-95D6-BF328ACC18EC}"/>
              </a:ext>
            </a:extLst>
          </p:cNvPr>
          <p:cNvGrpSpPr/>
          <p:nvPr/>
        </p:nvGrpSpPr>
        <p:grpSpPr>
          <a:xfrm>
            <a:off x="6175836" y="2242481"/>
            <a:ext cx="5412850" cy="4507231"/>
            <a:chOff x="6175836" y="2242481"/>
            <a:chExt cx="5412850" cy="4507231"/>
          </a:xfrm>
        </p:grpSpPr>
        <p:pic>
          <p:nvPicPr>
            <p:cNvPr id="8194" name="Picture 2" descr="alt text">
              <a:extLst>
                <a:ext uri="{FF2B5EF4-FFF2-40B4-BE49-F238E27FC236}">
                  <a16:creationId xmlns:a16="http://schemas.microsoft.com/office/drawing/2014/main" id="{B1901404-45C8-44DA-9A53-BFA01E963C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5836" y="2242481"/>
              <a:ext cx="5412850" cy="4507231"/>
            </a:xfrm>
            <a:prstGeom prst="rect">
              <a:avLst/>
            </a:prstGeom>
            <a:noFill/>
            <a:extLst>
              <a:ext uri="{909E8E84-426E-40DD-AFC4-6F175D3DCCD1}">
                <a14:hiddenFill xmlns:a14="http://schemas.microsoft.com/office/drawing/2010/main">
                  <a:solidFill>
                    <a:srgbClr val="FFFFFF"/>
                  </a:solidFill>
                </a14:hiddenFill>
              </a:ext>
            </a:extLst>
          </p:spPr>
        </p:pic>
        <p:cxnSp>
          <p:nvCxnSpPr>
            <p:cNvPr id="7" name="Прямая со стрелкой 6">
              <a:extLst>
                <a:ext uri="{FF2B5EF4-FFF2-40B4-BE49-F238E27FC236}">
                  <a16:creationId xmlns:a16="http://schemas.microsoft.com/office/drawing/2014/main" id="{446D689A-0FE7-4B56-B46E-12CFF61E6AD1}"/>
                </a:ext>
              </a:extLst>
            </p:cNvPr>
            <p:cNvCxnSpPr>
              <a:cxnSpLocks/>
            </p:cNvCxnSpPr>
            <p:nvPr/>
          </p:nvCxnSpPr>
          <p:spPr>
            <a:xfrm flipV="1">
              <a:off x="7178524" y="2957857"/>
              <a:ext cx="0" cy="31424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a:extLst>
                <a:ext uri="{FF2B5EF4-FFF2-40B4-BE49-F238E27FC236}">
                  <a16:creationId xmlns:a16="http://schemas.microsoft.com/office/drawing/2014/main" id="{FA94D8B5-6113-411D-8CB2-5E4D3E4AA5E7}"/>
                </a:ext>
              </a:extLst>
            </p:cNvPr>
            <p:cNvCxnSpPr>
              <a:cxnSpLocks/>
            </p:cNvCxnSpPr>
            <p:nvPr/>
          </p:nvCxnSpPr>
          <p:spPr>
            <a:xfrm>
              <a:off x="7178524" y="6100277"/>
              <a:ext cx="360658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 name="Заголовок 2">
            <a:extLst>
              <a:ext uri="{FF2B5EF4-FFF2-40B4-BE49-F238E27FC236}">
                <a16:creationId xmlns:a16="http://schemas.microsoft.com/office/drawing/2014/main" id="{C1C21091-1FCC-495A-ACBE-3D2A11563869}"/>
              </a:ext>
            </a:extLst>
          </p:cNvPr>
          <p:cNvSpPr txBox="1">
            <a:spLocks/>
          </p:cNvSpPr>
          <p:nvPr/>
        </p:nvSpPr>
        <p:spPr>
          <a:xfrm>
            <a:off x="1133141" y="765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latin typeface="Times New Roman" panose="02020603050405020304" pitchFamily="18" charset="0"/>
                <a:cs typeface="Times New Roman" panose="02020603050405020304" pitchFamily="18" charset="0"/>
              </a:rPr>
              <a:t>Big</a:t>
            </a:r>
            <a:r>
              <a:rPr lang="en-US" dirty="0"/>
              <a:t> O notation</a:t>
            </a:r>
            <a:endParaRPr lang="ru-RU" dirty="0"/>
          </a:p>
        </p:txBody>
      </p:sp>
      <p:sp>
        <p:nvSpPr>
          <p:cNvPr id="10" name="TextBox 9">
            <a:extLst>
              <a:ext uri="{FF2B5EF4-FFF2-40B4-BE49-F238E27FC236}">
                <a16:creationId xmlns:a16="http://schemas.microsoft.com/office/drawing/2014/main" id="{F377BE1A-2F42-4706-8FCC-43108BAFBED6}"/>
              </a:ext>
            </a:extLst>
          </p:cNvPr>
          <p:cNvSpPr txBox="1"/>
          <p:nvPr/>
        </p:nvSpPr>
        <p:spPr>
          <a:xfrm>
            <a:off x="819869" y="1136425"/>
            <a:ext cx="10552260" cy="923330"/>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Big O нотация используется для оценки наихудшего случая временной сложности алгоритма, т.е. "О" покажет как поменяется производительность алгоритма. </a:t>
            </a:r>
            <a:endParaRPr lang="en-US" dirty="0">
              <a:latin typeface="Times New Roman" panose="02020603050405020304" pitchFamily="18" charset="0"/>
              <a:cs typeface="Times New Roman" panose="02020603050405020304" pitchFamily="18" charset="0"/>
            </a:endParaRPr>
          </a:p>
          <a:p>
            <a:r>
              <a:rPr lang="ru-RU" dirty="0">
                <a:latin typeface="Times New Roman" panose="02020603050405020304" pitchFamily="18" charset="0"/>
                <a:cs typeface="Times New Roman" panose="02020603050405020304" pitchFamily="18" charset="0"/>
              </a:rPr>
              <a:t>Записывается обычно следующим образом: O(n) - читается как "O от n", где n - размер входных данных.</a:t>
            </a:r>
          </a:p>
        </p:txBody>
      </p:sp>
    </p:spTree>
    <p:extLst>
      <p:ext uri="{BB962C8B-B14F-4D97-AF65-F5344CB8AC3E}">
        <p14:creationId xmlns:p14="http://schemas.microsoft.com/office/powerpoint/2010/main" val="3146950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2">
            <a:extLst>
              <a:ext uri="{FF2B5EF4-FFF2-40B4-BE49-F238E27FC236}">
                <a16:creationId xmlns:a16="http://schemas.microsoft.com/office/drawing/2014/main" id="{CEF7D3C9-F027-4DFF-AC25-52606D3BE3A7}"/>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O(1) </a:t>
            </a:r>
            <a:r>
              <a:rPr lang="ru-RU" dirty="0">
                <a:latin typeface="Times New Roman" panose="02020603050405020304" pitchFamily="18" charset="0"/>
                <a:cs typeface="Times New Roman" panose="02020603050405020304" pitchFamily="18" charset="0"/>
              </a:rPr>
              <a:t>Константная</a:t>
            </a:r>
            <a:r>
              <a:rPr lang="ru-RU" dirty="0"/>
              <a:t> сложность</a:t>
            </a:r>
          </a:p>
        </p:txBody>
      </p:sp>
      <p:sp>
        <p:nvSpPr>
          <p:cNvPr id="10" name="TextBox 9">
            <a:extLst>
              <a:ext uri="{FF2B5EF4-FFF2-40B4-BE49-F238E27FC236}">
                <a16:creationId xmlns:a16="http://schemas.microsoft.com/office/drawing/2014/main" id="{1C597CE2-42BA-48AB-9FF7-B0488D27177D}"/>
              </a:ext>
            </a:extLst>
          </p:cNvPr>
          <p:cNvSpPr txBox="1"/>
          <p:nvPr/>
        </p:nvSpPr>
        <p:spPr>
          <a:xfrm>
            <a:off x="1133141" y="1805221"/>
            <a:ext cx="10064847" cy="923330"/>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Такая сложность можно сказать является идеальной, т.к. производительность алгоритмов с такой сложностью не зависит от размера входных данных. Популярный пример такой сложности - получение элемента массива.</a:t>
            </a:r>
          </a:p>
        </p:txBody>
      </p:sp>
      <p:sp>
        <p:nvSpPr>
          <p:cNvPr id="13" name="TextBox 12">
            <a:extLst>
              <a:ext uri="{FF2B5EF4-FFF2-40B4-BE49-F238E27FC236}">
                <a16:creationId xmlns:a16="http://schemas.microsoft.com/office/drawing/2014/main" id="{8BDB8B55-0515-4904-ADC9-84934E8238E9}"/>
              </a:ext>
            </a:extLst>
          </p:cNvPr>
          <p:cNvSpPr txBox="1"/>
          <p:nvPr/>
        </p:nvSpPr>
        <p:spPr>
          <a:xfrm>
            <a:off x="1047237" y="3618673"/>
            <a:ext cx="6717979" cy="2246769"/>
          </a:xfrm>
          <a:prstGeom prst="rect">
            <a:avLst/>
          </a:prstGeom>
          <a:noFill/>
        </p:spPr>
        <p:txBody>
          <a:bodyPr wrap="square">
            <a:spAutoFit/>
          </a:bodyPr>
          <a:lstStyle/>
          <a:p>
            <a:r>
              <a:rPr lang="en-US" sz="2800" b="0" dirty="0">
                <a:solidFill>
                  <a:srgbClr val="569CD6"/>
                </a:solidFill>
                <a:effectLst/>
                <a:latin typeface="Consolas" panose="020B0609020204030204" pitchFamily="49" charset="0"/>
              </a:rPr>
              <a:t>int </a:t>
            </a:r>
            <a:r>
              <a:rPr lang="en-US" sz="2800" b="0" dirty="0" err="1">
                <a:solidFill>
                  <a:srgbClr val="9CDCFE"/>
                </a:solidFill>
                <a:effectLst/>
                <a:latin typeface="Consolas" panose="020B0609020204030204" pitchFamily="49" charset="0"/>
              </a:rPr>
              <a:t>some_int_array</a:t>
            </a:r>
            <a:r>
              <a:rPr lang="en-US" sz="2800" b="0" dirty="0">
                <a:solidFill>
                  <a:srgbClr val="D4D4D4"/>
                </a:solidFill>
                <a:effectLst/>
                <a:latin typeface="Consolas" panose="020B0609020204030204" pitchFamily="49" charset="0"/>
              </a:rPr>
              <a:t>[</a:t>
            </a:r>
            <a:r>
              <a:rPr lang="en-US" sz="2800" b="0" dirty="0">
                <a:solidFill>
                  <a:srgbClr val="B5CEA8"/>
                </a:solidFill>
                <a:effectLst/>
                <a:latin typeface="Consolas" panose="020B0609020204030204" pitchFamily="49" charset="0"/>
              </a:rPr>
              <a:t>1000</a:t>
            </a:r>
            <a:r>
              <a:rPr lang="en-US" sz="2800" b="0" dirty="0">
                <a:solidFill>
                  <a:srgbClr val="D4D4D4"/>
                </a:solidFill>
                <a:effectLst/>
                <a:latin typeface="Consolas" panose="020B0609020204030204" pitchFamily="49" charset="0"/>
              </a:rPr>
              <a:t>];</a:t>
            </a:r>
            <a:endParaRPr lang="en-US" sz="2800" b="0" dirty="0">
              <a:solidFill>
                <a:srgbClr val="569CD6"/>
              </a:solidFill>
              <a:effectLst/>
              <a:latin typeface="Consolas" panose="020B0609020204030204" pitchFamily="49" charset="0"/>
            </a:endParaRPr>
          </a:p>
          <a:p>
            <a:endParaRPr lang="en-US" sz="2800" dirty="0">
              <a:solidFill>
                <a:srgbClr val="569CD6"/>
              </a:solidFill>
              <a:latin typeface="Consolas" panose="020B0609020204030204" pitchFamily="49" charset="0"/>
            </a:endParaRPr>
          </a:p>
          <a:p>
            <a:r>
              <a:rPr lang="en-US" sz="2800" b="0" dirty="0">
                <a:solidFill>
                  <a:srgbClr val="569CD6"/>
                </a:solidFill>
                <a:effectLst/>
                <a:latin typeface="Consolas" panose="020B0609020204030204" pitchFamily="49" charset="0"/>
              </a:rPr>
              <a:t>int</a:t>
            </a:r>
            <a:r>
              <a:rPr lang="en-US" sz="2800" b="0" dirty="0">
                <a:solidFill>
                  <a:srgbClr val="D4D4D4"/>
                </a:solidFill>
                <a:effectLst/>
                <a:latin typeface="Consolas" panose="020B0609020204030204" pitchFamily="49" charset="0"/>
              </a:rPr>
              <a:t> </a:t>
            </a:r>
            <a:r>
              <a:rPr lang="en-US" sz="2800" b="0" dirty="0" err="1">
                <a:solidFill>
                  <a:srgbClr val="DCDCAA"/>
                </a:solidFill>
                <a:effectLst/>
                <a:latin typeface="Consolas" panose="020B0609020204030204" pitchFamily="49" charset="0"/>
              </a:rPr>
              <a:t>get_elem</a:t>
            </a:r>
            <a:r>
              <a:rPr lang="en-US" sz="2800" b="0" dirty="0">
                <a:solidFill>
                  <a:srgbClr val="D4D4D4"/>
                </a:solidFill>
                <a:effectLst/>
                <a:latin typeface="Consolas" panose="020B0609020204030204" pitchFamily="49" charset="0"/>
              </a:rPr>
              <a:t>(</a:t>
            </a:r>
            <a:r>
              <a:rPr lang="en-US" sz="2800" b="0" dirty="0">
                <a:solidFill>
                  <a:srgbClr val="569CD6"/>
                </a:solidFill>
                <a:effectLst/>
                <a:latin typeface="Consolas" panose="020B0609020204030204" pitchFamily="49" charset="0"/>
              </a:rPr>
              <a:t>int</a:t>
            </a:r>
            <a:r>
              <a:rPr lang="en-US" sz="2800" b="0" dirty="0">
                <a:solidFill>
                  <a:srgbClr val="D4D4D4"/>
                </a:solidFill>
                <a:effectLst/>
                <a:latin typeface="Consolas" panose="020B0609020204030204" pitchFamily="49" charset="0"/>
              </a:rPr>
              <a:t> </a:t>
            </a:r>
            <a:r>
              <a:rPr lang="en-US" sz="2800" b="0" dirty="0" err="1">
                <a:solidFill>
                  <a:srgbClr val="9CDCFE"/>
                </a:solidFill>
                <a:effectLst/>
                <a:latin typeface="Consolas" panose="020B0609020204030204" pitchFamily="49" charset="0"/>
              </a:rPr>
              <a:t>idx</a:t>
            </a:r>
            <a:r>
              <a:rPr lang="en-US" sz="2800" b="0" dirty="0">
                <a:solidFill>
                  <a:srgbClr val="D4D4D4"/>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r>
              <a:rPr lang="en-US" sz="2800" b="0" dirty="0">
                <a:solidFill>
                  <a:srgbClr val="C586C0"/>
                </a:solidFill>
                <a:effectLst/>
                <a:latin typeface="Consolas" panose="020B0609020204030204" pitchFamily="49" charset="0"/>
              </a:rPr>
              <a:t>return</a:t>
            </a:r>
            <a:r>
              <a:rPr lang="en-US" sz="2800" b="0" dirty="0">
                <a:solidFill>
                  <a:srgbClr val="D4D4D4"/>
                </a:solidFill>
                <a:effectLst/>
                <a:latin typeface="Consolas" panose="020B0609020204030204" pitchFamily="49" charset="0"/>
              </a:rPr>
              <a:t> </a:t>
            </a:r>
            <a:r>
              <a:rPr lang="en-US" sz="2800" b="0" dirty="0" err="1">
                <a:solidFill>
                  <a:srgbClr val="9CDCFE"/>
                </a:solidFill>
                <a:effectLst/>
                <a:latin typeface="Consolas" panose="020B0609020204030204" pitchFamily="49" charset="0"/>
              </a:rPr>
              <a:t>some_int_array</a:t>
            </a:r>
            <a:r>
              <a:rPr lang="en-US" sz="2800" b="0" dirty="0">
                <a:solidFill>
                  <a:srgbClr val="D4D4D4"/>
                </a:solidFill>
                <a:effectLst/>
                <a:latin typeface="Consolas" panose="020B0609020204030204" pitchFamily="49" charset="0"/>
              </a:rPr>
              <a:t>[</a:t>
            </a:r>
            <a:r>
              <a:rPr lang="en-US" sz="2800" b="0" dirty="0" err="1">
                <a:solidFill>
                  <a:srgbClr val="D4D4D4"/>
                </a:solidFill>
                <a:effectLst/>
                <a:latin typeface="Consolas" panose="020B0609020204030204" pitchFamily="49" charset="0"/>
              </a:rPr>
              <a:t>idx</a:t>
            </a:r>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p:txBody>
      </p:sp>
      <p:grpSp>
        <p:nvGrpSpPr>
          <p:cNvPr id="15" name="Группа 14">
            <a:extLst>
              <a:ext uri="{FF2B5EF4-FFF2-40B4-BE49-F238E27FC236}">
                <a16:creationId xmlns:a16="http://schemas.microsoft.com/office/drawing/2014/main" id="{A0234905-CA3D-49B7-B1BC-7D285DA48FC5}"/>
              </a:ext>
            </a:extLst>
          </p:cNvPr>
          <p:cNvGrpSpPr/>
          <p:nvPr/>
        </p:nvGrpSpPr>
        <p:grpSpPr>
          <a:xfrm>
            <a:off x="7149572" y="2455472"/>
            <a:ext cx="5412850" cy="4507231"/>
            <a:chOff x="6175836" y="2242481"/>
            <a:chExt cx="5412850" cy="4507231"/>
          </a:xfrm>
        </p:grpSpPr>
        <p:pic>
          <p:nvPicPr>
            <p:cNvPr id="16" name="Picture 2" descr="alt text">
              <a:extLst>
                <a:ext uri="{FF2B5EF4-FFF2-40B4-BE49-F238E27FC236}">
                  <a16:creationId xmlns:a16="http://schemas.microsoft.com/office/drawing/2014/main" id="{CB3AD3E6-DAF9-4201-B040-C0DBC038BE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5836" y="2242481"/>
              <a:ext cx="5412850" cy="4507231"/>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Прямая со стрелкой 16">
              <a:extLst>
                <a:ext uri="{FF2B5EF4-FFF2-40B4-BE49-F238E27FC236}">
                  <a16:creationId xmlns:a16="http://schemas.microsoft.com/office/drawing/2014/main" id="{BDA859F2-0926-4E4D-B9FB-2D8A8A748A71}"/>
                </a:ext>
              </a:extLst>
            </p:cNvPr>
            <p:cNvCxnSpPr>
              <a:cxnSpLocks/>
            </p:cNvCxnSpPr>
            <p:nvPr/>
          </p:nvCxnSpPr>
          <p:spPr>
            <a:xfrm flipV="1">
              <a:off x="7178524" y="2957857"/>
              <a:ext cx="0" cy="31424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B9D44126-50E2-493A-BFD0-58E92F1E03FF}"/>
                </a:ext>
              </a:extLst>
            </p:cNvPr>
            <p:cNvCxnSpPr>
              <a:cxnSpLocks/>
            </p:cNvCxnSpPr>
            <p:nvPr/>
          </p:nvCxnSpPr>
          <p:spPr>
            <a:xfrm>
              <a:off x="7178524" y="6100277"/>
              <a:ext cx="360658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38253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2">
            <a:extLst>
              <a:ext uri="{FF2B5EF4-FFF2-40B4-BE49-F238E27FC236}">
                <a16:creationId xmlns:a16="http://schemas.microsoft.com/office/drawing/2014/main" id="{CEF7D3C9-F027-4DFF-AC25-52606D3BE3A7}"/>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latin typeface="Times New Roman" panose="02020603050405020304" pitchFamily="18" charset="0"/>
                <a:cs typeface="Times New Roman" panose="02020603050405020304" pitchFamily="18" charset="0"/>
              </a:rPr>
              <a:t>O(n) </a:t>
            </a:r>
            <a:r>
              <a:rPr lang="ru-RU" dirty="0">
                <a:latin typeface="Times New Roman" panose="02020603050405020304" pitchFamily="18" charset="0"/>
                <a:cs typeface="Times New Roman" panose="02020603050405020304" pitchFamily="18" charset="0"/>
              </a:rPr>
              <a:t>Линейная сложность</a:t>
            </a:r>
          </a:p>
        </p:txBody>
      </p:sp>
      <p:pic>
        <p:nvPicPr>
          <p:cNvPr id="13314" name="Picture 2">
            <a:extLst>
              <a:ext uri="{FF2B5EF4-FFF2-40B4-BE49-F238E27FC236}">
                <a16:creationId xmlns:a16="http://schemas.microsoft.com/office/drawing/2014/main" id="{0EB5D76D-CAE6-4BA3-9B31-8B44A6CF42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27378" y="1528917"/>
            <a:ext cx="3831220" cy="2155061"/>
          </a:xfrm>
          <a:prstGeom prst="rect">
            <a:avLst/>
          </a:prstGeom>
          <a:noFill/>
          <a:extLst>
            <a:ext uri="{909E8E84-426E-40DD-AFC4-6F175D3DCCD1}">
              <a14:hiddenFill xmlns:a14="http://schemas.microsoft.com/office/drawing/2010/main">
                <a:solidFill>
                  <a:srgbClr val="FFFFFF"/>
                </a:solidFill>
              </a14:hiddenFill>
            </a:ext>
          </a:extLst>
        </p:spPr>
      </p:pic>
      <p:grpSp>
        <p:nvGrpSpPr>
          <p:cNvPr id="5" name="Группа 4">
            <a:extLst>
              <a:ext uri="{FF2B5EF4-FFF2-40B4-BE49-F238E27FC236}">
                <a16:creationId xmlns:a16="http://schemas.microsoft.com/office/drawing/2014/main" id="{0B195198-D576-4DA3-98CB-DAEABD9B6716}"/>
              </a:ext>
            </a:extLst>
          </p:cNvPr>
          <p:cNvGrpSpPr/>
          <p:nvPr/>
        </p:nvGrpSpPr>
        <p:grpSpPr>
          <a:xfrm>
            <a:off x="7149572" y="2455472"/>
            <a:ext cx="5412850" cy="4507231"/>
            <a:chOff x="6175836" y="2242481"/>
            <a:chExt cx="5412850" cy="4507231"/>
          </a:xfrm>
        </p:grpSpPr>
        <p:pic>
          <p:nvPicPr>
            <p:cNvPr id="6" name="Picture 2" descr="alt text">
              <a:extLst>
                <a:ext uri="{FF2B5EF4-FFF2-40B4-BE49-F238E27FC236}">
                  <a16:creationId xmlns:a16="http://schemas.microsoft.com/office/drawing/2014/main" id="{4E615E4B-ED82-427D-8575-D59C78D400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5836" y="2242481"/>
              <a:ext cx="5412850" cy="4507231"/>
            </a:xfrm>
            <a:prstGeom prst="rect">
              <a:avLst/>
            </a:prstGeom>
            <a:noFill/>
            <a:extLst>
              <a:ext uri="{909E8E84-426E-40DD-AFC4-6F175D3DCCD1}">
                <a14:hiddenFill xmlns:a14="http://schemas.microsoft.com/office/drawing/2010/main">
                  <a:solidFill>
                    <a:srgbClr val="FFFFFF"/>
                  </a:solidFill>
                </a14:hiddenFill>
              </a:ext>
            </a:extLst>
          </p:spPr>
        </p:pic>
        <p:cxnSp>
          <p:nvCxnSpPr>
            <p:cNvPr id="7" name="Прямая со стрелкой 6">
              <a:extLst>
                <a:ext uri="{FF2B5EF4-FFF2-40B4-BE49-F238E27FC236}">
                  <a16:creationId xmlns:a16="http://schemas.microsoft.com/office/drawing/2014/main" id="{D192C843-34B0-4CB1-9643-B813615551B4}"/>
                </a:ext>
              </a:extLst>
            </p:cNvPr>
            <p:cNvCxnSpPr>
              <a:cxnSpLocks/>
            </p:cNvCxnSpPr>
            <p:nvPr/>
          </p:nvCxnSpPr>
          <p:spPr>
            <a:xfrm flipV="1">
              <a:off x="7178524" y="2957857"/>
              <a:ext cx="0" cy="31424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Прямая со стрелкой 7">
              <a:extLst>
                <a:ext uri="{FF2B5EF4-FFF2-40B4-BE49-F238E27FC236}">
                  <a16:creationId xmlns:a16="http://schemas.microsoft.com/office/drawing/2014/main" id="{B6AC3764-A637-40EA-B944-28FAC0F70C54}"/>
                </a:ext>
              </a:extLst>
            </p:cNvPr>
            <p:cNvCxnSpPr>
              <a:cxnSpLocks/>
            </p:cNvCxnSpPr>
            <p:nvPr/>
          </p:nvCxnSpPr>
          <p:spPr>
            <a:xfrm>
              <a:off x="7178524" y="6100277"/>
              <a:ext cx="360658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B9348750-5589-41AB-BA86-ACDA15266214}"/>
              </a:ext>
            </a:extLst>
          </p:cNvPr>
          <p:cNvSpPr txBox="1"/>
          <p:nvPr/>
        </p:nvSpPr>
        <p:spPr>
          <a:xfrm>
            <a:off x="934695" y="3995259"/>
            <a:ext cx="6413988" cy="2246769"/>
          </a:xfrm>
          <a:prstGeom prst="rect">
            <a:avLst/>
          </a:prstGeom>
          <a:noFill/>
        </p:spPr>
        <p:txBody>
          <a:bodyPr wrap="square">
            <a:spAutoFit/>
          </a:bodyPr>
          <a:lstStyle/>
          <a:p>
            <a:r>
              <a:rPr lang="en-US" sz="2800" b="0" dirty="0">
                <a:solidFill>
                  <a:srgbClr val="C586C0"/>
                </a:solidFill>
                <a:effectLst/>
                <a:latin typeface="Consolas" panose="020B0609020204030204" pitchFamily="49" charset="0"/>
              </a:rPr>
              <a:t>for</a:t>
            </a:r>
            <a:r>
              <a:rPr lang="en-US" sz="2800" b="0" dirty="0">
                <a:solidFill>
                  <a:srgbClr val="D4D4D4"/>
                </a:solidFill>
                <a:effectLst/>
                <a:latin typeface="Consolas" panose="020B0609020204030204" pitchFamily="49" charset="0"/>
              </a:rPr>
              <a:t> (</a:t>
            </a:r>
            <a:r>
              <a:rPr lang="en-US" sz="2800" b="0" dirty="0">
                <a:solidFill>
                  <a:srgbClr val="569CD6"/>
                </a:solidFill>
                <a:effectLst/>
                <a:latin typeface="Consolas" panose="020B0609020204030204" pitchFamily="49" charset="0"/>
              </a:rPr>
              <a:t>int</a:t>
            </a:r>
            <a:r>
              <a:rPr lang="en-US" sz="2800" b="0" dirty="0">
                <a:solidFill>
                  <a:srgbClr val="D4D4D4"/>
                </a:solidFill>
                <a:effectLst/>
                <a:latin typeface="Consolas" panose="020B0609020204030204" pitchFamily="49" charset="0"/>
              </a:rPr>
              <a:t> s = </a:t>
            </a:r>
            <a:r>
              <a:rPr lang="en-US" sz="2800" b="0" dirty="0">
                <a:solidFill>
                  <a:srgbClr val="B5CEA8"/>
                </a:solidFill>
                <a:effectLst/>
                <a:latin typeface="Consolas" panose="020B0609020204030204" pitchFamily="49" charset="0"/>
              </a:rPr>
              <a:t>0</a:t>
            </a:r>
            <a:r>
              <a:rPr lang="en-US" sz="2800" b="0" dirty="0">
                <a:solidFill>
                  <a:srgbClr val="D4D4D4"/>
                </a:solidFill>
                <a:effectLst/>
                <a:latin typeface="Consolas" panose="020B0609020204030204" pitchFamily="49" charset="0"/>
              </a:rPr>
              <a:t>; s &lt; n; s++)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r>
              <a:rPr lang="en-US" sz="2800" b="0" dirty="0">
                <a:solidFill>
                  <a:srgbClr val="C586C0"/>
                </a:solidFill>
                <a:effectLst/>
                <a:latin typeface="Consolas" panose="020B0609020204030204" pitchFamily="49" charset="0"/>
              </a:rPr>
              <a:t>if</a:t>
            </a:r>
            <a:r>
              <a:rPr lang="en-US" sz="2800" b="0" dirty="0">
                <a:solidFill>
                  <a:srgbClr val="D4D4D4"/>
                </a:solidFill>
                <a:effectLst/>
                <a:latin typeface="Consolas" panose="020B0609020204030204" pitchFamily="49" charset="0"/>
              </a:rPr>
              <a:t> (</a:t>
            </a:r>
            <a:r>
              <a:rPr lang="en-US" sz="2800" b="0" dirty="0">
                <a:solidFill>
                  <a:srgbClr val="9CDCFE"/>
                </a:solidFill>
                <a:effectLst/>
                <a:latin typeface="Consolas" panose="020B0609020204030204" pitchFamily="49" charset="0"/>
              </a:rPr>
              <a:t>recipes</a:t>
            </a:r>
            <a:r>
              <a:rPr lang="en-US" sz="2800" b="0" dirty="0">
                <a:solidFill>
                  <a:srgbClr val="D4D4D4"/>
                </a:solidFill>
                <a:effectLst/>
                <a:latin typeface="Consolas" panose="020B0609020204030204" pitchFamily="49" charset="0"/>
              </a:rPr>
              <a:t>[s] == </a:t>
            </a:r>
            <a:r>
              <a:rPr lang="en-US" sz="2800" b="0" dirty="0">
                <a:solidFill>
                  <a:srgbClr val="CE9178"/>
                </a:solidFill>
                <a:effectLst/>
                <a:latin typeface="Consolas" panose="020B0609020204030204" pitchFamily="49" charset="0"/>
              </a:rPr>
              <a:t>'M'</a:t>
            </a:r>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r>
              <a:rPr lang="en-US" sz="2800" b="0" dirty="0">
                <a:solidFill>
                  <a:srgbClr val="6A9955"/>
                </a:solidFill>
                <a:effectLst/>
                <a:latin typeface="Consolas" panose="020B0609020204030204" pitchFamily="49" charset="0"/>
              </a:rPr>
              <a:t>// get recipe</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425012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2">
            <a:extLst>
              <a:ext uri="{FF2B5EF4-FFF2-40B4-BE49-F238E27FC236}">
                <a16:creationId xmlns:a16="http://schemas.microsoft.com/office/drawing/2014/main" id="{CEF7D3C9-F027-4DFF-AC25-52606D3BE3A7}"/>
              </a:ext>
            </a:extLst>
          </p:cNvPr>
          <p:cNvSpPr txBox="1">
            <a:spLocks/>
          </p:cNvSpPr>
          <p:nvPr/>
        </p:nvSpPr>
        <p:spPr>
          <a:xfrm>
            <a:off x="1133141" y="289948"/>
            <a:ext cx="9925717" cy="927688"/>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O(</a:t>
            </a:r>
            <a:r>
              <a:rPr lang="ru-RU" dirty="0" err="1">
                <a:latin typeface="Times New Roman" panose="02020603050405020304" pitchFamily="18" charset="0"/>
                <a:cs typeface="Times New Roman" panose="02020603050405020304" pitchFamily="18" charset="0"/>
              </a:rPr>
              <a:t>log</a:t>
            </a:r>
            <a:r>
              <a:rPr lang="ru-RU" dirty="0">
                <a:latin typeface="Times New Roman" panose="02020603050405020304" pitchFamily="18" charset="0"/>
                <a:cs typeface="Times New Roman" panose="02020603050405020304" pitchFamily="18" charset="0"/>
              </a:rPr>
              <a:t> n) Логарифмическая сложность</a:t>
            </a:r>
          </a:p>
        </p:txBody>
      </p:sp>
      <p:pic>
        <p:nvPicPr>
          <p:cNvPr id="12290" name="Picture 2" descr="alt text">
            <a:extLst>
              <a:ext uri="{FF2B5EF4-FFF2-40B4-BE49-F238E27FC236}">
                <a16:creationId xmlns:a16="http://schemas.microsoft.com/office/drawing/2014/main" id="{130D7796-85E4-4872-8B87-D37C61EA2D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851" y="3982915"/>
            <a:ext cx="5696519" cy="250948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9A9AAF3-DC33-4854-95D3-B45385479699}"/>
              </a:ext>
            </a:extLst>
          </p:cNvPr>
          <p:cNvSpPr txBox="1"/>
          <p:nvPr/>
        </p:nvSpPr>
        <p:spPr>
          <a:xfrm>
            <a:off x="557851" y="1383560"/>
            <a:ext cx="11240637" cy="2308324"/>
          </a:xfrm>
          <a:prstGeom prst="rect">
            <a:avLst/>
          </a:prstGeom>
          <a:noFill/>
        </p:spPr>
        <p:txBody>
          <a:bodyPr wrap="square">
            <a:spAutoFit/>
          </a:bodyPr>
          <a:lstStyle/>
          <a:p>
            <a:pPr marL="342900" indent="-342900">
              <a:buFont typeface="+mj-lt"/>
              <a:buAutoNum type="arabicPeriod"/>
            </a:pPr>
            <a:r>
              <a:rPr lang="ru-RU" dirty="0">
                <a:latin typeface="Times New Roman" panose="02020603050405020304" pitchFamily="18" charset="0"/>
                <a:cs typeface="Times New Roman" panose="02020603050405020304" pitchFamily="18" charset="0"/>
              </a:rPr>
              <a:t>Поделим алфавит на 2 части А-Я: А-О и П-Я -&gt; буква М в первой половине алфавита, соответственно вторая половина нам не нужна</a:t>
            </a:r>
          </a:p>
          <a:p>
            <a:pPr marL="342900" indent="-342900">
              <a:buFont typeface="+mj-lt"/>
              <a:buAutoNum type="arabicPeriod"/>
            </a:pPr>
            <a:r>
              <a:rPr lang="ru-RU" dirty="0">
                <a:latin typeface="Times New Roman" panose="02020603050405020304" pitchFamily="18" charset="0"/>
                <a:cs typeface="Times New Roman" panose="02020603050405020304" pitchFamily="18" charset="0"/>
              </a:rPr>
              <a:t>Делим первую половину еще на две половины А-О: А-Ж и З-О -&gt; буква М во второй половине, первую отбрасываем А-Ж</a:t>
            </a:r>
          </a:p>
          <a:p>
            <a:pPr marL="342900" indent="-342900">
              <a:buFont typeface="+mj-lt"/>
              <a:buAutoNum type="arabicPeriod"/>
            </a:pPr>
            <a:r>
              <a:rPr lang="ru-RU" dirty="0">
                <a:latin typeface="Times New Roman" panose="02020603050405020304" pitchFamily="18" charset="0"/>
                <a:cs typeface="Times New Roman" panose="02020603050405020304" pitchFamily="18" charset="0"/>
              </a:rPr>
              <a:t>З-О -&gt; З-К и Л-О -&gt; Л-О</a:t>
            </a:r>
          </a:p>
          <a:p>
            <a:pPr marL="342900" indent="-342900">
              <a:buFont typeface="+mj-lt"/>
              <a:buAutoNum type="arabicPeriod"/>
            </a:pPr>
            <a:r>
              <a:rPr lang="ru-RU" dirty="0">
                <a:latin typeface="Times New Roman" panose="02020603050405020304" pitchFamily="18" charset="0"/>
                <a:cs typeface="Times New Roman" panose="02020603050405020304" pitchFamily="18" charset="0"/>
              </a:rPr>
              <a:t>Л-О -&gt; Л-М и Н-О -&gt; Л-М</a:t>
            </a:r>
          </a:p>
          <a:p>
            <a:pPr marL="342900" indent="-342900">
              <a:buFont typeface="+mj-lt"/>
              <a:buAutoNum type="arabicPeriod"/>
            </a:pPr>
            <a:r>
              <a:rPr lang="ru-RU" dirty="0">
                <a:latin typeface="Times New Roman" panose="02020603050405020304" pitchFamily="18" charset="0"/>
                <a:cs typeface="Times New Roman" panose="02020603050405020304" pitchFamily="18" charset="0"/>
              </a:rPr>
              <a:t>Л и М -&gt; М ответ</a:t>
            </a:r>
            <a:endParaRPr lang="en-US" dirty="0">
              <a:latin typeface="Times New Roman" panose="02020603050405020304" pitchFamily="18" charset="0"/>
              <a:cs typeface="Times New Roman" panose="02020603050405020304" pitchFamily="18" charset="0"/>
            </a:endParaRPr>
          </a:p>
          <a:p>
            <a:r>
              <a:rPr lang="ru-RU" dirty="0">
                <a:latin typeface="Times New Roman" panose="02020603050405020304" pitchFamily="18" charset="0"/>
                <a:cs typeface="Times New Roman" panose="02020603050405020304" pitchFamily="18" charset="0"/>
              </a:rPr>
              <a:t>5 операций чтобы найти ответ, где n = 33, а </a:t>
            </a:r>
            <a:r>
              <a:rPr lang="ru-RU" dirty="0" err="1">
                <a:latin typeface="Times New Roman" panose="02020603050405020304" pitchFamily="18" charset="0"/>
                <a:cs typeface="Times New Roman" panose="02020603050405020304" pitchFamily="18" charset="0"/>
              </a:rPr>
              <a:t>log</a:t>
            </a:r>
            <a:r>
              <a:rPr lang="ru-RU" dirty="0">
                <a:latin typeface="Times New Roman" panose="02020603050405020304" pitchFamily="18" charset="0"/>
                <a:cs typeface="Times New Roman" panose="02020603050405020304" pitchFamily="18" charset="0"/>
              </a:rPr>
              <a:t>(33) </a:t>
            </a:r>
            <a:r>
              <a:rPr lang="en-US" dirty="0">
                <a:latin typeface="Times New Roman" panose="02020603050405020304" pitchFamily="18" charset="0"/>
                <a:cs typeface="Times New Roman" panose="02020603050405020304" pitchFamily="18" charset="0"/>
              </a:rPr>
              <a:t>=</a:t>
            </a:r>
            <a:r>
              <a:rPr lang="ru-RU" dirty="0">
                <a:latin typeface="Times New Roman" panose="02020603050405020304" pitchFamily="18" charset="0"/>
                <a:cs typeface="Times New Roman" panose="02020603050405020304" pitchFamily="18" charset="0"/>
              </a:rPr>
              <a:t> 5</a:t>
            </a:r>
          </a:p>
        </p:txBody>
      </p:sp>
      <p:grpSp>
        <p:nvGrpSpPr>
          <p:cNvPr id="5" name="Группа 4">
            <a:extLst>
              <a:ext uri="{FF2B5EF4-FFF2-40B4-BE49-F238E27FC236}">
                <a16:creationId xmlns:a16="http://schemas.microsoft.com/office/drawing/2014/main" id="{83C98307-A7EB-4B6E-A128-0E18D09D7681}"/>
              </a:ext>
            </a:extLst>
          </p:cNvPr>
          <p:cNvGrpSpPr/>
          <p:nvPr/>
        </p:nvGrpSpPr>
        <p:grpSpPr>
          <a:xfrm>
            <a:off x="7149572" y="2455472"/>
            <a:ext cx="5412850" cy="4507231"/>
            <a:chOff x="6175836" y="2242481"/>
            <a:chExt cx="5412850" cy="4507231"/>
          </a:xfrm>
        </p:grpSpPr>
        <p:pic>
          <p:nvPicPr>
            <p:cNvPr id="6" name="Picture 2" descr="alt text">
              <a:extLst>
                <a:ext uri="{FF2B5EF4-FFF2-40B4-BE49-F238E27FC236}">
                  <a16:creationId xmlns:a16="http://schemas.microsoft.com/office/drawing/2014/main" id="{E4899A3C-313C-4BED-AE40-C91AED0075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5836" y="2242481"/>
              <a:ext cx="5412850" cy="4507231"/>
            </a:xfrm>
            <a:prstGeom prst="rect">
              <a:avLst/>
            </a:prstGeom>
            <a:noFill/>
            <a:extLst>
              <a:ext uri="{909E8E84-426E-40DD-AFC4-6F175D3DCCD1}">
                <a14:hiddenFill xmlns:a14="http://schemas.microsoft.com/office/drawing/2010/main">
                  <a:solidFill>
                    <a:srgbClr val="FFFFFF"/>
                  </a:solidFill>
                </a14:hiddenFill>
              </a:ext>
            </a:extLst>
          </p:spPr>
        </p:pic>
        <p:cxnSp>
          <p:nvCxnSpPr>
            <p:cNvPr id="8" name="Прямая со стрелкой 7">
              <a:extLst>
                <a:ext uri="{FF2B5EF4-FFF2-40B4-BE49-F238E27FC236}">
                  <a16:creationId xmlns:a16="http://schemas.microsoft.com/office/drawing/2014/main" id="{C1F824CF-0AFB-47AE-A4D0-817BE164BD93}"/>
                </a:ext>
              </a:extLst>
            </p:cNvPr>
            <p:cNvCxnSpPr>
              <a:cxnSpLocks/>
            </p:cNvCxnSpPr>
            <p:nvPr/>
          </p:nvCxnSpPr>
          <p:spPr>
            <a:xfrm flipV="1">
              <a:off x="7178524" y="2957857"/>
              <a:ext cx="0" cy="31424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Прямая со стрелкой 9">
              <a:extLst>
                <a:ext uri="{FF2B5EF4-FFF2-40B4-BE49-F238E27FC236}">
                  <a16:creationId xmlns:a16="http://schemas.microsoft.com/office/drawing/2014/main" id="{21A1470B-AE1E-4E17-9C1A-45AB00DE43BC}"/>
                </a:ext>
              </a:extLst>
            </p:cNvPr>
            <p:cNvCxnSpPr>
              <a:cxnSpLocks/>
            </p:cNvCxnSpPr>
            <p:nvPr/>
          </p:nvCxnSpPr>
          <p:spPr>
            <a:xfrm>
              <a:off x="7178524" y="6100277"/>
              <a:ext cx="360658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12221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2">
            <a:extLst>
              <a:ext uri="{FF2B5EF4-FFF2-40B4-BE49-F238E27FC236}">
                <a16:creationId xmlns:a16="http://schemas.microsoft.com/office/drawing/2014/main" id="{CEF7D3C9-F027-4DFF-AC25-52606D3BE3A7}"/>
              </a:ext>
            </a:extLst>
          </p:cNvPr>
          <p:cNvSpPr txBox="1">
            <a:spLocks/>
          </p:cNvSpPr>
          <p:nvPr/>
        </p:nvSpPr>
        <p:spPr>
          <a:xfrm>
            <a:off x="548054" y="280999"/>
            <a:ext cx="11095892" cy="927688"/>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O(n </a:t>
            </a:r>
            <a:r>
              <a:rPr lang="ru-RU" dirty="0" err="1">
                <a:latin typeface="Times New Roman" panose="02020603050405020304" pitchFamily="18" charset="0"/>
                <a:cs typeface="Times New Roman" panose="02020603050405020304" pitchFamily="18" charset="0"/>
              </a:rPr>
              <a:t>log</a:t>
            </a:r>
            <a:r>
              <a:rPr lang="ru-RU" dirty="0">
                <a:latin typeface="Times New Roman" panose="02020603050405020304" pitchFamily="18" charset="0"/>
                <a:cs typeface="Times New Roman" panose="02020603050405020304" pitchFamily="18" charset="0"/>
              </a:rPr>
              <a:t> n) - Линейно-логарифмическая сложность</a:t>
            </a:r>
          </a:p>
        </p:txBody>
      </p:sp>
      <p:sp>
        <p:nvSpPr>
          <p:cNvPr id="6" name="TextBox 5">
            <a:extLst>
              <a:ext uri="{FF2B5EF4-FFF2-40B4-BE49-F238E27FC236}">
                <a16:creationId xmlns:a16="http://schemas.microsoft.com/office/drawing/2014/main" id="{447A4FAB-CBF0-42D1-9BA3-204B215EC64A}"/>
              </a:ext>
            </a:extLst>
          </p:cNvPr>
          <p:cNvSpPr txBox="1"/>
          <p:nvPr/>
        </p:nvSpPr>
        <p:spPr>
          <a:xfrm>
            <a:off x="751797" y="1435224"/>
            <a:ext cx="10939819" cy="1477328"/>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Она схожа с </a:t>
            </a:r>
            <a:r>
              <a:rPr lang="en-US" dirty="0">
                <a:latin typeface="Times New Roman" panose="02020603050405020304" pitchFamily="18" charset="0"/>
                <a:cs typeface="Times New Roman" panose="02020603050405020304" pitchFamily="18" charset="0"/>
              </a:rPr>
              <a:t>O (log n)</a:t>
            </a:r>
            <a:r>
              <a:rPr lang="ru-RU" dirty="0">
                <a:latin typeface="Times New Roman" panose="02020603050405020304" pitchFamily="18" charset="0"/>
                <a:cs typeface="Times New Roman" panose="02020603050405020304" pitchFamily="18" charset="0"/>
              </a:rPr>
              <a:t>, но добавляется еще одна n - например мы ищем не в одной книге, а среди n книг рецептов Гордона </a:t>
            </a:r>
            <a:r>
              <a:rPr lang="ru-RU" dirty="0" err="1">
                <a:latin typeface="Times New Roman" panose="02020603050405020304" pitchFamily="18" charset="0"/>
                <a:cs typeface="Times New Roman" panose="02020603050405020304" pitchFamily="18" charset="0"/>
              </a:rPr>
              <a:t>Рамзи</a:t>
            </a:r>
            <a:r>
              <a:rPr lang="ru-RU" dirty="0">
                <a:latin typeface="Times New Roman" panose="02020603050405020304" pitchFamily="18" charset="0"/>
                <a:cs typeface="Times New Roman" panose="02020603050405020304" pitchFamily="18" charset="0"/>
              </a:rPr>
              <a:t> рецепт на какую-то букву.</a:t>
            </a:r>
          </a:p>
          <a:p>
            <a:endParaRPr lang="ru-RU" dirty="0">
              <a:latin typeface="Times New Roman" panose="02020603050405020304" pitchFamily="18" charset="0"/>
              <a:cs typeface="Times New Roman" panose="02020603050405020304" pitchFamily="18" charset="0"/>
            </a:endParaRPr>
          </a:p>
          <a:p>
            <a:r>
              <a:rPr lang="ru-RU" dirty="0">
                <a:latin typeface="Times New Roman" panose="02020603050405020304" pitchFamily="18" charset="0"/>
                <a:cs typeface="Times New Roman" panose="02020603050405020304" pitchFamily="18" charset="0"/>
              </a:rPr>
              <a:t>Итого: есть цикл O(n), внутри которого используются алгоритмы "разделяй и властвуй" O(</a:t>
            </a:r>
            <a:r>
              <a:rPr lang="ru-RU" dirty="0" err="1">
                <a:latin typeface="Times New Roman" panose="02020603050405020304" pitchFamily="18" charset="0"/>
                <a:cs typeface="Times New Roman" panose="02020603050405020304" pitchFamily="18" charset="0"/>
              </a:rPr>
              <a:t>log</a:t>
            </a:r>
            <a:r>
              <a:rPr lang="ru-RU" dirty="0">
                <a:latin typeface="Times New Roman" panose="02020603050405020304" pitchFamily="18" charset="0"/>
                <a:cs typeface="Times New Roman" panose="02020603050405020304" pitchFamily="18" charset="0"/>
              </a:rPr>
              <a:t> n) -&gt; O(n * </a:t>
            </a:r>
            <a:r>
              <a:rPr lang="ru-RU" dirty="0" err="1">
                <a:latin typeface="Times New Roman" panose="02020603050405020304" pitchFamily="18" charset="0"/>
                <a:cs typeface="Times New Roman" panose="02020603050405020304" pitchFamily="18" charset="0"/>
              </a:rPr>
              <a:t>log</a:t>
            </a:r>
            <a:r>
              <a:rPr lang="ru-RU" dirty="0">
                <a:latin typeface="Times New Roman" panose="02020603050405020304" pitchFamily="18" charset="0"/>
                <a:cs typeface="Times New Roman" panose="02020603050405020304" pitchFamily="18" charset="0"/>
              </a:rPr>
              <a:t> n)</a:t>
            </a:r>
          </a:p>
        </p:txBody>
      </p:sp>
      <p:pic>
        <p:nvPicPr>
          <p:cNvPr id="11272" name="Picture 8" descr="Курс элементарной кулинарии. Готовим уверенно (Рамзи Г.) - купить книгу в  интернет-магазине на book24.ru. (ISBN: 978-5-389-05939-9))">
            <a:extLst>
              <a:ext uri="{FF2B5EF4-FFF2-40B4-BE49-F238E27FC236}">
                <a16:creationId xmlns:a16="http://schemas.microsoft.com/office/drawing/2014/main" id="{F3AC919B-4B56-46C0-9C5C-6E9ADC5849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797" y="3492922"/>
            <a:ext cx="2241576" cy="3034329"/>
          </a:xfrm>
          <a:prstGeom prst="rect">
            <a:avLst/>
          </a:prstGeom>
          <a:noFill/>
          <a:extLst>
            <a:ext uri="{909E8E84-426E-40DD-AFC4-6F175D3DCCD1}">
              <a14:hiddenFill xmlns:a14="http://schemas.microsoft.com/office/drawing/2010/main">
                <a:solidFill>
                  <a:srgbClr val="FFFFFF"/>
                </a:solidFill>
              </a14:hiddenFill>
            </a:ext>
          </a:extLst>
        </p:spPr>
      </p:pic>
      <p:grpSp>
        <p:nvGrpSpPr>
          <p:cNvPr id="5" name="Группа 4">
            <a:extLst>
              <a:ext uri="{FF2B5EF4-FFF2-40B4-BE49-F238E27FC236}">
                <a16:creationId xmlns:a16="http://schemas.microsoft.com/office/drawing/2014/main" id="{ACED7EE0-C537-4408-BAC9-D6BA7474BAF9}"/>
              </a:ext>
            </a:extLst>
          </p:cNvPr>
          <p:cNvGrpSpPr/>
          <p:nvPr/>
        </p:nvGrpSpPr>
        <p:grpSpPr>
          <a:xfrm>
            <a:off x="7149572" y="2455472"/>
            <a:ext cx="5412850" cy="4507231"/>
            <a:chOff x="6175836" y="2242481"/>
            <a:chExt cx="5412850" cy="4507231"/>
          </a:xfrm>
        </p:grpSpPr>
        <p:pic>
          <p:nvPicPr>
            <p:cNvPr id="7" name="Picture 2" descr="alt text">
              <a:extLst>
                <a:ext uri="{FF2B5EF4-FFF2-40B4-BE49-F238E27FC236}">
                  <a16:creationId xmlns:a16="http://schemas.microsoft.com/office/drawing/2014/main" id="{1CE5F50A-D261-404E-BB93-A6A7EBF3E9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5836" y="2242481"/>
              <a:ext cx="5412850" cy="4507231"/>
            </a:xfrm>
            <a:prstGeom prst="rect">
              <a:avLst/>
            </a:prstGeom>
            <a:noFill/>
            <a:extLst>
              <a:ext uri="{909E8E84-426E-40DD-AFC4-6F175D3DCCD1}">
                <a14:hiddenFill xmlns:a14="http://schemas.microsoft.com/office/drawing/2010/main">
                  <a:solidFill>
                    <a:srgbClr val="FFFFFF"/>
                  </a:solidFill>
                </a14:hiddenFill>
              </a:ext>
            </a:extLst>
          </p:spPr>
        </p:pic>
        <p:cxnSp>
          <p:nvCxnSpPr>
            <p:cNvPr id="8" name="Прямая со стрелкой 7">
              <a:extLst>
                <a:ext uri="{FF2B5EF4-FFF2-40B4-BE49-F238E27FC236}">
                  <a16:creationId xmlns:a16="http://schemas.microsoft.com/office/drawing/2014/main" id="{D1944415-0437-405C-9D74-1DB967A50191}"/>
                </a:ext>
              </a:extLst>
            </p:cNvPr>
            <p:cNvCxnSpPr>
              <a:cxnSpLocks/>
            </p:cNvCxnSpPr>
            <p:nvPr/>
          </p:nvCxnSpPr>
          <p:spPr>
            <a:xfrm flipV="1">
              <a:off x="7178524" y="2957857"/>
              <a:ext cx="0" cy="31424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Прямая со стрелкой 9">
              <a:extLst>
                <a:ext uri="{FF2B5EF4-FFF2-40B4-BE49-F238E27FC236}">
                  <a16:creationId xmlns:a16="http://schemas.microsoft.com/office/drawing/2014/main" id="{AF15A600-07ED-4453-B692-621939B9B152}"/>
                </a:ext>
              </a:extLst>
            </p:cNvPr>
            <p:cNvCxnSpPr>
              <a:cxnSpLocks/>
            </p:cNvCxnSpPr>
            <p:nvPr/>
          </p:nvCxnSpPr>
          <p:spPr>
            <a:xfrm>
              <a:off x="7178524" y="6100277"/>
              <a:ext cx="360658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11" name="Picture 2">
            <a:extLst>
              <a:ext uri="{FF2B5EF4-FFF2-40B4-BE49-F238E27FC236}">
                <a16:creationId xmlns:a16="http://schemas.microsoft.com/office/drawing/2014/main" id="{19CF9687-04DE-48A1-B481-674F66775EA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80543" y="4646365"/>
            <a:ext cx="3432243" cy="1930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5551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2">
            <a:extLst>
              <a:ext uri="{FF2B5EF4-FFF2-40B4-BE49-F238E27FC236}">
                <a16:creationId xmlns:a16="http://schemas.microsoft.com/office/drawing/2014/main" id="{CEF7D3C9-F027-4DFF-AC25-52606D3BE3A7}"/>
              </a:ext>
            </a:extLst>
          </p:cNvPr>
          <p:cNvSpPr txBox="1">
            <a:spLocks/>
          </p:cNvSpPr>
          <p:nvPr/>
        </p:nvSpPr>
        <p:spPr>
          <a:xfrm>
            <a:off x="1133141" y="289948"/>
            <a:ext cx="9925717" cy="927688"/>
          </a:xfrm>
          <a:prstGeom prst="rect">
            <a:avLst/>
          </a:prstGeom>
        </p:spPr>
        <p:txBody>
          <a:bodyPr vert="horz" lIns="91440" tIns="45720" rIns="91440" bIns="4572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O(n^2) Квадратичная сложность</a:t>
            </a:r>
          </a:p>
        </p:txBody>
      </p:sp>
      <p:sp>
        <p:nvSpPr>
          <p:cNvPr id="7" name="TextBox 6">
            <a:extLst>
              <a:ext uri="{FF2B5EF4-FFF2-40B4-BE49-F238E27FC236}">
                <a16:creationId xmlns:a16="http://schemas.microsoft.com/office/drawing/2014/main" id="{A36BC8DB-628B-40E7-9E83-A235637E9488}"/>
              </a:ext>
            </a:extLst>
          </p:cNvPr>
          <p:cNvSpPr txBox="1"/>
          <p:nvPr/>
        </p:nvSpPr>
        <p:spPr>
          <a:xfrm>
            <a:off x="940755" y="1716511"/>
            <a:ext cx="7303257" cy="923330"/>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Сюда относятся все вложенные циклы, т.е. цикл в цикле. Самый простой пример - пузырьковая сортировка.</a:t>
            </a:r>
          </a:p>
          <a:p>
            <a:endParaRPr lang="ru-RU"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107E978-3741-4058-851D-CC7030DCC35D}"/>
              </a:ext>
            </a:extLst>
          </p:cNvPr>
          <p:cNvSpPr txBox="1"/>
          <p:nvPr/>
        </p:nvSpPr>
        <p:spPr>
          <a:xfrm>
            <a:off x="509931" y="3122423"/>
            <a:ext cx="7303255" cy="3108543"/>
          </a:xfrm>
          <a:prstGeom prst="rect">
            <a:avLst/>
          </a:prstGeom>
          <a:noFill/>
        </p:spPr>
        <p:txBody>
          <a:bodyPr wrap="square">
            <a:spAutoFit/>
          </a:bodyPr>
          <a:lstStyle/>
          <a:p>
            <a:r>
              <a:rPr lang="en-US" sz="2800" b="0" dirty="0">
                <a:solidFill>
                  <a:srgbClr val="C586C0"/>
                </a:solidFill>
                <a:effectLst/>
                <a:latin typeface="Consolas" panose="020B0609020204030204" pitchFamily="49" charset="0"/>
              </a:rPr>
              <a:t>for</a:t>
            </a:r>
            <a:r>
              <a:rPr lang="en-US" sz="2800" b="0" dirty="0">
                <a:solidFill>
                  <a:srgbClr val="D4D4D4"/>
                </a:solidFill>
                <a:effectLst/>
                <a:latin typeface="Consolas" panose="020B0609020204030204" pitchFamily="49" charset="0"/>
              </a:rPr>
              <a:t> (</a:t>
            </a:r>
            <a:r>
              <a:rPr lang="en-US" sz="2800" b="0" dirty="0">
                <a:solidFill>
                  <a:srgbClr val="569CD6"/>
                </a:solidFill>
                <a:effectLst/>
                <a:latin typeface="Consolas" panose="020B0609020204030204" pitchFamily="49" charset="0"/>
              </a:rPr>
              <a:t>int</a:t>
            </a:r>
            <a:r>
              <a:rPr lang="en-US" sz="2800" b="0" dirty="0">
                <a:solidFill>
                  <a:srgbClr val="D4D4D4"/>
                </a:solidFill>
                <a:effectLst/>
                <a:latin typeface="Consolas" panose="020B0609020204030204" pitchFamily="49" charset="0"/>
              </a:rPr>
              <a:t> </a:t>
            </a:r>
            <a:r>
              <a:rPr lang="en-US" sz="2800" b="0" dirty="0" err="1">
                <a:solidFill>
                  <a:srgbClr val="D4D4D4"/>
                </a:solidFill>
                <a:effectLst/>
                <a:latin typeface="Consolas" panose="020B0609020204030204" pitchFamily="49" charset="0"/>
              </a:rPr>
              <a:t>i</a:t>
            </a:r>
            <a:r>
              <a:rPr lang="en-US" sz="2800" b="0" dirty="0">
                <a:solidFill>
                  <a:srgbClr val="D4D4D4"/>
                </a:solidFill>
                <a:effectLst/>
                <a:latin typeface="Consolas" panose="020B0609020204030204" pitchFamily="49" charset="0"/>
              </a:rPr>
              <a:t> = </a:t>
            </a:r>
            <a:r>
              <a:rPr lang="en-US" sz="2800" b="0" dirty="0">
                <a:solidFill>
                  <a:srgbClr val="B5CEA8"/>
                </a:solidFill>
                <a:effectLst/>
                <a:latin typeface="Consolas" panose="020B0609020204030204" pitchFamily="49" charset="0"/>
              </a:rPr>
              <a:t>0</a:t>
            </a:r>
            <a:r>
              <a:rPr lang="en-US" sz="2800" b="0" dirty="0">
                <a:solidFill>
                  <a:srgbClr val="D4D4D4"/>
                </a:solidFill>
                <a:effectLst/>
                <a:latin typeface="Consolas" panose="020B0609020204030204" pitchFamily="49" charset="0"/>
              </a:rPr>
              <a:t>; </a:t>
            </a:r>
            <a:r>
              <a:rPr lang="en-US" sz="2800" b="0" dirty="0" err="1">
                <a:solidFill>
                  <a:srgbClr val="D4D4D4"/>
                </a:solidFill>
                <a:effectLst/>
                <a:latin typeface="Consolas" panose="020B0609020204030204" pitchFamily="49" charset="0"/>
              </a:rPr>
              <a:t>i</a:t>
            </a:r>
            <a:r>
              <a:rPr lang="en-US" sz="2800" b="0" dirty="0">
                <a:solidFill>
                  <a:srgbClr val="D4D4D4"/>
                </a:solidFill>
                <a:effectLst/>
                <a:latin typeface="Consolas" panose="020B0609020204030204" pitchFamily="49" charset="0"/>
              </a:rPr>
              <a:t> &lt; n; </a:t>
            </a:r>
            <a:r>
              <a:rPr lang="en-US" sz="2800" b="0" dirty="0" err="1">
                <a:solidFill>
                  <a:srgbClr val="D4D4D4"/>
                </a:solidFill>
                <a:effectLst/>
                <a:latin typeface="Consolas" panose="020B0609020204030204" pitchFamily="49" charset="0"/>
              </a:rPr>
              <a:t>i</a:t>
            </a:r>
            <a:r>
              <a:rPr lang="en-US" sz="2800" b="0" dirty="0">
                <a:solidFill>
                  <a:srgbClr val="D4D4D4"/>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r>
              <a:rPr lang="en-US" sz="2800" b="0" dirty="0">
                <a:solidFill>
                  <a:srgbClr val="C586C0"/>
                </a:solidFill>
                <a:effectLst/>
                <a:latin typeface="Consolas" panose="020B0609020204030204" pitchFamily="49" charset="0"/>
              </a:rPr>
              <a:t>for</a:t>
            </a:r>
            <a:r>
              <a:rPr lang="en-US" sz="2800" b="0" dirty="0">
                <a:solidFill>
                  <a:srgbClr val="D4D4D4"/>
                </a:solidFill>
                <a:effectLst/>
                <a:latin typeface="Consolas" panose="020B0609020204030204" pitchFamily="49" charset="0"/>
              </a:rPr>
              <a:t> (</a:t>
            </a:r>
            <a:r>
              <a:rPr lang="en-US" sz="2800" b="0" dirty="0">
                <a:solidFill>
                  <a:srgbClr val="569CD6"/>
                </a:solidFill>
                <a:effectLst/>
                <a:latin typeface="Consolas" panose="020B0609020204030204" pitchFamily="49" charset="0"/>
              </a:rPr>
              <a:t>int</a:t>
            </a:r>
            <a:r>
              <a:rPr lang="en-US" sz="2800" b="0" dirty="0">
                <a:solidFill>
                  <a:srgbClr val="D4D4D4"/>
                </a:solidFill>
                <a:effectLst/>
                <a:latin typeface="Consolas" panose="020B0609020204030204" pitchFamily="49" charset="0"/>
              </a:rPr>
              <a:t> j = </a:t>
            </a:r>
            <a:r>
              <a:rPr lang="en-US" sz="2800" b="0" dirty="0">
                <a:solidFill>
                  <a:srgbClr val="B5CEA8"/>
                </a:solidFill>
                <a:effectLst/>
                <a:latin typeface="Consolas" panose="020B0609020204030204" pitchFamily="49" charset="0"/>
              </a:rPr>
              <a:t>0</a:t>
            </a:r>
            <a:r>
              <a:rPr lang="en-US" sz="2800" b="0" dirty="0">
                <a:solidFill>
                  <a:srgbClr val="D4D4D4"/>
                </a:solidFill>
                <a:effectLst/>
                <a:latin typeface="Consolas" panose="020B0609020204030204" pitchFamily="49" charset="0"/>
              </a:rPr>
              <a:t>; j &lt; n - </a:t>
            </a:r>
            <a:r>
              <a:rPr lang="en-US" sz="2800" b="0" dirty="0">
                <a:solidFill>
                  <a:srgbClr val="B5CEA8"/>
                </a:solidFill>
                <a:effectLst/>
                <a:latin typeface="Consolas" panose="020B0609020204030204" pitchFamily="49" charset="0"/>
              </a:rPr>
              <a:t>1</a:t>
            </a:r>
            <a:r>
              <a:rPr lang="en-US" sz="2800" b="0" dirty="0">
                <a:solidFill>
                  <a:srgbClr val="D4D4D4"/>
                </a:solidFill>
                <a:effectLst/>
                <a:latin typeface="Consolas" panose="020B0609020204030204" pitchFamily="49" charset="0"/>
              </a:rPr>
              <a:t>; </a:t>
            </a:r>
            <a:r>
              <a:rPr lang="en-US" sz="2800" b="0" dirty="0" err="1">
                <a:solidFill>
                  <a:srgbClr val="D4D4D4"/>
                </a:solidFill>
                <a:effectLst/>
                <a:latin typeface="Consolas" panose="020B0609020204030204" pitchFamily="49" charset="0"/>
              </a:rPr>
              <a:t>j++</a:t>
            </a:r>
            <a:r>
              <a:rPr lang="en-US" sz="2800" b="0" dirty="0">
                <a:solidFill>
                  <a:srgbClr val="D4D4D4"/>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r>
              <a:rPr lang="en-US" sz="2800" b="0" dirty="0">
                <a:solidFill>
                  <a:srgbClr val="C586C0"/>
                </a:solidFill>
                <a:effectLst/>
                <a:latin typeface="Consolas" panose="020B0609020204030204" pitchFamily="49" charset="0"/>
              </a:rPr>
              <a:t>if</a:t>
            </a:r>
            <a:r>
              <a:rPr lang="en-US" sz="2800" b="0" dirty="0">
                <a:solidFill>
                  <a:srgbClr val="D4D4D4"/>
                </a:solidFill>
                <a:effectLst/>
                <a:latin typeface="Consolas" panose="020B0609020204030204" pitchFamily="49" charset="0"/>
              </a:rPr>
              <a:t> (</a:t>
            </a:r>
            <a:r>
              <a:rPr lang="en-US" sz="2800" b="0" dirty="0">
                <a:solidFill>
                  <a:srgbClr val="9CDCFE"/>
                </a:solidFill>
                <a:effectLst/>
                <a:latin typeface="Consolas" panose="020B0609020204030204" pitchFamily="49" charset="0"/>
              </a:rPr>
              <a:t>a</a:t>
            </a:r>
            <a:r>
              <a:rPr lang="en-US" sz="2800" b="0" dirty="0">
                <a:solidFill>
                  <a:srgbClr val="D4D4D4"/>
                </a:solidFill>
                <a:effectLst/>
                <a:latin typeface="Consolas" panose="020B0609020204030204" pitchFamily="49" charset="0"/>
              </a:rPr>
              <a:t>[j] &gt; </a:t>
            </a:r>
            <a:r>
              <a:rPr lang="en-US" sz="2800" b="0" dirty="0">
                <a:solidFill>
                  <a:srgbClr val="9CDCFE"/>
                </a:solidFill>
                <a:effectLst/>
                <a:latin typeface="Consolas" panose="020B0609020204030204" pitchFamily="49" charset="0"/>
              </a:rPr>
              <a:t>a</a:t>
            </a:r>
            <a:r>
              <a:rPr lang="en-US" sz="2800" b="0" dirty="0">
                <a:solidFill>
                  <a:srgbClr val="D4D4D4"/>
                </a:solidFill>
                <a:effectLst/>
                <a:latin typeface="Consolas" panose="020B0609020204030204" pitchFamily="49" charset="0"/>
              </a:rPr>
              <a:t>[j + </a:t>
            </a:r>
            <a:r>
              <a:rPr lang="en-US" sz="2800" b="0" dirty="0">
                <a:solidFill>
                  <a:srgbClr val="B5CEA8"/>
                </a:solidFill>
                <a:effectLst/>
                <a:latin typeface="Consolas" panose="020B0609020204030204" pitchFamily="49" charset="0"/>
              </a:rPr>
              <a:t>1</a:t>
            </a:r>
            <a:r>
              <a:rPr lang="en-US" sz="2800" b="0" dirty="0">
                <a:solidFill>
                  <a:srgbClr val="D4D4D4"/>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r>
              <a:rPr lang="en-US" sz="2800" b="0" dirty="0">
                <a:solidFill>
                  <a:srgbClr val="DCDCAA"/>
                </a:solidFill>
                <a:effectLst/>
                <a:latin typeface="Consolas" panose="020B0609020204030204" pitchFamily="49" charset="0"/>
              </a:rPr>
              <a:t>swap</a:t>
            </a:r>
            <a:r>
              <a:rPr lang="en-US" sz="2800" b="0" dirty="0">
                <a:solidFill>
                  <a:srgbClr val="D4D4D4"/>
                </a:solidFill>
                <a:effectLst/>
                <a:latin typeface="Consolas" panose="020B0609020204030204" pitchFamily="49" charset="0"/>
              </a:rPr>
              <a:t>(&amp;</a:t>
            </a:r>
            <a:r>
              <a:rPr lang="en-US" sz="2800" b="0" dirty="0">
                <a:solidFill>
                  <a:srgbClr val="9CDCFE"/>
                </a:solidFill>
                <a:effectLst/>
                <a:latin typeface="Consolas" panose="020B0609020204030204" pitchFamily="49" charset="0"/>
              </a:rPr>
              <a:t>a</a:t>
            </a:r>
            <a:r>
              <a:rPr lang="en-US" sz="2800" b="0" dirty="0">
                <a:solidFill>
                  <a:srgbClr val="D4D4D4"/>
                </a:solidFill>
                <a:effectLst/>
                <a:latin typeface="Consolas" panose="020B0609020204030204" pitchFamily="49" charset="0"/>
              </a:rPr>
              <a:t>[j], &amp;</a:t>
            </a:r>
            <a:r>
              <a:rPr lang="en-US" sz="2800" b="0" dirty="0">
                <a:solidFill>
                  <a:srgbClr val="9CDCFE"/>
                </a:solidFill>
                <a:effectLst/>
                <a:latin typeface="Consolas" panose="020B0609020204030204" pitchFamily="49" charset="0"/>
              </a:rPr>
              <a:t>a</a:t>
            </a:r>
            <a:r>
              <a:rPr lang="en-US" sz="2800" b="0" dirty="0">
                <a:solidFill>
                  <a:srgbClr val="D4D4D4"/>
                </a:solidFill>
                <a:effectLst/>
                <a:latin typeface="Consolas" panose="020B0609020204030204" pitchFamily="49" charset="0"/>
              </a:rPr>
              <a:t>[j + </a:t>
            </a:r>
            <a:r>
              <a:rPr lang="en-US" sz="2800" b="0" dirty="0">
                <a:solidFill>
                  <a:srgbClr val="B5CEA8"/>
                </a:solidFill>
                <a:effectLst/>
                <a:latin typeface="Consolas" panose="020B0609020204030204" pitchFamily="49" charset="0"/>
              </a:rPr>
              <a:t>1</a:t>
            </a:r>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p:txBody>
      </p:sp>
      <p:grpSp>
        <p:nvGrpSpPr>
          <p:cNvPr id="5" name="Группа 4">
            <a:extLst>
              <a:ext uri="{FF2B5EF4-FFF2-40B4-BE49-F238E27FC236}">
                <a16:creationId xmlns:a16="http://schemas.microsoft.com/office/drawing/2014/main" id="{4B22E93B-3AC3-448D-8E94-6815B68F1A7B}"/>
              </a:ext>
            </a:extLst>
          </p:cNvPr>
          <p:cNvGrpSpPr/>
          <p:nvPr/>
        </p:nvGrpSpPr>
        <p:grpSpPr>
          <a:xfrm>
            <a:off x="7149572" y="2455472"/>
            <a:ext cx="5412850" cy="4507231"/>
            <a:chOff x="6175836" y="2242481"/>
            <a:chExt cx="5412850" cy="4507231"/>
          </a:xfrm>
        </p:grpSpPr>
        <p:pic>
          <p:nvPicPr>
            <p:cNvPr id="6" name="Picture 2" descr="alt text">
              <a:extLst>
                <a:ext uri="{FF2B5EF4-FFF2-40B4-BE49-F238E27FC236}">
                  <a16:creationId xmlns:a16="http://schemas.microsoft.com/office/drawing/2014/main" id="{E6B72AC3-93CC-463E-BAB5-C862A741B8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5836" y="2242481"/>
              <a:ext cx="5412850" cy="4507231"/>
            </a:xfrm>
            <a:prstGeom prst="rect">
              <a:avLst/>
            </a:prstGeom>
            <a:noFill/>
            <a:extLst>
              <a:ext uri="{909E8E84-426E-40DD-AFC4-6F175D3DCCD1}">
                <a14:hiddenFill xmlns:a14="http://schemas.microsoft.com/office/drawing/2010/main">
                  <a:solidFill>
                    <a:srgbClr val="FFFFFF"/>
                  </a:solidFill>
                </a14:hiddenFill>
              </a:ext>
            </a:extLst>
          </p:spPr>
        </p:pic>
        <p:cxnSp>
          <p:nvCxnSpPr>
            <p:cNvPr id="8" name="Прямая со стрелкой 7">
              <a:extLst>
                <a:ext uri="{FF2B5EF4-FFF2-40B4-BE49-F238E27FC236}">
                  <a16:creationId xmlns:a16="http://schemas.microsoft.com/office/drawing/2014/main" id="{267B7E0C-FCE4-4DE8-8E68-B96B7C4D01CC}"/>
                </a:ext>
              </a:extLst>
            </p:cNvPr>
            <p:cNvCxnSpPr>
              <a:cxnSpLocks/>
            </p:cNvCxnSpPr>
            <p:nvPr/>
          </p:nvCxnSpPr>
          <p:spPr>
            <a:xfrm flipV="1">
              <a:off x="7178524" y="2957857"/>
              <a:ext cx="0" cy="31424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Прямая со стрелкой 9">
              <a:extLst>
                <a:ext uri="{FF2B5EF4-FFF2-40B4-BE49-F238E27FC236}">
                  <a16:creationId xmlns:a16="http://schemas.microsoft.com/office/drawing/2014/main" id="{D887CF5C-932D-4540-8080-40250E8EBF20}"/>
                </a:ext>
              </a:extLst>
            </p:cNvPr>
            <p:cNvCxnSpPr>
              <a:cxnSpLocks/>
            </p:cNvCxnSpPr>
            <p:nvPr/>
          </p:nvCxnSpPr>
          <p:spPr>
            <a:xfrm>
              <a:off x="7178524" y="6100277"/>
              <a:ext cx="360658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27837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2">
            <a:extLst>
              <a:ext uri="{FF2B5EF4-FFF2-40B4-BE49-F238E27FC236}">
                <a16:creationId xmlns:a16="http://schemas.microsoft.com/office/drawing/2014/main" id="{CEF7D3C9-F027-4DFF-AC25-52606D3BE3A7}"/>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O(n^3) Кубическая сложность</a:t>
            </a:r>
          </a:p>
        </p:txBody>
      </p:sp>
      <p:sp>
        <p:nvSpPr>
          <p:cNvPr id="6" name="TextBox 5">
            <a:extLst>
              <a:ext uri="{FF2B5EF4-FFF2-40B4-BE49-F238E27FC236}">
                <a16:creationId xmlns:a16="http://schemas.microsoft.com/office/drawing/2014/main" id="{01369A89-7D52-4690-B240-3B455A30C12D}"/>
              </a:ext>
            </a:extLst>
          </p:cNvPr>
          <p:cNvSpPr txBox="1"/>
          <p:nvPr/>
        </p:nvSpPr>
        <p:spPr>
          <a:xfrm>
            <a:off x="1133141" y="1781033"/>
            <a:ext cx="10583462" cy="923330"/>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Если O(n) - один проход по набору данных (один цикл), O(n^2) - n*n проходом по данным (два цикла - цикл в цикле), то O(n^3) три цикла, пример:</a:t>
            </a:r>
            <a:endParaRPr lang="en-US" dirty="0">
              <a:latin typeface="Times New Roman" panose="02020603050405020304" pitchFamily="18" charset="0"/>
              <a:cs typeface="Times New Roman" panose="02020603050405020304" pitchFamily="18" charset="0"/>
            </a:endParaRPr>
          </a:p>
          <a:p>
            <a:endParaRPr lang="ru-RU" dirty="0">
              <a:latin typeface="Times New Roman" panose="02020603050405020304" pitchFamily="18" charset="0"/>
              <a:cs typeface="Times New Roman" panose="02020603050405020304" pitchFamily="18" charset="0"/>
            </a:endParaRPr>
          </a:p>
        </p:txBody>
      </p:sp>
      <p:grpSp>
        <p:nvGrpSpPr>
          <p:cNvPr id="5" name="Группа 4">
            <a:extLst>
              <a:ext uri="{FF2B5EF4-FFF2-40B4-BE49-F238E27FC236}">
                <a16:creationId xmlns:a16="http://schemas.microsoft.com/office/drawing/2014/main" id="{F387EC37-B616-485F-B1A3-41B605A34984}"/>
              </a:ext>
            </a:extLst>
          </p:cNvPr>
          <p:cNvGrpSpPr/>
          <p:nvPr/>
        </p:nvGrpSpPr>
        <p:grpSpPr>
          <a:xfrm>
            <a:off x="7149572" y="2455472"/>
            <a:ext cx="5412850" cy="4507231"/>
            <a:chOff x="6175836" y="2242481"/>
            <a:chExt cx="5412850" cy="4507231"/>
          </a:xfrm>
        </p:grpSpPr>
        <p:pic>
          <p:nvPicPr>
            <p:cNvPr id="7" name="Picture 2" descr="alt text">
              <a:extLst>
                <a:ext uri="{FF2B5EF4-FFF2-40B4-BE49-F238E27FC236}">
                  <a16:creationId xmlns:a16="http://schemas.microsoft.com/office/drawing/2014/main" id="{8CD104E3-C582-4976-97FD-D698FF5A95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5836" y="2242481"/>
              <a:ext cx="5412850" cy="4507231"/>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Прямая со стрелкой 9">
              <a:extLst>
                <a:ext uri="{FF2B5EF4-FFF2-40B4-BE49-F238E27FC236}">
                  <a16:creationId xmlns:a16="http://schemas.microsoft.com/office/drawing/2014/main" id="{FD181985-DE24-4D43-94CF-9EF21495B9B7}"/>
                </a:ext>
              </a:extLst>
            </p:cNvPr>
            <p:cNvCxnSpPr>
              <a:cxnSpLocks/>
            </p:cNvCxnSpPr>
            <p:nvPr/>
          </p:nvCxnSpPr>
          <p:spPr>
            <a:xfrm flipV="1">
              <a:off x="7178524" y="2957857"/>
              <a:ext cx="0" cy="31424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a:extLst>
                <a:ext uri="{FF2B5EF4-FFF2-40B4-BE49-F238E27FC236}">
                  <a16:creationId xmlns:a16="http://schemas.microsoft.com/office/drawing/2014/main" id="{49CC82DC-0F26-4FF8-BFE4-D9A7A3B3C2E5}"/>
                </a:ext>
              </a:extLst>
            </p:cNvPr>
            <p:cNvCxnSpPr>
              <a:cxnSpLocks/>
            </p:cNvCxnSpPr>
            <p:nvPr/>
          </p:nvCxnSpPr>
          <p:spPr>
            <a:xfrm>
              <a:off x="7178524" y="6100277"/>
              <a:ext cx="360658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2" name="TextBox 11">
            <a:extLst>
              <a:ext uri="{FF2B5EF4-FFF2-40B4-BE49-F238E27FC236}">
                <a16:creationId xmlns:a16="http://schemas.microsoft.com/office/drawing/2014/main" id="{59DA9DA6-CCAA-409F-B613-FC8E2912362D}"/>
              </a:ext>
            </a:extLst>
          </p:cNvPr>
          <p:cNvSpPr txBox="1"/>
          <p:nvPr/>
        </p:nvSpPr>
        <p:spPr>
          <a:xfrm>
            <a:off x="1004523" y="2932201"/>
            <a:ext cx="6785459" cy="3108543"/>
          </a:xfrm>
          <a:prstGeom prst="rect">
            <a:avLst/>
          </a:prstGeom>
          <a:noFill/>
        </p:spPr>
        <p:txBody>
          <a:bodyPr wrap="square">
            <a:spAutoFit/>
          </a:bodyPr>
          <a:lstStyle/>
          <a:p>
            <a:r>
              <a:rPr lang="en-US" sz="2800" b="0" dirty="0">
                <a:solidFill>
                  <a:srgbClr val="C586C0"/>
                </a:solidFill>
                <a:effectLst/>
                <a:latin typeface="Consolas" panose="020B0609020204030204" pitchFamily="49" charset="0"/>
              </a:rPr>
              <a:t>for</a:t>
            </a:r>
            <a:r>
              <a:rPr lang="en-US" sz="2800" b="0" dirty="0">
                <a:solidFill>
                  <a:srgbClr val="D4D4D4"/>
                </a:solidFill>
                <a:effectLst/>
                <a:latin typeface="Consolas" panose="020B0609020204030204" pitchFamily="49" charset="0"/>
              </a:rPr>
              <a:t> (</a:t>
            </a:r>
            <a:r>
              <a:rPr lang="en-US" sz="2800" b="0" dirty="0">
                <a:solidFill>
                  <a:srgbClr val="569CD6"/>
                </a:solidFill>
                <a:effectLst/>
                <a:latin typeface="Consolas" panose="020B0609020204030204" pitchFamily="49" charset="0"/>
              </a:rPr>
              <a:t>int</a:t>
            </a:r>
            <a:r>
              <a:rPr lang="en-US" sz="2800" b="0" dirty="0">
                <a:solidFill>
                  <a:srgbClr val="D4D4D4"/>
                </a:solidFill>
                <a:effectLst/>
                <a:latin typeface="Consolas" panose="020B0609020204030204" pitchFamily="49" charset="0"/>
              </a:rPr>
              <a:t> </a:t>
            </a:r>
            <a:r>
              <a:rPr lang="en-US" sz="2800" b="0" dirty="0" err="1">
                <a:solidFill>
                  <a:srgbClr val="D4D4D4"/>
                </a:solidFill>
                <a:effectLst/>
                <a:latin typeface="Consolas" panose="020B0609020204030204" pitchFamily="49" charset="0"/>
              </a:rPr>
              <a:t>i</a:t>
            </a:r>
            <a:r>
              <a:rPr lang="en-US" sz="2800" b="0" dirty="0">
                <a:solidFill>
                  <a:srgbClr val="D4D4D4"/>
                </a:solidFill>
                <a:effectLst/>
                <a:latin typeface="Consolas" panose="020B0609020204030204" pitchFamily="49" charset="0"/>
              </a:rPr>
              <a:t> = </a:t>
            </a:r>
            <a:r>
              <a:rPr lang="en-US" sz="2800" b="0" dirty="0">
                <a:solidFill>
                  <a:srgbClr val="B5CEA8"/>
                </a:solidFill>
                <a:effectLst/>
                <a:latin typeface="Consolas" panose="020B0609020204030204" pitchFamily="49" charset="0"/>
              </a:rPr>
              <a:t>0</a:t>
            </a:r>
            <a:r>
              <a:rPr lang="en-US" sz="2800" b="0" dirty="0">
                <a:solidFill>
                  <a:srgbClr val="D4D4D4"/>
                </a:solidFill>
                <a:effectLst/>
                <a:latin typeface="Consolas" panose="020B0609020204030204" pitchFamily="49" charset="0"/>
              </a:rPr>
              <a:t>; </a:t>
            </a:r>
            <a:r>
              <a:rPr lang="en-US" sz="2800" b="0" dirty="0" err="1">
                <a:solidFill>
                  <a:srgbClr val="D4D4D4"/>
                </a:solidFill>
                <a:effectLst/>
                <a:latin typeface="Consolas" panose="020B0609020204030204" pitchFamily="49" charset="0"/>
              </a:rPr>
              <a:t>i</a:t>
            </a:r>
            <a:r>
              <a:rPr lang="en-US" sz="2800" b="0" dirty="0">
                <a:solidFill>
                  <a:srgbClr val="D4D4D4"/>
                </a:solidFill>
                <a:effectLst/>
                <a:latin typeface="Consolas" panose="020B0609020204030204" pitchFamily="49" charset="0"/>
              </a:rPr>
              <a:t> &lt; n; </a:t>
            </a:r>
            <a:r>
              <a:rPr lang="en-US" sz="2800" b="0" dirty="0" err="1">
                <a:solidFill>
                  <a:srgbClr val="D4D4D4"/>
                </a:solidFill>
                <a:effectLst/>
                <a:latin typeface="Consolas" panose="020B0609020204030204" pitchFamily="49" charset="0"/>
              </a:rPr>
              <a:t>i</a:t>
            </a:r>
            <a:r>
              <a:rPr lang="en-US" sz="2800" b="0" dirty="0">
                <a:solidFill>
                  <a:srgbClr val="D4D4D4"/>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r>
              <a:rPr lang="en-US" sz="2800" b="0" dirty="0">
                <a:solidFill>
                  <a:srgbClr val="C586C0"/>
                </a:solidFill>
                <a:effectLst/>
                <a:latin typeface="Consolas" panose="020B0609020204030204" pitchFamily="49" charset="0"/>
              </a:rPr>
              <a:t>for</a:t>
            </a:r>
            <a:r>
              <a:rPr lang="en-US" sz="2800" b="0" dirty="0">
                <a:solidFill>
                  <a:srgbClr val="D4D4D4"/>
                </a:solidFill>
                <a:effectLst/>
                <a:latin typeface="Consolas" panose="020B0609020204030204" pitchFamily="49" charset="0"/>
              </a:rPr>
              <a:t> (</a:t>
            </a:r>
            <a:r>
              <a:rPr lang="en-US" sz="2800" b="0" dirty="0">
                <a:solidFill>
                  <a:srgbClr val="569CD6"/>
                </a:solidFill>
                <a:effectLst/>
                <a:latin typeface="Consolas" panose="020B0609020204030204" pitchFamily="49" charset="0"/>
              </a:rPr>
              <a:t>int</a:t>
            </a:r>
            <a:r>
              <a:rPr lang="en-US" sz="2800" b="0" dirty="0">
                <a:solidFill>
                  <a:srgbClr val="D4D4D4"/>
                </a:solidFill>
                <a:effectLst/>
                <a:latin typeface="Consolas" panose="020B0609020204030204" pitchFamily="49" charset="0"/>
              </a:rPr>
              <a:t> j = </a:t>
            </a:r>
            <a:r>
              <a:rPr lang="en-US" sz="2800" b="0" dirty="0">
                <a:solidFill>
                  <a:srgbClr val="B5CEA8"/>
                </a:solidFill>
                <a:effectLst/>
                <a:latin typeface="Consolas" panose="020B0609020204030204" pitchFamily="49" charset="0"/>
              </a:rPr>
              <a:t>0</a:t>
            </a:r>
            <a:r>
              <a:rPr lang="en-US" sz="2800" b="0" dirty="0">
                <a:solidFill>
                  <a:srgbClr val="D4D4D4"/>
                </a:solidFill>
                <a:effectLst/>
                <a:latin typeface="Consolas" panose="020B0609020204030204" pitchFamily="49" charset="0"/>
              </a:rPr>
              <a:t>; j &lt; n; </a:t>
            </a:r>
            <a:r>
              <a:rPr lang="en-US" sz="2800" b="0" dirty="0" err="1">
                <a:solidFill>
                  <a:srgbClr val="D4D4D4"/>
                </a:solidFill>
                <a:effectLst/>
                <a:latin typeface="Consolas" panose="020B0609020204030204" pitchFamily="49" charset="0"/>
              </a:rPr>
              <a:t>j++</a:t>
            </a:r>
            <a:r>
              <a:rPr lang="en-US" sz="2800" b="0" dirty="0">
                <a:solidFill>
                  <a:srgbClr val="D4D4D4"/>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r>
              <a:rPr lang="en-US" sz="2800" b="0" dirty="0">
                <a:solidFill>
                  <a:srgbClr val="C586C0"/>
                </a:solidFill>
                <a:effectLst/>
                <a:latin typeface="Consolas" panose="020B0609020204030204" pitchFamily="49" charset="0"/>
              </a:rPr>
              <a:t>for</a:t>
            </a:r>
            <a:r>
              <a:rPr lang="en-US" sz="2800" b="0" dirty="0">
                <a:solidFill>
                  <a:srgbClr val="D4D4D4"/>
                </a:solidFill>
                <a:effectLst/>
                <a:latin typeface="Consolas" panose="020B0609020204030204" pitchFamily="49" charset="0"/>
              </a:rPr>
              <a:t> (</a:t>
            </a:r>
            <a:r>
              <a:rPr lang="en-US" sz="2800" b="0" dirty="0">
                <a:solidFill>
                  <a:srgbClr val="569CD6"/>
                </a:solidFill>
                <a:effectLst/>
                <a:latin typeface="Consolas" panose="020B0609020204030204" pitchFamily="49" charset="0"/>
              </a:rPr>
              <a:t>int</a:t>
            </a:r>
            <a:r>
              <a:rPr lang="en-US" sz="2800" b="0" dirty="0">
                <a:solidFill>
                  <a:srgbClr val="D4D4D4"/>
                </a:solidFill>
                <a:effectLst/>
                <a:latin typeface="Consolas" panose="020B0609020204030204" pitchFamily="49" charset="0"/>
              </a:rPr>
              <a:t> k = </a:t>
            </a:r>
            <a:r>
              <a:rPr lang="en-US" sz="2800" b="0" dirty="0">
                <a:solidFill>
                  <a:srgbClr val="B5CEA8"/>
                </a:solidFill>
                <a:effectLst/>
                <a:latin typeface="Consolas" panose="020B0609020204030204" pitchFamily="49" charset="0"/>
              </a:rPr>
              <a:t>0</a:t>
            </a:r>
            <a:r>
              <a:rPr lang="en-US" sz="2800" b="0" dirty="0">
                <a:solidFill>
                  <a:srgbClr val="D4D4D4"/>
                </a:solidFill>
                <a:effectLst/>
                <a:latin typeface="Consolas" panose="020B0609020204030204" pitchFamily="49" charset="0"/>
              </a:rPr>
              <a:t>; k &lt; n; k++)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r>
              <a:rPr lang="en-US" sz="2800" b="0" dirty="0">
                <a:solidFill>
                  <a:srgbClr val="6A9955"/>
                </a:solidFill>
                <a:effectLst/>
                <a:latin typeface="Consolas" panose="020B0609020204030204" pitchFamily="49" charset="0"/>
              </a:rPr>
              <a:t>// do </a:t>
            </a:r>
            <a:r>
              <a:rPr lang="en-US" sz="2800" b="0" dirty="0" err="1">
                <a:solidFill>
                  <a:srgbClr val="6A9955"/>
                </a:solidFill>
                <a:effectLst/>
                <a:latin typeface="Consolas" panose="020B0609020204030204" pitchFamily="49" charset="0"/>
              </a:rPr>
              <a:t>smth</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475726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2">
            <a:extLst>
              <a:ext uri="{FF2B5EF4-FFF2-40B4-BE49-F238E27FC236}">
                <a16:creationId xmlns:a16="http://schemas.microsoft.com/office/drawing/2014/main" id="{CEF7D3C9-F027-4DFF-AC25-52606D3BE3A7}"/>
              </a:ext>
            </a:extLst>
          </p:cNvPr>
          <p:cNvSpPr txBox="1">
            <a:spLocks/>
          </p:cNvSpPr>
          <p:nvPr/>
        </p:nvSpPr>
        <p:spPr>
          <a:xfrm>
            <a:off x="1133141" y="289948"/>
            <a:ext cx="9925717" cy="927688"/>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O(2^n) Экспоненциальная сложность</a:t>
            </a:r>
          </a:p>
        </p:txBody>
      </p:sp>
      <p:sp>
        <p:nvSpPr>
          <p:cNvPr id="6" name="TextBox 5">
            <a:extLst>
              <a:ext uri="{FF2B5EF4-FFF2-40B4-BE49-F238E27FC236}">
                <a16:creationId xmlns:a16="http://schemas.microsoft.com/office/drawing/2014/main" id="{A738576C-8150-479F-9766-57642210A9F4}"/>
              </a:ext>
            </a:extLst>
          </p:cNvPr>
          <p:cNvSpPr txBox="1"/>
          <p:nvPr/>
        </p:nvSpPr>
        <p:spPr>
          <a:xfrm>
            <a:off x="828155" y="1518033"/>
            <a:ext cx="10230703" cy="1200329"/>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Такую сложность можно встретить в рекурсиях, например при расчете чисел Фибоначчи</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В данном коде используется рекурсия - функция, вызывающая саму себя. Однако каждый раз, когда вызывается функция </a:t>
            </a:r>
            <a:r>
              <a:rPr lang="ru-RU" dirty="0" err="1">
                <a:latin typeface="Times New Roman" panose="02020603050405020304" pitchFamily="18" charset="0"/>
                <a:cs typeface="Times New Roman" panose="02020603050405020304" pitchFamily="18" charset="0"/>
              </a:rPr>
              <a:t>fib</a:t>
            </a:r>
            <a:r>
              <a:rPr lang="ru-RU" dirty="0">
                <a:latin typeface="Times New Roman" panose="02020603050405020304" pitchFamily="18" charset="0"/>
                <a:cs typeface="Times New Roman" panose="02020603050405020304" pitchFamily="18" charset="0"/>
              </a:rPr>
              <a:t>(), она порождает</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за собой два дополнительных вызова, что приводит к экспоненциальному увеличению количества вызовов функций с увеличением n.</a:t>
            </a:r>
          </a:p>
        </p:txBody>
      </p:sp>
      <p:pic>
        <p:nvPicPr>
          <p:cNvPr id="13" name="Рисунок 12">
            <a:extLst>
              <a:ext uri="{FF2B5EF4-FFF2-40B4-BE49-F238E27FC236}">
                <a16:creationId xmlns:a16="http://schemas.microsoft.com/office/drawing/2014/main" id="{1915F3BC-120F-4B5C-ADA1-3904ED546B2E}"/>
              </a:ext>
            </a:extLst>
          </p:cNvPr>
          <p:cNvPicPr>
            <a:picLocks noChangeAspect="1"/>
          </p:cNvPicPr>
          <p:nvPr/>
        </p:nvPicPr>
        <p:blipFill>
          <a:blip r:embed="rId3"/>
          <a:stretch>
            <a:fillRect/>
          </a:stretch>
        </p:blipFill>
        <p:spPr>
          <a:xfrm>
            <a:off x="1640854" y="5189884"/>
            <a:ext cx="4006708" cy="1514841"/>
          </a:xfrm>
          <a:prstGeom prst="rect">
            <a:avLst/>
          </a:prstGeom>
        </p:spPr>
      </p:pic>
      <p:sp>
        <p:nvSpPr>
          <p:cNvPr id="7" name="TextBox 6">
            <a:extLst>
              <a:ext uri="{FF2B5EF4-FFF2-40B4-BE49-F238E27FC236}">
                <a16:creationId xmlns:a16="http://schemas.microsoft.com/office/drawing/2014/main" id="{806EC663-882E-4B20-B229-A9E13D0F55F8}"/>
              </a:ext>
            </a:extLst>
          </p:cNvPr>
          <p:cNvSpPr txBox="1"/>
          <p:nvPr/>
        </p:nvSpPr>
        <p:spPr>
          <a:xfrm>
            <a:off x="898493" y="2943115"/>
            <a:ext cx="7146468" cy="2246769"/>
          </a:xfrm>
          <a:prstGeom prst="rect">
            <a:avLst/>
          </a:prstGeom>
          <a:noFill/>
        </p:spPr>
        <p:txBody>
          <a:bodyPr wrap="square">
            <a:spAutoFit/>
          </a:bodyPr>
          <a:lstStyle/>
          <a:p>
            <a:r>
              <a:rPr lang="en-US" sz="2000" b="0" dirty="0">
                <a:solidFill>
                  <a:srgbClr val="569CD6"/>
                </a:solidFill>
                <a:effectLst/>
                <a:latin typeface="Consolas" panose="020B0609020204030204" pitchFamily="49" charset="0"/>
              </a:rPr>
              <a:t>int</a:t>
            </a:r>
            <a:r>
              <a:rPr lang="en-US" sz="2000" b="0" dirty="0">
                <a:solidFill>
                  <a:srgbClr val="D4D4D4"/>
                </a:solidFill>
                <a:effectLst/>
                <a:latin typeface="Consolas" panose="020B0609020204030204" pitchFamily="49" charset="0"/>
              </a:rPr>
              <a:t> </a:t>
            </a:r>
            <a:r>
              <a:rPr lang="en-US" sz="2000" b="0" dirty="0">
                <a:solidFill>
                  <a:srgbClr val="DCDCAA"/>
                </a:solidFill>
                <a:effectLst/>
                <a:latin typeface="Consolas" panose="020B0609020204030204" pitchFamily="49" charset="0"/>
              </a:rPr>
              <a:t>fib</a:t>
            </a:r>
            <a:r>
              <a:rPr lang="en-US" sz="2000" b="0" dirty="0">
                <a:solidFill>
                  <a:srgbClr val="D4D4D4"/>
                </a:solidFill>
                <a:effectLst/>
                <a:latin typeface="Consolas" panose="020B0609020204030204" pitchFamily="49" charset="0"/>
              </a:rPr>
              <a:t>(</a:t>
            </a:r>
            <a:r>
              <a:rPr lang="en-US" sz="2000" b="0" dirty="0">
                <a:solidFill>
                  <a:srgbClr val="569CD6"/>
                </a:solidFill>
                <a:effectLst/>
                <a:latin typeface="Consolas" panose="020B0609020204030204" pitchFamily="49" charset="0"/>
              </a:rPr>
              <a:t>int</a:t>
            </a:r>
            <a:r>
              <a:rPr lang="en-US" sz="2000" b="0" dirty="0">
                <a:solidFill>
                  <a:srgbClr val="D4D4D4"/>
                </a:solidFill>
                <a:effectLst/>
                <a:latin typeface="Consolas" panose="020B0609020204030204" pitchFamily="49" charset="0"/>
              </a:rPr>
              <a:t> </a:t>
            </a:r>
            <a:r>
              <a:rPr lang="en-US" sz="2000" b="0" dirty="0">
                <a:solidFill>
                  <a:srgbClr val="9CDCFE"/>
                </a:solidFill>
                <a:effectLst/>
                <a:latin typeface="Consolas" panose="020B0609020204030204" pitchFamily="49" charset="0"/>
              </a:rPr>
              <a:t>n</a:t>
            </a:r>
            <a:r>
              <a:rPr lang="en-US" sz="2000" b="0" dirty="0">
                <a:solidFill>
                  <a:srgbClr val="D4D4D4"/>
                </a:solidFill>
                <a:effectLst/>
                <a:latin typeface="Consolas" panose="020B0609020204030204" pitchFamily="49" charset="0"/>
              </a:rPr>
              <a:t>) {</a:t>
            </a:r>
            <a:endParaRPr lang="en-US" sz="2000" b="0" dirty="0">
              <a:solidFill>
                <a:srgbClr val="CCCCCC"/>
              </a:solidFill>
              <a:effectLst/>
              <a:latin typeface="Consolas" panose="020B0609020204030204" pitchFamily="49" charset="0"/>
            </a:endParaRPr>
          </a:p>
          <a:p>
            <a:r>
              <a:rPr lang="en-US" sz="2000" b="0" dirty="0">
                <a:solidFill>
                  <a:srgbClr val="D4D4D4"/>
                </a:solidFill>
                <a:effectLst/>
                <a:latin typeface="Consolas" panose="020B0609020204030204" pitchFamily="49" charset="0"/>
              </a:rPr>
              <a:t>  </a:t>
            </a:r>
            <a:r>
              <a:rPr lang="en-US" sz="2000" b="0" dirty="0">
                <a:solidFill>
                  <a:srgbClr val="C586C0"/>
                </a:solidFill>
                <a:effectLst/>
                <a:latin typeface="Consolas" panose="020B0609020204030204" pitchFamily="49" charset="0"/>
              </a:rPr>
              <a:t>if</a:t>
            </a:r>
            <a:r>
              <a:rPr lang="en-US" sz="2000" b="0" dirty="0">
                <a:solidFill>
                  <a:srgbClr val="D4D4D4"/>
                </a:solidFill>
                <a:effectLst/>
                <a:latin typeface="Consolas" panose="020B0609020204030204" pitchFamily="49" charset="0"/>
              </a:rPr>
              <a:t> (n &lt;= </a:t>
            </a:r>
            <a:r>
              <a:rPr lang="en-US" sz="2000" b="0" dirty="0">
                <a:solidFill>
                  <a:srgbClr val="B5CEA8"/>
                </a:solidFill>
                <a:effectLst/>
                <a:latin typeface="Consolas" panose="020B0609020204030204" pitchFamily="49" charset="0"/>
              </a:rPr>
              <a:t>1</a:t>
            </a:r>
            <a:r>
              <a:rPr lang="en-US" sz="2000" b="0" dirty="0">
                <a:solidFill>
                  <a:srgbClr val="D4D4D4"/>
                </a:solidFill>
                <a:effectLst/>
                <a:latin typeface="Consolas" panose="020B0609020204030204" pitchFamily="49" charset="0"/>
              </a:rPr>
              <a:t>) {</a:t>
            </a:r>
            <a:endParaRPr lang="en-US" sz="2000" b="0" dirty="0">
              <a:solidFill>
                <a:srgbClr val="CCCCCC"/>
              </a:solidFill>
              <a:effectLst/>
              <a:latin typeface="Consolas" panose="020B0609020204030204" pitchFamily="49" charset="0"/>
            </a:endParaRPr>
          </a:p>
          <a:p>
            <a:r>
              <a:rPr lang="en-US" sz="2000" b="0" dirty="0">
                <a:solidFill>
                  <a:srgbClr val="D4D4D4"/>
                </a:solidFill>
                <a:effectLst/>
                <a:latin typeface="Consolas" panose="020B0609020204030204" pitchFamily="49" charset="0"/>
              </a:rPr>
              <a:t>    </a:t>
            </a:r>
            <a:r>
              <a:rPr lang="en-US" sz="2000" b="0" dirty="0">
                <a:solidFill>
                  <a:srgbClr val="C586C0"/>
                </a:solidFill>
                <a:effectLst/>
                <a:latin typeface="Consolas" panose="020B0609020204030204" pitchFamily="49" charset="0"/>
              </a:rPr>
              <a:t>return</a:t>
            </a:r>
            <a:r>
              <a:rPr lang="en-US" sz="2000" b="0" dirty="0">
                <a:solidFill>
                  <a:srgbClr val="D4D4D4"/>
                </a:solidFill>
                <a:effectLst/>
                <a:latin typeface="Consolas" panose="020B0609020204030204" pitchFamily="49" charset="0"/>
              </a:rPr>
              <a:t> n;</a:t>
            </a:r>
            <a:endParaRPr lang="en-US" sz="2000" b="0" dirty="0">
              <a:solidFill>
                <a:srgbClr val="CCCCCC"/>
              </a:solidFill>
              <a:effectLst/>
              <a:latin typeface="Consolas" panose="020B0609020204030204" pitchFamily="49" charset="0"/>
            </a:endParaRPr>
          </a:p>
          <a:p>
            <a:r>
              <a:rPr lang="en-US" sz="2000" b="0" dirty="0">
                <a:solidFill>
                  <a:srgbClr val="D4D4D4"/>
                </a:solidFill>
                <a:effectLst/>
                <a:latin typeface="Consolas" panose="020B0609020204030204" pitchFamily="49" charset="0"/>
              </a:rPr>
              <a:t>  } </a:t>
            </a:r>
            <a:r>
              <a:rPr lang="en-US" sz="2000" b="0" dirty="0">
                <a:solidFill>
                  <a:srgbClr val="C586C0"/>
                </a:solidFill>
                <a:effectLst/>
                <a:latin typeface="Consolas" panose="020B0609020204030204" pitchFamily="49" charset="0"/>
              </a:rPr>
              <a:t>else</a:t>
            </a:r>
            <a:r>
              <a:rPr lang="en-US" sz="2000" b="0" dirty="0">
                <a:solidFill>
                  <a:srgbClr val="D4D4D4"/>
                </a:solidFill>
                <a:effectLst/>
                <a:latin typeface="Consolas" panose="020B0609020204030204" pitchFamily="49" charset="0"/>
              </a:rPr>
              <a:t> {</a:t>
            </a:r>
            <a:endParaRPr lang="en-US" sz="2000" b="0" dirty="0">
              <a:solidFill>
                <a:srgbClr val="CCCCCC"/>
              </a:solidFill>
              <a:effectLst/>
              <a:latin typeface="Consolas" panose="020B0609020204030204" pitchFamily="49" charset="0"/>
            </a:endParaRPr>
          </a:p>
          <a:p>
            <a:r>
              <a:rPr lang="en-US" sz="2000" b="0" dirty="0">
                <a:solidFill>
                  <a:srgbClr val="D4D4D4"/>
                </a:solidFill>
                <a:effectLst/>
                <a:latin typeface="Consolas" panose="020B0609020204030204" pitchFamily="49" charset="0"/>
              </a:rPr>
              <a:t>    </a:t>
            </a:r>
            <a:r>
              <a:rPr lang="en-US" sz="2000" b="0" dirty="0">
                <a:solidFill>
                  <a:srgbClr val="C586C0"/>
                </a:solidFill>
                <a:effectLst/>
                <a:latin typeface="Consolas" panose="020B0609020204030204" pitchFamily="49" charset="0"/>
              </a:rPr>
              <a:t>return</a:t>
            </a:r>
            <a:r>
              <a:rPr lang="en-US" sz="2000" b="0" dirty="0">
                <a:solidFill>
                  <a:srgbClr val="D4D4D4"/>
                </a:solidFill>
                <a:effectLst/>
                <a:latin typeface="Consolas" panose="020B0609020204030204" pitchFamily="49" charset="0"/>
              </a:rPr>
              <a:t> </a:t>
            </a:r>
            <a:r>
              <a:rPr lang="en-US" sz="2000" b="0" dirty="0">
                <a:solidFill>
                  <a:srgbClr val="DCDCAA"/>
                </a:solidFill>
                <a:effectLst/>
                <a:latin typeface="Consolas" panose="020B0609020204030204" pitchFamily="49" charset="0"/>
              </a:rPr>
              <a:t>fib</a:t>
            </a:r>
            <a:r>
              <a:rPr lang="en-US" sz="2000" b="0" dirty="0">
                <a:solidFill>
                  <a:srgbClr val="D4D4D4"/>
                </a:solidFill>
                <a:effectLst/>
                <a:latin typeface="Consolas" panose="020B0609020204030204" pitchFamily="49" charset="0"/>
              </a:rPr>
              <a:t>(n - </a:t>
            </a:r>
            <a:r>
              <a:rPr lang="en-US" sz="2000" b="0" dirty="0">
                <a:solidFill>
                  <a:srgbClr val="B5CEA8"/>
                </a:solidFill>
                <a:effectLst/>
                <a:latin typeface="Consolas" panose="020B0609020204030204" pitchFamily="49" charset="0"/>
              </a:rPr>
              <a:t>1</a:t>
            </a:r>
            <a:r>
              <a:rPr lang="en-US" sz="2000" b="0" dirty="0">
                <a:solidFill>
                  <a:srgbClr val="D4D4D4"/>
                </a:solidFill>
                <a:effectLst/>
                <a:latin typeface="Consolas" panose="020B0609020204030204" pitchFamily="49" charset="0"/>
              </a:rPr>
              <a:t>) + </a:t>
            </a:r>
            <a:r>
              <a:rPr lang="en-US" sz="2000" b="0" dirty="0">
                <a:solidFill>
                  <a:srgbClr val="DCDCAA"/>
                </a:solidFill>
                <a:effectLst/>
                <a:latin typeface="Consolas" panose="020B0609020204030204" pitchFamily="49" charset="0"/>
              </a:rPr>
              <a:t>fib</a:t>
            </a:r>
            <a:r>
              <a:rPr lang="en-US" sz="2000" b="0" dirty="0">
                <a:solidFill>
                  <a:srgbClr val="D4D4D4"/>
                </a:solidFill>
                <a:effectLst/>
                <a:latin typeface="Consolas" panose="020B0609020204030204" pitchFamily="49" charset="0"/>
              </a:rPr>
              <a:t>(n - </a:t>
            </a:r>
            <a:r>
              <a:rPr lang="en-US" sz="2000" b="0" dirty="0">
                <a:solidFill>
                  <a:srgbClr val="B5CEA8"/>
                </a:solidFill>
                <a:effectLst/>
                <a:latin typeface="Consolas" panose="020B0609020204030204" pitchFamily="49" charset="0"/>
              </a:rPr>
              <a:t>2</a:t>
            </a:r>
            <a:r>
              <a:rPr lang="en-US" sz="2000" b="0" dirty="0">
                <a:solidFill>
                  <a:srgbClr val="D4D4D4"/>
                </a:solidFill>
                <a:effectLst/>
                <a:latin typeface="Consolas" panose="020B0609020204030204" pitchFamily="49" charset="0"/>
              </a:rPr>
              <a:t>);</a:t>
            </a:r>
            <a:endParaRPr lang="en-US" sz="2000" b="0" dirty="0">
              <a:solidFill>
                <a:srgbClr val="CCCCCC"/>
              </a:solidFill>
              <a:effectLst/>
              <a:latin typeface="Consolas" panose="020B0609020204030204" pitchFamily="49" charset="0"/>
            </a:endParaRPr>
          </a:p>
          <a:p>
            <a:r>
              <a:rPr lang="en-US" sz="2000" b="0" dirty="0">
                <a:solidFill>
                  <a:srgbClr val="D4D4D4"/>
                </a:solidFill>
                <a:effectLst/>
                <a:latin typeface="Consolas" panose="020B0609020204030204" pitchFamily="49" charset="0"/>
              </a:rPr>
              <a:t>  }</a:t>
            </a:r>
            <a:endParaRPr lang="en-US" sz="2000" b="0" dirty="0">
              <a:solidFill>
                <a:srgbClr val="CCCCCC"/>
              </a:solidFill>
              <a:effectLst/>
              <a:latin typeface="Consolas" panose="020B0609020204030204" pitchFamily="49" charset="0"/>
            </a:endParaRPr>
          </a:p>
          <a:p>
            <a:r>
              <a:rPr lang="en-US" sz="2000" b="0" dirty="0">
                <a:solidFill>
                  <a:srgbClr val="D4D4D4"/>
                </a:solidFill>
                <a:effectLst/>
                <a:latin typeface="Consolas" panose="020B0609020204030204" pitchFamily="49" charset="0"/>
              </a:rPr>
              <a:t>}</a:t>
            </a:r>
            <a:endParaRPr lang="en-US" sz="2000" b="0" dirty="0">
              <a:solidFill>
                <a:srgbClr val="CCCCCC"/>
              </a:solidFill>
              <a:effectLst/>
              <a:latin typeface="Consolas" panose="020B0609020204030204" pitchFamily="49" charset="0"/>
            </a:endParaRPr>
          </a:p>
        </p:txBody>
      </p:sp>
      <p:grpSp>
        <p:nvGrpSpPr>
          <p:cNvPr id="8" name="Группа 7">
            <a:extLst>
              <a:ext uri="{FF2B5EF4-FFF2-40B4-BE49-F238E27FC236}">
                <a16:creationId xmlns:a16="http://schemas.microsoft.com/office/drawing/2014/main" id="{70F64460-63F0-44CE-A775-024C791D559D}"/>
              </a:ext>
            </a:extLst>
          </p:cNvPr>
          <p:cNvGrpSpPr/>
          <p:nvPr/>
        </p:nvGrpSpPr>
        <p:grpSpPr>
          <a:xfrm>
            <a:off x="7149572" y="2455472"/>
            <a:ext cx="5412850" cy="4507231"/>
            <a:chOff x="6175836" y="2242481"/>
            <a:chExt cx="5412850" cy="4507231"/>
          </a:xfrm>
        </p:grpSpPr>
        <p:pic>
          <p:nvPicPr>
            <p:cNvPr id="10" name="Picture 2" descr="alt text">
              <a:extLst>
                <a:ext uri="{FF2B5EF4-FFF2-40B4-BE49-F238E27FC236}">
                  <a16:creationId xmlns:a16="http://schemas.microsoft.com/office/drawing/2014/main" id="{AC8272F3-6081-412D-85B0-FFE3F61090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5836" y="2242481"/>
              <a:ext cx="5412850" cy="4507231"/>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Прямая со стрелкой 10">
              <a:extLst>
                <a:ext uri="{FF2B5EF4-FFF2-40B4-BE49-F238E27FC236}">
                  <a16:creationId xmlns:a16="http://schemas.microsoft.com/office/drawing/2014/main" id="{6861FC4E-4CED-4068-BCA3-6C7720BD5A06}"/>
                </a:ext>
              </a:extLst>
            </p:cNvPr>
            <p:cNvCxnSpPr>
              <a:cxnSpLocks/>
            </p:cNvCxnSpPr>
            <p:nvPr/>
          </p:nvCxnSpPr>
          <p:spPr>
            <a:xfrm flipV="1">
              <a:off x="7178524" y="2957857"/>
              <a:ext cx="0" cy="31424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a:extLst>
                <a:ext uri="{FF2B5EF4-FFF2-40B4-BE49-F238E27FC236}">
                  <a16:creationId xmlns:a16="http://schemas.microsoft.com/office/drawing/2014/main" id="{10B42352-664C-4A6F-B657-73397A3CE426}"/>
                </a:ext>
              </a:extLst>
            </p:cNvPr>
            <p:cNvCxnSpPr>
              <a:cxnSpLocks/>
            </p:cNvCxnSpPr>
            <p:nvPr/>
          </p:nvCxnSpPr>
          <p:spPr>
            <a:xfrm>
              <a:off x="7178524" y="6100277"/>
              <a:ext cx="360658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47904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2">
            <a:extLst>
              <a:ext uri="{FF2B5EF4-FFF2-40B4-BE49-F238E27FC236}">
                <a16:creationId xmlns:a16="http://schemas.microsoft.com/office/drawing/2014/main" id="{CEF7D3C9-F027-4DFF-AC25-52606D3BE3A7}"/>
              </a:ext>
            </a:extLst>
          </p:cNvPr>
          <p:cNvSpPr txBox="1">
            <a:spLocks/>
          </p:cNvSpPr>
          <p:nvPr/>
        </p:nvSpPr>
        <p:spPr>
          <a:xfrm>
            <a:off x="1133141" y="289948"/>
            <a:ext cx="9925717" cy="927688"/>
          </a:xfrm>
          <a:prstGeom prst="rect">
            <a:avLst/>
          </a:prstGeom>
        </p:spPr>
        <p:txBody>
          <a:bodyPr vert="horz" lIns="91440" tIns="45720" rIns="91440" bIns="4572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latin typeface="Times New Roman" panose="02020603050405020304" pitchFamily="18" charset="0"/>
                <a:cs typeface="Times New Roman" panose="02020603050405020304" pitchFamily="18" charset="0"/>
              </a:rPr>
              <a:t>O(n!) </a:t>
            </a:r>
            <a:r>
              <a:rPr lang="ru-RU" dirty="0">
                <a:latin typeface="Times New Roman" panose="02020603050405020304" pitchFamily="18" charset="0"/>
                <a:cs typeface="Times New Roman" panose="02020603050405020304" pitchFamily="18" charset="0"/>
              </a:rPr>
              <a:t>Факториальная сложность</a:t>
            </a:r>
          </a:p>
        </p:txBody>
      </p:sp>
      <p:sp>
        <p:nvSpPr>
          <p:cNvPr id="6" name="TextBox 5">
            <a:extLst>
              <a:ext uri="{FF2B5EF4-FFF2-40B4-BE49-F238E27FC236}">
                <a16:creationId xmlns:a16="http://schemas.microsoft.com/office/drawing/2014/main" id="{179A15D2-2F37-4667-99CD-941D50B58692}"/>
              </a:ext>
            </a:extLst>
          </p:cNvPr>
          <p:cNvSpPr txBox="1"/>
          <p:nvPr/>
        </p:nvSpPr>
        <p:spPr>
          <a:xfrm>
            <a:off x="978277" y="1636381"/>
            <a:ext cx="10235444" cy="923330"/>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Здесь время выполнения алгоритма растет пропорционально факториалу размера входных данных. Самый простой пример такой </a:t>
            </a:r>
            <a:r>
              <a:rPr lang="ru-RU" dirty="0" err="1">
                <a:latin typeface="Times New Roman" panose="02020603050405020304" pitchFamily="18" charset="0"/>
                <a:cs typeface="Times New Roman" panose="02020603050405020304" pitchFamily="18" charset="0"/>
              </a:rPr>
              <a:t>трудозатратной</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фукции</a:t>
            </a:r>
            <a:r>
              <a:rPr lang="ru-RU" dirty="0">
                <a:latin typeface="Times New Roman" panose="02020603050405020304" pitchFamily="18" charset="0"/>
                <a:cs typeface="Times New Roman" panose="02020603050405020304" pitchFamily="18" charset="0"/>
              </a:rPr>
              <a:t>:</a:t>
            </a:r>
          </a:p>
          <a:p>
            <a:endParaRPr lang="ru-RU"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AF4B96A0-4124-4119-9925-CB195098803D}"/>
              </a:ext>
            </a:extLst>
          </p:cNvPr>
          <p:cNvSpPr txBox="1"/>
          <p:nvPr/>
        </p:nvSpPr>
        <p:spPr>
          <a:xfrm>
            <a:off x="964498" y="4921167"/>
            <a:ext cx="4634613" cy="1200329"/>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Вызов функции f() от n единожды порождает n функций, вызывающих n-1 функций, вызывающих n-2 функций..</a:t>
            </a:r>
          </a:p>
          <a:p>
            <a:endParaRPr lang="ru-RU"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0278156-0D3E-4243-A601-6A55765CFE27}"/>
              </a:ext>
            </a:extLst>
          </p:cNvPr>
          <p:cNvSpPr txBox="1"/>
          <p:nvPr/>
        </p:nvSpPr>
        <p:spPr>
          <a:xfrm>
            <a:off x="978277" y="2455472"/>
            <a:ext cx="6421039" cy="2246769"/>
          </a:xfrm>
          <a:prstGeom prst="rect">
            <a:avLst/>
          </a:prstGeom>
          <a:noFill/>
        </p:spPr>
        <p:txBody>
          <a:bodyPr wrap="square">
            <a:spAutoFit/>
          </a:bodyPr>
          <a:lstStyle/>
          <a:p>
            <a:r>
              <a:rPr lang="en-US" sz="2800" b="0" dirty="0">
                <a:solidFill>
                  <a:srgbClr val="569CD6"/>
                </a:solidFill>
                <a:effectLst/>
                <a:latin typeface="Consolas" panose="020B0609020204030204" pitchFamily="49" charset="0"/>
              </a:rPr>
              <a:t>void</a:t>
            </a:r>
            <a:r>
              <a:rPr lang="en-US" sz="2800" b="0" dirty="0">
                <a:solidFill>
                  <a:srgbClr val="D4D4D4"/>
                </a:solidFill>
                <a:effectLst/>
                <a:latin typeface="Consolas" panose="020B0609020204030204" pitchFamily="49" charset="0"/>
              </a:rPr>
              <a:t> </a:t>
            </a:r>
            <a:r>
              <a:rPr lang="en-US" sz="2800" b="0" dirty="0">
                <a:solidFill>
                  <a:srgbClr val="DCDCAA"/>
                </a:solidFill>
                <a:effectLst/>
                <a:latin typeface="Consolas" panose="020B0609020204030204" pitchFamily="49" charset="0"/>
              </a:rPr>
              <a:t>f</a:t>
            </a:r>
            <a:r>
              <a:rPr lang="en-US" sz="2800" b="0" dirty="0">
                <a:solidFill>
                  <a:srgbClr val="D4D4D4"/>
                </a:solidFill>
                <a:effectLst/>
                <a:latin typeface="Consolas" panose="020B0609020204030204" pitchFamily="49" charset="0"/>
              </a:rPr>
              <a:t>(</a:t>
            </a:r>
            <a:r>
              <a:rPr lang="en-US" sz="2800" b="0" dirty="0">
                <a:solidFill>
                  <a:srgbClr val="569CD6"/>
                </a:solidFill>
                <a:effectLst/>
                <a:latin typeface="Consolas" panose="020B0609020204030204" pitchFamily="49" charset="0"/>
              </a:rPr>
              <a:t>int</a:t>
            </a:r>
            <a:r>
              <a:rPr lang="en-US" sz="2800" b="0" dirty="0">
                <a:solidFill>
                  <a:srgbClr val="D4D4D4"/>
                </a:solidFill>
                <a:effectLst/>
                <a:latin typeface="Consolas" panose="020B0609020204030204" pitchFamily="49" charset="0"/>
              </a:rPr>
              <a:t> </a:t>
            </a:r>
            <a:r>
              <a:rPr lang="en-US" sz="2800" b="0" dirty="0">
                <a:solidFill>
                  <a:srgbClr val="9CDCFE"/>
                </a:solidFill>
                <a:effectLst/>
                <a:latin typeface="Consolas" panose="020B0609020204030204" pitchFamily="49" charset="0"/>
              </a:rPr>
              <a:t>n</a:t>
            </a:r>
            <a:r>
              <a:rPr lang="en-US" sz="2800" b="0" dirty="0">
                <a:solidFill>
                  <a:srgbClr val="D4D4D4"/>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r>
              <a:rPr lang="en-US" sz="2800" b="0" dirty="0">
                <a:solidFill>
                  <a:srgbClr val="C586C0"/>
                </a:solidFill>
                <a:effectLst/>
                <a:latin typeface="Consolas" panose="020B0609020204030204" pitchFamily="49" charset="0"/>
              </a:rPr>
              <a:t>for</a:t>
            </a:r>
            <a:r>
              <a:rPr lang="en-US" sz="2800" b="0" dirty="0">
                <a:solidFill>
                  <a:srgbClr val="D4D4D4"/>
                </a:solidFill>
                <a:effectLst/>
                <a:latin typeface="Consolas" panose="020B0609020204030204" pitchFamily="49" charset="0"/>
              </a:rPr>
              <a:t>(</a:t>
            </a:r>
            <a:r>
              <a:rPr lang="en-US" sz="2800" b="0" dirty="0">
                <a:solidFill>
                  <a:srgbClr val="569CD6"/>
                </a:solidFill>
                <a:effectLst/>
                <a:latin typeface="Consolas" panose="020B0609020204030204" pitchFamily="49" charset="0"/>
              </a:rPr>
              <a:t>int</a:t>
            </a:r>
            <a:r>
              <a:rPr lang="en-US" sz="2800" b="0" dirty="0">
                <a:solidFill>
                  <a:srgbClr val="D4D4D4"/>
                </a:solidFill>
                <a:effectLst/>
                <a:latin typeface="Consolas" panose="020B0609020204030204" pitchFamily="49" charset="0"/>
              </a:rPr>
              <a:t> </a:t>
            </a:r>
            <a:r>
              <a:rPr lang="en-US" sz="2800" b="0" dirty="0" err="1">
                <a:solidFill>
                  <a:srgbClr val="D4D4D4"/>
                </a:solidFill>
                <a:effectLst/>
                <a:latin typeface="Consolas" panose="020B0609020204030204" pitchFamily="49" charset="0"/>
              </a:rPr>
              <a:t>i</a:t>
            </a:r>
            <a:r>
              <a:rPr lang="en-US" sz="2800" b="0" dirty="0">
                <a:solidFill>
                  <a:srgbClr val="D4D4D4"/>
                </a:solidFill>
                <a:effectLst/>
                <a:latin typeface="Consolas" panose="020B0609020204030204" pitchFamily="49" charset="0"/>
              </a:rPr>
              <a:t> = </a:t>
            </a:r>
            <a:r>
              <a:rPr lang="en-US" sz="2800" b="0" dirty="0">
                <a:solidFill>
                  <a:srgbClr val="B5CEA8"/>
                </a:solidFill>
                <a:effectLst/>
                <a:latin typeface="Consolas" panose="020B0609020204030204" pitchFamily="49" charset="0"/>
              </a:rPr>
              <a:t>0</a:t>
            </a:r>
            <a:r>
              <a:rPr lang="en-US" sz="2800" b="0" dirty="0">
                <a:solidFill>
                  <a:srgbClr val="D4D4D4"/>
                </a:solidFill>
                <a:effectLst/>
                <a:latin typeface="Consolas" panose="020B0609020204030204" pitchFamily="49" charset="0"/>
              </a:rPr>
              <a:t>; </a:t>
            </a:r>
            <a:r>
              <a:rPr lang="en-US" sz="2800" b="0" dirty="0" err="1">
                <a:solidFill>
                  <a:srgbClr val="D4D4D4"/>
                </a:solidFill>
                <a:effectLst/>
                <a:latin typeface="Consolas" panose="020B0609020204030204" pitchFamily="49" charset="0"/>
              </a:rPr>
              <a:t>i</a:t>
            </a:r>
            <a:r>
              <a:rPr lang="en-US" sz="2800" b="0" dirty="0">
                <a:solidFill>
                  <a:srgbClr val="D4D4D4"/>
                </a:solidFill>
                <a:effectLst/>
                <a:latin typeface="Consolas" panose="020B0609020204030204" pitchFamily="49" charset="0"/>
              </a:rPr>
              <a:t> &lt; n; </a:t>
            </a:r>
            <a:r>
              <a:rPr lang="en-US" sz="2800" b="0" dirty="0" err="1">
                <a:solidFill>
                  <a:srgbClr val="D4D4D4"/>
                </a:solidFill>
                <a:effectLst/>
                <a:latin typeface="Consolas" panose="020B0609020204030204" pitchFamily="49" charset="0"/>
              </a:rPr>
              <a:t>i</a:t>
            </a:r>
            <a:r>
              <a:rPr lang="en-US" sz="2800" b="0" dirty="0">
                <a:solidFill>
                  <a:srgbClr val="D4D4D4"/>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r>
              <a:rPr lang="en-US" sz="2800" b="0" dirty="0">
                <a:solidFill>
                  <a:srgbClr val="DCDCAA"/>
                </a:solidFill>
                <a:effectLst/>
                <a:latin typeface="Consolas" panose="020B0609020204030204" pitchFamily="49" charset="0"/>
              </a:rPr>
              <a:t>f</a:t>
            </a:r>
            <a:r>
              <a:rPr lang="en-US" sz="2800" b="0" dirty="0">
                <a:solidFill>
                  <a:srgbClr val="D4D4D4"/>
                </a:solidFill>
                <a:effectLst/>
                <a:latin typeface="Consolas" panose="020B0609020204030204" pitchFamily="49" charset="0"/>
              </a:rPr>
              <a:t>(n - </a:t>
            </a:r>
            <a:r>
              <a:rPr lang="en-US" sz="2800" b="0" dirty="0">
                <a:solidFill>
                  <a:srgbClr val="B5CEA8"/>
                </a:solidFill>
                <a:effectLst/>
                <a:latin typeface="Consolas" panose="020B0609020204030204" pitchFamily="49" charset="0"/>
              </a:rPr>
              <a:t>1</a:t>
            </a:r>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r>
              <a:rPr lang="en-US" sz="2800" b="0" dirty="0">
                <a:solidFill>
                  <a:srgbClr val="D4D4D4"/>
                </a:solidFill>
                <a:effectLst/>
                <a:latin typeface="Consolas" panose="020B0609020204030204" pitchFamily="49" charset="0"/>
              </a:rPr>
              <a:t>}</a:t>
            </a:r>
            <a:endParaRPr lang="en-US" sz="2800" b="0" dirty="0">
              <a:solidFill>
                <a:srgbClr val="CCCCCC"/>
              </a:solidFill>
              <a:effectLst/>
              <a:latin typeface="Consolas" panose="020B0609020204030204" pitchFamily="49" charset="0"/>
            </a:endParaRPr>
          </a:p>
        </p:txBody>
      </p:sp>
      <p:grpSp>
        <p:nvGrpSpPr>
          <p:cNvPr id="10" name="Группа 9">
            <a:extLst>
              <a:ext uri="{FF2B5EF4-FFF2-40B4-BE49-F238E27FC236}">
                <a16:creationId xmlns:a16="http://schemas.microsoft.com/office/drawing/2014/main" id="{C923BE0C-5637-401F-A215-3A4DE28E064E}"/>
              </a:ext>
            </a:extLst>
          </p:cNvPr>
          <p:cNvGrpSpPr/>
          <p:nvPr/>
        </p:nvGrpSpPr>
        <p:grpSpPr>
          <a:xfrm>
            <a:off x="7149572" y="2455472"/>
            <a:ext cx="5412850" cy="4507231"/>
            <a:chOff x="6175836" y="2242481"/>
            <a:chExt cx="5412850" cy="4507231"/>
          </a:xfrm>
        </p:grpSpPr>
        <p:pic>
          <p:nvPicPr>
            <p:cNvPr id="11" name="Picture 2" descr="alt text">
              <a:extLst>
                <a:ext uri="{FF2B5EF4-FFF2-40B4-BE49-F238E27FC236}">
                  <a16:creationId xmlns:a16="http://schemas.microsoft.com/office/drawing/2014/main" id="{6C71630E-30CF-44DD-B595-95975E1F1C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5836" y="2242481"/>
              <a:ext cx="5412850" cy="4507231"/>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Прямая со стрелкой 12">
              <a:extLst>
                <a:ext uri="{FF2B5EF4-FFF2-40B4-BE49-F238E27FC236}">
                  <a16:creationId xmlns:a16="http://schemas.microsoft.com/office/drawing/2014/main" id="{E9AB1C66-A131-4510-98C4-A92221C4FC1A}"/>
                </a:ext>
              </a:extLst>
            </p:cNvPr>
            <p:cNvCxnSpPr>
              <a:cxnSpLocks/>
            </p:cNvCxnSpPr>
            <p:nvPr/>
          </p:nvCxnSpPr>
          <p:spPr>
            <a:xfrm flipV="1">
              <a:off x="7178524" y="2957857"/>
              <a:ext cx="0" cy="31424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a:extLst>
                <a:ext uri="{FF2B5EF4-FFF2-40B4-BE49-F238E27FC236}">
                  <a16:creationId xmlns:a16="http://schemas.microsoft.com/office/drawing/2014/main" id="{CF2D29B2-C300-417A-A3D8-2CE04100991F}"/>
                </a:ext>
              </a:extLst>
            </p:cNvPr>
            <p:cNvCxnSpPr>
              <a:cxnSpLocks/>
            </p:cNvCxnSpPr>
            <p:nvPr/>
          </p:nvCxnSpPr>
          <p:spPr>
            <a:xfrm>
              <a:off x="7178524" y="6100277"/>
              <a:ext cx="360658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23061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2">
            <a:extLst>
              <a:ext uri="{FF2B5EF4-FFF2-40B4-BE49-F238E27FC236}">
                <a16:creationId xmlns:a16="http://schemas.microsoft.com/office/drawing/2014/main" id="{CEF7D3C9-F027-4DFF-AC25-52606D3BE3A7}"/>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Нюансы </a:t>
            </a:r>
            <a:r>
              <a:rPr lang="en-US" dirty="0">
                <a:latin typeface="Times New Roman" panose="02020603050405020304" pitchFamily="18" charset="0"/>
                <a:cs typeface="Times New Roman" panose="02020603050405020304" pitchFamily="18" charset="0"/>
              </a:rPr>
              <a:t>Big O</a:t>
            </a:r>
          </a:p>
        </p:txBody>
      </p:sp>
      <p:sp>
        <p:nvSpPr>
          <p:cNvPr id="6" name="TextBox 5">
            <a:extLst>
              <a:ext uri="{FF2B5EF4-FFF2-40B4-BE49-F238E27FC236}">
                <a16:creationId xmlns:a16="http://schemas.microsoft.com/office/drawing/2014/main" id="{65ED634B-DB63-4125-999F-80D66DAC101A}"/>
              </a:ext>
            </a:extLst>
          </p:cNvPr>
          <p:cNvSpPr txBox="1"/>
          <p:nvPr/>
        </p:nvSpPr>
        <p:spPr>
          <a:xfrm>
            <a:off x="1133141" y="1630907"/>
            <a:ext cx="10467456" cy="1631216"/>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В программировании абсолютно нормальна практика с упрощением букв и цифр в </a:t>
            </a:r>
            <a:r>
              <a:rPr lang="ru-RU" sz="2000" dirty="0" err="1">
                <a:latin typeface="Times New Roman" panose="02020603050405020304" pitchFamily="18" charset="0"/>
                <a:cs typeface="Times New Roman" panose="02020603050405020304" pitchFamily="18" charset="0"/>
              </a:rPr>
              <a:t>big</a:t>
            </a:r>
            <a:r>
              <a:rPr lang="ru-RU" sz="2000" dirty="0">
                <a:latin typeface="Times New Roman" panose="02020603050405020304" pitchFamily="18" charset="0"/>
                <a:cs typeface="Times New Roman" panose="02020603050405020304" pitchFamily="18" charset="0"/>
              </a:rPr>
              <a:t> O по возможности, например:</a:t>
            </a:r>
            <a:endParaRPr lang="en-US" sz="2000" dirty="0">
              <a:latin typeface="Times New Roman" panose="02020603050405020304" pitchFamily="18" charset="0"/>
              <a:cs typeface="Times New Roman" panose="02020603050405020304" pitchFamily="18" charset="0"/>
            </a:endParaRPr>
          </a:p>
          <a:p>
            <a:endParaRPr lang="ru-RU"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O(n) == O(2*n)</a:t>
            </a:r>
          </a:p>
          <a:p>
            <a:pPr marL="285750" indent="-285750">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O(n^2 + n) == O(n^2)</a:t>
            </a:r>
          </a:p>
        </p:txBody>
      </p:sp>
      <p:sp>
        <p:nvSpPr>
          <p:cNvPr id="5" name="TextBox 4">
            <a:extLst>
              <a:ext uri="{FF2B5EF4-FFF2-40B4-BE49-F238E27FC236}">
                <a16:creationId xmlns:a16="http://schemas.microsoft.com/office/drawing/2014/main" id="{0D8F90B4-8DF5-4701-943B-2BC9F1455123}"/>
              </a:ext>
            </a:extLst>
          </p:cNvPr>
          <p:cNvSpPr txBox="1"/>
          <p:nvPr/>
        </p:nvSpPr>
        <p:spPr>
          <a:xfrm>
            <a:off x="3318137" y="3745171"/>
            <a:ext cx="6097464" cy="2677656"/>
          </a:xfrm>
          <a:prstGeom prst="rect">
            <a:avLst/>
          </a:prstGeom>
          <a:noFill/>
        </p:spPr>
        <p:txBody>
          <a:bodyPr wrap="square">
            <a:spAutoFit/>
          </a:bodyPr>
          <a:lstStyle/>
          <a:p>
            <a:r>
              <a:rPr lang="pt-BR" sz="2400" b="0" dirty="0">
                <a:solidFill>
                  <a:srgbClr val="DCDCAA"/>
                </a:solidFill>
                <a:effectLst/>
                <a:latin typeface="Consolas" panose="020B0609020204030204" pitchFamily="49" charset="0"/>
              </a:rPr>
              <a:t>O</a:t>
            </a:r>
            <a:r>
              <a:rPr lang="pt-BR" sz="2400" b="0" dirty="0">
                <a:solidFill>
                  <a:srgbClr val="D4D4D4"/>
                </a:solidFill>
                <a:effectLst/>
                <a:latin typeface="Consolas" panose="020B0609020204030204" pitchFamily="49" charset="0"/>
              </a:rPr>
              <a:t>(</a:t>
            </a:r>
            <a:r>
              <a:rPr lang="pt-BR" sz="2400" dirty="0">
                <a:solidFill>
                  <a:srgbClr val="9CDCFE"/>
                </a:solidFill>
                <a:latin typeface="Consolas" panose="020B0609020204030204" pitchFamily="49" charset="0"/>
              </a:rPr>
              <a:t>n</a:t>
            </a:r>
            <a:r>
              <a:rPr lang="pt-BR" sz="2400" b="0" dirty="0">
                <a:solidFill>
                  <a:srgbClr val="D4D4D4"/>
                </a:solidFill>
                <a:effectLst/>
                <a:latin typeface="Consolas" panose="020B0609020204030204" pitchFamily="49" charset="0"/>
              </a:rPr>
              <a:t>^</a:t>
            </a:r>
            <a:r>
              <a:rPr lang="pt-BR" sz="2400" b="0" dirty="0">
                <a:solidFill>
                  <a:srgbClr val="B5CEA8"/>
                </a:solidFill>
                <a:effectLst/>
                <a:latin typeface="Consolas" panose="020B0609020204030204" pitchFamily="49" charset="0"/>
              </a:rPr>
              <a:t>2</a:t>
            </a:r>
            <a:r>
              <a:rPr lang="pt-BR" sz="2400" b="0" dirty="0">
                <a:solidFill>
                  <a:srgbClr val="D4D4D4"/>
                </a:solidFill>
                <a:effectLst/>
                <a:latin typeface="Consolas" panose="020B0609020204030204" pitchFamily="49" charset="0"/>
              </a:rPr>
              <a:t>) + </a:t>
            </a:r>
            <a:r>
              <a:rPr lang="pt-BR" sz="2400" b="0" dirty="0">
                <a:solidFill>
                  <a:srgbClr val="DCDCAA"/>
                </a:solidFill>
                <a:effectLst/>
                <a:latin typeface="Consolas" panose="020B0609020204030204" pitchFamily="49" charset="0"/>
              </a:rPr>
              <a:t>O</a:t>
            </a:r>
            <a:r>
              <a:rPr lang="pt-BR" sz="2400" b="0" dirty="0">
                <a:solidFill>
                  <a:srgbClr val="D4D4D4"/>
                </a:solidFill>
                <a:effectLst/>
                <a:latin typeface="Consolas" panose="020B0609020204030204" pitchFamily="49" charset="0"/>
              </a:rPr>
              <a:t>(log </a:t>
            </a:r>
            <a:r>
              <a:rPr lang="pt-BR" sz="2400" b="0" dirty="0">
                <a:solidFill>
                  <a:srgbClr val="9CDCFE"/>
                </a:solidFill>
                <a:effectLst/>
                <a:latin typeface="Consolas" panose="020B0609020204030204" pitchFamily="49" charset="0"/>
              </a:rPr>
              <a:t>n</a:t>
            </a:r>
            <a:r>
              <a:rPr lang="pt-BR" sz="2400" b="0" dirty="0">
                <a:solidFill>
                  <a:srgbClr val="D4D4D4"/>
                </a:solidFill>
                <a:effectLst/>
                <a:latin typeface="Consolas" panose="020B0609020204030204" pitchFamily="49" charset="0"/>
              </a:rPr>
              <a:t>) = </a:t>
            </a:r>
            <a:r>
              <a:rPr lang="pt-BR" sz="2400" b="0" dirty="0">
                <a:solidFill>
                  <a:srgbClr val="DCDCAA"/>
                </a:solidFill>
                <a:effectLst/>
                <a:latin typeface="Consolas" panose="020B0609020204030204" pitchFamily="49" charset="0"/>
              </a:rPr>
              <a:t>O</a:t>
            </a:r>
            <a:r>
              <a:rPr lang="pt-BR" sz="2400" b="0" dirty="0">
                <a:solidFill>
                  <a:srgbClr val="D4D4D4"/>
                </a:solidFill>
                <a:effectLst/>
                <a:latin typeface="Consolas" panose="020B0609020204030204" pitchFamily="49" charset="0"/>
              </a:rPr>
              <a:t>(n^</a:t>
            </a:r>
            <a:r>
              <a:rPr lang="pt-BR" sz="2400" b="0" dirty="0">
                <a:solidFill>
                  <a:srgbClr val="B5CEA8"/>
                </a:solidFill>
                <a:effectLst/>
                <a:latin typeface="Consolas" panose="020B0609020204030204" pitchFamily="49" charset="0"/>
              </a:rPr>
              <a:t>2</a:t>
            </a:r>
            <a:r>
              <a:rPr lang="pt-BR" sz="2400" b="0" dirty="0">
                <a:solidFill>
                  <a:srgbClr val="D4D4D4"/>
                </a:solidFill>
                <a:effectLst/>
                <a:latin typeface="Consolas" panose="020B0609020204030204" pitchFamily="49" charset="0"/>
              </a:rPr>
              <a:t>)  </a:t>
            </a:r>
            <a:endParaRPr lang="pt-BR" sz="2400" b="0" dirty="0">
              <a:solidFill>
                <a:srgbClr val="CCCCCC"/>
              </a:solidFill>
              <a:effectLst/>
              <a:latin typeface="Consolas" panose="020B0609020204030204" pitchFamily="49" charset="0"/>
            </a:endParaRPr>
          </a:p>
          <a:p>
            <a:r>
              <a:rPr lang="pt-BR" sz="2400" b="0" dirty="0">
                <a:solidFill>
                  <a:srgbClr val="DCDCAA"/>
                </a:solidFill>
                <a:effectLst/>
                <a:latin typeface="Consolas" panose="020B0609020204030204" pitchFamily="49" charset="0"/>
              </a:rPr>
              <a:t>O</a:t>
            </a:r>
            <a:r>
              <a:rPr lang="pt-BR" sz="2400" b="0" dirty="0">
                <a:solidFill>
                  <a:srgbClr val="D4D4D4"/>
                </a:solidFill>
                <a:effectLst/>
                <a:latin typeface="Consolas" panose="020B0609020204030204" pitchFamily="49" charset="0"/>
              </a:rPr>
              <a:t>(</a:t>
            </a:r>
            <a:r>
              <a:rPr lang="pt-BR" sz="2400" dirty="0">
                <a:solidFill>
                  <a:srgbClr val="B5CEA8"/>
                </a:solidFill>
                <a:latin typeface="Consolas" panose="020B0609020204030204" pitchFamily="49" charset="0"/>
              </a:rPr>
              <a:t>3</a:t>
            </a:r>
            <a:r>
              <a:rPr lang="pt-BR" sz="2400" dirty="0">
                <a:solidFill>
                  <a:srgbClr val="9CDCFE"/>
                </a:solidFill>
                <a:latin typeface="Consolas" panose="020B0609020204030204" pitchFamily="49" charset="0"/>
              </a:rPr>
              <a:t>n</a:t>
            </a:r>
            <a:r>
              <a:rPr lang="pt-BR" sz="2400" b="0" dirty="0">
                <a:solidFill>
                  <a:srgbClr val="D4D4D4"/>
                </a:solidFill>
                <a:effectLst/>
                <a:latin typeface="Consolas" panose="020B0609020204030204" pitchFamily="49" charset="0"/>
              </a:rPr>
              <a:t>) = </a:t>
            </a:r>
            <a:r>
              <a:rPr lang="pt-BR" sz="2400" b="0" dirty="0">
                <a:solidFill>
                  <a:srgbClr val="DCDCAA"/>
                </a:solidFill>
                <a:effectLst/>
                <a:latin typeface="Consolas" panose="020B0609020204030204" pitchFamily="49" charset="0"/>
              </a:rPr>
              <a:t>O</a:t>
            </a:r>
            <a:r>
              <a:rPr lang="pt-BR" sz="2400" b="0" dirty="0">
                <a:solidFill>
                  <a:srgbClr val="D4D4D4"/>
                </a:solidFill>
                <a:effectLst/>
                <a:latin typeface="Consolas" panose="020B0609020204030204" pitchFamily="49" charset="0"/>
              </a:rPr>
              <a:t>(</a:t>
            </a:r>
            <a:r>
              <a:rPr lang="pt-BR" sz="2400" dirty="0">
                <a:solidFill>
                  <a:srgbClr val="9CDCFE"/>
                </a:solidFill>
                <a:latin typeface="Consolas" panose="020B0609020204030204" pitchFamily="49" charset="0"/>
              </a:rPr>
              <a:t>n</a:t>
            </a:r>
            <a:r>
              <a:rPr lang="pt-BR" sz="2400" b="0" dirty="0">
                <a:solidFill>
                  <a:srgbClr val="D4D4D4"/>
                </a:solidFill>
                <a:effectLst/>
                <a:latin typeface="Consolas" panose="020B0609020204030204" pitchFamily="49" charset="0"/>
              </a:rPr>
              <a:t>)  </a:t>
            </a:r>
            <a:endParaRPr lang="pt-BR" sz="2400" b="0" dirty="0">
              <a:solidFill>
                <a:srgbClr val="CCCCCC"/>
              </a:solidFill>
              <a:effectLst/>
              <a:latin typeface="Consolas" panose="020B0609020204030204" pitchFamily="49" charset="0"/>
            </a:endParaRPr>
          </a:p>
          <a:p>
            <a:r>
              <a:rPr lang="pt-BR" sz="2400" b="0" dirty="0">
                <a:solidFill>
                  <a:srgbClr val="DCDCAA"/>
                </a:solidFill>
                <a:effectLst/>
                <a:latin typeface="Consolas" panose="020B0609020204030204" pitchFamily="49" charset="0"/>
              </a:rPr>
              <a:t>O</a:t>
            </a:r>
            <a:r>
              <a:rPr lang="pt-BR" sz="2400" b="0" dirty="0">
                <a:solidFill>
                  <a:srgbClr val="D4D4D4"/>
                </a:solidFill>
                <a:effectLst/>
                <a:latin typeface="Consolas" panose="020B0609020204030204" pitchFamily="49" charset="0"/>
              </a:rPr>
              <a:t>(</a:t>
            </a:r>
            <a:r>
              <a:rPr lang="pt-BR" sz="2400" b="0" dirty="0">
                <a:solidFill>
                  <a:srgbClr val="B5CEA8"/>
                </a:solidFill>
                <a:effectLst/>
                <a:latin typeface="Consolas" panose="020B0609020204030204" pitchFamily="49" charset="0"/>
              </a:rPr>
              <a:t>10000</a:t>
            </a:r>
            <a:r>
              <a:rPr lang="pt-BR" sz="2400" b="0" dirty="0">
                <a:solidFill>
                  <a:srgbClr val="D4D4D4"/>
                </a:solidFill>
                <a:effectLst/>
                <a:latin typeface="Consolas" panose="020B0609020204030204" pitchFamily="49" charset="0"/>
              </a:rPr>
              <a:t> </a:t>
            </a:r>
            <a:r>
              <a:rPr lang="pt-BR" sz="2400" dirty="0">
                <a:solidFill>
                  <a:srgbClr val="9CDCFE"/>
                </a:solidFill>
                <a:latin typeface="Consolas" panose="020B0609020204030204" pitchFamily="49" charset="0"/>
              </a:rPr>
              <a:t>n</a:t>
            </a:r>
            <a:r>
              <a:rPr lang="pt-BR" sz="2400" b="0" dirty="0">
                <a:solidFill>
                  <a:srgbClr val="D4D4D4"/>
                </a:solidFill>
                <a:effectLst/>
                <a:latin typeface="Consolas" panose="020B0609020204030204" pitchFamily="49" charset="0"/>
              </a:rPr>
              <a:t>^</a:t>
            </a:r>
            <a:r>
              <a:rPr lang="pt-BR" sz="2400" b="0" dirty="0">
                <a:solidFill>
                  <a:srgbClr val="B5CEA8"/>
                </a:solidFill>
                <a:effectLst/>
                <a:latin typeface="Consolas" panose="020B0609020204030204" pitchFamily="49" charset="0"/>
              </a:rPr>
              <a:t>2</a:t>
            </a:r>
            <a:r>
              <a:rPr lang="pt-BR" sz="2400" b="0" dirty="0">
                <a:solidFill>
                  <a:srgbClr val="D4D4D4"/>
                </a:solidFill>
                <a:effectLst/>
                <a:latin typeface="Consolas" panose="020B0609020204030204" pitchFamily="49" charset="0"/>
              </a:rPr>
              <a:t>) = </a:t>
            </a:r>
            <a:r>
              <a:rPr lang="pt-BR" sz="2400" b="0" dirty="0">
                <a:solidFill>
                  <a:srgbClr val="DCDCAA"/>
                </a:solidFill>
                <a:effectLst/>
                <a:latin typeface="Consolas" panose="020B0609020204030204" pitchFamily="49" charset="0"/>
              </a:rPr>
              <a:t>O</a:t>
            </a:r>
            <a:r>
              <a:rPr lang="pt-BR" sz="2400" b="0" dirty="0">
                <a:solidFill>
                  <a:srgbClr val="D4D4D4"/>
                </a:solidFill>
                <a:effectLst/>
                <a:latin typeface="Consolas" panose="020B0609020204030204" pitchFamily="49" charset="0"/>
              </a:rPr>
              <a:t>(</a:t>
            </a:r>
            <a:r>
              <a:rPr lang="pt-BR" sz="2400" dirty="0">
                <a:solidFill>
                  <a:srgbClr val="9CDCFE"/>
                </a:solidFill>
                <a:latin typeface="Consolas" panose="020B0609020204030204" pitchFamily="49" charset="0"/>
              </a:rPr>
              <a:t>n</a:t>
            </a:r>
            <a:r>
              <a:rPr lang="pt-BR" sz="2400" b="0" dirty="0">
                <a:solidFill>
                  <a:srgbClr val="D4D4D4"/>
                </a:solidFill>
                <a:effectLst/>
                <a:latin typeface="Consolas" panose="020B0609020204030204" pitchFamily="49" charset="0"/>
              </a:rPr>
              <a:t>^</a:t>
            </a:r>
            <a:r>
              <a:rPr lang="pt-BR" sz="2400" b="0" dirty="0">
                <a:solidFill>
                  <a:srgbClr val="B5CEA8"/>
                </a:solidFill>
                <a:effectLst/>
                <a:latin typeface="Consolas" panose="020B0609020204030204" pitchFamily="49" charset="0"/>
              </a:rPr>
              <a:t>2</a:t>
            </a:r>
            <a:r>
              <a:rPr lang="pt-BR" sz="2400" b="0" dirty="0">
                <a:solidFill>
                  <a:srgbClr val="D4D4D4"/>
                </a:solidFill>
                <a:effectLst/>
                <a:latin typeface="Consolas" panose="020B0609020204030204" pitchFamily="49" charset="0"/>
              </a:rPr>
              <a:t>)  </a:t>
            </a:r>
            <a:endParaRPr lang="pt-BR" sz="2400" b="0" dirty="0">
              <a:solidFill>
                <a:srgbClr val="CCCCCC"/>
              </a:solidFill>
              <a:effectLst/>
              <a:latin typeface="Consolas" panose="020B0609020204030204" pitchFamily="49" charset="0"/>
            </a:endParaRPr>
          </a:p>
          <a:p>
            <a:r>
              <a:rPr lang="pt-BR" sz="2400" b="0" dirty="0">
                <a:solidFill>
                  <a:srgbClr val="DCDCAA"/>
                </a:solidFill>
                <a:effectLst/>
                <a:latin typeface="Consolas" panose="020B0609020204030204" pitchFamily="49" charset="0"/>
              </a:rPr>
              <a:t>O</a:t>
            </a:r>
            <a:r>
              <a:rPr lang="pt-BR" sz="2400" b="0" dirty="0">
                <a:solidFill>
                  <a:srgbClr val="D4D4D4"/>
                </a:solidFill>
                <a:effectLst/>
                <a:latin typeface="Consolas" panose="020B0609020204030204" pitchFamily="49" charset="0"/>
              </a:rPr>
              <a:t>(</a:t>
            </a:r>
            <a:r>
              <a:rPr lang="pt-BR" sz="2400" dirty="0">
                <a:solidFill>
                  <a:srgbClr val="D4D4D4"/>
                </a:solidFill>
                <a:latin typeface="Consolas" panose="020B0609020204030204" pitchFamily="49" charset="0"/>
              </a:rPr>
              <a:t>2</a:t>
            </a:r>
            <a:r>
              <a:rPr lang="pt-BR" sz="2400" dirty="0">
                <a:solidFill>
                  <a:srgbClr val="9CDCFE"/>
                </a:solidFill>
                <a:latin typeface="Consolas" panose="020B0609020204030204" pitchFamily="49" charset="0"/>
              </a:rPr>
              <a:t>n</a:t>
            </a:r>
            <a:r>
              <a:rPr lang="pt-BR" sz="2400" b="0" dirty="0">
                <a:solidFill>
                  <a:srgbClr val="D4D4D4"/>
                </a:solidFill>
                <a:effectLst/>
                <a:latin typeface="Consolas" panose="020B0609020204030204" pitchFamily="49" charset="0"/>
              </a:rPr>
              <a:t> * log </a:t>
            </a:r>
            <a:r>
              <a:rPr lang="pt-BR" sz="2400" dirty="0">
                <a:solidFill>
                  <a:srgbClr val="9CDCFE"/>
                </a:solidFill>
                <a:latin typeface="Consolas" panose="020B0609020204030204" pitchFamily="49" charset="0"/>
              </a:rPr>
              <a:t>n</a:t>
            </a:r>
            <a:r>
              <a:rPr lang="pt-BR" sz="2400" b="0" dirty="0">
                <a:solidFill>
                  <a:srgbClr val="D4D4D4"/>
                </a:solidFill>
                <a:effectLst/>
                <a:latin typeface="Consolas" panose="020B0609020204030204" pitchFamily="49" charset="0"/>
              </a:rPr>
              <a:t>) = </a:t>
            </a:r>
            <a:r>
              <a:rPr lang="pt-BR" sz="2400" b="0" dirty="0">
                <a:solidFill>
                  <a:srgbClr val="DCDCAA"/>
                </a:solidFill>
                <a:effectLst/>
                <a:latin typeface="Consolas" panose="020B0609020204030204" pitchFamily="49" charset="0"/>
              </a:rPr>
              <a:t>O</a:t>
            </a:r>
            <a:r>
              <a:rPr lang="pt-BR" sz="2400" b="0" dirty="0">
                <a:solidFill>
                  <a:srgbClr val="D4D4D4"/>
                </a:solidFill>
                <a:effectLst/>
                <a:latin typeface="Consolas" panose="020B0609020204030204" pitchFamily="49" charset="0"/>
              </a:rPr>
              <a:t>(</a:t>
            </a:r>
            <a:r>
              <a:rPr lang="pt-BR" sz="2400" dirty="0">
                <a:solidFill>
                  <a:srgbClr val="9CDCFE"/>
                </a:solidFill>
                <a:latin typeface="Consolas" panose="020B0609020204030204" pitchFamily="49" charset="0"/>
              </a:rPr>
              <a:t>n</a:t>
            </a:r>
            <a:r>
              <a:rPr lang="pt-BR" sz="2400" b="0" dirty="0">
                <a:solidFill>
                  <a:srgbClr val="D4D4D4"/>
                </a:solidFill>
                <a:effectLst/>
                <a:latin typeface="Consolas" panose="020B0609020204030204" pitchFamily="49" charset="0"/>
              </a:rPr>
              <a:t> * log </a:t>
            </a:r>
            <a:r>
              <a:rPr lang="pt-BR" sz="2400" b="0" dirty="0">
                <a:solidFill>
                  <a:srgbClr val="9CDCFE"/>
                </a:solidFill>
                <a:effectLst/>
                <a:latin typeface="Consolas" panose="020B0609020204030204" pitchFamily="49" charset="0"/>
              </a:rPr>
              <a:t>n</a:t>
            </a:r>
            <a:r>
              <a:rPr lang="pt-BR" sz="2400" b="0" dirty="0">
                <a:solidFill>
                  <a:srgbClr val="D4D4D4"/>
                </a:solidFill>
                <a:effectLst/>
                <a:latin typeface="Consolas" panose="020B0609020204030204" pitchFamily="49" charset="0"/>
              </a:rPr>
              <a:t>)  </a:t>
            </a:r>
            <a:endParaRPr lang="pt-BR" sz="2400" b="0" dirty="0">
              <a:solidFill>
                <a:srgbClr val="CCCCCC"/>
              </a:solidFill>
              <a:effectLst/>
              <a:latin typeface="Consolas" panose="020B0609020204030204" pitchFamily="49" charset="0"/>
            </a:endParaRPr>
          </a:p>
          <a:p>
            <a:r>
              <a:rPr lang="pt-BR" sz="2400" b="0" dirty="0">
                <a:solidFill>
                  <a:srgbClr val="DCDCAA"/>
                </a:solidFill>
                <a:effectLst/>
                <a:latin typeface="Consolas" panose="020B0609020204030204" pitchFamily="49" charset="0"/>
              </a:rPr>
              <a:t>O</a:t>
            </a:r>
            <a:r>
              <a:rPr lang="pt-BR" sz="2400" b="0" dirty="0">
                <a:solidFill>
                  <a:srgbClr val="D4D4D4"/>
                </a:solidFill>
                <a:effectLst/>
                <a:latin typeface="Consolas" panose="020B0609020204030204" pitchFamily="49" charset="0"/>
              </a:rPr>
              <a:t>(</a:t>
            </a:r>
            <a:r>
              <a:rPr lang="pt-BR" sz="2400" dirty="0">
                <a:solidFill>
                  <a:srgbClr val="9CDCFE"/>
                </a:solidFill>
                <a:latin typeface="Consolas" panose="020B0609020204030204" pitchFamily="49" charset="0"/>
              </a:rPr>
              <a:t>n</a:t>
            </a:r>
            <a:r>
              <a:rPr lang="pt-BR" sz="2400" b="0" dirty="0">
                <a:solidFill>
                  <a:srgbClr val="D4D4D4"/>
                </a:solidFill>
                <a:effectLst/>
                <a:latin typeface="Consolas" panose="020B0609020204030204" pitchFamily="49" charset="0"/>
              </a:rPr>
              <a:t>^</a:t>
            </a:r>
            <a:r>
              <a:rPr lang="pt-BR" sz="2400" b="0" dirty="0">
                <a:solidFill>
                  <a:srgbClr val="B5CEA8"/>
                </a:solidFill>
                <a:effectLst/>
                <a:latin typeface="Consolas" panose="020B0609020204030204" pitchFamily="49" charset="0"/>
              </a:rPr>
              <a:t>2</a:t>
            </a:r>
            <a:r>
              <a:rPr lang="pt-BR" sz="2400" b="0" dirty="0">
                <a:solidFill>
                  <a:srgbClr val="D4D4D4"/>
                </a:solidFill>
                <a:effectLst/>
                <a:latin typeface="Consolas" panose="020B0609020204030204" pitchFamily="49" charset="0"/>
              </a:rPr>
              <a:t> + </a:t>
            </a:r>
            <a:r>
              <a:rPr lang="pt-BR" sz="2400" dirty="0">
                <a:solidFill>
                  <a:srgbClr val="9CDCFE"/>
                </a:solidFill>
                <a:latin typeface="Consolas" panose="020B0609020204030204" pitchFamily="49" charset="0"/>
              </a:rPr>
              <a:t>n</a:t>
            </a:r>
            <a:r>
              <a:rPr lang="pt-BR" sz="2400" b="0" dirty="0">
                <a:solidFill>
                  <a:srgbClr val="D4D4D4"/>
                </a:solidFill>
                <a:effectLst/>
                <a:latin typeface="Consolas" panose="020B0609020204030204" pitchFamily="49" charset="0"/>
              </a:rPr>
              <a:t>) = </a:t>
            </a:r>
            <a:r>
              <a:rPr lang="pt-BR" sz="2400" b="0" dirty="0">
                <a:solidFill>
                  <a:srgbClr val="DCDCAA"/>
                </a:solidFill>
                <a:effectLst/>
                <a:latin typeface="Consolas" panose="020B0609020204030204" pitchFamily="49" charset="0"/>
              </a:rPr>
              <a:t>O</a:t>
            </a:r>
            <a:r>
              <a:rPr lang="pt-BR" sz="2400" b="0" dirty="0">
                <a:solidFill>
                  <a:srgbClr val="D4D4D4"/>
                </a:solidFill>
                <a:effectLst/>
                <a:latin typeface="Consolas" panose="020B0609020204030204" pitchFamily="49" charset="0"/>
              </a:rPr>
              <a:t>(</a:t>
            </a:r>
            <a:r>
              <a:rPr lang="pt-BR" sz="2400" dirty="0">
                <a:solidFill>
                  <a:srgbClr val="9CDCFE"/>
                </a:solidFill>
                <a:latin typeface="Consolas" panose="020B0609020204030204" pitchFamily="49" charset="0"/>
              </a:rPr>
              <a:t>n</a:t>
            </a:r>
            <a:r>
              <a:rPr lang="pt-BR" sz="2400" b="0" dirty="0">
                <a:solidFill>
                  <a:srgbClr val="D4D4D4"/>
                </a:solidFill>
                <a:effectLst/>
                <a:latin typeface="Consolas" panose="020B0609020204030204" pitchFamily="49" charset="0"/>
              </a:rPr>
              <a:t>^</a:t>
            </a:r>
            <a:r>
              <a:rPr lang="pt-BR" sz="2400" b="0" dirty="0">
                <a:solidFill>
                  <a:srgbClr val="B5CEA8"/>
                </a:solidFill>
                <a:effectLst/>
                <a:latin typeface="Consolas" panose="020B0609020204030204" pitchFamily="49" charset="0"/>
              </a:rPr>
              <a:t>2</a:t>
            </a:r>
            <a:r>
              <a:rPr lang="pt-BR" sz="2400" b="0" dirty="0">
                <a:solidFill>
                  <a:srgbClr val="D4D4D4"/>
                </a:solidFill>
                <a:effectLst/>
                <a:latin typeface="Consolas" panose="020B0609020204030204" pitchFamily="49" charset="0"/>
              </a:rPr>
              <a:t>)  </a:t>
            </a:r>
            <a:endParaRPr lang="pt-BR" sz="2400" b="0" dirty="0">
              <a:solidFill>
                <a:srgbClr val="CCCCCC"/>
              </a:solidFill>
              <a:effectLst/>
              <a:latin typeface="Consolas" panose="020B0609020204030204" pitchFamily="49" charset="0"/>
            </a:endParaRPr>
          </a:p>
          <a:p>
            <a:r>
              <a:rPr lang="pt-BR" sz="2400" b="0" dirty="0">
                <a:solidFill>
                  <a:srgbClr val="DCDCAA"/>
                </a:solidFill>
                <a:effectLst/>
                <a:latin typeface="Consolas" panose="020B0609020204030204" pitchFamily="49" charset="0"/>
              </a:rPr>
              <a:t>O</a:t>
            </a:r>
            <a:r>
              <a:rPr lang="pt-BR" sz="2400" b="0" dirty="0">
                <a:solidFill>
                  <a:srgbClr val="D4D4D4"/>
                </a:solidFill>
                <a:effectLst/>
                <a:latin typeface="Consolas" panose="020B0609020204030204" pitchFamily="49" charset="0"/>
              </a:rPr>
              <a:t>(</a:t>
            </a:r>
            <a:r>
              <a:rPr lang="pt-BR" sz="2400" dirty="0">
                <a:solidFill>
                  <a:srgbClr val="9CDCFE"/>
                </a:solidFill>
                <a:latin typeface="Consolas" panose="020B0609020204030204" pitchFamily="49" charset="0"/>
              </a:rPr>
              <a:t>n</a:t>
            </a:r>
            <a:r>
              <a:rPr lang="pt-BR" sz="2400" b="0" dirty="0">
                <a:solidFill>
                  <a:srgbClr val="D4D4D4"/>
                </a:solidFill>
                <a:effectLst/>
                <a:latin typeface="Consolas" panose="020B0609020204030204" pitchFamily="49" charset="0"/>
              </a:rPr>
              <a:t>^</a:t>
            </a:r>
            <a:r>
              <a:rPr lang="pt-BR" sz="2400" b="0" dirty="0">
                <a:solidFill>
                  <a:srgbClr val="B5CEA8"/>
                </a:solidFill>
                <a:effectLst/>
                <a:latin typeface="Consolas" panose="020B0609020204030204" pitchFamily="49" charset="0"/>
              </a:rPr>
              <a:t>3</a:t>
            </a:r>
            <a:r>
              <a:rPr lang="pt-BR" sz="2400" b="0" dirty="0">
                <a:solidFill>
                  <a:srgbClr val="D4D4D4"/>
                </a:solidFill>
                <a:effectLst/>
                <a:latin typeface="Consolas" panose="020B0609020204030204" pitchFamily="49" charset="0"/>
              </a:rPr>
              <a:t> + </a:t>
            </a:r>
            <a:r>
              <a:rPr lang="pt-BR" sz="2400" dirty="0">
                <a:solidFill>
                  <a:srgbClr val="B5CEA8"/>
                </a:solidFill>
                <a:latin typeface="Consolas" panose="020B0609020204030204" pitchFamily="49" charset="0"/>
              </a:rPr>
              <a:t>100</a:t>
            </a:r>
            <a:r>
              <a:rPr lang="pt-BR" sz="2400" dirty="0">
                <a:solidFill>
                  <a:srgbClr val="9CDCFE"/>
                </a:solidFill>
                <a:latin typeface="Consolas" panose="020B0609020204030204" pitchFamily="49" charset="0"/>
              </a:rPr>
              <a:t>n</a:t>
            </a:r>
            <a:r>
              <a:rPr lang="pt-BR" sz="2400" b="0" dirty="0">
                <a:solidFill>
                  <a:srgbClr val="D4D4D4"/>
                </a:solidFill>
                <a:effectLst/>
                <a:latin typeface="Consolas" panose="020B0609020204030204" pitchFamily="49" charset="0"/>
              </a:rPr>
              <a:t> * log </a:t>
            </a:r>
            <a:r>
              <a:rPr lang="pt-BR" sz="2400" dirty="0">
                <a:solidFill>
                  <a:srgbClr val="9CDCFE"/>
                </a:solidFill>
                <a:latin typeface="Consolas" panose="020B0609020204030204" pitchFamily="49" charset="0"/>
              </a:rPr>
              <a:t>n</a:t>
            </a:r>
            <a:r>
              <a:rPr lang="pt-BR" sz="2400" b="0" dirty="0">
                <a:solidFill>
                  <a:srgbClr val="D4D4D4"/>
                </a:solidFill>
                <a:effectLst/>
                <a:latin typeface="Consolas" panose="020B0609020204030204" pitchFamily="49" charset="0"/>
              </a:rPr>
              <a:t>) = </a:t>
            </a:r>
            <a:r>
              <a:rPr lang="pt-BR" sz="2400" b="0" dirty="0">
                <a:solidFill>
                  <a:srgbClr val="DCDCAA"/>
                </a:solidFill>
                <a:effectLst/>
                <a:latin typeface="Consolas" panose="020B0609020204030204" pitchFamily="49" charset="0"/>
              </a:rPr>
              <a:t>O</a:t>
            </a:r>
            <a:r>
              <a:rPr lang="pt-BR" sz="2400" b="0" dirty="0">
                <a:solidFill>
                  <a:srgbClr val="D4D4D4"/>
                </a:solidFill>
                <a:effectLst/>
                <a:latin typeface="Consolas" panose="020B0609020204030204" pitchFamily="49" charset="0"/>
              </a:rPr>
              <a:t>(n^</a:t>
            </a:r>
            <a:r>
              <a:rPr lang="pt-BR" sz="2400" b="0" dirty="0">
                <a:solidFill>
                  <a:srgbClr val="B5CEA8"/>
                </a:solidFill>
                <a:effectLst/>
                <a:latin typeface="Consolas" panose="020B0609020204030204" pitchFamily="49" charset="0"/>
              </a:rPr>
              <a:t>3</a:t>
            </a:r>
            <a:r>
              <a:rPr lang="pt-BR" sz="2400" b="0" dirty="0">
                <a:solidFill>
                  <a:srgbClr val="D4D4D4"/>
                </a:solidFill>
                <a:effectLst/>
                <a:latin typeface="Consolas" panose="020B0609020204030204" pitchFamily="49" charset="0"/>
              </a:rPr>
              <a:t>)  </a:t>
            </a:r>
            <a:endParaRPr lang="pt-BR" sz="2400" b="0" dirty="0">
              <a:solidFill>
                <a:srgbClr val="CCCCCC"/>
              </a:solidFill>
              <a:effectLst/>
              <a:latin typeface="Consolas" panose="020B0609020204030204" pitchFamily="49" charset="0"/>
            </a:endParaRPr>
          </a:p>
          <a:p>
            <a:r>
              <a:rPr lang="pt-BR" sz="2400" b="0" dirty="0">
                <a:solidFill>
                  <a:srgbClr val="DCDCAA"/>
                </a:solidFill>
                <a:effectLst/>
                <a:latin typeface="Consolas" panose="020B0609020204030204" pitchFamily="49" charset="0"/>
              </a:rPr>
              <a:t>O</a:t>
            </a:r>
            <a:r>
              <a:rPr lang="pt-BR" sz="2400" b="0" dirty="0">
                <a:solidFill>
                  <a:srgbClr val="D4D4D4"/>
                </a:solidFill>
                <a:effectLst/>
                <a:latin typeface="Consolas" panose="020B0609020204030204" pitchFamily="49" charset="0"/>
              </a:rPr>
              <a:t>(</a:t>
            </a:r>
            <a:r>
              <a:rPr lang="pt-BR" sz="2400" dirty="0">
                <a:solidFill>
                  <a:srgbClr val="9CDCFE"/>
                </a:solidFill>
                <a:latin typeface="Consolas" panose="020B0609020204030204" pitchFamily="49" charset="0"/>
              </a:rPr>
              <a:t>n</a:t>
            </a:r>
            <a:r>
              <a:rPr lang="pt-BR" sz="2400" b="0" dirty="0">
                <a:solidFill>
                  <a:srgbClr val="D4D4D4"/>
                </a:solidFill>
                <a:effectLst/>
                <a:latin typeface="Consolas" panose="020B0609020204030204" pitchFamily="49" charset="0"/>
              </a:rPr>
              <a:t>! + </a:t>
            </a:r>
            <a:r>
              <a:rPr lang="pt-BR" sz="2400" b="0" dirty="0">
                <a:solidFill>
                  <a:srgbClr val="B5CEA8"/>
                </a:solidFill>
                <a:effectLst/>
                <a:latin typeface="Consolas" panose="020B0609020204030204" pitchFamily="49" charset="0"/>
              </a:rPr>
              <a:t>999</a:t>
            </a:r>
            <a:r>
              <a:rPr lang="pt-BR" sz="2400" b="0" dirty="0">
                <a:solidFill>
                  <a:srgbClr val="D4D4D4"/>
                </a:solidFill>
                <a:effectLst/>
                <a:latin typeface="Consolas" panose="020B0609020204030204" pitchFamily="49" charset="0"/>
              </a:rPr>
              <a:t>) = </a:t>
            </a:r>
            <a:r>
              <a:rPr lang="pt-BR" sz="2400" b="0" dirty="0">
                <a:solidFill>
                  <a:srgbClr val="DCDCAA"/>
                </a:solidFill>
                <a:effectLst/>
                <a:latin typeface="Consolas" panose="020B0609020204030204" pitchFamily="49" charset="0"/>
              </a:rPr>
              <a:t>O</a:t>
            </a:r>
            <a:r>
              <a:rPr lang="pt-BR" sz="2400" b="0" dirty="0">
                <a:solidFill>
                  <a:srgbClr val="D4D4D4"/>
                </a:solidFill>
                <a:effectLst/>
                <a:latin typeface="Consolas" panose="020B0609020204030204" pitchFamily="49" charset="0"/>
              </a:rPr>
              <a:t>(</a:t>
            </a:r>
            <a:r>
              <a:rPr lang="pt-BR" sz="2400" dirty="0">
                <a:solidFill>
                  <a:srgbClr val="9CDCFE"/>
                </a:solidFill>
                <a:latin typeface="Consolas" panose="020B0609020204030204" pitchFamily="49" charset="0"/>
              </a:rPr>
              <a:t>n</a:t>
            </a:r>
            <a:r>
              <a:rPr lang="pt-BR" sz="2400" b="0" dirty="0">
                <a:solidFill>
                  <a:srgbClr val="D4D4D4"/>
                </a:solidFill>
                <a:effectLst/>
                <a:latin typeface="Consolas" panose="020B0609020204030204" pitchFamily="49" charset="0"/>
              </a:rPr>
              <a:t>!)  </a:t>
            </a:r>
            <a:endParaRPr lang="pt-BR" sz="24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278533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2">
            <a:extLst>
              <a:ext uri="{FF2B5EF4-FFF2-40B4-BE49-F238E27FC236}">
                <a16:creationId xmlns:a16="http://schemas.microsoft.com/office/drawing/2014/main" id="{CEF7D3C9-F027-4DFF-AC25-52606D3BE3A7}"/>
              </a:ext>
            </a:extLst>
          </p:cNvPr>
          <p:cNvSpPr txBox="1">
            <a:spLocks/>
          </p:cNvSpPr>
          <p:nvPr/>
        </p:nvSpPr>
        <p:spPr>
          <a:xfrm>
            <a:off x="1133141" y="289948"/>
            <a:ext cx="9925717" cy="927688"/>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Пытаемся оценить сложность алгоритма</a:t>
            </a:r>
          </a:p>
        </p:txBody>
      </p:sp>
      <p:sp>
        <p:nvSpPr>
          <p:cNvPr id="6" name="TextBox 5">
            <a:extLst>
              <a:ext uri="{FF2B5EF4-FFF2-40B4-BE49-F238E27FC236}">
                <a16:creationId xmlns:a16="http://schemas.microsoft.com/office/drawing/2014/main" id="{53FF6DD0-0BCF-40E7-B8E2-FD59EE5B8F66}"/>
              </a:ext>
            </a:extLst>
          </p:cNvPr>
          <p:cNvSpPr txBox="1"/>
          <p:nvPr/>
        </p:nvSpPr>
        <p:spPr>
          <a:xfrm>
            <a:off x="2575055" y="1841073"/>
            <a:ext cx="7562475" cy="3416320"/>
          </a:xfrm>
          <a:prstGeom prst="rect">
            <a:avLst/>
          </a:prstGeom>
          <a:noFill/>
        </p:spPr>
        <p:txBody>
          <a:bodyPr wrap="square">
            <a:spAutoFit/>
          </a:bodyPr>
          <a:lstStyle/>
          <a:p>
            <a:r>
              <a:rPr lang="en-US" sz="2400" b="0" dirty="0">
                <a:solidFill>
                  <a:srgbClr val="569CD6"/>
                </a:solidFill>
                <a:effectLst/>
                <a:latin typeface="Consolas" panose="020B0609020204030204" pitchFamily="49" charset="0"/>
              </a:rPr>
              <a:t>int</a:t>
            </a:r>
            <a:r>
              <a:rPr lang="en-US" sz="2400" b="0" dirty="0">
                <a:solidFill>
                  <a:srgbClr val="D4D4D4"/>
                </a:solidFill>
                <a:effectLst/>
                <a:latin typeface="Consolas" panose="020B0609020204030204" pitchFamily="49" charset="0"/>
              </a:rPr>
              <a:t> </a:t>
            </a:r>
            <a:r>
              <a:rPr lang="en-US" sz="2400" b="0" dirty="0" err="1">
                <a:solidFill>
                  <a:srgbClr val="DCDCAA"/>
                </a:solidFill>
                <a:effectLst/>
                <a:latin typeface="Consolas" panose="020B0609020204030204" pitchFamily="49" charset="0"/>
              </a:rPr>
              <a:t>findMax</a:t>
            </a:r>
            <a:r>
              <a:rPr lang="en-US" sz="2400" b="0" dirty="0">
                <a:solidFill>
                  <a:srgbClr val="D4D4D4"/>
                </a:solidFill>
                <a:effectLst/>
                <a:latin typeface="Consolas" panose="020B0609020204030204" pitchFamily="49" charset="0"/>
              </a:rPr>
              <a:t>(</a:t>
            </a:r>
            <a:r>
              <a:rPr lang="en-US" sz="2400" b="0" dirty="0">
                <a:solidFill>
                  <a:srgbClr val="569CD6"/>
                </a:solidFill>
                <a:effectLst/>
                <a:latin typeface="Consolas" panose="020B0609020204030204" pitchFamily="49" charset="0"/>
              </a:rPr>
              <a:t>int</a:t>
            </a:r>
            <a:r>
              <a:rPr lang="en-US" sz="2400" b="0" dirty="0">
                <a:solidFill>
                  <a:srgbClr val="D4D4D4"/>
                </a:solidFill>
                <a:effectLst/>
                <a:latin typeface="Consolas" panose="020B0609020204030204" pitchFamily="49" charset="0"/>
              </a:rPr>
              <a:t> </a:t>
            </a:r>
            <a:r>
              <a:rPr lang="en-US" sz="2400" b="0" dirty="0" err="1">
                <a:solidFill>
                  <a:srgbClr val="9CDCFE"/>
                </a:solidFill>
                <a:effectLst/>
                <a:latin typeface="Consolas" panose="020B0609020204030204" pitchFamily="49" charset="0"/>
              </a:rPr>
              <a:t>arr</a:t>
            </a:r>
            <a:r>
              <a:rPr lang="en-US" sz="2400" b="0" dirty="0">
                <a:solidFill>
                  <a:srgbClr val="569CD6"/>
                </a:solidFill>
                <a:effectLst/>
                <a:latin typeface="Consolas" panose="020B0609020204030204" pitchFamily="49" charset="0"/>
              </a:rPr>
              <a:t>[]</a:t>
            </a:r>
            <a:r>
              <a:rPr lang="en-US" sz="2400" b="0" dirty="0">
                <a:solidFill>
                  <a:srgbClr val="D4D4D4"/>
                </a:solidFill>
                <a:effectLst/>
                <a:latin typeface="Consolas" panose="020B0609020204030204" pitchFamily="49" charset="0"/>
              </a:rPr>
              <a:t>, </a:t>
            </a:r>
            <a:r>
              <a:rPr lang="en-US" sz="2400" b="0" dirty="0">
                <a:solidFill>
                  <a:srgbClr val="569CD6"/>
                </a:solidFill>
                <a:effectLst/>
                <a:latin typeface="Consolas" panose="020B0609020204030204" pitchFamily="49" charset="0"/>
              </a:rPr>
              <a:t>int</a:t>
            </a:r>
            <a:r>
              <a:rPr lang="en-US" sz="2400" b="0" dirty="0">
                <a:solidFill>
                  <a:srgbClr val="D4D4D4"/>
                </a:solidFill>
                <a:effectLst/>
                <a:latin typeface="Consolas" panose="020B0609020204030204" pitchFamily="49" charset="0"/>
              </a:rPr>
              <a:t> </a:t>
            </a:r>
            <a:r>
              <a:rPr lang="en-US" sz="2400" b="0" dirty="0">
                <a:solidFill>
                  <a:srgbClr val="9CDCFE"/>
                </a:solidFill>
                <a:effectLst/>
                <a:latin typeface="Consolas" panose="020B0609020204030204" pitchFamily="49" charset="0"/>
              </a:rPr>
              <a:t>length</a:t>
            </a:r>
            <a:r>
              <a:rPr lang="en-US" sz="2400" b="0" dirty="0">
                <a:solidFill>
                  <a:srgbClr val="D4D4D4"/>
                </a:solidFill>
                <a:effectLst/>
                <a:latin typeface="Consolas" panose="020B0609020204030204" pitchFamily="49" charset="0"/>
              </a:rPr>
              <a:t>) {</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    </a:t>
            </a:r>
            <a:r>
              <a:rPr lang="en-US" sz="2400" b="0" dirty="0">
                <a:solidFill>
                  <a:srgbClr val="569CD6"/>
                </a:solidFill>
                <a:effectLst/>
                <a:latin typeface="Consolas" panose="020B0609020204030204" pitchFamily="49" charset="0"/>
              </a:rPr>
              <a:t>int</a:t>
            </a:r>
            <a:r>
              <a:rPr lang="en-US" sz="2400" b="0" dirty="0">
                <a:solidFill>
                  <a:srgbClr val="D4D4D4"/>
                </a:solidFill>
                <a:effectLst/>
                <a:latin typeface="Consolas" panose="020B0609020204030204" pitchFamily="49" charset="0"/>
              </a:rPr>
              <a:t> max = </a:t>
            </a:r>
            <a:r>
              <a:rPr lang="en-US" sz="2400" b="0" dirty="0" err="1">
                <a:solidFill>
                  <a:srgbClr val="9CDCFE"/>
                </a:solidFill>
                <a:effectLst/>
                <a:latin typeface="Consolas" panose="020B0609020204030204" pitchFamily="49" charset="0"/>
              </a:rPr>
              <a:t>arr</a:t>
            </a:r>
            <a:r>
              <a:rPr lang="en-US" sz="2400" b="0" dirty="0">
                <a:solidFill>
                  <a:srgbClr val="D4D4D4"/>
                </a:solidFill>
                <a:effectLst/>
                <a:latin typeface="Consolas" panose="020B0609020204030204" pitchFamily="49" charset="0"/>
              </a:rPr>
              <a:t>[</a:t>
            </a:r>
            <a:r>
              <a:rPr lang="en-US" sz="2400" b="0" dirty="0">
                <a:solidFill>
                  <a:srgbClr val="B5CEA8"/>
                </a:solidFill>
                <a:effectLst/>
                <a:latin typeface="Consolas" panose="020B0609020204030204" pitchFamily="49" charset="0"/>
              </a:rPr>
              <a:t>0</a:t>
            </a:r>
            <a:r>
              <a:rPr lang="en-US" sz="2400" b="0" dirty="0">
                <a:solidFill>
                  <a:srgbClr val="D4D4D4"/>
                </a:solidFill>
                <a:effectLst/>
                <a:latin typeface="Consolas" panose="020B0609020204030204" pitchFamily="49" charset="0"/>
              </a:rPr>
              <a:t>];</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    </a:t>
            </a:r>
            <a:r>
              <a:rPr lang="en-US" sz="2400" b="0" dirty="0">
                <a:solidFill>
                  <a:srgbClr val="C586C0"/>
                </a:solidFill>
                <a:effectLst/>
                <a:latin typeface="Consolas" panose="020B0609020204030204" pitchFamily="49" charset="0"/>
              </a:rPr>
              <a:t>for</a:t>
            </a:r>
            <a:r>
              <a:rPr lang="en-US" sz="2400" b="0" dirty="0">
                <a:solidFill>
                  <a:srgbClr val="D4D4D4"/>
                </a:solidFill>
                <a:effectLst/>
                <a:latin typeface="Consolas" panose="020B0609020204030204" pitchFamily="49" charset="0"/>
              </a:rPr>
              <a:t> (</a:t>
            </a:r>
            <a:r>
              <a:rPr lang="en-US" sz="2400" b="0" dirty="0">
                <a:solidFill>
                  <a:srgbClr val="569CD6"/>
                </a:solidFill>
                <a:effectLst/>
                <a:latin typeface="Consolas" panose="020B0609020204030204" pitchFamily="49" charset="0"/>
              </a:rPr>
              <a:t>int</a:t>
            </a:r>
            <a:r>
              <a:rPr lang="en-US" sz="2400" b="0" dirty="0">
                <a:solidFill>
                  <a:srgbClr val="D4D4D4"/>
                </a:solidFill>
                <a:effectLst/>
                <a:latin typeface="Consolas" panose="020B0609020204030204" pitchFamily="49" charset="0"/>
              </a:rPr>
              <a:t> </a:t>
            </a:r>
            <a:r>
              <a:rPr lang="en-US" sz="2400" b="0" dirty="0" err="1">
                <a:solidFill>
                  <a:srgbClr val="D4D4D4"/>
                </a:solidFill>
                <a:effectLst/>
                <a:latin typeface="Consolas" panose="020B0609020204030204" pitchFamily="49" charset="0"/>
              </a:rPr>
              <a:t>i</a:t>
            </a:r>
            <a:r>
              <a:rPr lang="en-US" sz="2400" b="0" dirty="0">
                <a:solidFill>
                  <a:srgbClr val="D4D4D4"/>
                </a:solidFill>
                <a:effectLst/>
                <a:latin typeface="Consolas" panose="020B0609020204030204" pitchFamily="49" charset="0"/>
              </a:rPr>
              <a:t> = </a:t>
            </a:r>
            <a:r>
              <a:rPr lang="en-US" sz="2400" b="0" dirty="0">
                <a:solidFill>
                  <a:srgbClr val="B5CEA8"/>
                </a:solidFill>
                <a:effectLst/>
                <a:latin typeface="Consolas" panose="020B0609020204030204" pitchFamily="49" charset="0"/>
              </a:rPr>
              <a:t>1</a:t>
            </a:r>
            <a:r>
              <a:rPr lang="en-US" sz="2400" b="0" dirty="0">
                <a:solidFill>
                  <a:srgbClr val="D4D4D4"/>
                </a:solidFill>
                <a:effectLst/>
                <a:latin typeface="Consolas" panose="020B0609020204030204" pitchFamily="49" charset="0"/>
              </a:rPr>
              <a:t>; </a:t>
            </a:r>
            <a:r>
              <a:rPr lang="en-US" sz="2400" b="0" dirty="0" err="1">
                <a:solidFill>
                  <a:srgbClr val="D4D4D4"/>
                </a:solidFill>
                <a:effectLst/>
                <a:latin typeface="Consolas" panose="020B0609020204030204" pitchFamily="49" charset="0"/>
              </a:rPr>
              <a:t>i</a:t>
            </a:r>
            <a:r>
              <a:rPr lang="en-US" sz="2400" b="0" dirty="0">
                <a:solidFill>
                  <a:srgbClr val="D4D4D4"/>
                </a:solidFill>
                <a:effectLst/>
                <a:latin typeface="Consolas" panose="020B0609020204030204" pitchFamily="49" charset="0"/>
              </a:rPr>
              <a:t> &lt; length; </a:t>
            </a:r>
            <a:r>
              <a:rPr lang="en-US" sz="2400" b="0" dirty="0" err="1">
                <a:solidFill>
                  <a:srgbClr val="D4D4D4"/>
                </a:solidFill>
                <a:effectLst/>
                <a:latin typeface="Consolas" panose="020B0609020204030204" pitchFamily="49" charset="0"/>
              </a:rPr>
              <a:t>i</a:t>
            </a:r>
            <a:r>
              <a:rPr lang="en-US" sz="2400" b="0" dirty="0">
                <a:solidFill>
                  <a:srgbClr val="D4D4D4"/>
                </a:solidFill>
                <a:effectLst/>
                <a:latin typeface="Consolas" panose="020B0609020204030204" pitchFamily="49" charset="0"/>
              </a:rPr>
              <a:t>++) {</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        </a:t>
            </a:r>
            <a:r>
              <a:rPr lang="en-US" sz="2400" b="0" dirty="0">
                <a:solidFill>
                  <a:srgbClr val="C586C0"/>
                </a:solidFill>
                <a:effectLst/>
                <a:latin typeface="Consolas" panose="020B0609020204030204" pitchFamily="49" charset="0"/>
              </a:rPr>
              <a:t>if</a:t>
            </a:r>
            <a:r>
              <a:rPr lang="en-US" sz="2400" b="0" dirty="0">
                <a:solidFill>
                  <a:srgbClr val="D4D4D4"/>
                </a:solidFill>
                <a:effectLst/>
                <a:latin typeface="Consolas" panose="020B0609020204030204" pitchFamily="49" charset="0"/>
              </a:rPr>
              <a:t> (</a:t>
            </a:r>
            <a:r>
              <a:rPr lang="en-US" sz="2400" b="0" dirty="0" err="1">
                <a:solidFill>
                  <a:srgbClr val="9CDCFE"/>
                </a:solidFill>
                <a:effectLst/>
                <a:latin typeface="Consolas" panose="020B0609020204030204" pitchFamily="49" charset="0"/>
              </a:rPr>
              <a:t>arr</a:t>
            </a:r>
            <a:r>
              <a:rPr lang="en-US" sz="2400" b="0" dirty="0">
                <a:solidFill>
                  <a:srgbClr val="D4D4D4"/>
                </a:solidFill>
                <a:effectLst/>
                <a:latin typeface="Consolas" panose="020B0609020204030204" pitchFamily="49" charset="0"/>
              </a:rPr>
              <a:t>[</a:t>
            </a:r>
            <a:r>
              <a:rPr lang="en-US" sz="2400" b="0" dirty="0" err="1">
                <a:solidFill>
                  <a:srgbClr val="D4D4D4"/>
                </a:solidFill>
                <a:effectLst/>
                <a:latin typeface="Consolas" panose="020B0609020204030204" pitchFamily="49" charset="0"/>
              </a:rPr>
              <a:t>i</a:t>
            </a:r>
            <a:r>
              <a:rPr lang="en-US" sz="2400" b="0" dirty="0">
                <a:solidFill>
                  <a:srgbClr val="D4D4D4"/>
                </a:solidFill>
                <a:effectLst/>
                <a:latin typeface="Consolas" panose="020B0609020204030204" pitchFamily="49" charset="0"/>
              </a:rPr>
              <a:t>] &gt; max) {</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            max = </a:t>
            </a:r>
            <a:r>
              <a:rPr lang="en-US" sz="2400" b="0" dirty="0" err="1">
                <a:solidFill>
                  <a:srgbClr val="9CDCFE"/>
                </a:solidFill>
                <a:effectLst/>
                <a:latin typeface="Consolas" panose="020B0609020204030204" pitchFamily="49" charset="0"/>
              </a:rPr>
              <a:t>arr</a:t>
            </a:r>
            <a:r>
              <a:rPr lang="en-US" sz="2400" b="0" dirty="0">
                <a:solidFill>
                  <a:srgbClr val="D4D4D4"/>
                </a:solidFill>
                <a:effectLst/>
                <a:latin typeface="Consolas" panose="020B0609020204030204" pitchFamily="49" charset="0"/>
              </a:rPr>
              <a:t>[</a:t>
            </a:r>
            <a:r>
              <a:rPr lang="en-US" sz="2400" b="0" dirty="0" err="1">
                <a:solidFill>
                  <a:srgbClr val="D4D4D4"/>
                </a:solidFill>
                <a:effectLst/>
                <a:latin typeface="Consolas" panose="020B0609020204030204" pitchFamily="49" charset="0"/>
              </a:rPr>
              <a:t>i</a:t>
            </a:r>
            <a:r>
              <a:rPr lang="en-US" sz="2400" b="0" dirty="0">
                <a:solidFill>
                  <a:srgbClr val="D4D4D4"/>
                </a:solidFill>
                <a:effectLst/>
                <a:latin typeface="Consolas" panose="020B0609020204030204" pitchFamily="49" charset="0"/>
              </a:rPr>
              <a:t>];</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        }</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    }</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    </a:t>
            </a:r>
            <a:r>
              <a:rPr lang="en-US" sz="2400" b="0" dirty="0">
                <a:solidFill>
                  <a:srgbClr val="C586C0"/>
                </a:solidFill>
                <a:effectLst/>
                <a:latin typeface="Consolas" panose="020B0609020204030204" pitchFamily="49" charset="0"/>
              </a:rPr>
              <a:t>return</a:t>
            </a:r>
            <a:r>
              <a:rPr lang="en-US" sz="2400" b="0" dirty="0">
                <a:solidFill>
                  <a:srgbClr val="D4D4D4"/>
                </a:solidFill>
                <a:effectLst/>
                <a:latin typeface="Consolas" panose="020B0609020204030204" pitchFamily="49" charset="0"/>
              </a:rPr>
              <a:t> max;</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a:t>
            </a:r>
            <a:endParaRPr lang="en-US" sz="24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732382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2">
            <a:extLst>
              <a:ext uri="{FF2B5EF4-FFF2-40B4-BE49-F238E27FC236}">
                <a16:creationId xmlns:a16="http://schemas.microsoft.com/office/drawing/2014/main" id="{CEF7D3C9-F027-4DFF-AC25-52606D3BE3A7}"/>
              </a:ext>
            </a:extLst>
          </p:cNvPr>
          <p:cNvSpPr txBox="1">
            <a:spLocks/>
          </p:cNvSpPr>
          <p:nvPr/>
        </p:nvSpPr>
        <p:spPr>
          <a:xfrm>
            <a:off x="1133141" y="289948"/>
            <a:ext cx="9925717" cy="927688"/>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Пытаемся оценить сложность алгоритма</a:t>
            </a:r>
          </a:p>
        </p:txBody>
      </p:sp>
      <p:sp>
        <p:nvSpPr>
          <p:cNvPr id="4" name="TextBox 3">
            <a:extLst>
              <a:ext uri="{FF2B5EF4-FFF2-40B4-BE49-F238E27FC236}">
                <a16:creationId xmlns:a16="http://schemas.microsoft.com/office/drawing/2014/main" id="{690033C2-CC06-478F-A5B8-983730653384}"/>
              </a:ext>
            </a:extLst>
          </p:cNvPr>
          <p:cNvSpPr txBox="1"/>
          <p:nvPr/>
        </p:nvSpPr>
        <p:spPr>
          <a:xfrm>
            <a:off x="2181149" y="2114021"/>
            <a:ext cx="8633390" cy="3416320"/>
          </a:xfrm>
          <a:prstGeom prst="rect">
            <a:avLst/>
          </a:prstGeom>
          <a:noFill/>
        </p:spPr>
        <p:txBody>
          <a:bodyPr wrap="square">
            <a:spAutoFit/>
          </a:bodyPr>
          <a:lstStyle/>
          <a:p>
            <a:r>
              <a:rPr lang="en-US" sz="2400" b="0" dirty="0">
                <a:solidFill>
                  <a:srgbClr val="569CD6"/>
                </a:solidFill>
                <a:effectLst/>
                <a:latin typeface="Consolas" panose="020B0609020204030204" pitchFamily="49" charset="0"/>
              </a:rPr>
              <a:t>int</a:t>
            </a:r>
            <a:r>
              <a:rPr lang="en-US" sz="2400" b="0" dirty="0">
                <a:solidFill>
                  <a:srgbClr val="D4D4D4"/>
                </a:solidFill>
                <a:effectLst/>
                <a:latin typeface="Consolas" panose="020B0609020204030204" pitchFamily="49" charset="0"/>
              </a:rPr>
              <a:t> </a:t>
            </a:r>
            <a:r>
              <a:rPr lang="en-US" sz="2400" b="0" dirty="0" err="1">
                <a:solidFill>
                  <a:srgbClr val="DCDCAA"/>
                </a:solidFill>
                <a:effectLst/>
                <a:latin typeface="Consolas" panose="020B0609020204030204" pitchFamily="49" charset="0"/>
              </a:rPr>
              <a:t>sumOfPairs</a:t>
            </a:r>
            <a:r>
              <a:rPr lang="en-US" sz="2400" b="0" dirty="0">
                <a:solidFill>
                  <a:srgbClr val="D4D4D4"/>
                </a:solidFill>
                <a:effectLst/>
                <a:latin typeface="Consolas" panose="020B0609020204030204" pitchFamily="49" charset="0"/>
              </a:rPr>
              <a:t>(</a:t>
            </a:r>
            <a:r>
              <a:rPr lang="en-US" sz="2400" b="0" dirty="0">
                <a:solidFill>
                  <a:srgbClr val="569CD6"/>
                </a:solidFill>
                <a:effectLst/>
                <a:latin typeface="Consolas" panose="020B0609020204030204" pitchFamily="49" charset="0"/>
              </a:rPr>
              <a:t>int</a:t>
            </a:r>
            <a:r>
              <a:rPr lang="en-US" sz="2400" b="0" dirty="0">
                <a:solidFill>
                  <a:srgbClr val="D4D4D4"/>
                </a:solidFill>
                <a:effectLst/>
                <a:latin typeface="Consolas" panose="020B0609020204030204" pitchFamily="49" charset="0"/>
              </a:rPr>
              <a:t> </a:t>
            </a:r>
            <a:r>
              <a:rPr lang="en-US" sz="2400" b="0" dirty="0" err="1">
                <a:solidFill>
                  <a:srgbClr val="9CDCFE"/>
                </a:solidFill>
                <a:effectLst/>
                <a:latin typeface="Consolas" panose="020B0609020204030204" pitchFamily="49" charset="0"/>
              </a:rPr>
              <a:t>arr</a:t>
            </a:r>
            <a:r>
              <a:rPr lang="en-US" sz="2400" b="0" dirty="0">
                <a:solidFill>
                  <a:srgbClr val="569CD6"/>
                </a:solidFill>
                <a:effectLst/>
                <a:latin typeface="Consolas" panose="020B0609020204030204" pitchFamily="49" charset="0"/>
              </a:rPr>
              <a:t>[]</a:t>
            </a:r>
            <a:r>
              <a:rPr lang="en-US" sz="2400" b="0" dirty="0">
                <a:solidFill>
                  <a:srgbClr val="D4D4D4"/>
                </a:solidFill>
                <a:effectLst/>
                <a:latin typeface="Consolas" panose="020B0609020204030204" pitchFamily="49" charset="0"/>
              </a:rPr>
              <a:t>, </a:t>
            </a:r>
            <a:r>
              <a:rPr lang="en-US" sz="2400" b="0" dirty="0">
                <a:solidFill>
                  <a:srgbClr val="569CD6"/>
                </a:solidFill>
                <a:effectLst/>
                <a:latin typeface="Consolas" panose="020B0609020204030204" pitchFamily="49" charset="0"/>
              </a:rPr>
              <a:t>int</a:t>
            </a:r>
            <a:r>
              <a:rPr lang="en-US" sz="2400" b="0" dirty="0">
                <a:solidFill>
                  <a:srgbClr val="D4D4D4"/>
                </a:solidFill>
                <a:effectLst/>
                <a:latin typeface="Consolas" panose="020B0609020204030204" pitchFamily="49" charset="0"/>
              </a:rPr>
              <a:t> </a:t>
            </a:r>
            <a:r>
              <a:rPr lang="en-US" sz="2400" b="0" dirty="0">
                <a:solidFill>
                  <a:srgbClr val="9CDCFE"/>
                </a:solidFill>
                <a:effectLst/>
                <a:latin typeface="Consolas" panose="020B0609020204030204" pitchFamily="49" charset="0"/>
              </a:rPr>
              <a:t>length</a:t>
            </a:r>
            <a:r>
              <a:rPr lang="en-US" sz="2400" b="0" dirty="0">
                <a:solidFill>
                  <a:srgbClr val="D4D4D4"/>
                </a:solidFill>
                <a:effectLst/>
                <a:latin typeface="Consolas" panose="020B0609020204030204" pitchFamily="49" charset="0"/>
              </a:rPr>
              <a:t>) {</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    </a:t>
            </a:r>
            <a:r>
              <a:rPr lang="en-US" sz="2400" b="0" dirty="0">
                <a:solidFill>
                  <a:srgbClr val="569CD6"/>
                </a:solidFill>
                <a:effectLst/>
                <a:latin typeface="Consolas" panose="020B0609020204030204" pitchFamily="49" charset="0"/>
              </a:rPr>
              <a:t>int</a:t>
            </a:r>
            <a:r>
              <a:rPr lang="en-US" sz="2400" b="0" dirty="0">
                <a:solidFill>
                  <a:srgbClr val="D4D4D4"/>
                </a:solidFill>
                <a:effectLst/>
                <a:latin typeface="Consolas" panose="020B0609020204030204" pitchFamily="49" charset="0"/>
              </a:rPr>
              <a:t> sum = </a:t>
            </a:r>
            <a:r>
              <a:rPr lang="en-US" sz="2400" b="0" dirty="0">
                <a:solidFill>
                  <a:srgbClr val="B5CEA8"/>
                </a:solidFill>
                <a:effectLst/>
                <a:latin typeface="Consolas" panose="020B0609020204030204" pitchFamily="49" charset="0"/>
              </a:rPr>
              <a:t>0</a:t>
            </a:r>
            <a:r>
              <a:rPr lang="en-US" sz="2400" b="0" dirty="0">
                <a:solidFill>
                  <a:srgbClr val="D4D4D4"/>
                </a:solidFill>
                <a:effectLst/>
                <a:latin typeface="Consolas" panose="020B0609020204030204" pitchFamily="49" charset="0"/>
              </a:rPr>
              <a:t>;</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    </a:t>
            </a:r>
            <a:r>
              <a:rPr lang="en-US" sz="2400" b="0" dirty="0">
                <a:solidFill>
                  <a:srgbClr val="C586C0"/>
                </a:solidFill>
                <a:effectLst/>
                <a:latin typeface="Consolas" panose="020B0609020204030204" pitchFamily="49" charset="0"/>
              </a:rPr>
              <a:t>for</a:t>
            </a:r>
            <a:r>
              <a:rPr lang="en-US" sz="2400" b="0" dirty="0">
                <a:solidFill>
                  <a:srgbClr val="D4D4D4"/>
                </a:solidFill>
                <a:effectLst/>
                <a:latin typeface="Consolas" panose="020B0609020204030204" pitchFamily="49" charset="0"/>
              </a:rPr>
              <a:t> (</a:t>
            </a:r>
            <a:r>
              <a:rPr lang="en-US" sz="2400" b="0" dirty="0">
                <a:solidFill>
                  <a:srgbClr val="569CD6"/>
                </a:solidFill>
                <a:effectLst/>
                <a:latin typeface="Consolas" panose="020B0609020204030204" pitchFamily="49" charset="0"/>
              </a:rPr>
              <a:t>int</a:t>
            </a:r>
            <a:r>
              <a:rPr lang="en-US" sz="2400" b="0" dirty="0">
                <a:solidFill>
                  <a:srgbClr val="D4D4D4"/>
                </a:solidFill>
                <a:effectLst/>
                <a:latin typeface="Consolas" panose="020B0609020204030204" pitchFamily="49" charset="0"/>
              </a:rPr>
              <a:t> </a:t>
            </a:r>
            <a:r>
              <a:rPr lang="en-US" sz="2400" b="0" dirty="0" err="1">
                <a:solidFill>
                  <a:srgbClr val="D4D4D4"/>
                </a:solidFill>
                <a:effectLst/>
                <a:latin typeface="Consolas" panose="020B0609020204030204" pitchFamily="49" charset="0"/>
              </a:rPr>
              <a:t>i</a:t>
            </a:r>
            <a:r>
              <a:rPr lang="en-US" sz="2400" b="0" dirty="0">
                <a:solidFill>
                  <a:srgbClr val="D4D4D4"/>
                </a:solidFill>
                <a:effectLst/>
                <a:latin typeface="Consolas" panose="020B0609020204030204" pitchFamily="49" charset="0"/>
              </a:rPr>
              <a:t> = </a:t>
            </a:r>
            <a:r>
              <a:rPr lang="en-US" sz="2400" b="0" dirty="0">
                <a:solidFill>
                  <a:srgbClr val="B5CEA8"/>
                </a:solidFill>
                <a:effectLst/>
                <a:latin typeface="Consolas" panose="020B0609020204030204" pitchFamily="49" charset="0"/>
              </a:rPr>
              <a:t>0</a:t>
            </a:r>
            <a:r>
              <a:rPr lang="en-US" sz="2400" b="0" dirty="0">
                <a:solidFill>
                  <a:srgbClr val="D4D4D4"/>
                </a:solidFill>
                <a:effectLst/>
                <a:latin typeface="Consolas" panose="020B0609020204030204" pitchFamily="49" charset="0"/>
              </a:rPr>
              <a:t>; </a:t>
            </a:r>
            <a:r>
              <a:rPr lang="en-US" sz="2400" b="0" dirty="0" err="1">
                <a:solidFill>
                  <a:srgbClr val="D4D4D4"/>
                </a:solidFill>
                <a:effectLst/>
                <a:latin typeface="Consolas" panose="020B0609020204030204" pitchFamily="49" charset="0"/>
              </a:rPr>
              <a:t>i</a:t>
            </a:r>
            <a:r>
              <a:rPr lang="en-US" sz="2400" b="0" dirty="0">
                <a:solidFill>
                  <a:srgbClr val="D4D4D4"/>
                </a:solidFill>
                <a:effectLst/>
                <a:latin typeface="Consolas" panose="020B0609020204030204" pitchFamily="49" charset="0"/>
              </a:rPr>
              <a:t> &lt; length; </a:t>
            </a:r>
            <a:r>
              <a:rPr lang="en-US" sz="2400" b="0" dirty="0" err="1">
                <a:solidFill>
                  <a:srgbClr val="D4D4D4"/>
                </a:solidFill>
                <a:effectLst/>
                <a:latin typeface="Consolas" panose="020B0609020204030204" pitchFamily="49" charset="0"/>
              </a:rPr>
              <a:t>i</a:t>
            </a:r>
            <a:r>
              <a:rPr lang="en-US" sz="2400" b="0" dirty="0">
                <a:solidFill>
                  <a:srgbClr val="D4D4D4"/>
                </a:solidFill>
                <a:effectLst/>
                <a:latin typeface="Consolas" panose="020B0609020204030204" pitchFamily="49" charset="0"/>
              </a:rPr>
              <a:t>++) {</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        </a:t>
            </a:r>
            <a:r>
              <a:rPr lang="en-US" sz="2400" b="0" dirty="0">
                <a:solidFill>
                  <a:srgbClr val="C586C0"/>
                </a:solidFill>
                <a:effectLst/>
                <a:latin typeface="Consolas" panose="020B0609020204030204" pitchFamily="49" charset="0"/>
              </a:rPr>
              <a:t>for</a:t>
            </a:r>
            <a:r>
              <a:rPr lang="en-US" sz="2400" b="0" dirty="0">
                <a:solidFill>
                  <a:srgbClr val="D4D4D4"/>
                </a:solidFill>
                <a:effectLst/>
                <a:latin typeface="Consolas" panose="020B0609020204030204" pitchFamily="49" charset="0"/>
              </a:rPr>
              <a:t> (</a:t>
            </a:r>
            <a:r>
              <a:rPr lang="en-US" sz="2400" b="0" dirty="0">
                <a:solidFill>
                  <a:srgbClr val="569CD6"/>
                </a:solidFill>
                <a:effectLst/>
                <a:latin typeface="Consolas" panose="020B0609020204030204" pitchFamily="49" charset="0"/>
              </a:rPr>
              <a:t>int</a:t>
            </a:r>
            <a:r>
              <a:rPr lang="en-US" sz="2400" b="0" dirty="0">
                <a:solidFill>
                  <a:srgbClr val="D4D4D4"/>
                </a:solidFill>
                <a:effectLst/>
                <a:latin typeface="Consolas" panose="020B0609020204030204" pitchFamily="49" charset="0"/>
              </a:rPr>
              <a:t> j = </a:t>
            </a:r>
            <a:r>
              <a:rPr lang="en-US" sz="2400" b="0" dirty="0">
                <a:solidFill>
                  <a:srgbClr val="B5CEA8"/>
                </a:solidFill>
                <a:effectLst/>
                <a:latin typeface="Consolas" panose="020B0609020204030204" pitchFamily="49" charset="0"/>
              </a:rPr>
              <a:t>0</a:t>
            </a:r>
            <a:r>
              <a:rPr lang="en-US" sz="2400" b="0" dirty="0">
                <a:solidFill>
                  <a:srgbClr val="D4D4D4"/>
                </a:solidFill>
                <a:effectLst/>
                <a:latin typeface="Consolas" panose="020B0609020204030204" pitchFamily="49" charset="0"/>
              </a:rPr>
              <a:t>; j &lt; length; </a:t>
            </a:r>
            <a:r>
              <a:rPr lang="en-US" sz="2400" b="0" dirty="0" err="1">
                <a:solidFill>
                  <a:srgbClr val="D4D4D4"/>
                </a:solidFill>
                <a:effectLst/>
                <a:latin typeface="Consolas" panose="020B0609020204030204" pitchFamily="49" charset="0"/>
              </a:rPr>
              <a:t>j++</a:t>
            </a:r>
            <a:r>
              <a:rPr lang="en-US" sz="2400" b="0" dirty="0">
                <a:solidFill>
                  <a:srgbClr val="D4D4D4"/>
                </a:solidFill>
                <a:effectLst/>
                <a:latin typeface="Consolas" panose="020B0609020204030204" pitchFamily="49" charset="0"/>
              </a:rPr>
              <a:t>) {</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            sum += </a:t>
            </a:r>
            <a:r>
              <a:rPr lang="en-US" sz="2400" b="0" dirty="0" err="1">
                <a:solidFill>
                  <a:srgbClr val="9CDCFE"/>
                </a:solidFill>
                <a:effectLst/>
                <a:latin typeface="Consolas" panose="020B0609020204030204" pitchFamily="49" charset="0"/>
              </a:rPr>
              <a:t>arr</a:t>
            </a:r>
            <a:r>
              <a:rPr lang="en-US" sz="2400" b="0" dirty="0">
                <a:solidFill>
                  <a:srgbClr val="D4D4D4"/>
                </a:solidFill>
                <a:effectLst/>
                <a:latin typeface="Consolas" panose="020B0609020204030204" pitchFamily="49" charset="0"/>
              </a:rPr>
              <a:t>[</a:t>
            </a:r>
            <a:r>
              <a:rPr lang="en-US" sz="2400" b="0" dirty="0" err="1">
                <a:solidFill>
                  <a:srgbClr val="D4D4D4"/>
                </a:solidFill>
                <a:effectLst/>
                <a:latin typeface="Consolas" panose="020B0609020204030204" pitchFamily="49" charset="0"/>
              </a:rPr>
              <a:t>i</a:t>
            </a:r>
            <a:r>
              <a:rPr lang="en-US" sz="2400" b="0" dirty="0">
                <a:solidFill>
                  <a:srgbClr val="D4D4D4"/>
                </a:solidFill>
                <a:effectLst/>
                <a:latin typeface="Consolas" panose="020B0609020204030204" pitchFamily="49" charset="0"/>
              </a:rPr>
              <a:t>] + </a:t>
            </a:r>
            <a:r>
              <a:rPr lang="en-US" sz="2400" b="0" dirty="0" err="1">
                <a:solidFill>
                  <a:srgbClr val="9CDCFE"/>
                </a:solidFill>
                <a:effectLst/>
                <a:latin typeface="Consolas" panose="020B0609020204030204" pitchFamily="49" charset="0"/>
              </a:rPr>
              <a:t>arr</a:t>
            </a:r>
            <a:r>
              <a:rPr lang="en-US" sz="2400" b="0" dirty="0">
                <a:solidFill>
                  <a:srgbClr val="D4D4D4"/>
                </a:solidFill>
                <a:effectLst/>
                <a:latin typeface="Consolas" panose="020B0609020204030204" pitchFamily="49" charset="0"/>
              </a:rPr>
              <a:t>[j];</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        }</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    }</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    </a:t>
            </a:r>
            <a:r>
              <a:rPr lang="en-US" sz="2400" b="0" dirty="0">
                <a:solidFill>
                  <a:srgbClr val="C586C0"/>
                </a:solidFill>
                <a:effectLst/>
                <a:latin typeface="Consolas" panose="020B0609020204030204" pitchFamily="49" charset="0"/>
              </a:rPr>
              <a:t>return</a:t>
            </a:r>
            <a:r>
              <a:rPr lang="en-US" sz="2400" b="0" dirty="0">
                <a:solidFill>
                  <a:srgbClr val="D4D4D4"/>
                </a:solidFill>
                <a:effectLst/>
                <a:latin typeface="Consolas" panose="020B0609020204030204" pitchFamily="49" charset="0"/>
              </a:rPr>
              <a:t> sum;</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a:t>
            </a:r>
            <a:endParaRPr lang="en-US" sz="24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889684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2">
            <a:extLst>
              <a:ext uri="{FF2B5EF4-FFF2-40B4-BE49-F238E27FC236}">
                <a16:creationId xmlns:a16="http://schemas.microsoft.com/office/drawing/2014/main" id="{CEF7D3C9-F027-4DFF-AC25-52606D3BE3A7}"/>
              </a:ext>
            </a:extLst>
          </p:cNvPr>
          <p:cNvSpPr txBox="1">
            <a:spLocks/>
          </p:cNvSpPr>
          <p:nvPr/>
        </p:nvSpPr>
        <p:spPr>
          <a:xfrm>
            <a:off x="1133141" y="289948"/>
            <a:ext cx="9925717" cy="927688"/>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Пытаемся оценить сложность алгоритма</a:t>
            </a:r>
          </a:p>
        </p:txBody>
      </p:sp>
      <p:sp>
        <p:nvSpPr>
          <p:cNvPr id="6" name="TextBox 5">
            <a:extLst>
              <a:ext uri="{FF2B5EF4-FFF2-40B4-BE49-F238E27FC236}">
                <a16:creationId xmlns:a16="http://schemas.microsoft.com/office/drawing/2014/main" id="{53FF6DD0-0BCF-40E7-B8E2-FD59EE5B8F66}"/>
              </a:ext>
            </a:extLst>
          </p:cNvPr>
          <p:cNvSpPr txBox="1"/>
          <p:nvPr/>
        </p:nvSpPr>
        <p:spPr>
          <a:xfrm>
            <a:off x="1294865" y="2459504"/>
            <a:ext cx="9602267" cy="1938992"/>
          </a:xfrm>
          <a:prstGeom prst="rect">
            <a:avLst/>
          </a:prstGeom>
          <a:noFill/>
        </p:spPr>
        <p:txBody>
          <a:bodyPr wrap="square">
            <a:spAutoFit/>
          </a:bodyPr>
          <a:lstStyle/>
          <a:p>
            <a:r>
              <a:rPr lang="en-US" sz="2400" b="0" dirty="0">
                <a:solidFill>
                  <a:srgbClr val="569CD6"/>
                </a:solidFill>
                <a:effectLst/>
                <a:latin typeface="Consolas" panose="020B0609020204030204" pitchFamily="49" charset="0"/>
              </a:rPr>
              <a:t>const</a:t>
            </a:r>
            <a:r>
              <a:rPr lang="en-US" sz="2400" b="0" dirty="0">
                <a:solidFill>
                  <a:srgbClr val="D4D4D4"/>
                </a:solidFill>
                <a:effectLst/>
                <a:latin typeface="Consolas" panose="020B0609020204030204" pitchFamily="49" charset="0"/>
              </a:rPr>
              <a:t> </a:t>
            </a:r>
            <a:r>
              <a:rPr lang="en-US" sz="2400" b="0" dirty="0">
                <a:solidFill>
                  <a:srgbClr val="569CD6"/>
                </a:solidFill>
                <a:effectLst/>
                <a:latin typeface="Consolas" panose="020B0609020204030204" pitchFamily="49" charset="0"/>
              </a:rPr>
              <a:t>int</a:t>
            </a:r>
            <a:r>
              <a:rPr lang="en-US" sz="2400" b="0" dirty="0">
                <a:solidFill>
                  <a:srgbClr val="D4D4D4"/>
                </a:solidFill>
                <a:effectLst/>
                <a:latin typeface="Consolas" panose="020B0609020204030204" pitchFamily="49" charset="0"/>
              </a:rPr>
              <a:t> keys</a:t>
            </a:r>
            <a:r>
              <a:rPr lang="en-US" sz="2400" b="0" dirty="0">
                <a:solidFill>
                  <a:srgbClr val="569CD6"/>
                </a:solidFill>
                <a:effectLst/>
                <a:latin typeface="Consolas" panose="020B0609020204030204" pitchFamily="49" charset="0"/>
              </a:rPr>
              <a:t>[]</a:t>
            </a:r>
            <a:r>
              <a:rPr lang="en-US" sz="2400" b="0" dirty="0">
                <a:solidFill>
                  <a:srgbClr val="D4D4D4"/>
                </a:solidFill>
                <a:effectLst/>
                <a:latin typeface="Consolas" panose="020B0609020204030204" pitchFamily="49" charset="0"/>
              </a:rPr>
              <a:t> = {</a:t>
            </a:r>
            <a:r>
              <a:rPr lang="en-US" sz="2400" b="0" dirty="0">
                <a:solidFill>
                  <a:srgbClr val="B5CEA8"/>
                </a:solidFill>
                <a:effectLst/>
                <a:latin typeface="Consolas" panose="020B0609020204030204" pitchFamily="49" charset="0"/>
              </a:rPr>
              <a:t>0x0</a:t>
            </a:r>
            <a:r>
              <a:rPr lang="en-US" sz="2400" b="0" dirty="0">
                <a:solidFill>
                  <a:srgbClr val="D4D4D4"/>
                </a:solidFill>
                <a:effectLst/>
                <a:latin typeface="Consolas" panose="020B0609020204030204" pitchFamily="49" charset="0"/>
              </a:rPr>
              <a:t>, </a:t>
            </a:r>
            <a:r>
              <a:rPr lang="en-US" sz="2400" b="0" dirty="0">
                <a:solidFill>
                  <a:srgbClr val="B5CEA8"/>
                </a:solidFill>
                <a:effectLst/>
                <a:latin typeface="Consolas" panose="020B0609020204030204" pitchFamily="49" charset="0"/>
              </a:rPr>
              <a:t>0xDEADBEEF</a:t>
            </a:r>
            <a:r>
              <a:rPr lang="en-US" sz="2400" b="0" dirty="0">
                <a:solidFill>
                  <a:srgbClr val="D4D4D4"/>
                </a:solidFill>
                <a:effectLst/>
                <a:latin typeface="Consolas" panose="020B0609020204030204" pitchFamily="49" charset="0"/>
              </a:rPr>
              <a:t>, </a:t>
            </a:r>
            <a:r>
              <a:rPr lang="en-US" sz="2400" b="0" dirty="0">
                <a:solidFill>
                  <a:srgbClr val="B5CEA8"/>
                </a:solidFill>
                <a:effectLst/>
                <a:latin typeface="Consolas" panose="020B0609020204030204" pitchFamily="49" charset="0"/>
              </a:rPr>
              <a:t>0xC0FFEE</a:t>
            </a:r>
            <a:r>
              <a:rPr lang="en-US" sz="2400" b="0" dirty="0">
                <a:solidFill>
                  <a:srgbClr val="D4D4D4"/>
                </a:solidFill>
                <a:effectLst/>
                <a:latin typeface="Consolas" panose="020B0609020204030204" pitchFamily="49" charset="0"/>
              </a:rPr>
              <a:t>, </a:t>
            </a:r>
            <a:r>
              <a:rPr lang="en-US" sz="2400" b="0" dirty="0">
                <a:solidFill>
                  <a:srgbClr val="B5CEA8"/>
                </a:solidFill>
                <a:effectLst/>
                <a:latin typeface="Consolas" panose="020B0609020204030204" pitchFamily="49" charset="0"/>
              </a:rPr>
              <a:t>0xFFFF</a:t>
            </a:r>
            <a:r>
              <a:rPr lang="en-US" sz="2400" b="0" dirty="0">
                <a:solidFill>
                  <a:srgbClr val="D4D4D4"/>
                </a:solidFill>
                <a:effectLst/>
                <a:latin typeface="Consolas" panose="020B0609020204030204" pitchFamily="49" charset="0"/>
              </a:rPr>
              <a:t>};</a:t>
            </a:r>
          </a:p>
          <a:p>
            <a:br>
              <a:rPr lang="en-US" sz="2400" b="0" dirty="0">
                <a:solidFill>
                  <a:srgbClr val="CCCCCC"/>
                </a:solidFill>
                <a:effectLst/>
                <a:latin typeface="Consolas" panose="020B0609020204030204" pitchFamily="49" charset="0"/>
              </a:rPr>
            </a:br>
            <a:r>
              <a:rPr lang="en-US" sz="2400" b="0" dirty="0">
                <a:solidFill>
                  <a:srgbClr val="569CD6"/>
                </a:solidFill>
                <a:effectLst/>
                <a:latin typeface="Consolas" panose="020B0609020204030204" pitchFamily="49" charset="0"/>
              </a:rPr>
              <a:t>int</a:t>
            </a:r>
            <a:r>
              <a:rPr lang="en-US" sz="2400" b="0" dirty="0">
                <a:solidFill>
                  <a:srgbClr val="D4D4D4"/>
                </a:solidFill>
                <a:effectLst/>
                <a:latin typeface="Consolas" panose="020B0609020204030204" pitchFamily="49" charset="0"/>
              </a:rPr>
              <a:t> </a:t>
            </a:r>
            <a:r>
              <a:rPr lang="en-US" sz="2400" b="0" dirty="0" err="1">
                <a:solidFill>
                  <a:srgbClr val="DCDCAA"/>
                </a:solidFill>
                <a:effectLst/>
                <a:latin typeface="Consolas" panose="020B0609020204030204" pitchFamily="49" charset="0"/>
              </a:rPr>
              <a:t>get_key</a:t>
            </a:r>
            <a:r>
              <a:rPr lang="en-US" sz="2400" b="0" dirty="0">
                <a:solidFill>
                  <a:srgbClr val="D4D4D4"/>
                </a:solidFill>
                <a:effectLst/>
                <a:latin typeface="Consolas" panose="020B0609020204030204" pitchFamily="49" charset="0"/>
              </a:rPr>
              <a:t>(</a:t>
            </a:r>
            <a:r>
              <a:rPr lang="en-US" sz="2400" b="0" dirty="0">
                <a:solidFill>
                  <a:srgbClr val="569CD6"/>
                </a:solidFill>
                <a:effectLst/>
                <a:latin typeface="Consolas" panose="020B0609020204030204" pitchFamily="49" charset="0"/>
              </a:rPr>
              <a:t>int</a:t>
            </a:r>
            <a:r>
              <a:rPr lang="en-US" sz="2400" b="0" dirty="0">
                <a:solidFill>
                  <a:srgbClr val="D4D4D4"/>
                </a:solidFill>
                <a:effectLst/>
                <a:latin typeface="Consolas" panose="020B0609020204030204" pitchFamily="49" charset="0"/>
              </a:rPr>
              <a:t> </a:t>
            </a:r>
            <a:r>
              <a:rPr lang="en-US" sz="2400" b="0" dirty="0">
                <a:solidFill>
                  <a:srgbClr val="9CDCFE"/>
                </a:solidFill>
                <a:effectLst/>
                <a:latin typeface="Consolas" panose="020B0609020204030204" pitchFamily="49" charset="0"/>
              </a:rPr>
              <a:t>n</a:t>
            </a:r>
            <a:r>
              <a:rPr lang="en-US" sz="2400" b="0" dirty="0">
                <a:solidFill>
                  <a:srgbClr val="D4D4D4"/>
                </a:solidFill>
                <a:effectLst/>
                <a:latin typeface="Consolas" panose="020B0609020204030204" pitchFamily="49" charset="0"/>
              </a:rPr>
              <a:t>) {</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  </a:t>
            </a:r>
            <a:r>
              <a:rPr lang="en-US" sz="2400" b="0" dirty="0">
                <a:solidFill>
                  <a:srgbClr val="C586C0"/>
                </a:solidFill>
                <a:effectLst/>
                <a:latin typeface="Consolas" panose="020B0609020204030204" pitchFamily="49" charset="0"/>
              </a:rPr>
              <a:t>return</a:t>
            </a:r>
            <a:r>
              <a:rPr lang="en-US" sz="2400" b="0" dirty="0">
                <a:solidFill>
                  <a:srgbClr val="D4D4D4"/>
                </a:solidFill>
                <a:effectLst/>
                <a:latin typeface="Consolas" panose="020B0609020204030204" pitchFamily="49" charset="0"/>
              </a:rPr>
              <a:t> </a:t>
            </a:r>
            <a:r>
              <a:rPr lang="en-US" sz="2400" b="0" dirty="0">
                <a:solidFill>
                  <a:srgbClr val="9CDCFE"/>
                </a:solidFill>
                <a:effectLst/>
                <a:latin typeface="Consolas" panose="020B0609020204030204" pitchFamily="49" charset="0"/>
              </a:rPr>
              <a:t>keys</a:t>
            </a:r>
            <a:r>
              <a:rPr lang="en-US" sz="2400" b="0" dirty="0">
                <a:solidFill>
                  <a:srgbClr val="D4D4D4"/>
                </a:solidFill>
                <a:effectLst/>
                <a:latin typeface="Consolas" panose="020B0609020204030204" pitchFamily="49" charset="0"/>
              </a:rPr>
              <a:t>[n];</a:t>
            </a:r>
            <a:endParaRPr lang="en-US" sz="2400" b="0" dirty="0">
              <a:solidFill>
                <a:srgbClr val="CCCCCC"/>
              </a:solidFill>
              <a:effectLst/>
              <a:latin typeface="Consolas" panose="020B0609020204030204" pitchFamily="49" charset="0"/>
            </a:endParaRPr>
          </a:p>
          <a:p>
            <a:r>
              <a:rPr lang="en-US" sz="2400" b="0" dirty="0">
                <a:solidFill>
                  <a:srgbClr val="D4D4D4"/>
                </a:solidFill>
                <a:effectLst/>
                <a:latin typeface="Consolas" panose="020B0609020204030204" pitchFamily="49" charset="0"/>
              </a:rPr>
              <a:t>}</a:t>
            </a:r>
            <a:endParaRPr lang="en-US" sz="24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23821704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2">
            <a:extLst>
              <a:ext uri="{FF2B5EF4-FFF2-40B4-BE49-F238E27FC236}">
                <a16:creationId xmlns:a16="http://schemas.microsoft.com/office/drawing/2014/main" id="{CEF7D3C9-F027-4DFF-AC25-52606D3BE3A7}"/>
              </a:ext>
            </a:extLst>
          </p:cNvPr>
          <p:cNvSpPr txBox="1">
            <a:spLocks/>
          </p:cNvSpPr>
          <p:nvPr/>
        </p:nvSpPr>
        <p:spPr>
          <a:xfrm>
            <a:off x="1133141" y="289948"/>
            <a:ext cx="9925717" cy="927688"/>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Пытаемся оценить сложность алгоритма</a:t>
            </a:r>
          </a:p>
        </p:txBody>
      </p:sp>
      <p:sp>
        <p:nvSpPr>
          <p:cNvPr id="4" name="TextBox 3">
            <a:extLst>
              <a:ext uri="{FF2B5EF4-FFF2-40B4-BE49-F238E27FC236}">
                <a16:creationId xmlns:a16="http://schemas.microsoft.com/office/drawing/2014/main" id="{690033C2-CC06-478F-A5B8-983730653384}"/>
              </a:ext>
            </a:extLst>
          </p:cNvPr>
          <p:cNvSpPr txBox="1"/>
          <p:nvPr/>
        </p:nvSpPr>
        <p:spPr>
          <a:xfrm>
            <a:off x="3460603" y="1581769"/>
            <a:ext cx="5270791" cy="4524315"/>
          </a:xfrm>
          <a:prstGeom prst="rect">
            <a:avLst/>
          </a:prstGeom>
          <a:noFill/>
        </p:spPr>
        <p:txBody>
          <a:bodyPr wrap="square">
            <a:spAutoFit/>
          </a:bodyPr>
          <a:lstStyle/>
          <a:p>
            <a:r>
              <a:rPr lang="en-US" b="0" dirty="0">
                <a:solidFill>
                  <a:srgbClr val="569CD6"/>
                </a:solidFill>
                <a:effectLst/>
                <a:latin typeface="Consolas" panose="020B0609020204030204" pitchFamily="49" charset="0"/>
              </a:rPr>
              <a:t>int</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test</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int</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arr</a:t>
            </a:r>
            <a:r>
              <a:rPr lang="en-US" b="0" dirty="0">
                <a:solidFill>
                  <a:srgbClr val="569CD6"/>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length</a:t>
            </a:r>
            <a:r>
              <a:rPr lang="en-US" b="0" dirty="0">
                <a:solidFill>
                  <a:srgbClr val="D4D4D4"/>
                </a:solidFill>
                <a:effectLst/>
                <a:latin typeface="Consolas" panose="020B0609020204030204" pitchFamily="49" charset="0"/>
              </a:rPr>
              <a:t>) {</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int</a:t>
            </a:r>
            <a:r>
              <a:rPr lang="en-US" b="0" dirty="0">
                <a:solidFill>
                  <a:srgbClr val="D4D4D4"/>
                </a:solidFill>
                <a:effectLst/>
                <a:latin typeface="Consolas" panose="020B0609020204030204" pitchFamily="49" charset="0"/>
              </a:rPr>
              <a:t> sum = </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for</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int</a:t>
            </a:r>
            <a:r>
              <a:rPr lang="en-US" b="0" dirty="0">
                <a:solidFill>
                  <a:srgbClr val="D4D4D4"/>
                </a:solidFill>
                <a:effectLst/>
                <a:latin typeface="Consolas" panose="020B0609020204030204" pitchFamily="49" charset="0"/>
              </a:rPr>
              <a:t> </a:t>
            </a:r>
            <a:r>
              <a:rPr lang="en-US" b="0" dirty="0" err="1">
                <a:solidFill>
                  <a:srgbClr val="D4D4D4"/>
                </a:solidFill>
                <a:effectLst/>
                <a:latin typeface="Consolas" panose="020B0609020204030204" pitchFamily="49" charset="0"/>
              </a:rPr>
              <a:t>i</a:t>
            </a:r>
            <a:r>
              <a:rPr lang="en-US" b="0" dirty="0">
                <a:solidFill>
                  <a:srgbClr val="D4D4D4"/>
                </a:solidFill>
                <a:effectLst/>
                <a:latin typeface="Consolas" panose="020B0609020204030204" pitchFamily="49" charset="0"/>
              </a:rPr>
              <a:t> = </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 </a:t>
            </a:r>
            <a:r>
              <a:rPr lang="en-US" b="0" dirty="0" err="1">
                <a:solidFill>
                  <a:srgbClr val="D4D4D4"/>
                </a:solidFill>
                <a:effectLst/>
                <a:latin typeface="Consolas" panose="020B0609020204030204" pitchFamily="49" charset="0"/>
              </a:rPr>
              <a:t>i</a:t>
            </a:r>
            <a:r>
              <a:rPr lang="en-US" b="0" dirty="0">
                <a:solidFill>
                  <a:srgbClr val="D4D4D4"/>
                </a:solidFill>
                <a:effectLst/>
                <a:latin typeface="Consolas" panose="020B0609020204030204" pitchFamily="49" charset="0"/>
              </a:rPr>
              <a:t> &lt; length; </a:t>
            </a:r>
            <a:r>
              <a:rPr lang="en-US" b="0" dirty="0" err="1">
                <a:solidFill>
                  <a:srgbClr val="D4D4D4"/>
                </a:solidFill>
                <a:effectLst/>
                <a:latin typeface="Consolas" panose="020B0609020204030204" pitchFamily="49" charset="0"/>
              </a:rPr>
              <a:t>i</a:t>
            </a:r>
            <a:r>
              <a:rPr lang="en-US" b="0" dirty="0">
                <a:solidFill>
                  <a:srgbClr val="D4D4D4"/>
                </a:solidFill>
                <a:effectLst/>
                <a:latin typeface="Consolas" panose="020B0609020204030204" pitchFamily="49" charset="0"/>
              </a:rPr>
              <a:t>++) {</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for</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int</a:t>
            </a:r>
            <a:r>
              <a:rPr lang="en-US" b="0" dirty="0">
                <a:solidFill>
                  <a:srgbClr val="D4D4D4"/>
                </a:solidFill>
                <a:effectLst/>
                <a:latin typeface="Consolas" panose="020B0609020204030204" pitchFamily="49" charset="0"/>
              </a:rPr>
              <a:t> j = </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 j &lt; length; </a:t>
            </a:r>
            <a:r>
              <a:rPr lang="en-US" b="0" dirty="0" err="1">
                <a:solidFill>
                  <a:srgbClr val="D4D4D4"/>
                </a:solidFill>
                <a:effectLst/>
                <a:latin typeface="Consolas" panose="020B0609020204030204" pitchFamily="49" charset="0"/>
              </a:rPr>
              <a:t>j++</a:t>
            </a:r>
            <a:r>
              <a:rPr lang="en-US" b="0" dirty="0">
                <a:solidFill>
                  <a:srgbClr val="D4D4D4"/>
                </a:solidFill>
                <a:effectLst/>
                <a:latin typeface="Consolas" panose="020B0609020204030204" pitchFamily="49" charset="0"/>
              </a:rPr>
              <a:t>) {</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sum += </a:t>
            </a:r>
            <a:r>
              <a:rPr lang="en-US" b="0" dirty="0" err="1">
                <a:solidFill>
                  <a:srgbClr val="9CDCFE"/>
                </a:solidFill>
                <a:effectLst/>
                <a:latin typeface="Consolas" panose="020B0609020204030204" pitchFamily="49" charset="0"/>
              </a:rPr>
              <a:t>arr</a:t>
            </a:r>
            <a:r>
              <a:rPr lang="en-US" b="0" dirty="0">
                <a:solidFill>
                  <a:srgbClr val="D4D4D4"/>
                </a:solidFill>
                <a:effectLst/>
                <a:latin typeface="Consolas" panose="020B0609020204030204" pitchFamily="49" charset="0"/>
              </a:rPr>
              <a:t>[</a:t>
            </a:r>
            <a:r>
              <a:rPr lang="en-US" b="0" dirty="0" err="1">
                <a:solidFill>
                  <a:srgbClr val="D4D4D4"/>
                </a:solidFill>
                <a:effectLst/>
                <a:latin typeface="Consolas" panose="020B0609020204030204" pitchFamily="49" charset="0"/>
              </a:rPr>
              <a:t>i</a:t>
            </a:r>
            <a:r>
              <a:rPr lang="en-US" b="0" dirty="0">
                <a:solidFill>
                  <a:srgbClr val="D4D4D4"/>
                </a:solidFill>
                <a:effectLst/>
                <a:latin typeface="Consolas" panose="020B0609020204030204" pitchFamily="49" charset="0"/>
              </a:rPr>
              <a:t>] + </a:t>
            </a:r>
            <a:r>
              <a:rPr lang="en-US" b="0" dirty="0" err="1">
                <a:solidFill>
                  <a:srgbClr val="9CDCFE"/>
                </a:solidFill>
                <a:effectLst/>
                <a:latin typeface="Consolas" panose="020B0609020204030204" pitchFamily="49" charset="0"/>
              </a:rPr>
              <a:t>arr</a:t>
            </a:r>
            <a:r>
              <a:rPr lang="en-US" b="0" dirty="0">
                <a:solidFill>
                  <a:srgbClr val="D4D4D4"/>
                </a:solidFill>
                <a:effectLst/>
                <a:latin typeface="Consolas" panose="020B0609020204030204" pitchFamily="49" charset="0"/>
              </a:rPr>
              <a:t>[j];</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4D4D4"/>
                </a:solidFill>
                <a:effectLst/>
                <a:latin typeface="Consolas" panose="020B0609020204030204" pitchFamily="49" charset="0"/>
              </a:rPr>
              <a:t> (length &lt; </a:t>
            </a:r>
            <a:r>
              <a:rPr lang="en-US" b="0" dirty="0">
                <a:solidFill>
                  <a:srgbClr val="B5CEA8"/>
                </a:solidFill>
                <a:effectLst/>
                <a:latin typeface="Consolas" panose="020B0609020204030204" pitchFamily="49" charset="0"/>
              </a:rPr>
              <a:t>3</a:t>
            </a: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D4D4D4"/>
                </a:solidFill>
                <a:effectLst/>
                <a:latin typeface="Consolas" panose="020B0609020204030204" pitchFamily="49" charset="0"/>
              </a:rPr>
              <a:t> sum;</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int</a:t>
            </a:r>
            <a:r>
              <a:rPr lang="en-US" b="0" dirty="0">
                <a:solidFill>
                  <a:srgbClr val="D4D4D4"/>
                </a:solidFill>
                <a:effectLst/>
                <a:latin typeface="Consolas" panose="020B0609020204030204" pitchFamily="49" charset="0"/>
              </a:rPr>
              <a:t> max = </a:t>
            </a:r>
            <a:r>
              <a:rPr lang="en-US" b="0" dirty="0" err="1">
                <a:solidFill>
                  <a:srgbClr val="9CDCFE"/>
                </a:solidFill>
                <a:effectLst/>
                <a:latin typeface="Consolas" panose="020B0609020204030204" pitchFamily="49" charset="0"/>
              </a:rPr>
              <a:t>arr</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0</a:t>
            </a:r>
            <a:r>
              <a:rPr lang="en-US" b="0" dirty="0">
                <a:solidFill>
                  <a:srgbClr val="D4D4D4"/>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for</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int</a:t>
            </a:r>
            <a:r>
              <a:rPr lang="en-US" b="0" dirty="0">
                <a:solidFill>
                  <a:srgbClr val="D4D4D4"/>
                </a:solidFill>
                <a:effectLst/>
                <a:latin typeface="Consolas" panose="020B0609020204030204" pitchFamily="49" charset="0"/>
              </a:rPr>
              <a:t> </a:t>
            </a:r>
            <a:r>
              <a:rPr lang="en-US" b="0" dirty="0" err="1">
                <a:solidFill>
                  <a:srgbClr val="D4D4D4"/>
                </a:solidFill>
                <a:effectLst/>
                <a:latin typeface="Consolas" panose="020B0609020204030204" pitchFamily="49" charset="0"/>
              </a:rPr>
              <a:t>i</a:t>
            </a:r>
            <a:r>
              <a:rPr lang="en-US" b="0" dirty="0">
                <a:solidFill>
                  <a:srgbClr val="D4D4D4"/>
                </a:solidFill>
                <a:effectLst/>
                <a:latin typeface="Consolas" panose="020B0609020204030204" pitchFamily="49" charset="0"/>
              </a:rPr>
              <a:t> = </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err="1">
                <a:solidFill>
                  <a:srgbClr val="D4D4D4"/>
                </a:solidFill>
                <a:effectLst/>
                <a:latin typeface="Consolas" panose="020B0609020204030204" pitchFamily="49" charset="0"/>
              </a:rPr>
              <a:t>i</a:t>
            </a:r>
            <a:r>
              <a:rPr lang="en-US" b="0" dirty="0">
                <a:solidFill>
                  <a:srgbClr val="D4D4D4"/>
                </a:solidFill>
                <a:effectLst/>
                <a:latin typeface="Consolas" panose="020B0609020204030204" pitchFamily="49" charset="0"/>
              </a:rPr>
              <a:t> &lt; </a:t>
            </a:r>
            <a:r>
              <a:rPr lang="en-US" b="0" dirty="0">
                <a:solidFill>
                  <a:srgbClr val="B5CEA8"/>
                </a:solidFill>
                <a:effectLst/>
                <a:latin typeface="Consolas" panose="020B0609020204030204" pitchFamily="49" charset="0"/>
              </a:rPr>
              <a:t>3</a:t>
            </a:r>
            <a:r>
              <a:rPr lang="en-US" b="0" dirty="0">
                <a:solidFill>
                  <a:srgbClr val="D4D4D4"/>
                </a:solidFill>
                <a:effectLst/>
                <a:latin typeface="Consolas" panose="020B0609020204030204" pitchFamily="49" charset="0"/>
              </a:rPr>
              <a:t>; </a:t>
            </a:r>
            <a:r>
              <a:rPr lang="en-US" b="0" dirty="0" err="1">
                <a:solidFill>
                  <a:srgbClr val="D4D4D4"/>
                </a:solidFill>
                <a:effectLst/>
                <a:latin typeface="Consolas" panose="020B0609020204030204" pitchFamily="49" charset="0"/>
              </a:rPr>
              <a:t>i</a:t>
            </a:r>
            <a:r>
              <a:rPr lang="en-US" b="0" dirty="0">
                <a:solidFill>
                  <a:srgbClr val="D4D4D4"/>
                </a:solidFill>
                <a:effectLst/>
                <a:latin typeface="Consolas" panose="020B0609020204030204" pitchFamily="49" charset="0"/>
              </a:rPr>
              <a:t>++) {</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arr</a:t>
            </a:r>
            <a:r>
              <a:rPr lang="en-US" b="0" dirty="0">
                <a:solidFill>
                  <a:srgbClr val="D4D4D4"/>
                </a:solidFill>
                <a:effectLst/>
                <a:latin typeface="Consolas" panose="020B0609020204030204" pitchFamily="49" charset="0"/>
              </a:rPr>
              <a:t>[</a:t>
            </a:r>
            <a:r>
              <a:rPr lang="en-US" b="0" dirty="0" err="1">
                <a:solidFill>
                  <a:srgbClr val="D4D4D4"/>
                </a:solidFill>
                <a:effectLst/>
                <a:latin typeface="Consolas" panose="020B0609020204030204" pitchFamily="49" charset="0"/>
              </a:rPr>
              <a:t>i</a:t>
            </a:r>
            <a:r>
              <a:rPr lang="en-US" b="0" dirty="0">
                <a:solidFill>
                  <a:srgbClr val="D4D4D4"/>
                </a:solidFill>
                <a:effectLst/>
                <a:latin typeface="Consolas" panose="020B0609020204030204" pitchFamily="49" charset="0"/>
              </a:rPr>
              <a:t>] &gt; max) {</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max = </a:t>
            </a:r>
            <a:r>
              <a:rPr lang="en-US" b="0" dirty="0" err="1">
                <a:solidFill>
                  <a:srgbClr val="9CDCFE"/>
                </a:solidFill>
                <a:effectLst/>
                <a:latin typeface="Consolas" panose="020B0609020204030204" pitchFamily="49" charset="0"/>
              </a:rPr>
              <a:t>arr</a:t>
            </a:r>
            <a:r>
              <a:rPr lang="en-US" b="0" dirty="0">
                <a:solidFill>
                  <a:srgbClr val="D4D4D4"/>
                </a:solidFill>
                <a:effectLst/>
                <a:latin typeface="Consolas" panose="020B0609020204030204" pitchFamily="49" charset="0"/>
              </a:rPr>
              <a:t>[</a:t>
            </a:r>
            <a:r>
              <a:rPr lang="en-US" b="0" dirty="0" err="1">
                <a:solidFill>
                  <a:srgbClr val="D4D4D4"/>
                </a:solidFill>
                <a:effectLst/>
                <a:latin typeface="Consolas" panose="020B0609020204030204" pitchFamily="49" charset="0"/>
              </a:rPr>
              <a:t>i</a:t>
            </a:r>
            <a:r>
              <a:rPr lang="en-US" b="0" dirty="0">
                <a:solidFill>
                  <a:srgbClr val="D4D4D4"/>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 </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D4D4D4"/>
                </a:solidFill>
                <a:effectLst/>
                <a:latin typeface="Consolas" panose="020B0609020204030204" pitchFamily="49" charset="0"/>
              </a:rPr>
              <a:t> sum + max;</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128534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2">
            <a:extLst>
              <a:ext uri="{FF2B5EF4-FFF2-40B4-BE49-F238E27FC236}">
                <a16:creationId xmlns:a16="http://schemas.microsoft.com/office/drawing/2014/main" id="{CEF7D3C9-F027-4DFF-AC25-52606D3BE3A7}"/>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Сортировки</a:t>
            </a:r>
          </a:p>
        </p:txBody>
      </p:sp>
      <p:sp>
        <p:nvSpPr>
          <p:cNvPr id="6" name="TextBox 5">
            <a:extLst>
              <a:ext uri="{FF2B5EF4-FFF2-40B4-BE49-F238E27FC236}">
                <a16:creationId xmlns:a16="http://schemas.microsoft.com/office/drawing/2014/main" id="{C37130C2-F2EC-4DAD-9526-8EDC842CDA8D}"/>
              </a:ext>
            </a:extLst>
          </p:cNvPr>
          <p:cNvSpPr txBox="1"/>
          <p:nvPr/>
        </p:nvSpPr>
        <p:spPr>
          <a:xfrm>
            <a:off x="4195438" y="2239127"/>
            <a:ext cx="3801122" cy="400110"/>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Залазим на </a:t>
            </a:r>
            <a:r>
              <a:rPr lang="en-US" sz="2000" dirty="0">
                <a:latin typeface="Times New Roman" panose="02020603050405020304" pitchFamily="18" charset="0"/>
                <a:cs typeface="Times New Roman" panose="02020603050405020304" pitchFamily="18" charset="0"/>
                <a:hlinkClick r:id="rId3"/>
              </a:rPr>
              <a:t>wiki</a:t>
            </a:r>
            <a:r>
              <a:rPr lang="en-US" sz="2000" dirty="0">
                <a:latin typeface="Times New Roman" panose="02020603050405020304" pitchFamily="18" charset="0"/>
                <a:cs typeface="Times New Roman" panose="02020603050405020304" pitchFamily="18" charset="0"/>
              </a:rPr>
              <a:t> </a:t>
            </a:r>
            <a:r>
              <a:rPr lang="ru-RU" sz="2000" dirty="0">
                <a:latin typeface="Times New Roman" panose="02020603050405020304" pitchFamily="18" charset="0"/>
                <a:cs typeface="Times New Roman" panose="02020603050405020304" pitchFamily="18" charset="0"/>
              </a:rPr>
              <a:t>с сортировками</a:t>
            </a:r>
            <a:r>
              <a:rPr lang="en-US" sz="2000" dirty="0">
                <a:latin typeface="Times New Roman" panose="02020603050405020304" pitchFamily="18" charset="0"/>
                <a:cs typeface="Times New Roman" panose="02020603050405020304" pitchFamily="18" charset="0"/>
              </a:rPr>
              <a:t> </a:t>
            </a:r>
            <a:endParaRPr lang="ru-RU" sz="2000" dirty="0">
              <a:latin typeface="Times New Roman" panose="02020603050405020304" pitchFamily="18" charset="0"/>
              <a:cs typeface="Times New Roman" panose="02020603050405020304" pitchFamily="18" charset="0"/>
            </a:endParaRPr>
          </a:p>
        </p:txBody>
      </p:sp>
      <p:pic>
        <p:nvPicPr>
          <p:cNvPr id="4" name="Picture 4">
            <a:extLst>
              <a:ext uri="{FF2B5EF4-FFF2-40B4-BE49-F238E27FC236}">
                <a16:creationId xmlns:a16="http://schemas.microsoft.com/office/drawing/2014/main" id="{C7ACD6CD-0E2A-423A-A9D1-A67A7A090184}"/>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622663" y="2824559"/>
            <a:ext cx="2788410" cy="2788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49706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2">
            <a:extLst>
              <a:ext uri="{FF2B5EF4-FFF2-40B4-BE49-F238E27FC236}">
                <a16:creationId xmlns:a16="http://schemas.microsoft.com/office/drawing/2014/main" id="{CEF7D3C9-F027-4DFF-AC25-52606D3BE3A7}"/>
              </a:ext>
            </a:extLst>
          </p:cNvPr>
          <p:cNvSpPr txBox="1">
            <a:spLocks/>
          </p:cNvSpPr>
          <p:nvPr/>
        </p:nvSpPr>
        <p:spPr>
          <a:xfrm>
            <a:off x="1133141" y="289948"/>
            <a:ext cx="9925717" cy="927688"/>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Связанные списки (</a:t>
            </a:r>
            <a:r>
              <a:rPr lang="en-US" dirty="0">
                <a:latin typeface="Times New Roman" panose="02020603050405020304" pitchFamily="18" charset="0"/>
                <a:cs typeface="Times New Roman" panose="02020603050405020304" pitchFamily="18" charset="0"/>
              </a:rPr>
              <a:t>Linked List)</a:t>
            </a:r>
            <a:endParaRPr lang="ru-RU"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CEAAE1C-82CA-473D-B121-AC809B48139A}"/>
              </a:ext>
            </a:extLst>
          </p:cNvPr>
          <p:cNvSpPr txBox="1"/>
          <p:nvPr/>
        </p:nvSpPr>
        <p:spPr>
          <a:xfrm>
            <a:off x="1310054" y="1773719"/>
            <a:ext cx="10278208" cy="1631216"/>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Связанный список представляет собой последовательность узлов, где каждый узел состоит из двух компонентов:</a:t>
            </a:r>
          </a:p>
          <a:p>
            <a:endParaRPr lang="ru-RU" sz="20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ru-RU" sz="2000" dirty="0">
                <a:latin typeface="Times New Roman" panose="02020603050405020304" pitchFamily="18" charset="0"/>
                <a:cs typeface="Times New Roman" panose="02020603050405020304" pitchFamily="18" charset="0"/>
              </a:rPr>
              <a:t>Данные: любые значения, например, число, структуры и т.д.</a:t>
            </a:r>
          </a:p>
          <a:p>
            <a:pPr marL="342900" indent="-342900">
              <a:buFont typeface="+mj-lt"/>
              <a:buAutoNum type="arabicPeriod"/>
            </a:pPr>
            <a:r>
              <a:rPr lang="ru-RU" sz="2000" dirty="0">
                <a:latin typeface="Times New Roman" panose="02020603050405020304" pitchFamily="18" charset="0"/>
                <a:cs typeface="Times New Roman" panose="02020603050405020304" pitchFamily="18" charset="0"/>
              </a:rPr>
              <a:t>Указатель: ссылка на следующий узел в списке.</a:t>
            </a:r>
          </a:p>
        </p:txBody>
      </p:sp>
      <p:sp>
        <p:nvSpPr>
          <p:cNvPr id="12" name="TextBox 11">
            <a:extLst>
              <a:ext uri="{FF2B5EF4-FFF2-40B4-BE49-F238E27FC236}">
                <a16:creationId xmlns:a16="http://schemas.microsoft.com/office/drawing/2014/main" id="{961BE3F2-A87A-4EC9-B04F-7AEBAEC43BA4}"/>
              </a:ext>
            </a:extLst>
          </p:cNvPr>
          <p:cNvSpPr txBox="1"/>
          <p:nvPr/>
        </p:nvSpPr>
        <p:spPr>
          <a:xfrm>
            <a:off x="1310054" y="3961018"/>
            <a:ext cx="5503985" cy="1015663"/>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Чтобы получить доступ к любому элементу (узлу), необходимо последовательно пройтись по всем узлам перед ним.</a:t>
            </a:r>
          </a:p>
        </p:txBody>
      </p:sp>
      <p:pic>
        <p:nvPicPr>
          <p:cNvPr id="7" name="Picture 4" descr="A Beginners Overview of Linked Lists in Python">
            <a:extLst>
              <a:ext uri="{FF2B5EF4-FFF2-40B4-BE49-F238E27FC236}">
                <a16:creationId xmlns:a16="http://schemas.microsoft.com/office/drawing/2014/main" id="{DE5F789F-064C-4BB4-92D1-10EC861C3F7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34437" y="3698424"/>
            <a:ext cx="5204318" cy="2927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43121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2">
            <a:extLst>
              <a:ext uri="{FF2B5EF4-FFF2-40B4-BE49-F238E27FC236}">
                <a16:creationId xmlns:a16="http://schemas.microsoft.com/office/drawing/2014/main" id="{CEF7D3C9-F027-4DFF-AC25-52606D3BE3A7}"/>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Односвязные списки</a:t>
            </a:r>
          </a:p>
        </p:txBody>
      </p:sp>
      <p:sp>
        <p:nvSpPr>
          <p:cNvPr id="6" name="TextBox 5">
            <a:extLst>
              <a:ext uri="{FF2B5EF4-FFF2-40B4-BE49-F238E27FC236}">
                <a16:creationId xmlns:a16="http://schemas.microsoft.com/office/drawing/2014/main" id="{4ABBEDE8-06B4-47AB-944D-6982C8914B47}"/>
              </a:ext>
            </a:extLst>
          </p:cNvPr>
          <p:cNvSpPr txBox="1"/>
          <p:nvPr/>
        </p:nvSpPr>
        <p:spPr>
          <a:xfrm>
            <a:off x="1133140" y="1671851"/>
            <a:ext cx="10483307" cy="1015663"/>
          </a:xfrm>
          <a:prstGeom prst="rect">
            <a:avLst/>
          </a:prstGeom>
          <a:noFill/>
        </p:spPr>
        <p:txBody>
          <a:bodyPr wrap="square">
            <a:spAutoFit/>
          </a:bodyPr>
          <a:lstStyle/>
          <a:p>
            <a:r>
              <a:rPr lang="ru-RU" sz="2000" dirty="0">
                <a:latin typeface="Times New Roman" panose="02020603050405020304" pitchFamily="18" charset="0"/>
                <a:cs typeface="Times New Roman" panose="02020603050405020304" pitchFamily="18" charset="0"/>
              </a:rPr>
              <a:t>Односвязный список состоит из узлов. В каждом узле хранится указатель на следующий узел и сами данные. Указатели последнего узла (хвост - </a:t>
            </a:r>
            <a:r>
              <a:rPr lang="ru-RU" sz="2000" dirty="0" err="1">
                <a:latin typeface="Times New Roman" panose="02020603050405020304" pitchFamily="18" charset="0"/>
                <a:cs typeface="Times New Roman" panose="02020603050405020304" pitchFamily="18" charset="0"/>
              </a:rPr>
              <a:t>tail</a:t>
            </a:r>
            <a:r>
              <a:rPr lang="ru-RU" sz="2000" dirty="0">
                <a:latin typeface="Times New Roman" panose="02020603050405020304" pitchFamily="18" charset="0"/>
                <a:cs typeface="Times New Roman" panose="02020603050405020304" pitchFamily="18" charset="0"/>
              </a:rPr>
              <a:t>) указывают на NULL, что указывает на конец связанного списка.</a:t>
            </a:r>
          </a:p>
        </p:txBody>
      </p:sp>
      <p:pic>
        <p:nvPicPr>
          <p:cNvPr id="25602" name="Picture 2" descr="alt text">
            <a:extLst>
              <a:ext uri="{FF2B5EF4-FFF2-40B4-BE49-F238E27FC236}">
                <a16:creationId xmlns:a16="http://schemas.microsoft.com/office/drawing/2014/main" id="{3804FAE8-3271-4A1A-A54D-F74D48AC44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761" y="3429000"/>
            <a:ext cx="7460705" cy="193761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C0AF7BC-2AF9-4229-92D4-3F7B35EB4FC3}"/>
              </a:ext>
            </a:extLst>
          </p:cNvPr>
          <p:cNvSpPr txBox="1"/>
          <p:nvPr/>
        </p:nvSpPr>
        <p:spPr>
          <a:xfrm>
            <a:off x="921428" y="3243646"/>
            <a:ext cx="3750617" cy="2308324"/>
          </a:xfrm>
          <a:prstGeom prst="rect">
            <a:avLst/>
          </a:prstGeom>
          <a:noFill/>
        </p:spPr>
        <p:txBody>
          <a:bodyPr wrap="square">
            <a:spAutoFit/>
          </a:bodyPr>
          <a:lstStyle/>
          <a:p>
            <a:r>
              <a:rPr lang="en-US" b="0" dirty="0">
                <a:solidFill>
                  <a:srgbClr val="569CD6"/>
                </a:solidFill>
                <a:effectLst/>
                <a:latin typeface="Consolas" panose="020B0609020204030204" pitchFamily="49" charset="0"/>
              </a:rPr>
              <a:t>struct</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node</a:t>
            </a:r>
            <a:endParaRPr lang="en-US" b="0" dirty="0">
              <a:solidFill>
                <a:srgbClr val="CCCCCC"/>
              </a:solidFill>
              <a:effectLst/>
              <a:latin typeface="Consolas" panose="020B0609020204030204" pitchFamily="49" charset="0"/>
            </a:endParaRPr>
          </a:p>
          <a:p>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int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data</a:t>
            </a:r>
            <a:r>
              <a:rPr lang="en-US" b="0" dirty="0">
                <a:solidFill>
                  <a:srgbClr val="CCCCCC"/>
                </a:solidFill>
                <a:effectLst/>
                <a:latin typeface="Consolas" panose="020B0609020204030204" pitchFamily="49" charset="0"/>
              </a:rPr>
              <a:t>; </a:t>
            </a:r>
          </a:p>
          <a:p>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struct</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node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next</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a:t>
            </a:r>
          </a:p>
          <a:p>
            <a:r>
              <a:rPr lang="en-US" b="0" dirty="0">
                <a:solidFill>
                  <a:srgbClr val="569CD6"/>
                </a:solidFill>
                <a:effectLst/>
                <a:latin typeface="Consolas" panose="020B0609020204030204" pitchFamily="49" charset="0"/>
              </a:rPr>
              <a:t>typedef</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struct</a:t>
            </a: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node</a:t>
            </a: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node_t</a:t>
            </a:r>
            <a:r>
              <a:rPr lang="en-US" b="0" dirty="0">
                <a:solidFill>
                  <a:srgbClr val="CCCCCC"/>
                </a:solidFill>
                <a:effectLst/>
                <a:latin typeface="Consolas" panose="020B0609020204030204" pitchFamily="49" charset="0"/>
              </a:rPr>
              <a:t>;</a:t>
            </a:r>
          </a:p>
          <a:p>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23117839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2">
            <a:extLst>
              <a:ext uri="{FF2B5EF4-FFF2-40B4-BE49-F238E27FC236}">
                <a16:creationId xmlns:a16="http://schemas.microsoft.com/office/drawing/2014/main" id="{CEF7D3C9-F027-4DFF-AC25-52606D3BE3A7}"/>
              </a:ext>
            </a:extLst>
          </p:cNvPr>
          <p:cNvSpPr txBox="1">
            <a:spLocks/>
          </p:cNvSpPr>
          <p:nvPr/>
        </p:nvSpPr>
        <p:spPr>
          <a:xfrm>
            <a:off x="1133141" y="149271"/>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Связанный список</a:t>
            </a:r>
          </a:p>
        </p:txBody>
      </p:sp>
      <p:sp>
        <p:nvSpPr>
          <p:cNvPr id="8" name="TextBox 7">
            <a:extLst>
              <a:ext uri="{FF2B5EF4-FFF2-40B4-BE49-F238E27FC236}">
                <a16:creationId xmlns:a16="http://schemas.microsoft.com/office/drawing/2014/main" id="{561099DA-8A51-4746-863E-498F9D99C754}"/>
              </a:ext>
            </a:extLst>
          </p:cNvPr>
          <p:cNvSpPr txBox="1"/>
          <p:nvPr/>
        </p:nvSpPr>
        <p:spPr>
          <a:xfrm>
            <a:off x="907569" y="1098841"/>
            <a:ext cx="10597486" cy="923330"/>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	Связанные список — это структура данных, которая хранит элементы в линейном порядке и позволяет вставлять и удалять элементы в любом месте последовательности. Списки могут быть односвязными, двусвязными или круговыми (циклическими). </a:t>
            </a:r>
          </a:p>
        </p:txBody>
      </p:sp>
      <p:pic>
        <p:nvPicPr>
          <p:cNvPr id="17" name="Рисунок 16">
            <a:extLst>
              <a:ext uri="{FF2B5EF4-FFF2-40B4-BE49-F238E27FC236}">
                <a16:creationId xmlns:a16="http://schemas.microsoft.com/office/drawing/2014/main" id="{842C138E-3C6A-4642-BD85-6E4898A2E83E}"/>
              </a:ext>
            </a:extLst>
          </p:cNvPr>
          <p:cNvPicPr>
            <a:picLocks noChangeAspect="1"/>
          </p:cNvPicPr>
          <p:nvPr/>
        </p:nvPicPr>
        <p:blipFill rotWithShape="1">
          <a:blip r:embed="rId3"/>
          <a:srcRect l="1207" t="7311" r="-1207" b="213"/>
          <a:stretch/>
        </p:blipFill>
        <p:spPr>
          <a:xfrm>
            <a:off x="1133141" y="2281643"/>
            <a:ext cx="10614433" cy="4181531"/>
          </a:xfrm>
          <a:prstGeom prst="rect">
            <a:avLst/>
          </a:prstGeom>
        </p:spPr>
      </p:pic>
    </p:spTree>
    <p:extLst>
      <p:ext uri="{BB962C8B-B14F-4D97-AF65-F5344CB8AC3E}">
        <p14:creationId xmlns:p14="http://schemas.microsoft.com/office/powerpoint/2010/main" val="22537779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2">
            <a:extLst>
              <a:ext uri="{FF2B5EF4-FFF2-40B4-BE49-F238E27FC236}">
                <a16:creationId xmlns:a16="http://schemas.microsoft.com/office/drawing/2014/main" id="{CEF7D3C9-F027-4DFF-AC25-52606D3BE3A7}"/>
              </a:ext>
            </a:extLst>
          </p:cNvPr>
          <p:cNvSpPr txBox="1">
            <a:spLocks/>
          </p:cNvSpPr>
          <p:nvPr/>
        </p:nvSpPr>
        <p:spPr>
          <a:xfrm>
            <a:off x="1133141" y="289948"/>
            <a:ext cx="9925717" cy="927688"/>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Создадим свой односвязный список</a:t>
            </a:r>
          </a:p>
        </p:txBody>
      </p:sp>
      <p:sp>
        <p:nvSpPr>
          <p:cNvPr id="3" name="TextBox 2">
            <a:extLst>
              <a:ext uri="{FF2B5EF4-FFF2-40B4-BE49-F238E27FC236}">
                <a16:creationId xmlns:a16="http://schemas.microsoft.com/office/drawing/2014/main" id="{CA0DB1BF-5E9E-4424-860B-E071D4C6E128}"/>
              </a:ext>
            </a:extLst>
          </p:cNvPr>
          <p:cNvSpPr txBox="1"/>
          <p:nvPr/>
        </p:nvSpPr>
        <p:spPr>
          <a:xfrm>
            <a:off x="1019962" y="1603639"/>
            <a:ext cx="10761730" cy="1384995"/>
          </a:xfrm>
          <a:prstGeom prst="rect">
            <a:avLst/>
          </a:prstGeom>
          <a:noFill/>
        </p:spPr>
        <p:txBody>
          <a:bodyPr wrap="square" rtlCol="0">
            <a:spAutoFit/>
          </a:bodyPr>
          <a:lstStyle/>
          <a:p>
            <a:r>
              <a:rPr lang="ru-RU" sz="2800" dirty="0">
                <a:latin typeface="Times New Roman" panose="02020603050405020304" pitchFamily="18" charset="0"/>
                <a:cs typeface="Times New Roman" panose="02020603050405020304" pitchFamily="18" charset="0"/>
              </a:rPr>
              <a:t>Здесь начинаем </a:t>
            </a:r>
            <a:r>
              <a:rPr lang="en-US" sz="2800" dirty="0">
                <a:latin typeface="Times New Roman" panose="02020603050405020304" pitchFamily="18" charset="0"/>
                <a:cs typeface="Times New Roman" panose="02020603050405020304" pitchFamily="18" charset="0"/>
              </a:rPr>
              <a:t>live code</a:t>
            </a:r>
            <a:r>
              <a:rPr lang="ru-RU" sz="2800" dirty="0">
                <a:latin typeface="Times New Roman" panose="02020603050405020304" pitchFamily="18" charset="0"/>
                <a:cs typeface="Times New Roman" panose="02020603050405020304" pitchFamily="18" charset="0"/>
              </a:rPr>
              <a:t> (программировать в живую)</a:t>
            </a:r>
            <a:r>
              <a:rPr lang="en-US" sz="2800" dirty="0">
                <a:latin typeface="Times New Roman" panose="02020603050405020304" pitchFamily="18" charset="0"/>
                <a:cs typeface="Times New Roman" panose="02020603050405020304" pitchFamily="18" charset="0"/>
              </a:rPr>
              <a:t>:</a:t>
            </a:r>
            <a:r>
              <a:rPr lang="ru-RU" sz="2800" dirty="0">
                <a:latin typeface="Times New Roman" panose="02020603050405020304" pitchFamily="18" charset="0"/>
                <a:cs typeface="Times New Roman" panose="02020603050405020304" pitchFamily="18" charset="0"/>
              </a:rPr>
              <a:t> Создадим односвязный список и напишем функции вставка</a:t>
            </a:r>
            <a:r>
              <a:rPr lang="en-US" sz="2800" dirty="0">
                <a:latin typeface="Times New Roman" panose="02020603050405020304" pitchFamily="18" charset="0"/>
                <a:cs typeface="Times New Roman" panose="02020603050405020304" pitchFamily="18" charset="0"/>
              </a:rPr>
              <a:t>/</a:t>
            </a:r>
            <a:r>
              <a:rPr lang="ru-RU" sz="2800" dirty="0">
                <a:latin typeface="Times New Roman" panose="02020603050405020304" pitchFamily="18" charset="0"/>
                <a:cs typeface="Times New Roman" panose="02020603050405020304" pitchFamily="18" charset="0"/>
              </a:rPr>
              <a:t>удаление</a:t>
            </a:r>
            <a:r>
              <a:rPr lang="en-US" sz="2800" dirty="0">
                <a:latin typeface="Times New Roman" panose="02020603050405020304" pitchFamily="18" charset="0"/>
                <a:cs typeface="Times New Roman" panose="02020603050405020304" pitchFamily="18" charset="0"/>
              </a:rPr>
              <a:t>, </a:t>
            </a:r>
            <a:r>
              <a:rPr lang="ru-RU" sz="2800" dirty="0">
                <a:latin typeface="Times New Roman" panose="02020603050405020304" pitchFamily="18" charset="0"/>
                <a:cs typeface="Times New Roman" panose="02020603050405020304" pitchFamily="18" charset="0"/>
              </a:rPr>
              <a:t>поиск</a:t>
            </a:r>
            <a:r>
              <a:rPr lang="en-US" sz="2800" dirty="0">
                <a:latin typeface="Times New Roman" panose="02020603050405020304" pitchFamily="18" charset="0"/>
                <a:cs typeface="Times New Roman" panose="02020603050405020304" pitchFamily="18" charset="0"/>
              </a:rPr>
              <a:t>, </a:t>
            </a:r>
            <a:r>
              <a:rPr lang="ru-RU" sz="2800" dirty="0">
                <a:latin typeface="Times New Roman" panose="02020603050405020304" pitchFamily="18" charset="0"/>
                <a:cs typeface="Times New Roman" panose="02020603050405020304" pitchFamily="18" charset="0"/>
              </a:rPr>
              <a:t>длина списка и вывод списка</a:t>
            </a:r>
          </a:p>
        </p:txBody>
      </p:sp>
      <p:pic>
        <p:nvPicPr>
          <p:cNvPr id="24579" name="Picture 3" descr="hacker nigga Blank Template - Imgflip">
            <a:extLst>
              <a:ext uri="{FF2B5EF4-FFF2-40B4-BE49-F238E27FC236}">
                <a16:creationId xmlns:a16="http://schemas.microsoft.com/office/drawing/2014/main" id="{144225E3-943F-4DCB-902A-1581EAF72F6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00" t="824" r="3864" b="1730"/>
          <a:stretch/>
        </p:blipFill>
        <p:spPr bwMode="auto">
          <a:xfrm>
            <a:off x="1229857" y="3456075"/>
            <a:ext cx="3113544" cy="287327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The Linked List Data Structure. Data Structures | by Julia Di Monte | Medium">
            <a:extLst>
              <a:ext uri="{FF2B5EF4-FFF2-40B4-BE49-F238E27FC236}">
                <a16:creationId xmlns:a16="http://schemas.microsoft.com/office/drawing/2014/main" id="{8619C321-A1A9-42DB-8D66-885DB56C4C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0863" y="3869367"/>
            <a:ext cx="7671137" cy="2220592"/>
          </a:xfrm>
          <a:prstGeom prst="rect">
            <a:avLst/>
          </a:prstGeom>
          <a:noFill/>
          <a:extLst>
            <a:ext uri="{909E8E84-426E-40DD-AFC4-6F175D3DCCD1}">
              <a14:hiddenFill xmlns:a14="http://schemas.microsoft.com/office/drawing/2010/main">
                <a:solidFill>
                  <a:srgbClr val="FFFFFF"/>
                </a:solidFill>
              </a14:hiddenFill>
            </a:ext>
          </a:extLst>
        </p:spPr>
      </p:pic>
      <p:pic>
        <p:nvPicPr>
          <p:cNvPr id="7" name="Рисунок 6">
            <a:extLst>
              <a:ext uri="{FF2B5EF4-FFF2-40B4-BE49-F238E27FC236}">
                <a16:creationId xmlns:a16="http://schemas.microsoft.com/office/drawing/2014/main" id="{0A4BE6D8-085D-46E2-A989-4791CA66607F}"/>
              </a:ext>
            </a:extLst>
          </p:cNvPr>
          <p:cNvPicPr>
            <a:picLocks noChangeAspect="1"/>
          </p:cNvPicPr>
          <p:nvPr/>
        </p:nvPicPr>
        <p:blipFill rotWithShape="1">
          <a:blip r:embed="rId5">
            <a:extLst>
              <a:ext uri="{28A0092B-C50C-407E-A947-70E740481C1C}">
                <a14:useLocalDpi xmlns:a14="http://schemas.microsoft.com/office/drawing/2010/main" val="0"/>
              </a:ext>
            </a:extLst>
          </a:blip>
          <a:srcRect l="12020" t="12071"/>
          <a:stretch/>
        </p:blipFill>
        <p:spPr>
          <a:xfrm>
            <a:off x="6819901" y="2988633"/>
            <a:ext cx="1028700" cy="1202586"/>
          </a:xfrm>
          <a:prstGeom prst="rect">
            <a:avLst/>
          </a:prstGeom>
        </p:spPr>
      </p:pic>
      <p:sp>
        <p:nvSpPr>
          <p:cNvPr id="2" name="Прямоугольник 1">
            <a:extLst>
              <a:ext uri="{FF2B5EF4-FFF2-40B4-BE49-F238E27FC236}">
                <a16:creationId xmlns:a16="http://schemas.microsoft.com/office/drawing/2014/main" id="{AEC3C0BC-09F2-41A1-9443-552D7C35AAAE}"/>
              </a:ext>
            </a:extLst>
          </p:cNvPr>
          <p:cNvSpPr/>
          <p:nvPr/>
        </p:nvSpPr>
        <p:spPr>
          <a:xfrm>
            <a:off x="6819901" y="2988632"/>
            <a:ext cx="1028700" cy="120258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8" name="Прямая со стрелкой 7">
            <a:extLst>
              <a:ext uri="{FF2B5EF4-FFF2-40B4-BE49-F238E27FC236}">
                <a16:creationId xmlns:a16="http://schemas.microsoft.com/office/drawing/2014/main" id="{309EDC3A-21A9-48D2-88E9-E0C457A8EDAB}"/>
              </a:ext>
            </a:extLst>
          </p:cNvPr>
          <p:cNvCxnSpPr/>
          <p:nvPr/>
        </p:nvCxnSpPr>
        <p:spPr>
          <a:xfrm>
            <a:off x="7134225" y="4191219"/>
            <a:ext cx="66675" cy="4950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1849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2">
            <a:extLst>
              <a:ext uri="{FF2B5EF4-FFF2-40B4-BE49-F238E27FC236}">
                <a16:creationId xmlns:a16="http://schemas.microsoft.com/office/drawing/2014/main" id="{E4C795B3-5CE2-4496-85B4-DAED154AE161}"/>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Создаем узлы</a:t>
            </a:r>
          </a:p>
        </p:txBody>
      </p:sp>
      <p:sp>
        <p:nvSpPr>
          <p:cNvPr id="9" name="TextBox 8">
            <a:extLst>
              <a:ext uri="{FF2B5EF4-FFF2-40B4-BE49-F238E27FC236}">
                <a16:creationId xmlns:a16="http://schemas.microsoft.com/office/drawing/2014/main" id="{EEB36D71-5363-49A7-BB66-78994295302B}"/>
              </a:ext>
            </a:extLst>
          </p:cNvPr>
          <p:cNvSpPr txBox="1"/>
          <p:nvPr/>
        </p:nvSpPr>
        <p:spPr>
          <a:xfrm>
            <a:off x="4188900" y="1483550"/>
            <a:ext cx="3296568" cy="1815882"/>
          </a:xfrm>
          <a:prstGeom prst="rect">
            <a:avLst/>
          </a:prstGeom>
          <a:noFill/>
        </p:spPr>
        <p:txBody>
          <a:bodyPr wrap="square">
            <a:spAutoFit/>
          </a:bodyPr>
          <a:lstStyle/>
          <a:p>
            <a:r>
              <a:rPr lang="en-US" sz="1400" b="0" dirty="0" err="1">
                <a:solidFill>
                  <a:srgbClr val="4EC9B0"/>
                </a:solidFill>
                <a:effectLst/>
                <a:latin typeface="Consolas" panose="020B0609020204030204" pitchFamily="49" charset="0"/>
              </a:rPr>
              <a:t>node_t</a:t>
            </a:r>
            <a:r>
              <a:rPr lang="en-US" sz="1400" b="0" dirty="0">
                <a:solidFill>
                  <a:srgbClr val="CCCCCC"/>
                </a:solidFill>
                <a:effectLst/>
                <a:latin typeface="Consolas" panose="020B0609020204030204" pitchFamily="49" charset="0"/>
              </a:rPr>
              <a:t> </a:t>
            </a:r>
            <a:r>
              <a:rPr lang="en-US" sz="1400" b="0" dirty="0">
                <a:solidFill>
                  <a:srgbClr val="D4D4D4"/>
                </a:solidFill>
                <a:effectLst/>
                <a:latin typeface="Consolas" panose="020B0609020204030204" pitchFamily="49" charset="0"/>
              </a:rPr>
              <a:t>*</a:t>
            </a:r>
            <a:r>
              <a:rPr lang="en-US" sz="1400" b="0" dirty="0" err="1">
                <a:solidFill>
                  <a:srgbClr val="DCDCAA"/>
                </a:solidFill>
                <a:effectLst/>
                <a:latin typeface="Consolas" panose="020B0609020204030204" pitchFamily="49" charset="0"/>
              </a:rPr>
              <a:t>newNode</a:t>
            </a:r>
            <a:r>
              <a:rPr lang="en-US" sz="1400" b="0" dirty="0">
                <a:solidFill>
                  <a:srgbClr val="CCCCCC"/>
                </a:solidFill>
                <a:effectLst/>
                <a:latin typeface="Consolas" panose="020B0609020204030204" pitchFamily="49" charset="0"/>
              </a:rPr>
              <a:t>(</a:t>
            </a:r>
            <a:r>
              <a:rPr lang="en-US" sz="1400" b="0" dirty="0">
                <a:solidFill>
                  <a:srgbClr val="569CD6"/>
                </a:solidFill>
                <a:effectLst/>
                <a:latin typeface="Consolas" panose="020B0609020204030204" pitchFamily="49" charset="0"/>
              </a:rPr>
              <a:t>int</a:t>
            </a:r>
            <a:r>
              <a:rPr lang="en-US" sz="1400" b="0" dirty="0">
                <a:solidFill>
                  <a:srgbClr val="CCCCCC"/>
                </a:solidFill>
                <a:effectLst/>
                <a:latin typeface="Consolas" panose="020B0609020204030204" pitchFamily="49" charset="0"/>
              </a:rPr>
              <a:t> </a:t>
            </a:r>
            <a:r>
              <a:rPr lang="en-US" sz="1400" b="0" dirty="0">
                <a:solidFill>
                  <a:srgbClr val="9CDCFE"/>
                </a:solidFill>
                <a:effectLst/>
                <a:latin typeface="Consolas" panose="020B0609020204030204" pitchFamily="49" charset="0"/>
              </a:rPr>
              <a:t>data</a:t>
            </a:r>
            <a:r>
              <a:rPr lang="en-US" sz="1400" b="0" dirty="0">
                <a:solidFill>
                  <a:srgbClr val="CCCCCC"/>
                </a:solidFill>
                <a:effectLst/>
                <a:latin typeface="Consolas" panose="020B0609020204030204" pitchFamily="49" charset="0"/>
              </a:rPr>
              <a:t>);</a:t>
            </a:r>
            <a:endParaRPr lang="en-US" sz="1400" dirty="0">
              <a:solidFill>
                <a:srgbClr val="CCCCCC"/>
              </a:solidFill>
              <a:latin typeface="Consolas" panose="020B0609020204030204" pitchFamily="49" charset="0"/>
            </a:endParaRPr>
          </a:p>
          <a:p>
            <a:endParaRPr lang="en-US" sz="1400" dirty="0">
              <a:solidFill>
                <a:srgbClr val="CCCCCC"/>
              </a:solidFill>
              <a:latin typeface="Consolas" panose="020B0609020204030204" pitchFamily="49" charset="0"/>
            </a:endParaRPr>
          </a:p>
          <a:p>
            <a:r>
              <a:rPr lang="en-US" sz="1400" dirty="0">
                <a:solidFill>
                  <a:srgbClr val="CCCCCC"/>
                </a:solidFill>
                <a:latin typeface="Consolas" panose="020B0609020204030204" pitchFamily="49" charset="0"/>
              </a:rPr>
              <a:t>. . .</a:t>
            </a:r>
            <a:endParaRPr lang="ru-RU" sz="1400" dirty="0">
              <a:solidFill>
                <a:srgbClr val="CCCCCC"/>
              </a:solidFill>
              <a:latin typeface="Consolas" panose="020B0609020204030204" pitchFamily="49" charset="0"/>
            </a:endParaRPr>
          </a:p>
          <a:p>
            <a:br>
              <a:rPr lang="fr-FR" sz="1400" b="0" dirty="0">
                <a:solidFill>
                  <a:srgbClr val="CCCCCC"/>
                </a:solidFill>
                <a:effectLst/>
                <a:latin typeface="Consolas" panose="020B0609020204030204" pitchFamily="49" charset="0"/>
              </a:rPr>
            </a:br>
            <a:r>
              <a:rPr lang="fr-FR" sz="1400" b="0" dirty="0">
                <a:solidFill>
                  <a:srgbClr val="4EC9B0"/>
                </a:solidFill>
                <a:effectLst/>
                <a:latin typeface="Consolas" panose="020B0609020204030204" pitchFamily="49" charset="0"/>
              </a:rPr>
              <a:t>node_t</a:t>
            </a:r>
            <a:r>
              <a:rPr lang="fr-FR" sz="1400" b="0" dirty="0">
                <a:solidFill>
                  <a:srgbClr val="CCCCCC"/>
                </a:solidFill>
                <a:effectLst/>
                <a:latin typeface="Consolas" panose="020B0609020204030204" pitchFamily="49" charset="0"/>
              </a:rPr>
              <a:t> </a:t>
            </a:r>
            <a:r>
              <a:rPr lang="fr-FR" sz="1400" b="0" dirty="0">
                <a:solidFill>
                  <a:srgbClr val="D4D4D4"/>
                </a:solidFill>
                <a:effectLst/>
                <a:latin typeface="Consolas" panose="020B0609020204030204" pitchFamily="49" charset="0"/>
              </a:rPr>
              <a:t>*</a:t>
            </a:r>
            <a:r>
              <a:rPr lang="fr-FR" sz="1400" b="0" dirty="0">
                <a:solidFill>
                  <a:srgbClr val="9CDCFE"/>
                </a:solidFill>
                <a:effectLst/>
                <a:latin typeface="Consolas" panose="020B0609020204030204" pitchFamily="49" charset="0"/>
              </a:rPr>
              <a:t>node1</a:t>
            </a:r>
            <a:r>
              <a:rPr lang="fr-FR" sz="1400" b="0" dirty="0">
                <a:solidFill>
                  <a:srgbClr val="CCCCCC"/>
                </a:solidFill>
                <a:effectLst/>
                <a:latin typeface="Consolas" panose="020B0609020204030204" pitchFamily="49" charset="0"/>
              </a:rPr>
              <a:t> </a:t>
            </a:r>
            <a:r>
              <a:rPr lang="fr-FR" sz="1400" b="0" dirty="0">
                <a:solidFill>
                  <a:srgbClr val="D4D4D4"/>
                </a:solidFill>
                <a:effectLst/>
                <a:latin typeface="Consolas" panose="020B0609020204030204" pitchFamily="49" charset="0"/>
              </a:rPr>
              <a:t>=</a:t>
            </a:r>
            <a:r>
              <a:rPr lang="fr-FR" sz="1400" b="0" dirty="0">
                <a:solidFill>
                  <a:srgbClr val="CCCCCC"/>
                </a:solidFill>
                <a:effectLst/>
                <a:latin typeface="Consolas" panose="020B0609020204030204" pitchFamily="49" charset="0"/>
              </a:rPr>
              <a:t> </a:t>
            </a:r>
            <a:r>
              <a:rPr lang="fr-FR" sz="1400" b="0" dirty="0">
                <a:solidFill>
                  <a:srgbClr val="DCDCAA"/>
                </a:solidFill>
                <a:effectLst/>
                <a:latin typeface="Consolas" panose="020B0609020204030204" pitchFamily="49" charset="0"/>
              </a:rPr>
              <a:t>newNode</a:t>
            </a:r>
            <a:r>
              <a:rPr lang="fr-FR" sz="1400" b="0" dirty="0">
                <a:solidFill>
                  <a:srgbClr val="CCCCCC"/>
                </a:solidFill>
                <a:effectLst/>
                <a:latin typeface="Consolas" panose="020B0609020204030204" pitchFamily="49" charset="0"/>
              </a:rPr>
              <a:t>(</a:t>
            </a:r>
            <a:r>
              <a:rPr lang="fr-FR" sz="1400" b="0" dirty="0">
                <a:solidFill>
                  <a:srgbClr val="B5CEA8"/>
                </a:solidFill>
                <a:effectLst/>
                <a:latin typeface="Consolas" panose="020B0609020204030204" pitchFamily="49" charset="0"/>
              </a:rPr>
              <a:t>1</a:t>
            </a:r>
            <a:r>
              <a:rPr lang="fr-FR" sz="1400" b="0" dirty="0">
                <a:solidFill>
                  <a:srgbClr val="CCCCCC"/>
                </a:solidFill>
                <a:effectLst/>
                <a:latin typeface="Consolas" panose="020B0609020204030204" pitchFamily="49" charset="0"/>
              </a:rPr>
              <a:t>);</a:t>
            </a:r>
          </a:p>
          <a:p>
            <a:r>
              <a:rPr lang="fr-FR" sz="1400" b="0" dirty="0">
                <a:solidFill>
                  <a:srgbClr val="4EC9B0"/>
                </a:solidFill>
                <a:effectLst/>
                <a:latin typeface="Consolas" panose="020B0609020204030204" pitchFamily="49" charset="0"/>
              </a:rPr>
              <a:t>node_t</a:t>
            </a:r>
            <a:r>
              <a:rPr lang="fr-FR" sz="1400" b="0" dirty="0">
                <a:solidFill>
                  <a:srgbClr val="CCCCCC"/>
                </a:solidFill>
                <a:effectLst/>
                <a:latin typeface="Consolas" panose="020B0609020204030204" pitchFamily="49" charset="0"/>
              </a:rPr>
              <a:t> </a:t>
            </a:r>
            <a:r>
              <a:rPr lang="fr-FR" sz="1400" b="0" dirty="0">
                <a:solidFill>
                  <a:srgbClr val="D4D4D4"/>
                </a:solidFill>
                <a:effectLst/>
                <a:latin typeface="Consolas" panose="020B0609020204030204" pitchFamily="49" charset="0"/>
              </a:rPr>
              <a:t>*</a:t>
            </a:r>
            <a:r>
              <a:rPr lang="fr-FR" sz="1400" b="0" dirty="0">
                <a:solidFill>
                  <a:srgbClr val="9CDCFE"/>
                </a:solidFill>
                <a:effectLst/>
                <a:latin typeface="Consolas" panose="020B0609020204030204" pitchFamily="49" charset="0"/>
              </a:rPr>
              <a:t>node2</a:t>
            </a:r>
            <a:r>
              <a:rPr lang="fr-FR" sz="1400" b="0" dirty="0">
                <a:solidFill>
                  <a:srgbClr val="CCCCCC"/>
                </a:solidFill>
                <a:effectLst/>
                <a:latin typeface="Consolas" panose="020B0609020204030204" pitchFamily="49" charset="0"/>
              </a:rPr>
              <a:t> </a:t>
            </a:r>
            <a:r>
              <a:rPr lang="fr-FR" sz="1400" b="0" dirty="0">
                <a:solidFill>
                  <a:srgbClr val="D4D4D4"/>
                </a:solidFill>
                <a:effectLst/>
                <a:latin typeface="Consolas" panose="020B0609020204030204" pitchFamily="49" charset="0"/>
              </a:rPr>
              <a:t>=</a:t>
            </a:r>
            <a:r>
              <a:rPr lang="fr-FR" sz="1400" b="0" dirty="0">
                <a:solidFill>
                  <a:srgbClr val="CCCCCC"/>
                </a:solidFill>
                <a:effectLst/>
                <a:latin typeface="Consolas" panose="020B0609020204030204" pitchFamily="49" charset="0"/>
              </a:rPr>
              <a:t> </a:t>
            </a:r>
            <a:r>
              <a:rPr lang="fr-FR" sz="1400" b="0" dirty="0">
                <a:solidFill>
                  <a:srgbClr val="DCDCAA"/>
                </a:solidFill>
                <a:effectLst/>
                <a:latin typeface="Consolas" panose="020B0609020204030204" pitchFamily="49" charset="0"/>
              </a:rPr>
              <a:t>newNode</a:t>
            </a:r>
            <a:r>
              <a:rPr lang="fr-FR" sz="1400" b="0" dirty="0">
                <a:solidFill>
                  <a:srgbClr val="CCCCCC"/>
                </a:solidFill>
                <a:effectLst/>
                <a:latin typeface="Consolas" panose="020B0609020204030204" pitchFamily="49" charset="0"/>
              </a:rPr>
              <a:t>(</a:t>
            </a:r>
            <a:r>
              <a:rPr lang="fr-FR" sz="1400" b="0" dirty="0">
                <a:solidFill>
                  <a:srgbClr val="B5CEA8"/>
                </a:solidFill>
                <a:effectLst/>
                <a:latin typeface="Consolas" panose="020B0609020204030204" pitchFamily="49" charset="0"/>
              </a:rPr>
              <a:t>2</a:t>
            </a:r>
            <a:r>
              <a:rPr lang="fr-FR" sz="1400" b="0" dirty="0">
                <a:solidFill>
                  <a:srgbClr val="CCCCCC"/>
                </a:solidFill>
                <a:effectLst/>
                <a:latin typeface="Consolas" panose="020B0609020204030204" pitchFamily="49" charset="0"/>
              </a:rPr>
              <a:t>);</a:t>
            </a:r>
          </a:p>
          <a:p>
            <a:r>
              <a:rPr lang="fr-FR" sz="1400" b="0" dirty="0">
                <a:solidFill>
                  <a:srgbClr val="4EC9B0"/>
                </a:solidFill>
                <a:effectLst/>
                <a:latin typeface="Consolas" panose="020B0609020204030204" pitchFamily="49" charset="0"/>
              </a:rPr>
              <a:t>node_t</a:t>
            </a:r>
            <a:r>
              <a:rPr lang="fr-FR" sz="1400" b="0" dirty="0">
                <a:solidFill>
                  <a:srgbClr val="CCCCCC"/>
                </a:solidFill>
                <a:effectLst/>
                <a:latin typeface="Consolas" panose="020B0609020204030204" pitchFamily="49" charset="0"/>
              </a:rPr>
              <a:t> </a:t>
            </a:r>
            <a:r>
              <a:rPr lang="fr-FR" sz="1400" b="0" dirty="0">
                <a:solidFill>
                  <a:srgbClr val="D4D4D4"/>
                </a:solidFill>
                <a:effectLst/>
                <a:latin typeface="Consolas" panose="020B0609020204030204" pitchFamily="49" charset="0"/>
              </a:rPr>
              <a:t>*</a:t>
            </a:r>
            <a:r>
              <a:rPr lang="fr-FR" sz="1400" b="0" dirty="0">
                <a:solidFill>
                  <a:srgbClr val="9CDCFE"/>
                </a:solidFill>
                <a:effectLst/>
                <a:latin typeface="Consolas" panose="020B0609020204030204" pitchFamily="49" charset="0"/>
              </a:rPr>
              <a:t>node3</a:t>
            </a:r>
            <a:r>
              <a:rPr lang="fr-FR" sz="1400" b="0" dirty="0">
                <a:solidFill>
                  <a:srgbClr val="CCCCCC"/>
                </a:solidFill>
                <a:effectLst/>
                <a:latin typeface="Consolas" panose="020B0609020204030204" pitchFamily="49" charset="0"/>
              </a:rPr>
              <a:t> </a:t>
            </a:r>
            <a:r>
              <a:rPr lang="fr-FR" sz="1400" b="0" dirty="0">
                <a:solidFill>
                  <a:srgbClr val="D4D4D4"/>
                </a:solidFill>
                <a:effectLst/>
                <a:latin typeface="Consolas" panose="020B0609020204030204" pitchFamily="49" charset="0"/>
              </a:rPr>
              <a:t>=</a:t>
            </a:r>
            <a:r>
              <a:rPr lang="fr-FR" sz="1400" b="0" dirty="0">
                <a:solidFill>
                  <a:srgbClr val="CCCCCC"/>
                </a:solidFill>
                <a:effectLst/>
                <a:latin typeface="Consolas" panose="020B0609020204030204" pitchFamily="49" charset="0"/>
              </a:rPr>
              <a:t> </a:t>
            </a:r>
            <a:r>
              <a:rPr lang="fr-FR" sz="1400" b="0" dirty="0">
                <a:solidFill>
                  <a:srgbClr val="DCDCAA"/>
                </a:solidFill>
                <a:effectLst/>
                <a:latin typeface="Consolas" panose="020B0609020204030204" pitchFamily="49" charset="0"/>
              </a:rPr>
              <a:t>newNode</a:t>
            </a:r>
            <a:r>
              <a:rPr lang="fr-FR" sz="1400" b="0" dirty="0">
                <a:solidFill>
                  <a:srgbClr val="CCCCCC"/>
                </a:solidFill>
                <a:effectLst/>
                <a:latin typeface="Consolas" panose="020B0609020204030204" pitchFamily="49" charset="0"/>
              </a:rPr>
              <a:t>(</a:t>
            </a:r>
            <a:r>
              <a:rPr lang="fr-FR" sz="1400" b="0" dirty="0">
                <a:solidFill>
                  <a:srgbClr val="B5CEA8"/>
                </a:solidFill>
                <a:effectLst/>
                <a:latin typeface="Consolas" panose="020B0609020204030204" pitchFamily="49" charset="0"/>
              </a:rPr>
              <a:t>3</a:t>
            </a:r>
            <a:r>
              <a:rPr lang="fr-FR" sz="1400" b="0" dirty="0">
                <a:solidFill>
                  <a:srgbClr val="CCCCCC"/>
                </a:solidFill>
                <a:effectLst/>
                <a:latin typeface="Consolas" panose="020B0609020204030204" pitchFamily="49" charset="0"/>
              </a:rPr>
              <a:t>);</a:t>
            </a:r>
          </a:p>
          <a:p>
            <a:endParaRPr lang="fr-FR" sz="1400" b="0" dirty="0">
              <a:solidFill>
                <a:srgbClr val="CCCCCC"/>
              </a:solidFill>
              <a:effectLst/>
              <a:latin typeface="Consolas" panose="020B0609020204030204" pitchFamily="49" charset="0"/>
            </a:endParaRPr>
          </a:p>
        </p:txBody>
      </p:sp>
      <p:pic>
        <p:nvPicPr>
          <p:cNvPr id="4099" name="Picture 3" descr="alt text">
            <a:extLst>
              <a:ext uri="{FF2B5EF4-FFF2-40B4-BE49-F238E27FC236}">
                <a16:creationId xmlns:a16="http://schemas.microsoft.com/office/drawing/2014/main" id="{52EC9A81-4D85-4C45-889A-FA32C967D91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9"/>
          <a:stretch/>
        </p:blipFill>
        <p:spPr bwMode="auto">
          <a:xfrm>
            <a:off x="1555657" y="3237718"/>
            <a:ext cx="8692091" cy="2981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82008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2">
            <a:extLst>
              <a:ext uri="{FF2B5EF4-FFF2-40B4-BE49-F238E27FC236}">
                <a16:creationId xmlns:a16="http://schemas.microsoft.com/office/drawing/2014/main" id="{35A8A6DA-F585-4F66-A306-B34DD2B42D9D}"/>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Создаем узлы</a:t>
            </a:r>
          </a:p>
        </p:txBody>
      </p:sp>
      <p:pic>
        <p:nvPicPr>
          <p:cNvPr id="5122" name="Picture 2" descr="alt text">
            <a:extLst>
              <a:ext uri="{FF2B5EF4-FFF2-40B4-BE49-F238E27FC236}">
                <a16:creationId xmlns:a16="http://schemas.microsoft.com/office/drawing/2014/main" id="{A21C4C44-7E23-4963-BAFD-53A7AA8B06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2589" y="1657852"/>
            <a:ext cx="10543978" cy="225844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8C8D566-C176-4BD3-885E-10D6E41FA1F9}"/>
              </a:ext>
            </a:extLst>
          </p:cNvPr>
          <p:cNvSpPr txBox="1"/>
          <p:nvPr/>
        </p:nvSpPr>
        <p:spPr>
          <a:xfrm>
            <a:off x="824011" y="5080934"/>
            <a:ext cx="10362413" cy="646331"/>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Указатели node1, node2 и node3 находятся в стеке и вероятнее всего будут лежать рядом друг с другом и друг за другом, а вот сами структуры находятся в куче и могут лежать совсем не по порядку</a:t>
            </a:r>
          </a:p>
        </p:txBody>
      </p:sp>
      <p:sp>
        <p:nvSpPr>
          <p:cNvPr id="11" name="TextBox 10">
            <a:extLst>
              <a:ext uri="{FF2B5EF4-FFF2-40B4-BE49-F238E27FC236}">
                <a16:creationId xmlns:a16="http://schemas.microsoft.com/office/drawing/2014/main" id="{E62D2749-EE53-485D-87AA-691165B38D85}"/>
              </a:ext>
            </a:extLst>
          </p:cNvPr>
          <p:cNvSpPr txBox="1"/>
          <p:nvPr/>
        </p:nvSpPr>
        <p:spPr>
          <a:xfrm>
            <a:off x="824011" y="4175449"/>
            <a:ext cx="10612556" cy="646331"/>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Мы выделили память под три структуры </a:t>
            </a:r>
            <a:r>
              <a:rPr lang="ru-RU" dirty="0" err="1">
                <a:latin typeface="Times New Roman" panose="02020603050405020304" pitchFamily="18" charset="0"/>
                <a:cs typeface="Times New Roman" panose="02020603050405020304" pitchFamily="18" charset="0"/>
              </a:rPr>
              <a:t>node</a:t>
            </a:r>
            <a:r>
              <a:rPr lang="ru-RU" dirty="0">
                <a:latin typeface="Times New Roman" panose="02020603050405020304" pitchFamily="18" charset="0"/>
                <a:cs typeface="Times New Roman" panose="02020603050405020304" pitchFamily="18" charset="0"/>
              </a:rPr>
              <a:t>, заполнили их числами и адрес начала каждой структуры записали в указатели node1, node2 и node3 соответственно</a:t>
            </a:r>
          </a:p>
        </p:txBody>
      </p:sp>
    </p:spTree>
    <p:extLst>
      <p:ext uri="{BB962C8B-B14F-4D97-AF65-F5344CB8AC3E}">
        <p14:creationId xmlns:p14="http://schemas.microsoft.com/office/powerpoint/2010/main" val="38402378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2">
            <a:extLst>
              <a:ext uri="{FF2B5EF4-FFF2-40B4-BE49-F238E27FC236}">
                <a16:creationId xmlns:a16="http://schemas.microsoft.com/office/drawing/2014/main" id="{730CD5CD-F253-43FE-BF49-ED9CD72C1548}"/>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Связываем узлы</a:t>
            </a:r>
          </a:p>
        </p:txBody>
      </p:sp>
      <p:pic>
        <p:nvPicPr>
          <p:cNvPr id="6147" name="Picture 3" descr="alt text">
            <a:extLst>
              <a:ext uri="{FF2B5EF4-FFF2-40B4-BE49-F238E27FC236}">
                <a16:creationId xmlns:a16="http://schemas.microsoft.com/office/drawing/2014/main" id="{94146CFA-BEE7-471E-923B-5B81FA96C6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8836" y="1615193"/>
            <a:ext cx="10334465" cy="300095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2926C53-7368-4F0A-A500-2D07E9E9E52B}"/>
              </a:ext>
            </a:extLst>
          </p:cNvPr>
          <p:cNvSpPr txBox="1"/>
          <p:nvPr/>
        </p:nvSpPr>
        <p:spPr>
          <a:xfrm>
            <a:off x="2604463" y="4782868"/>
            <a:ext cx="3848361" cy="461665"/>
          </a:xfrm>
          <a:prstGeom prst="rect">
            <a:avLst/>
          </a:prstGeom>
          <a:noFill/>
        </p:spPr>
        <p:txBody>
          <a:bodyPr wrap="square">
            <a:spAutoFit/>
          </a:bodyPr>
          <a:lstStyle/>
          <a:p>
            <a:r>
              <a:rPr lang="en-US" sz="2400" b="0" dirty="0">
                <a:solidFill>
                  <a:srgbClr val="9CDCFE"/>
                </a:solidFill>
                <a:effectLst/>
                <a:latin typeface="Consolas" panose="020B0609020204030204" pitchFamily="49" charset="0"/>
              </a:rPr>
              <a:t>node1</a:t>
            </a:r>
            <a:r>
              <a:rPr lang="en-US" sz="2400" b="0" dirty="0">
                <a:solidFill>
                  <a:srgbClr val="CCCCCC"/>
                </a:solidFill>
                <a:effectLst/>
                <a:latin typeface="Consolas" panose="020B0609020204030204" pitchFamily="49" charset="0"/>
              </a:rPr>
              <a:t>-&gt;</a:t>
            </a:r>
            <a:r>
              <a:rPr lang="en-US" sz="2400" b="0" dirty="0">
                <a:solidFill>
                  <a:srgbClr val="9CDCFE"/>
                </a:solidFill>
                <a:effectLst/>
                <a:latin typeface="Consolas" panose="020B0609020204030204" pitchFamily="49" charset="0"/>
              </a:rPr>
              <a:t>next</a:t>
            </a:r>
            <a:r>
              <a:rPr lang="en-US" sz="2400" b="0" dirty="0">
                <a:solidFill>
                  <a:srgbClr val="CCCCCC"/>
                </a:solidFill>
                <a:effectLst/>
                <a:latin typeface="Consolas" panose="020B0609020204030204" pitchFamily="49" charset="0"/>
              </a:rPr>
              <a:t> </a:t>
            </a:r>
            <a:r>
              <a:rPr lang="en-US" sz="2400" b="0" dirty="0">
                <a:solidFill>
                  <a:srgbClr val="D4D4D4"/>
                </a:solidFill>
                <a:effectLst/>
                <a:latin typeface="Consolas" panose="020B0609020204030204" pitchFamily="49" charset="0"/>
              </a:rPr>
              <a:t>=</a:t>
            </a:r>
            <a:r>
              <a:rPr lang="en-US" sz="2400" b="0" dirty="0">
                <a:solidFill>
                  <a:srgbClr val="CCCCCC"/>
                </a:solidFill>
                <a:effectLst/>
                <a:latin typeface="Consolas" panose="020B0609020204030204" pitchFamily="49" charset="0"/>
              </a:rPr>
              <a:t> </a:t>
            </a:r>
            <a:r>
              <a:rPr lang="en-US" sz="2400" b="0" dirty="0">
                <a:solidFill>
                  <a:srgbClr val="9CDCFE"/>
                </a:solidFill>
                <a:effectLst/>
                <a:latin typeface="Consolas" panose="020B0609020204030204" pitchFamily="49" charset="0"/>
              </a:rPr>
              <a:t>node2</a:t>
            </a:r>
            <a:r>
              <a:rPr lang="en-US" sz="2400" b="0" dirty="0">
                <a:solidFill>
                  <a:srgbClr val="CCCCCC"/>
                </a:solidFill>
                <a:effectLst/>
                <a:latin typeface="Consolas" panose="020B0609020204030204" pitchFamily="49" charset="0"/>
              </a:rPr>
              <a:t>;</a:t>
            </a:r>
          </a:p>
        </p:txBody>
      </p:sp>
      <p:sp>
        <p:nvSpPr>
          <p:cNvPr id="12" name="TextBox 11">
            <a:extLst>
              <a:ext uri="{FF2B5EF4-FFF2-40B4-BE49-F238E27FC236}">
                <a16:creationId xmlns:a16="http://schemas.microsoft.com/office/drawing/2014/main" id="{F7E92DE3-04EF-426E-9FBD-95A7CD1AA4BF}"/>
              </a:ext>
            </a:extLst>
          </p:cNvPr>
          <p:cNvSpPr txBox="1"/>
          <p:nvPr/>
        </p:nvSpPr>
        <p:spPr>
          <a:xfrm>
            <a:off x="6730297" y="4781142"/>
            <a:ext cx="4097458" cy="461665"/>
          </a:xfrm>
          <a:prstGeom prst="rect">
            <a:avLst/>
          </a:prstGeom>
          <a:noFill/>
        </p:spPr>
        <p:txBody>
          <a:bodyPr wrap="square">
            <a:spAutoFit/>
          </a:bodyPr>
          <a:lstStyle/>
          <a:p>
            <a:r>
              <a:rPr lang="en-US" sz="2400" b="0" dirty="0">
                <a:solidFill>
                  <a:srgbClr val="9CDCFE"/>
                </a:solidFill>
                <a:effectLst/>
                <a:latin typeface="Consolas" panose="020B0609020204030204" pitchFamily="49" charset="0"/>
              </a:rPr>
              <a:t>node2</a:t>
            </a:r>
            <a:r>
              <a:rPr lang="en-US" sz="2400" b="0" dirty="0">
                <a:solidFill>
                  <a:srgbClr val="CCCCCC"/>
                </a:solidFill>
                <a:effectLst/>
                <a:latin typeface="Consolas" panose="020B0609020204030204" pitchFamily="49" charset="0"/>
              </a:rPr>
              <a:t>-&gt;</a:t>
            </a:r>
            <a:r>
              <a:rPr lang="en-US" sz="2400" b="0" dirty="0">
                <a:solidFill>
                  <a:srgbClr val="9CDCFE"/>
                </a:solidFill>
                <a:effectLst/>
                <a:latin typeface="Consolas" panose="020B0609020204030204" pitchFamily="49" charset="0"/>
              </a:rPr>
              <a:t>next</a:t>
            </a:r>
            <a:r>
              <a:rPr lang="en-US" sz="2400" b="0" dirty="0">
                <a:solidFill>
                  <a:srgbClr val="CCCCCC"/>
                </a:solidFill>
                <a:effectLst/>
                <a:latin typeface="Consolas" panose="020B0609020204030204" pitchFamily="49" charset="0"/>
              </a:rPr>
              <a:t> </a:t>
            </a:r>
            <a:r>
              <a:rPr lang="en-US" sz="2400" b="0" dirty="0">
                <a:solidFill>
                  <a:srgbClr val="D4D4D4"/>
                </a:solidFill>
                <a:effectLst/>
                <a:latin typeface="Consolas" panose="020B0609020204030204" pitchFamily="49" charset="0"/>
              </a:rPr>
              <a:t>=</a:t>
            </a:r>
            <a:r>
              <a:rPr lang="en-US" sz="2400" b="0" dirty="0">
                <a:solidFill>
                  <a:srgbClr val="CCCCCC"/>
                </a:solidFill>
                <a:effectLst/>
                <a:latin typeface="Consolas" panose="020B0609020204030204" pitchFamily="49" charset="0"/>
              </a:rPr>
              <a:t> </a:t>
            </a:r>
            <a:r>
              <a:rPr lang="en-US" sz="2400" b="0" dirty="0">
                <a:solidFill>
                  <a:srgbClr val="9CDCFE"/>
                </a:solidFill>
                <a:effectLst/>
                <a:latin typeface="Consolas" panose="020B0609020204030204" pitchFamily="49" charset="0"/>
              </a:rPr>
              <a:t>node3</a:t>
            </a:r>
            <a:r>
              <a:rPr lang="en-US" sz="2400" b="0" dirty="0">
                <a:solidFill>
                  <a:srgbClr val="CCCCCC"/>
                </a:solidFill>
                <a:effectLst/>
                <a:latin typeface="Consolas" panose="020B0609020204030204" pitchFamily="49" charset="0"/>
              </a:rPr>
              <a:t>;</a:t>
            </a:r>
            <a:endParaRPr lang="ru-RU" sz="2400" dirty="0"/>
          </a:p>
        </p:txBody>
      </p:sp>
    </p:spTree>
    <p:extLst>
      <p:ext uri="{BB962C8B-B14F-4D97-AF65-F5344CB8AC3E}">
        <p14:creationId xmlns:p14="http://schemas.microsoft.com/office/powerpoint/2010/main" val="27974543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2">
            <a:extLst>
              <a:ext uri="{FF2B5EF4-FFF2-40B4-BE49-F238E27FC236}">
                <a16:creationId xmlns:a16="http://schemas.microsoft.com/office/drawing/2014/main" id="{7D0408B8-1A26-43F1-92E1-D64816CC1B11}"/>
              </a:ext>
            </a:extLst>
          </p:cNvPr>
          <p:cNvSpPr txBox="1">
            <a:spLocks/>
          </p:cNvSpPr>
          <p:nvPr/>
        </p:nvSpPr>
        <p:spPr>
          <a:xfrm>
            <a:off x="1133141" y="289948"/>
            <a:ext cx="9925717" cy="927688"/>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Развяжем узел 2</a:t>
            </a:r>
            <a:r>
              <a:rPr lang="en-US" dirty="0">
                <a:latin typeface="Times New Roman" panose="02020603050405020304" pitchFamily="18" charset="0"/>
                <a:cs typeface="Times New Roman" panose="02020603050405020304" pitchFamily="18" charset="0"/>
              </a:rPr>
              <a:t> (delete node 2)</a:t>
            </a:r>
            <a:endParaRPr lang="ru-RU" dirty="0">
              <a:latin typeface="Times New Roman" panose="02020603050405020304" pitchFamily="18" charset="0"/>
              <a:cs typeface="Times New Roman" panose="02020603050405020304" pitchFamily="18" charset="0"/>
            </a:endParaRPr>
          </a:p>
        </p:txBody>
      </p:sp>
      <p:pic>
        <p:nvPicPr>
          <p:cNvPr id="7170" name="Picture 2" descr="alt text">
            <a:extLst>
              <a:ext uri="{FF2B5EF4-FFF2-40B4-BE49-F238E27FC236}">
                <a16:creationId xmlns:a16="http://schemas.microsoft.com/office/drawing/2014/main" id="{EEA7C073-E686-4578-B1BB-9DD505489F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4397" y="1888450"/>
            <a:ext cx="9583206" cy="288317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A1D5B6C-ACC8-4B10-8C7B-0D52BBF9C973}"/>
              </a:ext>
            </a:extLst>
          </p:cNvPr>
          <p:cNvSpPr txBox="1"/>
          <p:nvPr/>
        </p:nvSpPr>
        <p:spPr>
          <a:xfrm>
            <a:off x="1190885" y="5074985"/>
            <a:ext cx="9925717" cy="1200329"/>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В создании списка таким образом есть нюанс: под каждый узел мы создавали свою переменную-указатель со своим именем, а это не </a:t>
            </a:r>
            <a:r>
              <a:rPr lang="ru-RU" dirty="0" err="1">
                <a:latin typeface="Times New Roman" panose="02020603050405020304" pitchFamily="18" charset="0"/>
                <a:cs typeface="Times New Roman" panose="02020603050405020304" pitchFamily="18" charset="0"/>
              </a:rPr>
              <a:t>серъезно</a:t>
            </a:r>
            <a:r>
              <a:rPr lang="ru-RU" dirty="0">
                <a:latin typeface="Times New Roman" panose="02020603050405020304" pitchFamily="18" charset="0"/>
                <a:cs typeface="Times New Roman" panose="02020603050405020304" pitchFamily="18" charset="0"/>
              </a:rPr>
              <a:t> если мы захотим расширяться. В реальности пишут отдельные функции для добавления узла в список, например в конец, начало, между двумя любыми (в середину).</a:t>
            </a:r>
          </a:p>
        </p:txBody>
      </p:sp>
    </p:spTree>
    <p:extLst>
      <p:ext uri="{BB962C8B-B14F-4D97-AF65-F5344CB8AC3E}">
        <p14:creationId xmlns:p14="http://schemas.microsoft.com/office/powerpoint/2010/main" val="20130671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alt text">
            <a:extLst>
              <a:ext uri="{FF2B5EF4-FFF2-40B4-BE49-F238E27FC236}">
                <a16:creationId xmlns:a16="http://schemas.microsoft.com/office/drawing/2014/main" id="{E5D793F4-913D-44E9-AF81-678EF76559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4080" y="2569768"/>
            <a:ext cx="8243838" cy="3457509"/>
          </a:xfrm>
          <a:prstGeom prst="rect">
            <a:avLst/>
          </a:prstGeom>
          <a:noFill/>
          <a:extLst>
            <a:ext uri="{909E8E84-426E-40DD-AFC4-6F175D3DCCD1}">
              <a14:hiddenFill xmlns:a14="http://schemas.microsoft.com/office/drawing/2010/main">
                <a:solidFill>
                  <a:srgbClr val="FFFFFF"/>
                </a:solidFill>
              </a14:hiddenFill>
            </a:ext>
          </a:extLst>
        </p:spPr>
      </p:pic>
      <p:sp>
        <p:nvSpPr>
          <p:cNvPr id="3" name="Заголовок 2">
            <a:extLst>
              <a:ext uri="{FF2B5EF4-FFF2-40B4-BE49-F238E27FC236}">
                <a16:creationId xmlns:a16="http://schemas.microsoft.com/office/drawing/2014/main" id="{543FADAA-5BD8-4214-81CC-EBD1A6C3251D}"/>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Добавим голову к списку</a:t>
            </a:r>
          </a:p>
        </p:txBody>
      </p:sp>
      <p:sp>
        <p:nvSpPr>
          <p:cNvPr id="5" name="TextBox 4">
            <a:extLst>
              <a:ext uri="{FF2B5EF4-FFF2-40B4-BE49-F238E27FC236}">
                <a16:creationId xmlns:a16="http://schemas.microsoft.com/office/drawing/2014/main" id="{446DC2F8-F5C5-481F-9873-7C9417C93EB0}"/>
              </a:ext>
            </a:extLst>
          </p:cNvPr>
          <p:cNvSpPr txBox="1"/>
          <p:nvPr/>
        </p:nvSpPr>
        <p:spPr>
          <a:xfrm>
            <a:off x="3048525" y="1647079"/>
            <a:ext cx="6094948" cy="646331"/>
          </a:xfrm>
          <a:prstGeom prst="rect">
            <a:avLst/>
          </a:prstGeom>
          <a:noFill/>
        </p:spPr>
        <p:txBody>
          <a:bodyPr wrap="square">
            <a:spAutoFit/>
          </a:bodyPr>
          <a:lstStyle/>
          <a:p>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node_t</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head</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NULL</a:t>
            </a:r>
            <a:r>
              <a:rPr lang="en-US" b="0" dirty="0">
                <a:solidFill>
                  <a:srgbClr val="CCCCCC"/>
                </a:solidFill>
                <a:effectLst/>
                <a:latin typeface="Consolas" panose="020B0609020204030204" pitchFamily="49" charset="0"/>
              </a:rPr>
              <a:t>;</a:t>
            </a:r>
            <a:r>
              <a:rPr lang="en-US" b="0" dirty="0">
                <a:solidFill>
                  <a:srgbClr val="6A9955"/>
                </a:solidFill>
                <a:effectLst/>
                <a:latin typeface="Consolas" panose="020B0609020204030204" pitchFamily="49" charset="0"/>
              </a:rPr>
              <a:t> // </a:t>
            </a:r>
            <a:r>
              <a:rPr lang="ru-RU" b="0" dirty="0">
                <a:solidFill>
                  <a:srgbClr val="6A9955"/>
                </a:solidFill>
                <a:effectLst/>
                <a:latin typeface="Consolas" panose="020B0609020204030204" pitchFamily="49" charset="0"/>
              </a:rPr>
              <a:t>Список пустой</a:t>
            </a:r>
            <a:endParaRPr lang="ru-RU" b="0" dirty="0">
              <a:solidFill>
                <a:srgbClr val="CCCCCC"/>
              </a:solidFill>
              <a:effectLst/>
              <a:latin typeface="Consolas" panose="020B0609020204030204" pitchFamily="49" charset="0"/>
            </a:endParaRPr>
          </a:p>
          <a:p>
            <a:r>
              <a:rPr lang="ru-RU"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head</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node1</a:t>
            </a:r>
            <a:r>
              <a:rPr lang="en-US" b="0" dirty="0">
                <a:solidFill>
                  <a:srgbClr val="CCCCCC"/>
                </a:solidFill>
                <a:effectLst/>
                <a:latin typeface="Consolas" panose="020B0609020204030204" pitchFamily="49" charset="0"/>
              </a:rPr>
              <a:t>;</a:t>
            </a:r>
            <a:r>
              <a:rPr lang="en-US" b="0" dirty="0">
                <a:solidFill>
                  <a:srgbClr val="6A9955"/>
                </a:solidFill>
                <a:effectLst/>
                <a:latin typeface="Consolas" panose="020B0609020204030204" pitchFamily="49" charset="0"/>
              </a:rPr>
              <a:t> // </a:t>
            </a:r>
            <a:r>
              <a:rPr lang="ru-RU" b="0" dirty="0">
                <a:solidFill>
                  <a:srgbClr val="6A9955"/>
                </a:solidFill>
                <a:effectLst/>
                <a:latin typeface="Consolas" panose="020B0609020204030204" pitchFamily="49" charset="0"/>
              </a:rPr>
              <a:t>привяжемся к списку 1 -&gt; 3</a:t>
            </a:r>
            <a:endParaRPr lang="ru-RU"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0661186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2">
            <a:extLst>
              <a:ext uri="{FF2B5EF4-FFF2-40B4-BE49-F238E27FC236}">
                <a16:creationId xmlns:a16="http://schemas.microsoft.com/office/drawing/2014/main" id="{9A81F131-66F7-43FE-8A6C-D508EAAA9C4D}"/>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t>Проход по списку и его вывод</a:t>
            </a:r>
          </a:p>
        </p:txBody>
      </p:sp>
      <p:sp>
        <p:nvSpPr>
          <p:cNvPr id="10" name="TextBox 9">
            <a:extLst>
              <a:ext uri="{FF2B5EF4-FFF2-40B4-BE49-F238E27FC236}">
                <a16:creationId xmlns:a16="http://schemas.microsoft.com/office/drawing/2014/main" id="{24C17576-E8CD-447C-B9DF-7CFD35DBAFC2}"/>
              </a:ext>
            </a:extLst>
          </p:cNvPr>
          <p:cNvSpPr txBox="1"/>
          <p:nvPr/>
        </p:nvSpPr>
        <p:spPr>
          <a:xfrm>
            <a:off x="746361" y="1715607"/>
            <a:ext cx="5817857" cy="1200329"/>
          </a:xfrm>
          <a:prstGeom prst="rect">
            <a:avLst/>
          </a:prstGeom>
          <a:noFill/>
        </p:spPr>
        <p:txBody>
          <a:bodyPr wrap="square">
            <a:spAutoFit/>
          </a:bodyPr>
          <a:lstStyle/>
          <a:p>
            <a:pPr marL="285750" indent="-285750">
              <a:buFont typeface="Arial" panose="020B0604020202020204" pitchFamily="34" charset="0"/>
              <a:buChar char="•"/>
            </a:pPr>
            <a:r>
              <a:rPr lang="ru-RU" dirty="0"/>
              <a:t>Пока текущий узел не равен NULL:</a:t>
            </a:r>
          </a:p>
          <a:p>
            <a:pPr marL="742950" lvl="1" indent="-285750">
              <a:buFont typeface="Arial" panose="020B0604020202020204" pitchFamily="34" charset="0"/>
              <a:buChar char="•"/>
            </a:pPr>
            <a:r>
              <a:rPr lang="ru-RU" dirty="0"/>
              <a:t>Печатаем на экран данные</a:t>
            </a:r>
          </a:p>
          <a:p>
            <a:pPr marL="742950" lvl="1" indent="-285750">
              <a:buFont typeface="Arial" panose="020B0604020202020204" pitchFamily="34" charset="0"/>
              <a:buChar char="•"/>
            </a:pPr>
            <a:r>
              <a:rPr lang="ru-RU" dirty="0"/>
              <a:t>Приравниваем текущий указатель на следующий</a:t>
            </a:r>
          </a:p>
          <a:p>
            <a:pPr marL="285750" indent="-285750">
              <a:buFont typeface="Arial" panose="020B0604020202020204" pitchFamily="34" charset="0"/>
              <a:buChar char="•"/>
            </a:pPr>
            <a:r>
              <a:rPr lang="ru-RU" dirty="0"/>
              <a:t>Список закончился</a:t>
            </a:r>
          </a:p>
        </p:txBody>
      </p:sp>
      <p:pic>
        <p:nvPicPr>
          <p:cNvPr id="9218" name="Picture 2" descr="alt text">
            <a:extLst>
              <a:ext uri="{FF2B5EF4-FFF2-40B4-BE49-F238E27FC236}">
                <a16:creationId xmlns:a16="http://schemas.microsoft.com/office/drawing/2014/main" id="{8F0228A1-0D92-4912-B4F8-5FE5C549AF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361" y="3104101"/>
            <a:ext cx="5392377" cy="2232899"/>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alt text">
            <a:extLst>
              <a:ext uri="{FF2B5EF4-FFF2-40B4-BE49-F238E27FC236}">
                <a16:creationId xmlns:a16="http://schemas.microsoft.com/office/drawing/2014/main" id="{E146E015-17E2-4653-9246-22134F1900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4034" y="1609740"/>
            <a:ext cx="4962859" cy="2232899"/>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alt text">
            <a:extLst>
              <a:ext uri="{FF2B5EF4-FFF2-40B4-BE49-F238E27FC236}">
                <a16:creationId xmlns:a16="http://schemas.microsoft.com/office/drawing/2014/main" id="{D22327C7-84A4-435D-A5D1-DC4EA191AE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84035" y="4234744"/>
            <a:ext cx="4962859" cy="2275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73606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2">
            <a:extLst>
              <a:ext uri="{FF2B5EF4-FFF2-40B4-BE49-F238E27FC236}">
                <a16:creationId xmlns:a16="http://schemas.microsoft.com/office/drawing/2014/main" id="{F6CF6776-696C-4A86-AA7E-FD693C0D51C5}"/>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Длина списка</a:t>
            </a:r>
          </a:p>
        </p:txBody>
      </p:sp>
      <p:sp>
        <p:nvSpPr>
          <p:cNvPr id="13" name="TextBox 12">
            <a:extLst>
              <a:ext uri="{FF2B5EF4-FFF2-40B4-BE49-F238E27FC236}">
                <a16:creationId xmlns:a16="http://schemas.microsoft.com/office/drawing/2014/main" id="{0A7ECCE6-13C3-4A0F-89EB-CC25594DA038}"/>
              </a:ext>
            </a:extLst>
          </p:cNvPr>
          <p:cNvSpPr txBox="1"/>
          <p:nvPr/>
        </p:nvSpPr>
        <p:spPr>
          <a:xfrm>
            <a:off x="3048525" y="3417897"/>
            <a:ext cx="6094948" cy="1477328"/>
          </a:xfrm>
          <a:prstGeom prst="rect">
            <a:avLst/>
          </a:prstGeom>
          <a:noFill/>
        </p:spPr>
        <p:txBody>
          <a:bodyPr wrap="square">
            <a:spAutoFit/>
          </a:bodyPr>
          <a:lstStyle/>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Длина списка = 0</a:t>
            </a: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Пока текущий узел не равен NULL:</a:t>
            </a:r>
          </a:p>
          <a:p>
            <a:pPr marL="742950" lvl="1"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Длина списка + 1</a:t>
            </a:r>
          </a:p>
          <a:p>
            <a:pPr marL="742950" lvl="1"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Приравниваем текущий указатель на следующий</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Возвращаем длину</a:t>
            </a:r>
          </a:p>
        </p:txBody>
      </p:sp>
      <p:sp>
        <p:nvSpPr>
          <p:cNvPr id="15" name="TextBox 14">
            <a:extLst>
              <a:ext uri="{FF2B5EF4-FFF2-40B4-BE49-F238E27FC236}">
                <a16:creationId xmlns:a16="http://schemas.microsoft.com/office/drawing/2014/main" id="{77602A8C-BDDD-4667-B4FC-C0ABDB0854C8}"/>
              </a:ext>
            </a:extLst>
          </p:cNvPr>
          <p:cNvSpPr txBox="1"/>
          <p:nvPr/>
        </p:nvSpPr>
        <p:spPr>
          <a:xfrm>
            <a:off x="3470646" y="2108112"/>
            <a:ext cx="5250705" cy="707886"/>
          </a:xfrm>
          <a:prstGeom prst="rect">
            <a:avLst/>
          </a:prstGeom>
          <a:noFill/>
        </p:spPr>
        <p:txBody>
          <a:bodyPr wrap="square">
            <a:spAutoFit/>
          </a:bodyPr>
          <a:lstStyle/>
          <a:p>
            <a:r>
              <a:rPr lang="ru-RU" sz="2000" b="0" dirty="0">
                <a:solidFill>
                  <a:srgbClr val="6A9955"/>
                </a:solidFill>
                <a:effectLst/>
                <a:latin typeface="Consolas" panose="020B0609020204030204" pitchFamily="49" charset="0"/>
              </a:rPr>
              <a:t>// Возвращает длину списка (</a:t>
            </a:r>
            <a:r>
              <a:rPr lang="en-US" sz="2000" b="0" dirty="0">
                <a:solidFill>
                  <a:srgbClr val="6A9955"/>
                </a:solidFill>
                <a:effectLst/>
                <a:latin typeface="Consolas" panose="020B0609020204030204" pitchFamily="49" charset="0"/>
              </a:rPr>
              <a:t>int)</a:t>
            </a:r>
            <a:endParaRPr lang="ru-RU" sz="2000" b="0" dirty="0">
              <a:solidFill>
                <a:srgbClr val="CCCCCC"/>
              </a:solidFill>
              <a:effectLst/>
              <a:latin typeface="Consolas" panose="020B0609020204030204" pitchFamily="49" charset="0"/>
            </a:endParaRPr>
          </a:p>
          <a:p>
            <a:r>
              <a:rPr lang="ru-RU" sz="2000" b="0" dirty="0" err="1">
                <a:solidFill>
                  <a:srgbClr val="569CD6"/>
                </a:solidFill>
                <a:effectLst/>
                <a:latin typeface="Consolas" panose="020B0609020204030204" pitchFamily="49" charset="0"/>
              </a:rPr>
              <a:t>int</a:t>
            </a:r>
            <a:r>
              <a:rPr lang="ru-RU" sz="2000" b="0" dirty="0">
                <a:solidFill>
                  <a:srgbClr val="CCCCCC"/>
                </a:solidFill>
                <a:effectLst/>
                <a:latin typeface="Consolas" panose="020B0609020204030204" pitchFamily="49" charset="0"/>
              </a:rPr>
              <a:t> </a:t>
            </a:r>
            <a:r>
              <a:rPr lang="ru-RU" sz="2000" b="0" dirty="0" err="1">
                <a:solidFill>
                  <a:srgbClr val="DCDCAA"/>
                </a:solidFill>
                <a:effectLst/>
                <a:latin typeface="Consolas" panose="020B0609020204030204" pitchFamily="49" charset="0"/>
              </a:rPr>
              <a:t>lengthList</a:t>
            </a:r>
            <a:r>
              <a:rPr lang="ru-RU" sz="2000" b="0" dirty="0">
                <a:solidFill>
                  <a:srgbClr val="CCCCCC"/>
                </a:solidFill>
                <a:effectLst/>
                <a:latin typeface="Consolas" panose="020B0609020204030204" pitchFamily="49" charset="0"/>
              </a:rPr>
              <a:t>(</a:t>
            </a:r>
            <a:r>
              <a:rPr lang="ru-RU" sz="2000" b="0" dirty="0" err="1">
                <a:solidFill>
                  <a:srgbClr val="4EC9B0"/>
                </a:solidFill>
                <a:effectLst/>
                <a:latin typeface="Consolas" panose="020B0609020204030204" pitchFamily="49" charset="0"/>
              </a:rPr>
              <a:t>node_t</a:t>
            </a:r>
            <a:r>
              <a:rPr lang="ru-RU" sz="2000" b="0" dirty="0">
                <a:solidFill>
                  <a:srgbClr val="D4D4D4"/>
                </a:solidFill>
                <a:effectLst/>
                <a:latin typeface="Consolas" panose="020B0609020204030204" pitchFamily="49" charset="0"/>
              </a:rPr>
              <a:t>*</a:t>
            </a:r>
            <a:r>
              <a:rPr lang="ru-RU" sz="2000" b="0" dirty="0">
                <a:solidFill>
                  <a:srgbClr val="CCCCCC"/>
                </a:solidFill>
                <a:effectLst/>
                <a:latin typeface="Consolas" panose="020B0609020204030204" pitchFamily="49" charset="0"/>
              </a:rPr>
              <a:t> </a:t>
            </a:r>
            <a:r>
              <a:rPr lang="ru-RU" sz="2000" b="0" dirty="0" err="1">
                <a:solidFill>
                  <a:srgbClr val="9CDCFE"/>
                </a:solidFill>
                <a:effectLst/>
                <a:latin typeface="Consolas" panose="020B0609020204030204" pitchFamily="49" charset="0"/>
              </a:rPr>
              <a:t>head</a:t>
            </a:r>
            <a:r>
              <a:rPr lang="ru-RU" sz="2000" b="0" dirty="0">
                <a:solidFill>
                  <a:srgbClr val="CCCCCC"/>
                </a:solidFill>
                <a:effectLst/>
                <a:latin typeface="Consolas" panose="020B0609020204030204" pitchFamily="49" charset="0"/>
              </a:rPr>
              <a:t>)</a:t>
            </a:r>
            <a:r>
              <a:rPr lang="en-US" sz="2000" b="0" dirty="0">
                <a:solidFill>
                  <a:srgbClr val="CCCCCC"/>
                </a:solidFill>
                <a:effectLst/>
                <a:latin typeface="Consolas" panose="020B0609020204030204" pitchFamily="49" charset="0"/>
              </a:rPr>
              <a:t>;</a:t>
            </a:r>
            <a:endParaRPr lang="ru-RU" sz="20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1161527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2">
            <a:extLst>
              <a:ext uri="{FF2B5EF4-FFF2-40B4-BE49-F238E27FC236}">
                <a16:creationId xmlns:a16="http://schemas.microsoft.com/office/drawing/2014/main" id="{F66EEF51-71E4-41D1-96B2-F8CB5B4287BD}"/>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Поиск</a:t>
            </a:r>
            <a:r>
              <a:rPr lang="ru-RU" dirty="0"/>
              <a:t> в списке</a:t>
            </a:r>
          </a:p>
        </p:txBody>
      </p:sp>
      <p:sp>
        <p:nvSpPr>
          <p:cNvPr id="4" name="TextBox 3">
            <a:extLst>
              <a:ext uri="{FF2B5EF4-FFF2-40B4-BE49-F238E27FC236}">
                <a16:creationId xmlns:a16="http://schemas.microsoft.com/office/drawing/2014/main" id="{F0269353-9A37-4864-A5B7-E73E24DA6354}"/>
              </a:ext>
            </a:extLst>
          </p:cNvPr>
          <p:cNvSpPr txBox="1"/>
          <p:nvPr/>
        </p:nvSpPr>
        <p:spPr>
          <a:xfrm>
            <a:off x="2647292" y="2048205"/>
            <a:ext cx="6897414" cy="923330"/>
          </a:xfrm>
          <a:prstGeom prst="rect">
            <a:avLst/>
          </a:prstGeom>
          <a:noFill/>
        </p:spPr>
        <p:txBody>
          <a:bodyPr wrap="square">
            <a:spAutoFit/>
          </a:bodyPr>
          <a:lstStyle/>
          <a:p>
            <a:r>
              <a:rPr lang="ru-RU" b="0" dirty="0">
                <a:solidFill>
                  <a:srgbClr val="6A9955"/>
                </a:solidFill>
                <a:effectLst/>
                <a:latin typeface="Consolas" panose="020B0609020204030204" pitchFamily="49" charset="0"/>
              </a:rPr>
              <a:t>// Функция поиска, проходим по списку, </a:t>
            </a:r>
            <a:endParaRPr lang="en-US" b="0" dirty="0">
              <a:solidFill>
                <a:srgbClr val="6A9955"/>
              </a:solidFill>
              <a:effectLst/>
              <a:latin typeface="Consolas" panose="020B0609020204030204" pitchFamily="49" charset="0"/>
            </a:endParaRPr>
          </a:p>
          <a:p>
            <a:r>
              <a:rPr lang="en-US" dirty="0">
                <a:solidFill>
                  <a:srgbClr val="6A9955"/>
                </a:solidFill>
                <a:latin typeface="Consolas" panose="020B0609020204030204" pitchFamily="49" charset="0"/>
              </a:rPr>
              <a:t>// </a:t>
            </a:r>
            <a:r>
              <a:rPr lang="ru-RU" b="0" dirty="0">
                <a:solidFill>
                  <a:srgbClr val="6A9955"/>
                </a:solidFill>
                <a:effectLst/>
                <a:latin typeface="Consolas" panose="020B0609020204030204" pitchFamily="49" charset="0"/>
              </a:rPr>
              <a:t>если элемент в списке вернем </a:t>
            </a:r>
            <a:r>
              <a:rPr lang="ru-RU" b="0" dirty="0" err="1">
                <a:solidFill>
                  <a:srgbClr val="6A9955"/>
                </a:solidFill>
                <a:effectLst/>
                <a:latin typeface="Consolas" panose="020B0609020204030204" pitchFamily="49" charset="0"/>
              </a:rPr>
              <a:t>true</a:t>
            </a:r>
            <a:r>
              <a:rPr lang="ru-RU" b="0" dirty="0">
                <a:solidFill>
                  <a:srgbClr val="6A9955"/>
                </a:solidFill>
                <a:effectLst/>
                <a:latin typeface="Consolas" panose="020B0609020204030204" pitchFamily="49" charset="0"/>
              </a:rPr>
              <a:t> иначе </a:t>
            </a:r>
            <a:r>
              <a:rPr lang="ru-RU" b="0" dirty="0" err="1">
                <a:solidFill>
                  <a:srgbClr val="6A9955"/>
                </a:solidFill>
                <a:effectLst/>
                <a:latin typeface="Consolas" panose="020B0609020204030204" pitchFamily="49" charset="0"/>
              </a:rPr>
              <a:t>false</a:t>
            </a:r>
            <a:endParaRPr lang="ru-RU" b="0" dirty="0">
              <a:solidFill>
                <a:srgbClr val="CCCCCC"/>
              </a:solidFill>
              <a:effectLst/>
              <a:latin typeface="Consolas" panose="020B0609020204030204" pitchFamily="49" charset="0"/>
            </a:endParaRPr>
          </a:p>
          <a:p>
            <a:r>
              <a:rPr lang="ru-RU" b="0" dirty="0" err="1">
                <a:solidFill>
                  <a:srgbClr val="569CD6"/>
                </a:solidFill>
                <a:effectLst/>
                <a:latin typeface="Consolas" panose="020B0609020204030204" pitchFamily="49" charset="0"/>
              </a:rPr>
              <a:t>bool</a:t>
            </a:r>
            <a:r>
              <a:rPr lang="ru-RU" b="0" dirty="0">
                <a:solidFill>
                  <a:srgbClr val="CCCCCC"/>
                </a:solidFill>
                <a:effectLst/>
                <a:latin typeface="Consolas" panose="020B0609020204030204" pitchFamily="49" charset="0"/>
              </a:rPr>
              <a:t> </a:t>
            </a:r>
            <a:r>
              <a:rPr lang="ru-RU" b="0" dirty="0" err="1">
                <a:solidFill>
                  <a:srgbClr val="DCDCAA"/>
                </a:solidFill>
                <a:effectLst/>
                <a:latin typeface="Consolas" panose="020B0609020204030204" pitchFamily="49" charset="0"/>
              </a:rPr>
              <a:t>searchList</a:t>
            </a:r>
            <a:r>
              <a:rPr lang="ru-RU" b="0" dirty="0">
                <a:solidFill>
                  <a:srgbClr val="CCCCCC"/>
                </a:solidFill>
                <a:effectLst/>
                <a:latin typeface="Consolas" panose="020B0609020204030204" pitchFamily="49" charset="0"/>
              </a:rPr>
              <a:t>(</a:t>
            </a:r>
            <a:r>
              <a:rPr lang="ru-RU" b="0" dirty="0" err="1">
                <a:solidFill>
                  <a:srgbClr val="4EC9B0"/>
                </a:solidFill>
                <a:effectLst/>
                <a:latin typeface="Consolas" panose="020B0609020204030204" pitchFamily="49" charset="0"/>
              </a:rPr>
              <a:t>node_t</a:t>
            </a:r>
            <a:r>
              <a:rPr lang="ru-RU" b="0" dirty="0">
                <a:solidFill>
                  <a:srgbClr val="D4D4D4"/>
                </a:solidFill>
                <a:effectLst/>
                <a:latin typeface="Consolas" panose="020B0609020204030204" pitchFamily="49" charset="0"/>
              </a:rPr>
              <a:t>*</a:t>
            </a:r>
            <a:r>
              <a:rPr lang="ru-RU" b="0" dirty="0">
                <a:solidFill>
                  <a:srgbClr val="CCCCCC"/>
                </a:solidFill>
                <a:effectLst/>
                <a:latin typeface="Consolas" panose="020B0609020204030204" pitchFamily="49" charset="0"/>
              </a:rPr>
              <a:t> </a:t>
            </a:r>
            <a:r>
              <a:rPr lang="ru-RU" b="0" dirty="0" err="1">
                <a:solidFill>
                  <a:srgbClr val="9CDCFE"/>
                </a:solidFill>
                <a:effectLst/>
                <a:latin typeface="Consolas" panose="020B0609020204030204" pitchFamily="49" charset="0"/>
              </a:rPr>
              <a:t>head</a:t>
            </a:r>
            <a:r>
              <a:rPr lang="ru-RU" b="0" dirty="0">
                <a:solidFill>
                  <a:srgbClr val="CCCCCC"/>
                </a:solidFill>
                <a:effectLst/>
                <a:latin typeface="Consolas" panose="020B0609020204030204" pitchFamily="49" charset="0"/>
              </a:rPr>
              <a:t>, </a:t>
            </a:r>
            <a:r>
              <a:rPr lang="ru-RU" b="0" dirty="0" err="1">
                <a:solidFill>
                  <a:srgbClr val="569CD6"/>
                </a:solidFill>
                <a:effectLst/>
                <a:latin typeface="Consolas" panose="020B0609020204030204" pitchFamily="49" charset="0"/>
              </a:rPr>
              <a:t>int</a:t>
            </a:r>
            <a:r>
              <a:rPr lang="ru-RU" b="0" dirty="0">
                <a:solidFill>
                  <a:srgbClr val="CCCCCC"/>
                </a:solidFill>
                <a:effectLst/>
                <a:latin typeface="Consolas" panose="020B0609020204030204" pitchFamily="49" charset="0"/>
              </a:rPr>
              <a:t> </a:t>
            </a:r>
            <a:r>
              <a:rPr lang="ru-RU" b="0" dirty="0" err="1">
                <a:solidFill>
                  <a:srgbClr val="9CDCFE"/>
                </a:solidFill>
                <a:effectLst/>
                <a:latin typeface="Consolas" panose="020B0609020204030204" pitchFamily="49" charset="0"/>
              </a:rPr>
              <a:t>target</a:t>
            </a:r>
            <a:r>
              <a:rPr lang="ru-RU" b="0" dirty="0">
                <a:solidFill>
                  <a:srgbClr val="CCCCCC"/>
                </a:solidFill>
                <a:effectLst/>
                <a:latin typeface="Consolas" panose="020B0609020204030204" pitchFamily="49" charset="0"/>
              </a:rPr>
              <a:t>)</a:t>
            </a:r>
            <a:r>
              <a:rPr lang="en-US" b="0" dirty="0">
                <a:solidFill>
                  <a:srgbClr val="CCCCCC"/>
                </a:solidFill>
                <a:effectLst/>
                <a:latin typeface="Consolas" panose="020B0609020204030204" pitchFamily="49" charset="0"/>
              </a:rPr>
              <a:t>;</a:t>
            </a:r>
            <a:endParaRPr lang="ru-RU" b="0" dirty="0">
              <a:solidFill>
                <a:srgbClr val="CCCCCC"/>
              </a:solidFill>
              <a:effectLst/>
              <a:latin typeface="Consolas" panose="020B0609020204030204" pitchFamily="49" charset="0"/>
            </a:endParaRPr>
          </a:p>
        </p:txBody>
      </p:sp>
      <p:sp>
        <p:nvSpPr>
          <p:cNvPr id="8" name="TextBox 7">
            <a:extLst>
              <a:ext uri="{FF2B5EF4-FFF2-40B4-BE49-F238E27FC236}">
                <a16:creationId xmlns:a16="http://schemas.microsoft.com/office/drawing/2014/main" id="{63D18C7C-12F0-43BE-AF0F-F20D511CF9AC}"/>
              </a:ext>
            </a:extLst>
          </p:cNvPr>
          <p:cNvSpPr txBox="1"/>
          <p:nvPr/>
        </p:nvSpPr>
        <p:spPr>
          <a:xfrm>
            <a:off x="3048525" y="3593162"/>
            <a:ext cx="6094948" cy="1477328"/>
          </a:xfrm>
          <a:prstGeom prst="rect">
            <a:avLst/>
          </a:prstGeom>
          <a:noFill/>
        </p:spPr>
        <p:txBody>
          <a:bodyPr wrap="square">
            <a:spAutoFit/>
          </a:bodyPr>
          <a:lstStyle/>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Пока текущий узел не равен NULL:</a:t>
            </a:r>
          </a:p>
          <a:p>
            <a:pPr marL="742950" lvl="1"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Если </a:t>
            </a:r>
            <a:r>
              <a:rPr lang="ru-RU" dirty="0" err="1">
                <a:latin typeface="Times New Roman" panose="02020603050405020304" pitchFamily="18" charset="0"/>
                <a:cs typeface="Times New Roman" panose="02020603050405020304" pitchFamily="18" charset="0"/>
              </a:rPr>
              <a:t>data</a:t>
            </a:r>
            <a:r>
              <a:rPr lang="ru-RU" dirty="0">
                <a:latin typeface="Times New Roman" panose="02020603050405020304" pitchFamily="18" charset="0"/>
                <a:cs typeface="Times New Roman" panose="02020603050405020304" pitchFamily="18" charset="0"/>
              </a:rPr>
              <a:t> = искомой</a:t>
            </a:r>
          </a:p>
          <a:p>
            <a:pPr marL="1200150" lvl="2"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Возвращаем </a:t>
            </a:r>
            <a:r>
              <a:rPr lang="ru-RU" dirty="0" err="1">
                <a:latin typeface="Times New Roman" panose="02020603050405020304" pitchFamily="18" charset="0"/>
                <a:cs typeface="Times New Roman" panose="02020603050405020304" pitchFamily="18" charset="0"/>
              </a:rPr>
              <a:t>true</a:t>
            </a:r>
            <a:r>
              <a:rPr lang="ru-RU" dirty="0">
                <a:latin typeface="Times New Roman" panose="02020603050405020304" pitchFamily="18" charset="0"/>
                <a:cs typeface="Times New Roman" panose="02020603050405020304" pitchFamily="18" charset="0"/>
              </a:rPr>
              <a:t> (искомый элемент есть в списке)</a:t>
            </a:r>
          </a:p>
          <a:p>
            <a:pPr marL="742950" lvl="1"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Приравниваем текущий указатель на следующий</a:t>
            </a:r>
          </a:p>
        </p:txBody>
      </p:sp>
    </p:spTree>
    <p:extLst>
      <p:ext uri="{BB962C8B-B14F-4D97-AF65-F5344CB8AC3E}">
        <p14:creationId xmlns:p14="http://schemas.microsoft.com/office/powerpoint/2010/main" val="12334838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2">
            <a:extLst>
              <a:ext uri="{FF2B5EF4-FFF2-40B4-BE49-F238E27FC236}">
                <a16:creationId xmlns:a16="http://schemas.microsoft.com/office/drawing/2014/main" id="{57485359-5D72-4627-8CA0-B7FA62198B5D}"/>
              </a:ext>
            </a:extLst>
          </p:cNvPr>
          <p:cNvSpPr txBox="1">
            <a:spLocks/>
          </p:cNvSpPr>
          <p:nvPr/>
        </p:nvSpPr>
        <p:spPr>
          <a:xfrm>
            <a:off x="1133141" y="289948"/>
            <a:ext cx="9925717" cy="927688"/>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Добавление элемента в начало</a:t>
            </a:r>
          </a:p>
        </p:txBody>
      </p:sp>
      <p:pic>
        <p:nvPicPr>
          <p:cNvPr id="10242" name="Picture 2" descr="alt text">
            <a:extLst>
              <a:ext uri="{FF2B5EF4-FFF2-40B4-BE49-F238E27FC236}">
                <a16:creationId xmlns:a16="http://schemas.microsoft.com/office/drawing/2014/main" id="{60B0CA64-502D-4222-B7DA-6441963458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8242" y="3064816"/>
            <a:ext cx="7355512" cy="309303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961AF76-6A42-444F-87F0-2AF8E503FDEA}"/>
              </a:ext>
            </a:extLst>
          </p:cNvPr>
          <p:cNvSpPr txBox="1"/>
          <p:nvPr/>
        </p:nvSpPr>
        <p:spPr>
          <a:xfrm>
            <a:off x="2634679" y="1576189"/>
            <a:ext cx="6922638" cy="1200329"/>
          </a:xfrm>
          <a:prstGeom prst="rect">
            <a:avLst/>
          </a:prstGeom>
          <a:noFill/>
        </p:spPr>
        <p:txBody>
          <a:bodyPr wrap="square">
            <a:spAutoFit/>
          </a:bodyPr>
          <a:lstStyle/>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Создать новый узел с заданным значением.</a:t>
            </a: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Установить следующий указатель нового узла на текущий </a:t>
            </a:r>
            <a:r>
              <a:rPr lang="ru-RU" dirty="0" err="1">
                <a:latin typeface="Times New Roman" panose="02020603050405020304" pitchFamily="18" charset="0"/>
                <a:cs typeface="Times New Roman" panose="02020603050405020304" pitchFamily="18" charset="0"/>
              </a:rPr>
              <a:t>head</a:t>
            </a:r>
            <a:r>
              <a:rPr lang="ru-RU"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ru-RU" dirty="0" err="1">
                <a:latin typeface="Times New Roman" panose="02020603050405020304" pitchFamily="18" charset="0"/>
                <a:cs typeface="Times New Roman" panose="02020603050405020304" pitchFamily="18" charset="0"/>
              </a:rPr>
              <a:t>head</a:t>
            </a:r>
            <a:r>
              <a:rPr lang="ru-RU" dirty="0">
                <a:latin typeface="Times New Roman" panose="02020603050405020304" pitchFamily="18" charset="0"/>
                <a:cs typeface="Times New Roman" panose="02020603050405020304" pitchFamily="18" charset="0"/>
              </a:rPr>
              <a:t> должен указывать на новый узел.</a:t>
            </a: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Вернуть новую голову списка.</a:t>
            </a:r>
          </a:p>
        </p:txBody>
      </p:sp>
    </p:spTree>
    <p:extLst>
      <p:ext uri="{BB962C8B-B14F-4D97-AF65-F5344CB8AC3E}">
        <p14:creationId xmlns:p14="http://schemas.microsoft.com/office/powerpoint/2010/main" val="42295588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2">
            <a:extLst>
              <a:ext uri="{FF2B5EF4-FFF2-40B4-BE49-F238E27FC236}">
                <a16:creationId xmlns:a16="http://schemas.microsoft.com/office/drawing/2014/main" id="{57485359-5D72-4627-8CA0-B7FA62198B5D}"/>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Удаление первого узла</a:t>
            </a:r>
          </a:p>
        </p:txBody>
      </p:sp>
      <p:sp>
        <p:nvSpPr>
          <p:cNvPr id="7" name="TextBox 6">
            <a:extLst>
              <a:ext uri="{FF2B5EF4-FFF2-40B4-BE49-F238E27FC236}">
                <a16:creationId xmlns:a16="http://schemas.microsoft.com/office/drawing/2014/main" id="{6961AF76-6A42-444F-87F0-2AF8E503FDEA}"/>
              </a:ext>
            </a:extLst>
          </p:cNvPr>
          <p:cNvSpPr txBox="1"/>
          <p:nvPr/>
        </p:nvSpPr>
        <p:spPr>
          <a:xfrm>
            <a:off x="2634680" y="1557271"/>
            <a:ext cx="6922638" cy="1754326"/>
          </a:xfrm>
          <a:prstGeom prst="rect">
            <a:avLst/>
          </a:prstGeom>
          <a:noFill/>
        </p:spPr>
        <p:txBody>
          <a:bodyPr wrap="square">
            <a:spAutoFit/>
          </a:bodyPr>
          <a:lstStyle/>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Проверить, имеет ли голова значение NULL</a:t>
            </a:r>
          </a:p>
          <a:p>
            <a:pPr marL="742950" lvl="1"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Если да, то вернуть NULL (список пуст)</a:t>
            </a: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Сохранить текущий </a:t>
            </a:r>
            <a:r>
              <a:rPr lang="ru-RU" dirty="0" err="1">
                <a:latin typeface="Times New Roman" panose="02020603050405020304" pitchFamily="18" charset="0"/>
                <a:cs typeface="Times New Roman" panose="02020603050405020304" pitchFamily="18" charset="0"/>
              </a:rPr>
              <a:t>head</a:t>
            </a:r>
            <a:r>
              <a:rPr lang="ru-RU" dirty="0">
                <a:latin typeface="Times New Roman" panose="02020603050405020304" pitchFamily="18" charset="0"/>
                <a:cs typeface="Times New Roman" panose="02020603050405020304" pitchFamily="18" charset="0"/>
              </a:rPr>
              <a:t> во временной переменной</a:t>
            </a: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Переместить указатель головы на следующий узел</a:t>
            </a: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Удалить временный узел</a:t>
            </a: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Вернуть новый </a:t>
            </a:r>
            <a:r>
              <a:rPr lang="ru-RU" dirty="0" err="1">
                <a:latin typeface="Times New Roman" panose="02020603050405020304" pitchFamily="18" charset="0"/>
                <a:cs typeface="Times New Roman" panose="02020603050405020304" pitchFamily="18" charset="0"/>
              </a:rPr>
              <a:t>head</a:t>
            </a:r>
            <a:r>
              <a:rPr lang="ru-RU" dirty="0">
                <a:latin typeface="Times New Roman" panose="02020603050405020304" pitchFamily="18" charset="0"/>
                <a:cs typeface="Times New Roman" panose="02020603050405020304" pitchFamily="18" charset="0"/>
              </a:rPr>
              <a:t> связанного списка</a:t>
            </a:r>
          </a:p>
        </p:txBody>
      </p:sp>
      <p:pic>
        <p:nvPicPr>
          <p:cNvPr id="15362" name="Picture 2" descr="alt text">
            <a:extLst>
              <a:ext uri="{FF2B5EF4-FFF2-40B4-BE49-F238E27FC236}">
                <a16:creationId xmlns:a16="http://schemas.microsoft.com/office/drawing/2014/main" id="{F14DDFF1-C747-4716-81F5-7020DED36C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0487" y="3546404"/>
            <a:ext cx="9371023" cy="1991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41077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2">
            <a:extLst>
              <a:ext uri="{FF2B5EF4-FFF2-40B4-BE49-F238E27FC236}">
                <a16:creationId xmlns:a16="http://schemas.microsoft.com/office/drawing/2014/main" id="{57485359-5D72-4627-8CA0-B7FA62198B5D}"/>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Добавление элемента в конец</a:t>
            </a:r>
          </a:p>
        </p:txBody>
      </p:sp>
      <p:sp>
        <p:nvSpPr>
          <p:cNvPr id="7" name="TextBox 6">
            <a:extLst>
              <a:ext uri="{FF2B5EF4-FFF2-40B4-BE49-F238E27FC236}">
                <a16:creationId xmlns:a16="http://schemas.microsoft.com/office/drawing/2014/main" id="{6961AF76-6A42-444F-87F0-2AF8E503FDEA}"/>
              </a:ext>
            </a:extLst>
          </p:cNvPr>
          <p:cNvSpPr txBox="1"/>
          <p:nvPr/>
        </p:nvSpPr>
        <p:spPr>
          <a:xfrm>
            <a:off x="1451477" y="1607720"/>
            <a:ext cx="9289045" cy="1754326"/>
          </a:xfrm>
          <a:prstGeom prst="rect">
            <a:avLst/>
          </a:prstGeom>
          <a:noFill/>
        </p:spPr>
        <p:txBody>
          <a:bodyPr wrap="square">
            <a:spAutoFit/>
          </a:bodyPr>
          <a:lstStyle/>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Создать новый узел с заданным значением.</a:t>
            </a: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Проверить пуст ли список:</a:t>
            </a:r>
          </a:p>
          <a:p>
            <a:pPr marL="742950" lvl="1"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Если да, сделать новый узел головой и вернуть</a:t>
            </a: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Перемещаться по списку до тех пор, пока не будет достигнут последний узел</a:t>
            </a: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Связать новый узел с текущим последним узлом, установив указатель следующего узла у последнего узла на новый узел</a:t>
            </a:r>
          </a:p>
        </p:txBody>
      </p:sp>
      <p:pic>
        <p:nvPicPr>
          <p:cNvPr id="14338" name="Picture 2" descr="alt text">
            <a:extLst>
              <a:ext uri="{FF2B5EF4-FFF2-40B4-BE49-F238E27FC236}">
                <a16:creationId xmlns:a16="http://schemas.microsoft.com/office/drawing/2014/main" id="{E34C54C3-47D0-430D-B712-243B6EFA89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1477" y="3851370"/>
            <a:ext cx="9289045" cy="22569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07689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2">
            <a:extLst>
              <a:ext uri="{FF2B5EF4-FFF2-40B4-BE49-F238E27FC236}">
                <a16:creationId xmlns:a16="http://schemas.microsoft.com/office/drawing/2014/main" id="{57485359-5D72-4627-8CA0-B7FA62198B5D}"/>
              </a:ext>
            </a:extLst>
          </p:cNvPr>
          <p:cNvSpPr txBox="1">
            <a:spLocks/>
          </p:cNvSpPr>
          <p:nvPr/>
        </p:nvSpPr>
        <p:spPr>
          <a:xfrm>
            <a:off x="1133141" y="289948"/>
            <a:ext cx="9925717" cy="927688"/>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Добавление</a:t>
            </a:r>
            <a:r>
              <a:rPr lang="ru-RU" dirty="0"/>
              <a:t> элемента в начало списка</a:t>
            </a:r>
          </a:p>
        </p:txBody>
      </p:sp>
      <p:pic>
        <p:nvPicPr>
          <p:cNvPr id="10242" name="Picture 2" descr="alt text">
            <a:extLst>
              <a:ext uri="{FF2B5EF4-FFF2-40B4-BE49-F238E27FC236}">
                <a16:creationId xmlns:a16="http://schemas.microsoft.com/office/drawing/2014/main" id="{60B0CA64-502D-4222-B7DA-6441963458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8242" y="3064816"/>
            <a:ext cx="7355512" cy="309303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961AF76-6A42-444F-87F0-2AF8E503FDEA}"/>
              </a:ext>
            </a:extLst>
          </p:cNvPr>
          <p:cNvSpPr txBox="1"/>
          <p:nvPr/>
        </p:nvSpPr>
        <p:spPr>
          <a:xfrm>
            <a:off x="2418242" y="1614026"/>
            <a:ext cx="6922638" cy="1200329"/>
          </a:xfrm>
          <a:prstGeom prst="rect">
            <a:avLst/>
          </a:prstGeom>
          <a:noFill/>
        </p:spPr>
        <p:txBody>
          <a:bodyPr wrap="square">
            <a:spAutoFit/>
          </a:bodyPr>
          <a:lstStyle/>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Создать новый узел с заданным значением.</a:t>
            </a: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Установить следующий указатель нового узла на текущий </a:t>
            </a:r>
            <a:r>
              <a:rPr lang="ru-RU" dirty="0" err="1">
                <a:latin typeface="Times New Roman" panose="02020603050405020304" pitchFamily="18" charset="0"/>
                <a:cs typeface="Times New Roman" panose="02020603050405020304" pitchFamily="18" charset="0"/>
              </a:rPr>
              <a:t>head</a:t>
            </a:r>
            <a:r>
              <a:rPr lang="ru-RU"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ru-RU" dirty="0" err="1">
                <a:latin typeface="Times New Roman" panose="02020603050405020304" pitchFamily="18" charset="0"/>
                <a:cs typeface="Times New Roman" panose="02020603050405020304" pitchFamily="18" charset="0"/>
              </a:rPr>
              <a:t>head</a:t>
            </a:r>
            <a:r>
              <a:rPr lang="ru-RU" dirty="0">
                <a:latin typeface="Times New Roman" panose="02020603050405020304" pitchFamily="18" charset="0"/>
                <a:cs typeface="Times New Roman" panose="02020603050405020304" pitchFamily="18" charset="0"/>
              </a:rPr>
              <a:t> должен указывать на новый узел.</a:t>
            </a: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Вернуть новую голову списка.</a:t>
            </a:r>
          </a:p>
        </p:txBody>
      </p:sp>
    </p:spTree>
    <p:extLst>
      <p:ext uri="{BB962C8B-B14F-4D97-AF65-F5344CB8AC3E}">
        <p14:creationId xmlns:p14="http://schemas.microsoft.com/office/powerpoint/2010/main" val="29846153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2">
            <a:extLst>
              <a:ext uri="{FF2B5EF4-FFF2-40B4-BE49-F238E27FC236}">
                <a16:creationId xmlns:a16="http://schemas.microsoft.com/office/drawing/2014/main" id="{1AAB8ED9-172B-4AD1-AAE1-4E67B13A6692}"/>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Удаление последнего узла</a:t>
            </a:r>
          </a:p>
        </p:txBody>
      </p:sp>
      <p:pic>
        <p:nvPicPr>
          <p:cNvPr id="16386" name="Picture 2" descr="alt text">
            <a:extLst>
              <a:ext uri="{FF2B5EF4-FFF2-40B4-BE49-F238E27FC236}">
                <a16:creationId xmlns:a16="http://schemas.microsoft.com/office/drawing/2014/main" id="{07F4662E-E2D8-4156-9DB3-9FEC6869FF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1750" y="3967481"/>
            <a:ext cx="9648497" cy="260057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E6AB2191-FF28-4C3C-AD1A-20E89E45BE23}"/>
              </a:ext>
            </a:extLst>
          </p:cNvPr>
          <p:cNvSpPr txBox="1"/>
          <p:nvPr/>
        </p:nvSpPr>
        <p:spPr>
          <a:xfrm>
            <a:off x="1271750" y="1438977"/>
            <a:ext cx="9400980" cy="2308324"/>
          </a:xfrm>
          <a:prstGeom prst="rect">
            <a:avLst/>
          </a:prstGeom>
          <a:noFill/>
        </p:spPr>
        <p:txBody>
          <a:bodyPr wrap="square">
            <a:spAutoFit/>
          </a:bodyPr>
          <a:lstStyle/>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Проверить пуст ли список (</a:t>
            </a:r>
            <a:r>
              <a:rPr lang="ru-RU" dirty="0" err="1">
                <a:latin typeface="Times New Roman" panose="02020603050405020304" pitchFamily="18" charset="0"/>
                <a:cs typeface="Times New Roman" panose="02020603050405020304" pitchFamily="18" charset="0"/>
              </a:rPr>
              <a:t>head</a:t>
            </a:r>
            <a:r>
              <a:rPr lang="ru-RU" dirty="0">
                <a:latin typeface="Times New Roman" panose="02020603050405020304" pitchFamily="18" charset="0"/>
                <a:cs typeface="Times New Roman" panose="02020603050405020304" pitchFamily="18" charset="0"/>
              </a:rPr>
              <a:t> = NULL)</a:t>
            </a:r>
          </a:p>
          <a:p>
            <a:pPr marL="742950" lvl="1"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Если да, вернуть NULL (список пуст)</a:t>
            </a: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Проверить, равен ли следующий узел от головы NULL (только один узел в списке - голова)</a:t>
            </a:r>
          </a:p>
          <a:p>
            <a:pPr marL="742950" lvl="1"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Если да, удалить </a:t>
            </a:r>
            <a:r>
              <a:rPr lang="ru-RU" dirty="0" err="1">
                <a:latin typeface="Times New Roman" panose="02020603050405020304" pitchFamily="18" charset="0"/>
                <a:cs typeface="Times New Roman" panose="02020603050405020304" pitchFamily="18" charset="0"/>
              </a:rPr>
              <a:t>head</a:t>
            </a:r>
            <a:r>
              <a:rPr lang="ru-RU" dirty="0">
                <a:latin typeface="Times New Roman" panose="02020603050405020304" pitchFamily="18" charset="0"/>
                <a:cs typeface="Times New Roman" panose="02020603050405020304" pitchFamily="18" charset="0"/>
              </a:rPr>
              <a:t> и вернуть NULL</a:t>
            </a: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Пройти по списку, чтобы найти предпоследний узел (второй с конца)</a:t>
            </a: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Удалить последний узел (узел после предпоследнего)</a:t>
            </a: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Установить следующий указатель предпоследнего узла в NULL</a:t>
            </a: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Возвращаем </a:t>
            </a:r>
            <a:r>
              <a:rPr lang="ru-RU" dirty="0" err="1">
                <a:latin typeface="Times New Roman" panose="02020603050405020304" pitchFamily="18" charset="0"/>
                <a:cs typeface="Times New Roman" panose="02020603050405020304" pitchFamily="18" charset="0"/>
              </a:rPr>
              <a:t>head</a:t>
            </a:r>
            <a:r>
              <a:rPr lang="ru-RU" dirty="0">
                <a:latin typeface="Times New Roman" panose="02020603050405020304" pitchFamily="18" charset="0"/>
                <a:cs typeface="Times New Roman" panose="02020603050405020304" pitchFamily="18" charset="0"/>
              </a:rPr>
              <a:t> списка</a:t>
            </a:r>
          </a:p>
        </p:txBody>
      </p:sp>
    </p:spTree>
    <p:extLst>
      <p:ext uri="{BB962C8B-B14F-4D97-AF65-F5344CB8AC3E}">
        <p14:creationId xmlns:p14="http://schemas.microsoft.com/office/powerpoint/2010/main" val="1217493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2">
            <a:extLst>
              <a:ext uri="{FF2B5EF4-FFF2-40B4-BE49-F238E27FC236}">
                <a16:creationId xmlns:a16="http://schemas.microsoft.com/office/drawing/2014/main" id="{08721C48-D618-4B47-A54A-D3DE236050A6}"/>
              </a:ext>
            </a:extLst>
          </p:cNvPr>
          <p:cNvSpPr txBox="1">
            <a:spLocks/>
          </p:cNvSpPr>
          <p:nvPr/>
        </p:nvSpPr>
        <p:spPr>
          <a:xfrm>
            <a:off x="1133141" y="289948"/>
            <a:ext cx="9925717" cy="927688"/>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Вставка в середину и удаление из середины</a:t>
            </a:r>
          </a:p>
        </p:txBody>
      </p:sp>
      <p:pic>
        <p:nvPicPr>
          <p:cNvPr id="17412" name="Picture 4" descr="Я устал, я ухожу» Борис Ельцин — самый мемный президент России. Как он  вошел в историю интернета?: Интернет: Интернет и СМИ: Lenta.ru">
            <a:extLst>
              <a:ext uri="{FF2B5EF4-FFF2-40B4-BE49-F238E27FC236}">
                <a16:creationId xmlns:a16="http://schemas.microsoft.com/office/drawing/2014/main" id="{3D0F29D2-BD4F-4949-8EA0-FEF389E9DE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2079" y="3078376"/>
            <a:ext cx="5067842" cy="337583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2D68553-7FEE-4DB2-99A4-C4452C80C00B}"/>
              </a:ext>
            </a:extLst>
          </p:cNvPr>
          <p:cNvSpPr txBox="1"/>
          <p:nvPr/>
        </p:nvSpPr>
        <p:spPr>
          <a:xfrm>
            <a:off x="1464617" y="1475051"/>
            <a:ext cx="9722594" cy="1200329"/>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Здесь я уже устал рисовать и расписывать - поэтому самостоятельно.</a:t>
            </a:r>
          </a:p>
          <a:p>
            <a:r>
              <a:rPr lang="ru-RU" dirty="0">
                <a:latin typeface="Times New Roman" panose="02020603050405020304" pitchFamily="18" charset="0"/>
                <a:cs typeface="Times New Roman" panose="02020603050405020304" pitchFamily="18" charset="0"/>
              </a:rPr>
              <a:t>Что для этого нужно сделать?</a:t>
            </a:r>
          </a:p>
          <a:p>
            <a:r>
              <a:rPr lang="ru-RU" dirty="0">
                <a:latin typeface="Times New Roman" panose="02020603050405020304" pitchFamily="18" charset="0"/>
                <a:cs typeface="Times New Roman" panose="02020603050405020304" pitchFamily="18" charset="0"/>
              </a:rPr>
              <a:t>Понять все примеры выше с поиском и вставкой/удалением, а также не забывать вначале проверку на пустой список, чтоб не схватить </a:t>
            </a:r>
            <a:r>
              <a:rPr lang="ru-RU" dirty="0" err="1">
                <a:latin typeface="Times New Roman" panose="02020603050405020304" pitchFamily="18" charset="0"/>
                <a:cs typeface="Times New Roman" panose="02020603050405020304" pitchFamily="18" charset="0"/>
              </a:rPr>
              <a:t>сегу</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segfault</a:t>
            </a:r>
            <a:r>
              <a:rPr lang="ru-RU"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2006783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2">
            <a:extLst>
              <a:ext uri="{FF2B5EF4-FFF2-40B4-BE49-F238E27FC236}">
                <a16:creationId xmlns:a16="http://schemas.microsoft.com/office/drawing/2014/main" id="{CD20947F-7E4C-46F6-A130-46C8196EE471}"/>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Стек</a:t>
            </a:r>
            <a:r>
              <a:rPr lang="ru-RU" dirty="0"/>
              <a:t> и Очередь</a:t>
            </a:r>
          </a:p>
        </p:txBody>
      </p:sp>
      <p:sp>
        <p:nvSpPr>
          <p:cNvPr id="6" name="TextBox 5">
            <a:extLst>
              <a:ext uri="{FF2B5EF4-FFF2-40B4-BE49-F238E27FC236}">
                <a16:creationId xmlns:a16="http://schemas.microsoft.com/office/drawing/2014/main" id="{A8A59264-C7FC-466E-AE84-EEE8D99AC42D}"/>
              </a:ext>
            </a:extLst>
          </p:cNvPr>
          <p:cNvSpPr txBox="1"/>
          <p:nvPr/>
        </p:nvSpPr>
        <p:spPr>
          <a:xfrm>
            <a:off x="826112" y="1179274"/>
            <a:ext cx="10632265" cy="2862322"/>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Стек (англ. </a:t>
            </a:r>
            <a:r>
              <a:rPr lang="ru-RU" dirty="0" err="1">
                <a:latin typeface="Times New Roman" panose="02020603050405020304" pitchFamily="18" charset="0"/>
                <a:cs typeface="Times New Roman" panose="02020603050405020304" pitchFamily="18" charset="0"/>
              </a:rPr>
              <a:t>stack</a:t>
            </a:r>
            <a:r>
              <a:rPr lang="ru-RU" dirty="0">
                <a:latin typeface="Times New Roman" panose="02020603050405020304" pitchFamily="18" charset="0"/>
                <a:cs typeface="Times New Roman" panose="02020603050405020304" pitchFamily="18" charset="0"/>
              </a:rPr>
              <a:t> - стопка) - еще одна из простейших структур данных. Для описания стека часто используется аббревиатура LIFO (</a:t>
            </a:r>
            <a:r>
              <a:rPr lang="ru-RU" dirty="0" err="1">
                <a:latin typeface="Times New Roman" panose="02020603050405020304" pitchFamily="18" charset="0"/>
                <a:cs typeface="Times New Roman" panose="02020603050405020304" pitchFamily="18" charset="0"/>
              </a:rPr>
              <a:t>Last</a:t>
            </a:r>
            <a:r>
              <a:rPr lang="ru-RU" dirty="0">
                <a:latin typeface="Times New Roman" panose="02020603050405020304" pitchFamily="18" charset="0"/>
                <a:cs typeface="Times New Roman" panose="02020603050405020304" pitchFamily="18" charset="0"/>
              </a:rPr>
              <a:t> In, First Out), подчёркивающая, что элемент, попавший в стек последним, первым будет из него извлечён. Классический стек поддерживает всего лишь три операции:</a:t>
            </a: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Добавить элемент в стек </a:t>
            </a:r>
            <a:r>
              <a:rPr lang="ru-RU" dirty="0" err="1">
                <a:latin typeface="Times New Roman" panose="02020603050405020304" pitchFamily="18" charset="0"/>
                <a:cs typeface="Times New Roman" panose="02020603050405020304" pitchFamily="18" charset="0"/>
              </a:rPr>
              <a:t>push</a:t>
            </a:r>
            <a:r>
              <a:rPr lang="ru-RU" dirty="0">
                <a:latin typeface="Times New Roman" panose="02020603050405020304" pitchFamily="18" charset="0"/>
                <a:cs typeface="Times New Roman" panose="02020603050405020304" pitchFamily="18" charset="0"/>
              </a:rPr>
              <a:t>() (Сложность: O(1))</a:t>
            </a: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Извлечь элемент из стека </a:t>
            </a:r>
            <a:r>
              <a:rPr lang="ru-RU" dirty="0" err="1">
                <a:latin typeface="Times New Roman" panose="02020603050405020304" pitchFamily="18" charset="0"/>
                <a:cs typeface="Times New Roman" panose="02020603050405020304" pitchFamily="18" charset="0"/>
              </a:rPr>
              <a:t>pop</a:t>
            </a:r>
            <a:r>
              <a:rPr lang="ru-RU" dirty="0">
                <a:latin typeface="Times New Roman" panose="02020603050405020304" pitchFamily="18" charset="0"/>
                <a:cs typeface="Times New Roman" panose="02020603050405020304" pitchFamily="18" charset="0"/>
              </a:rPr>
              <a:t>() (Сложность: O(1))</a:t>
            </a: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Проверить, пуст ли стек </a:t>
            </a:r>
            <a:r>
              <a:rPr lang="ru-RU" dirty="0" err="1">
                <a:latin typeface="Times New Roman" panose="02020603050405020304" pitchFamily="18" charset="0"/>
                <a:cs typeface="Times New Roman" panose="02020603050405020304" pitchFamily="18" charset="0"/>
              </a:rPr>
              <a:t>isEmpty</a:t>
            </a:r>
            <a:r>
              <a:rPr lang="ru-RU" dirty="0">
                <a:latin typeface="Times New Roman" panose="02020603050405020304" pitchFamily="18" charset="0"/>
                <a:cs typeface="Times New Roman" panose="02020603050405020304" pitchFamily="18" charset="0"/>
              </a:rPr>
              <a:t>() (Сложность: O(1))</a:t>
            </a:r>
          </a:p>
          <a:p>
            <a:endParaRPr lang="ru-RU" dirty="0">
              <a:latin typeface="Times New Roman" panose="02020603050405020304" pitchFamily="18" charset="0"/>
              <a:cs typeface="Times New Roman" panose="02020603050405020304" pitchFamily="18" charset="0"/>
            </a:endParaRPr>
          </a:p>
          <a:p>
            <a:r>
              <a:rPr lang="ru-RU" dirty="0">
                <a:latin typeface="Times New Roman" panose="02020603050405020304" pitchFamily="18" charset="0"/>
                <a:cs typeface="Times New Roman" panose="02020603050405020304" pitchFamily="18" charset="0"/>
              </a:rPr>
              <a:t>Очередь (англ. </a:t>
            </a:r>
            <a:r>
              <a:rPr lang="ru-RU" dirty="0" err="1">
                <a:latin typeface="Times New Roman" panose="02020603050405020304" pitchFamily="18" charset="0"/>
                <a:cs typeface="Times New Roman" panose="02020603050405020304" pitchFamily="18" charset="0"/>
              </a:rPr>
              <a:t>queue</a:t>
            </a:r>
            <a:r>
              <a:rPr lang="ru-RU" dirty="0">
                <a:latin typeface="Times New Roman" panose="02020603050405020304" pitchFamily="18" charset="0"/>
                <a:cs typeface="Times New Roman" panose="02020603050405020304" pitchFamily="18" charset="0"/>
              </a:rPr>
              <a:t>) поддерживает тот же набор операций, что и стек, но имеет противоположную семантику. Для описания очереди используется аббревиатура FIFO (First In, First Out), так как первым из очереди извлекается элемент, раньше всех в неё добавленный.</a:t>
            </a:r>
          </a:p>
        </p:txBody>
      </p:sp>
      <p:pic>
        <p:nvPicPr>
          <p:cNvPr id="7" name="Picture 6" descr="alt text">
            <a:extLst>
              <a:ext uri="{FF2B5EF4-FFF2-40B4-BE49-F238E27FC236}">
                <a16:creationId xmlns:a16="http://schemas.microsoft.com/office/drawing/2014/main" id="{4D316B40-0842-4891-BE20-2AAE0E8FF8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3851" y="4417463"/>
            <a:ext cx="4456235" cy="1942680"/>
          </a:xfrm>
          <a:prstGeom prst="rect">
            <a:avLst/>
          </a:prstGeom>
          <a:noFill/>
          <a:extLst>
            <a:ext uri="{909E8E84-426E-40DD-AFC4-6F175D3DCCD1}">
              <a14:hiddenFill xmlns:a14="http://schemas.microsoft.com/office/drawing/2010/main">
                <a:solidFill>
                  <a:srgbClr val="FFFFFF"/>
                </a:solidFill>
              </a14:hiddenFill>
            </a:ext>
          </a:extLst>
        </p:spPr>
      </p:pic>
      <p:pic>
        <p:nvPicPr>
          <p:cNvPr id="8" name="Рисунок 7">
            <a:extLst>
              <a:ext uri="{FF2B5EF4-FFF2-40B4-BE49-F238E27FC236}">
                <a16:creationId xmlns:a16="http://schemas.microsoft.com/office/drawing/2014/main" id="{91D3DF42-842F-4767-B5B0-C452497A2370}"/>
              </a:ext>
            </a:extLst>
          </p:cNvPr>
          <p:cNvPicPr>
            <a:picLocks noChangeAspect="1"/>
          </p:cNvPicPr>
          <p:nvPr/>
        </p:nvPicPr>
        <p:blipFill rotWithShape="1">
          <a:blip r:embed="rId4"/>
          <a:srcRect l="25420"/>
          <a:stretch/>
        </p:blipFill>
        <p:spPr>
          <a:xfrm>
            <a:off x="809291" y="4415891"/>
            <a:ext cx="3324560" cy="1942680"/>
          </a:xfrm>
          <a:prstGeom prst="rect">
            <a:avLst/>
          </a:prstGeom>
        </p:spPr>
      </p:pic>
      <p:pic>
        <p:nvPicPr>
          <p:cNvPr id="9" name="Рисунок 8">
            <a:extLst>
              <a:ext uri="{FF2B5EF4-FFF2-40B4-BE49-F238E27FC236}">
                <a16:creationId xmlns:a16="http://schemas.microsoft.com/office/drawing/2014/main" id="{EFE56A1B-697B-4954-8EB0-5E380716F2A0}"/>
              </a:ext>
            </a:extLst>
          </p:cNvPr>
          <p:cNvPicPr>
            <a:picLocks noChangeAspect="1"/>
          </p:cNvPicPr>
          <p:nvPr/>
        </p:nvPicPr>
        <p:blipFill>
          <a:blip r:embed="rId5"/>
          <a:stretch>
            <a:fillRect/>
          </a:stretch>
        </p:blipFill>
        <p:spPr>
          <a:xfrm>
            <a:off x="8590086" y="4417463"/>
            <a:ext cx="2989565" cy="1999331"/>
          </a:xfrm>
          <a:prstGeom prst="rect">
            <a:avLst/>
          </a:prstGeom>
        </p:spPr>
      </p:pic>
    </p:spTree>
    <p:extLst>
      <p:ext uri="{BB962C8B-B14F-4D97-AF65-F5344CB8AC3E}">
        <p14:creationId xmlns:p14="http://schemas.microsoft.com/office/powerpoint/2010/main" val="30166461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2">
            <a:extLst>
              <a:ext uri="{FF2B5EF4-FFF2-40B4-BE49-F238E27FC236}">
                <a16:creationId xmlns:a16="http://schemas.microsoft.com/office/drawing/2014/main" id="{3E938672-0952-4303-90D6-285843A50533}"/>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Двусвязный список</a:t>
            </a:r>
          </a:p>
        </p:txBody>
      </p:sp>
      <p:sp>
        <p:nvSpPr>
          <p:cNvPr id="4" name="TextBox 3">
            <a:extLst>
              <a:ext uri="{FF2B5EF4-FFF2-40B4-BE49-F238E27FC236}">
                <a16:creationId xmlns:a16="http://schemas.microsoft.com/office/drawing/2014/main" id="{D7B63C32-1B2B-4CCF-8036-83917C272CD2}"/>
              </a:ext>
            </a:extLst>
          </p:cNvPr>
          <p:cNvSpPr txBox="1"/>
          <p:nvPr/>
        </p:nvSpPr>
        <p:spPr>
          <a:xfrm>
            <a:off x="1133141" y="1781350"/>
            <a:ext cx="2744678" cy="1477328"/>
          </a:xfrm>
          <a:prstGeom prst="rect">
            <a:avLst/>
          </a:prstGeom>
          <a:noFill/>
        </p:spPr>
        <p:txBody>
          <a:bodyPr wrap="square">
            <a:spAutoFit/>
          </a:bodyPr>
          <a:lstStyle/>
          <a:p>
            <a:r>
              <a:rPr lang="ru-RU" b="0" dirty="0" err="1">
                <a:solidFill>
                  <a:srgbClr val="4EC9B0"/>
                </a:solidFill>
                <a:effectLst/>
                <a:latin typeface="Consolas" panose="020B0609020204030204" pitchFamily="49" charset="0"/>
              </a:rPr>
              <a:t>node_t</a:t>
            </a:r>
            <a:r>
              <a:rPr lang="ru-RU" b="0" dirty="0">
                <a:solidFill>
                  <a:srgbClr val="CCCCCC"/>
                </a:solidFill>
                <a:effectLst/>
                <a:latin typeface="Consolas" panose="020B0609020204030204" pitchFamily="49" charset="0"/>
              </a:rPr>
              <a:t> {</a:t>
            </a:r>
          </a:p>
          <a:p>
            <a:r>
              <a:rPr lang="ru-RU" b="0" dirty="0">
                <a:solidFill>
                  <a:srgbClr val="CCCCCC"/>
                </a:solidFill>
                <a:effectLst/>
                <a:latin typeface="Consolas" panose="020B0609020204030204" pitchFamily="49" charset="0"/>
              </a:rPr>
              <a:t>    </a:t>
            </a:r>
            <a:r>
              <a:rPr lang="ru-RU" b="0" dirty="0" err="1">
                <a:solidFill>
                  <a:srgbClr val="4EC9B0"/>
                </a:solidFill>
                <a:effectLst/>
                <a:latin typeface="Consolas" panose="020B0609020204030204" pitchFamily="49" charset="0"/>
              </a:rPr>
              <a:t>node_t</a:t>
            </a:r>
            <a:r>
              <a:rPr lang="ru-RU" b="0" dirty="0">
                <a:solidFill>
                  <a:srgbClr val="CCCCCC"/>
                </a:solidFill>
                <a:effectLst/>
                <a:latin typeface="Consolas" panose="020B0609020204030204" pitchFamily="49" charset="0"/>
              </a:rPr>
              <a:t> </a:t>
            </a:r>
            <a:r>
              <a:rPr lang="ru-RU" b="0" dirty="0">
                <a:solidFill>
                  <a:srgbClr val="D4D4D4"/>
                </a:solidFill>
                <a:effectLst/>
                <a:latin typeface="Consolas" panose="020B0609020204030204" pitchFamily="49" charset="0"/>
              </a:rPr>
              <a:t>*</a:t>
            </a:r>
            <a:r>
              <a:rPr lang="ru-RU" b="0" dirty="0" err="1">
                <a:solidFill>
                  <a:srgbClr val="CCCCCC"/>
                </a:solidFill>
                <a:effectLst/>
                <a:latin typeface="Consolas" panose="020B0609020204030204" pitchFamily="49" charset="0"/>
              </a:rPr>
              <a:t>prev</a:t>
            </a:r>
            <a:r>
              <a:rPr lang="ru-RU" b="0" dirty="0">
                <a:solidFill>
                  <a:srgbClr val="CCCCCC"/>
                </a:solidFill>
                <a:effectLst/>
                <a:latin typeface="Consolas" panose="020B0609020204030204" pitchFamily="49" charset="0"/>
              </a:rPr>
              <a:t>;</a:t>
            </a:r>
            <a:r>
              <a:rPr lang="ru-RU" b="0" dirty="0">
                <a:solidFill>
                  <a:srgbClr val="6A9955"/>
                </a:solidFill>
                <a:effectLst/>
                <a:latin typeface="Consolas" panose="020B0609020204030204" pitchFamily="49" charset="0"/>
              </a:rPr>
              <a:t> </a:t>
            </a:r>
          </a:p>
          <a:p>
            <a:r>
              <a:rPr lang="ru-RU" b="0" dirty="0">
                <a:solidFill>
                  <a:srgbClr val="CCCCCC"/>
                </a:solidFill>
                <a:effectLst/>
                <a:latin typeface="Consolas" panose="020B0609020204030204" pitchFamily="49" charset="0"/>
              </a:rPr>
              <a:t>    </a:t>
            </a:r>
            <a:r>
              <a:rPr lang="ru-RU" b="0" dirty="0" err="1">
                <a:solidFill>
                  <a:srgbClr val="569CD6"/>
                </a:solidFill>
                <a:effectLst/>
                <a:latin typeface="Consolas" panose="020B0609020204030204" pitchFamily="49" charset="0"/>
              </a:rPr>
              <a:t>int</a:t>
            </a:r>
            <a:r>
              <a:rPr lang="ru-RU" b="0" dirty="0">
                <a:solidFill>
                  <a:srgbClr val="CCCCCC"/>
                </a:solidFill>
                <a:effectLst/>
                <a:latin typeface="Consolas" panose="020B0609020204030204" pitchFamily="49" charset="0"/>
              </a:rPr>
              <a:t> </a:t>
            </a:r>
            <a:r>
              <a:rPr lang="ru-RU" b="0" dirty="0" err="1">
                <a:solidFill>
                  <a:srgbClr val="CCCCCC"/>
                </a:solidFill>
                <a:effectLst/>
                <a:latin typeface="Consolas" panose="020B0609020204030204" pitchFamily="49" charset="0"/>
              </a:rPr>
              <a:t>data</a:t>
            </a:r>
            <a:r>
              <a:rPr lang="ru-RU" b="0" dirty="0">
                <a:solidFill>
                  <a:srgbClr val="CCCCCC"/>
                </a:solidFill>
                <a:effectLst/>
                <a:latin typeface="Consolas" panose="020B0609020204030204" pitchFamily="49" charset="0"/>
              </a:rPr>
              <a:t>;</a:t>
            </a:r>
          </a:p>
          <a:p>
            <a:r>
              <a:rPr lang="ru-RU" b="0" dirty="0">
                <a:solidFill>
                  <a:srgbClr val="CCCCCC"/>
                </a:solidFill>
                <a:effectLst/>
                <a:latin typeface="Consolas" panose="020B0609020204030204" pitchFamily="49" charset="0"/>
              </a:rPr>
              <a:t>    </a:t>
            </a:r>
            <a:r>
              <a:rPr lang="ru-RU" b="0" dirty="0" err="1">
                <a:solidFill>
                  <a:srgbClr val="4EC9B0"/>
                </a:solidFill>
                <a:effectLst/>
                <a:latin typeface="Consolas" panose="020B0609020204030204" pitchFamily="49" charset="0"/>
              </a:rPr>
              <a:t>node_t</a:t>
            </a:r>
            <a:r>
              <a:rPr lang="ru-RU" b="0" dirty="0">
                <a:solidFill>
                  <a:srgbClr val="CCCCCC"/>
                </a:solidFill>
                <a:effectLst/>
                <a:latin typeface="Consolas" panose="020B0609020204030204" pitchFamily="49" charset="0"/>
              </a:rPr>
              <a:t> </a:t>
            </a:r>
            <a:r>
              <a:rPr lang="ru-RU" b="0" dirty="0">
                <a:solidFill>
                  <a:srgbClr val="D4D4D4"/>
                </a:solidFill>
                <a:effectLst/>
                <a:latin typeface="Consolas" panose="020B0609020204030204" pitchFamily="49" charset="0"/>
              </a:rPr>
              <a:t>*</a:t>
            </a:r>
            <a:r>
              <a:rPr lang="ru-RU" b="0" dirty="0" err="1">
                <a:solidFill>
                  <a:srgbClr val="CCCCCC"/>
                </a:solidFill>
                <a:effectLst/>
                <a:latin typeface="Consolas" panose="020B0609020204030204" pitchFamily="49" charset="0"/>
              </a:rPr>
              <a:t>next</a:t>
            </a:r>
            <a:r>
              <a:rPr lang="ru-RU" b="0" dirty="0">
                <a:solidFill>
                  <a:srgbClr val="CCCCCC"/>
                </a:solidFill>
                <a:effectLst/>
                <a:latin typeface="Consolas" panose="020B0609020204030204" pitchFamily="49" charset="0"/>
              </a:rPr>
              <a:t>;</a:t>
            </a:r>
          </a:p>
          <a:p>
            <a:r>
              <a:rPr lang="ru-RU" b="0" dirty="0">
                <a:solidFill>
                  <a:srgbClr val="CCCCCC"/>
                </a:solidFill>
                <a:effectLst/>
                <a:latin typeface="Consolas" panose="020B0609020204030204" pitchFamily="49" charset="0"/>
              </a:rPr>
              <a:t>};</a:t>
            </a:r>
          </a:p>
        </p:txBody>
      </p:sp>
      <p:pic>
        <p:nvPicPr>
          <p:cNvPr id="20482" name="Picture 2" descr="alt text">
            <a:extLst>
              <a:ext uri="{FF2B5EF4-FFF2-40B4-BE49-F238E27FC236}">
                <a16:creationId xmlns:a16="http://schemas.microsoft.com/office/drawing/2014/main" id="{36A837DF-B557-48E7-A60E-57531F7E6C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1595" y="1533054"/>
            <a:ext cx="8066887" cy="197392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7367C70-FD41-418E-BD08-841D67345BB1}"/>
              </a:ext>
            </a:extLst>
          </p:cNvPr>
          <p:cNvSpPr txBox="1"/>
          <p:nvPr/>
        </p:nvSpPr>
        <p:spPr>
          <a:xfrm>
            <a:off x="10325100" y="1190679"/>
            <a:ext cx="1762125" cy="369332"/>
          </a:xfrm>
          <a:prstGeom prst="rect">
            <a:avLst/>
          </a:prstGeom>
          <a:noFill/>
        </p:spPr>
        <p:txBody>
          <a:bodyPr wrap="square">
            <a:spAutoFit/>
          </a:bodyPr>
          <a:lstStyle/>
          <a:p>
            <a:r>
              <a:rPr lang="en-US" dirty="0" err="1"/>
              <a:t>src</a:t>
            </a:r>
            <a:r>
              <a:rPr lang="en-US" dirty="0"/>
              <a:t>/</a:t>
            </a:r>
            <a:r>
              <a:rPr lang="en-US" dirty="0" err="1"/>
              <a:t>doubly_ll.c</a:t>
            </a:r>
            <a:endParaRPr lang="ru-RU" dirty="0"/>
          </a:p>
        </p:txBody>
      </p:sp>
      <p:sp>
        <p:nvSpPr>
          <p:cNvPr id="14" name="TextBox 13">
            <a:extLst>
              <a:ext uri="{FF2B5EF4-FFF2-40B4-BE49-F238E27FC236}">
                <a16:creationId xmlns:a16="http://schemas.microsoft.com/office/drawing/2014/main" id="{3B49BCA0-EAA2-4D5B-8123-539A2B50FD75}"/>
              </a:ext>
            </a:extLst>
          </p:cNvPr>
          <p:cNvSpPr txBox="1"/>
          <p:nvPr/>
        </p:nvSpPr>
        <p:spPr>
          <a:xfrm>
            <a:off x="830497" y="4070688"/>
            <a:ext cx="10793073" cy="2308324"/>
          </a:xfrm>
          <a:prstGeom prst="rect">
            <a:avLst/>
          </a:prstGeom>
          <a:noFill/>
        </p:spPr>
        <p:txBody>
          <a:bodyPr wrap="square">
            <a:spAutoFit/>
          </a:bodyPr>
          <a:lstStyle/>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Кнопки "Назад" и "Вперед" в браузере</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"Плейлист в плеере"</a:t>
            </a:r>
            <a:r>
              <a:rPr lang="en-US" sz="2400" dirty="0">
                <a:latin typeface="Times New Roman" panose="02020603050405020304" pitchFamily="18" charset="0"/>
                <a:cs typeface="Times New Roman" panose="02020603050405020304" pitchFamily="18" charset="0"/>
              </a:rPr>
              <a:t>/</a:t>
            </a:r>
            <a:r>
              <a:rPr lang="ru-RU" sz="2400" dirty="0" err="1">
                <a:latin typeface="Times New Roman" panose="02020603050405020304" pitchFamily="18" charset="0"/>
                <a:cs typeface="Times New Roman" panose="02020603050405020304" pitchFamily="18" charset="0"/>
              </a:rPr>
              <a:t>видосы</a:t>
            </a:r>
            <a:r>
              <a:rPr lang="en-US" sz="2400" dirty="0">
                <a:latin typeface="Times New Roman" panose="02020603050405020304" pitchFamily="18" charset="0"/>
                <a:cs typeface="Times New Roman" panose="02020603050405020304" pitchFamily="18" charset="0"/>
              </a:rPr>
              <a:t>/</a:t>
            </a:r>
            <a:r>
              <a:rPr lang="ru-RU" sz="2400" dirty="0" err="1">
                <a:latin typeface="Times New Roman" panose="02020603050405020304" pitchFamily="18" charset="0"/>
                <a:cs typeface="Times New Roman" panose="02020603050405020304" pitchFamily="18" charset="0"/>
              </a:rPr>
              <a:t>рилсы</a:t>
            </a:r>
            <a:endParaRPr lang="ru-RU"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sz="2400" dirty="0" err="1">
                <a:latin typeface="Times New Roman" panose="02020603050405020304" pitchFamily="18" charset="0"/>
                <a:cs typeface="Times New Roman" panose="02020603050405020304" pitchFamily="18" charset="0"/>
              </a:rPr>
              <a:t>Ctrl+Z</a:t>
            </a:r>
            <a:r>
              <a:rPr lang="ru-RU" sz="2400" dirty="0">
                <a:latin typeface="Times New Roman" panose="02020603050405020304" pitchFamily="18" charset="0"/>
                <a:cs typeface="Times New Roman" panose="02020603050405020304" pitchFamily="18" charset="0"/>
              </a:rPr>
              <a:t> и </a:t>
            </a:r>
            <a:r>
              <a:rPr lang="ru-RU" sz="2400" dirty="0" err="1">
                <a:latin typeface="Times New Roman" panose="02020603050405020304" pitchFamily="18" charset="0"/>
                <a:cs typeface="Times New Roman" panose="02020603050405020304" pitchFamily="18" charset="0"/>
              </a:rPr>
              <a:t>Ctrl+Y</a:t>
            </a:r>
            <a:r>
              <a:rPr lang="ru-RU" sz="2400" dirty="0">
                <a:latin typeface="Times New Roman" panose="02020603050405020304" pitchFamily="18" charset="0"/>
                <a:cs typeface="Times New Roman" panose="02020603050405020304" pitchFamily="18" charset="0"/>
              </a:rPr>
              <a:t> (Отмена/Повтор)</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Алгоритмы кэширования (например, LRU)</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Дек (</a:t>
            </a:r>
            <a:r>
              <a:rPr lang="ru-RU" sz="2400" dirty="0" err="1">
                <a:latin typeface="Times New Roman" panose="02020603050405020304" pitchFamily="18" charset="0"/>
                <a:cs typeface="Times New Roman" panose="02020603050405020304" pitchFamily="18" charset="0"/>
              </a:rPr>
              <a:t>Deque</a:t>
            </a:r>
            <a:r>
              <a:rPr lang="ru-RU" sz="2400" dirty="0">
                <a:latin typeface="Times New Roman" panose="02020603050405020304" pitchFamily="18" charset="0"/>
                <a:cs typeface="Times New Roman" panose="02020603050405020304" pitchFamily="18" charset="0"/>
              </a:rPr>
              <a:t> - двусторонняя очередь), для эффективной вставки и удаления на обоих концах     </a:t>
            </a:r>
          </a:p>
        </p:txBody>
      </p:sp>
    </p:spTree>
    <p:extLst>
      <p:ext uri="{BB962C8B-B14F-4D97-AF65-F5344CB8AC3E}">
        <p14:creationId xmlns:p14="http://schemas.microsoft.com/office/powerpoint/2010/main" val="11614911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2">
            <a:extLst>
              <a:ext uri="{FF2B5EF4-FFF2-40B4-BE49-F238E27FC236}">
                <a16:creationId xmlns:a16="http://schemas.microsoft.com/office/drawing/2014/main" id="{3E938672-0952-4303-90D6-285843A50533}"/>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Циклический</a:t>
            </a:r>
            <a:r>
              <a:rPr lang="ru-RU" dirty="0"/>
              <a:t> список</a:t>
            </a:r>
          </a:p>
        </p:txBody>
      </p:sp>
      <p:pic>
        <p:nvPicPr>
          <p:cNvPr id="22530" name="Picture 2" descr="alt text">
            <a:extLst>
              <a:ext uri="{FF2B5EF4-FFF2-40B4-BE49-F238E27FC236}">
                <a16:creationId xmlns:a16="http://schemas.microsoft.com/office/drawing/2014/main" id="{CDC36120-7F0D-48C7-8396-1F8A028566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499" y="1485900"/>
            <a:ext cx="9525000" cy="1943100"/>
          </a:xfrm>
          <a:prstGeom prst="rect">
            <a:avLst/>
          </a:prstGeom>
          <a:noFill/>
          <a:extLst>
            <a:ext uri="{909E8E84-426E-40DD-AFC4-6F175D3DCCD1}">
              <a14:hiddenFill xmlns:a14="http://schemas.microsoft.com/office/drawing/2010/main">
                <a:solidFill>
                  <a:srgbClr val="FFFFFF"/>
                </a:solidFill>
              </a14:hiddenFill>
            </a:ext>
          </a:extLst>
        </p:spPr>
      </p:pic>
      <p:pic>
        <p:nvPicPr>
          <p:cNvPr id="22532" name="Picture 4" descr="alt text">
            <a:extLst>
              <a:ext uri="{FF2B5EF4-FFF2-40B4-BE49-F238E27FC236}">
                <a16:creationId xmlns:a16="http://schemas.microsoft.com/office/drawing/2014/main" id="{D26C9937-8A89-43B5-9299-86D5FF907D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3499" y="3624492"/>
            <a:ext cx="9534525" cy="21812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7C5D05A-CAF7-4440-81AE-FD2B2F24708D}"/>
              </a:ext>
            </a:extLst>
          </p:cNvPr>
          <p:cNvSpPr txBox="1"/>
          <p:nvPr/>
        </p:nvSpPr>
        <p:spPr>
          <a:xfrm>
            <a:off x="571500" y="6282809"/>
            <a:ext cx="6096000" cy="369332"/>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*Как понять является список зацикленным?</a:t>
            </a:r>
            <a:endParaRPr lang="ru-RU" dirty="0"/>
          </a:p>
        </p:txBody>
      </p:sp>
    </p:spTree>
    <p:extLst>
      <p:ext uri="{BB962C8B-B14F-4D97-AF65-F5344CB8AC3E}">
        <p14:creationId xmlns:p14="http://schemas.microsoft.com/office/powerpoint/2010/main" val="15578424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2">
            <a:extLst>
              <a:ext uri="{FF2B5EF4-FFF2-40B4-BE49-F238E27FC236}">
                <a16:creationId xmlns:a16="http://schemas.microsoft.com/office/drawing/2014/main" id="{3E938672-0952-4303-90D6-285843A50533}"/>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Итого по спискам</a:t>
            </a:r>
            <a:endParaRPr lang="ru-RU" dirty="0"/>
          </a:p>
        </p:txBody>
      </p:sp>
      <p:sp>
        <p:nvSpPr>
          <p:cNvPr id="15" name="TextBox 14">
            <a:extLst>
              <a:ext uri="{FF2B5EF4-FFF2-40B4-BE49-F238E27FC236}">
                <a16:creationId xmlns:a16="http://schemas.microsoft.com/office/drawing/2014/main" id="{8827B313-8D3F-418E-AD56-345E95E89370}"/>
              </a:ext>
            </a:extLst>
          </p:cNvPr>
          <p:cNvSpPr txBox="1"/>
          <p:nvPr/>
        </p:nvSpPr>
        <p:spPr>
          <a:xfrm>
            <a:off x="838199" y="1657351"/>
            <a:ext cx="10963275" cy="2308324"/>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Связанный список — это линейная структура данных, которая используется для хранения набора данных с помощью узлов</a:t>
            </a:r>
          </a:p>
          <a:p>
            <a:endParaRPr lang="ru-RU"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Последовательные элементы соединены указателями/ссылками.</a:t>
            </a: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Последний узел связанного списка указывает на </a:t>
            </a:r>
            <a:r>
              <a:rPr lang="ru-RU" dirty="0" err="1">
                <a:latin typeface="Times New Roman" panose="02020603050405020304" pitchFamily="18" charset="0"/>
                <a:cs typeface="Times New Roman" panose="02020603050405020304" pitchFamily="18" charset="0"/>
              </a:rPr>
              <a:t>null</a:t>
            </a:r>
            <a:r>
              <a:rPr lang="ru-RU"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Точка входа связанного списка называется головой.</a:t>
            </a:r>
          </a:p>
          <a:p>
            <a:pPr marL="285750" indent="-285750">
              <a:buFont typeface="Arial" panose="020B0604020202020204" pitchFamily="34" charset="0"/>
              <a:buChar char="•"/>
            </a:pPr>
            <a:endParaRPr lang="ru-RU"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Обычные вариации связанных списков — это </a:t>
            </a:r>
            <a:r>
              <a:rPr lang="ru-RU" dirty="0" err="1">
                <a:latin typeface="Times New Roman" panose="02020603050405020304" pitchFamily="18" charset="0"/>
                <a:cs typeface="Times New Roman" panose="02020603050405020304" pitchFamily="18" charset="0"/>
              </a:rPr>
              <a:t>Singly</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Doubly</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Singly</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Circular</a:t>
            </a:r>
            <a:r>
              <a:rPr lang="ru-RU" dirty="0">
                <a:latin typeface="Times New Roman" panose="02020603050405020304" pitchFamily="18" charset="0"/>
                <a:cs typeface="Times New Roman" panose="02020603050405020304" pitchFamily="18" charset="0"/>
              </a:rPr>
              <a:t> и </a:t>
            </a:r>
            <a:r>
              <a:rPr lang="ru-RU" dirty="0" err="1">
                <a:latin typeface="Times New Roman" panose="02020603050405020304" pitchFamily="18" charset="0"/>
                <a:cs typeface="Times New Roman" panose="02020603050405020304" pitchFamily="18" charset="0"/>
              </a:rPr>
              <a:t>Doubly</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Circular</a:t>
            </a:r>
            <a:r>
              <a:rPr lang="ru-RU"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pic>
        <p:nvPicPr>
          <p:cNvPr id="4" name="Picture 4" descr="The Linked List Data Structure. Data Structures | by Julia Di Monte | Medium">
            <a:extLst>
              <a:ext uri="{FF2B5EF4-FFF2-40B4-BE49-F238E27FC236}">
                <a16:creationId xmlns:a16="http://schemas.microsoft.com/office/drawing/2014/main" id="{B37EA964-ABD0-42FB-A0EB-F359402A9A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5715" y="4744739"/>
            <a:ext cx="5740570" cy="1661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64875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2">
            <a:extLst>
              <a:ext uri="{FF2B5EF4-FFF2-40B4-BE49-F238E27FC236}">
                <a16:creationId xmlns:a16="http://schemas.microsoft.com/office/drawing/2014/main" id="{3E938672-0952-4303-90D6-285843A50533}"/>
              </a:ext>
            </a:extLst>
          </p:cNvPr>
          <p:cNvSpPr txBox="1">
            <a:spLocks/>
          </p:cNvSpPr>
          <p:nvPr/>
        </p:nvSpPr>
        <p:spPr>
          <a:xfrm>
            <a:off x="1133141" y="289948"/>
            <a:ext cx="9925717" cy="927688"/>
          </a:xfrm>
          <a:prstGeom prst="rect">
            <a:avLst/>
          </a:prstGeom>
        </p:spPr>
        <p:txBody>
          <a:bodyPr vert="horz" lIns="91440" tIns="45720" rIns="91440" bIns="45720" rtlCol="0" anchor="b">
            <a:normAutofit fontScale="5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Преимущества связанных списков (или наиболее распространенные варианты использования):</a:t>
            </a:r>
          </a:p>
        </p:txBody>
      </p:sp>
      <p:sp>
        <p:nvSpPr>
          <p:cNvPr id="17" name="TextBox 16">
            <a:extLst>
              <a:ext uri="{FF2B5EF4-FFF2-40B4-BE49-F238E27FC236}">
                <a16:creationId xmlns:a16="http://schemas.microsoft.com/office/drawing/2014/main" id="{046C366F-5491-4984-B637-F32BE58AEE81}"/>
              </a:ext>
            </a:extLst>
          </p:cNvPr>
          <p:cNvSpPr txBox="1"/>
          <p:nvPr/>
        </p:nvSpPr>
        <p:spPr>
          <a:xfrm>
            <a:off x="604836" y="1367374"/>
            <a:ext cx="10982325" cy="4524315"/>
          </a:xfrm>
          <a:prstGeom prst="rect">
            <a:avLst/>
          </a:prstGeom>
          <a:noFill/>
        </p:spPr>
        <p:txBody>
          <a:bodyPr wrap="square">
            <a:spAutoFit/>
          </a:bodyPr>
          <a:lstStyle/>
          <a:p>
            <a:pPr marL="285750" indent="-285750">
              <a:buFontTx/>
              <a:buChar char="-"/>
            </a:pPr>
            <a:endParaRPr lang="en-US" dirty="0">
              <a:latin typeface="Times New Roman" panose="02020603050405020304" pitchFamily="18" charset="0"/>
              <a:cs typeface="Times New Roman" panose="02020603050405020304" pitchFamily="18" charset="0"/>
            </a:endParaRPr>
          </a:p>
          <a:p>
            <a:pPr marL="285750" indent="-285750">
              <a:buFontTx/>
              <a:buChar char="-"/>
            </a:pPr>
            <a:r>
              <a:rPr lang="ru-RU" dirty="0">
                <a:latin typeface="Times New Roman" panose="02020603050405020304" pitchFamily="18" charset="0"/>
                <a:cs typeface="Times New Roman" panose="02020603050405020304" pitchFamily="18" charset="0"/>
              </a:rPr>
              <a:t>Связанные списки в основном используются из-за их эффективной вставки и удаления. Нам нужно изменить всего несколько указателей (или ссылок), чтобы вставить (или удалить) элемент в середине</a:t>
            </a:r>
            <a:br>
              <a:rPr lang="ru-RU" dirty="0">
                <a:latin typeface="Times New Roman" panose="02020603050405020304" pitchFamily="18" charset="0"/>
                <a:cs typeface="Times New Roman" panose="02020603050405020304" pitchFamily="18" charset="0"/>
              </a:rPr>
            </a:br>
            <a:endParaRPr lang="ru-RU" dirty="0">
              <a:latin typeface="Times New Roman" panose="02020603050405020304" pitchFamily="18" charset="0"/>
              <a:cs typeface="Times New Roman" panose="02020603050405020304" pitchFamily="18" charset="0"/>
            </a:endParaRPr>
          </a:p>
          <a:p>
            <a:pPr marL="285750" indent="-285750">
              <a:buFontTx/>
              <a:buChar char="-"/>
            </a:pPr>
            <a:r>
              <a:rPr lang="ru-RU" dirty="0">
                <a:latin typeface="Times New Roman" panose="02020603050405020304" pitchFamily="18" charset="0"/>
                <a:cs typeface="Times New Roman" panose="02020603050405020304" pitchFamily="18" charset="0"/>
              </a:rPr>
              <a:t>Вставка и удаление в любой точке связанного списка занимает O(1) времени. Тогда как в структуре данных массива вставка/удаление в середине занимает O(n) времени.</a:t>
            </a:r>
            <a:br>
              <a:rPr lang="ru-RU" dirty="0">
                <a:latin typeface="Times New Roman" panose="02020603050405020304" pitchFamily="18" charset="0"/>
                <a:cs typeface="Times New Roman" panose="02020603050405020304" pitchFamily="18" charset="0"/>
              </a:rPr>
            </a:br>
            <a:endParaRPr lang="ru-RU" dirty="0">
              <a:latin typeface="Times New Roman" panose="02020603050405020304" pitchFamily="18" charset="0"/>
              <a:cs typeface="Times New Roman" panose="02020603050405020304" pitchFamily="18" charset="0"/>
            </a:endParaRPr>
          </a:p>
          <a:p>
            <a:pPr marL="285750" indent="-285750">
              <a:buFontTx/>
              <a:buChar char="-"/>
            </a:pPr>
            <a:r>
              <a:rPr lang="ru-RU" dirty="0">
                <a:latin typeface="Times New Roman" panose="02020603050405020304" pitchFamily="18" charset="0"/>
                <a:cs typeface="Times New Roman" panose="02020603050405020304" pitchFamily="18" charset="0"/>
              </a:rPr>
              <a:t>Эта структура данных проста и может также использоваться для реализации **стека, очередей и других абстрактных структур данных**. Большинство языковых библиотек используют связанный список внутренне для реализации этих структур данных.</a:t>
            </a:r>
            <a:br>
              <a:rPr lang="ru-RU" dirty="0">
                <a:latin typeface="Times New Roman" panose="02020603050405020304" pitchFamily="18" charset="0"/>
                <a:cs typeface="Times New Roman" panose="02020603050405020304" pitchFamily="18" charset="0"/>
              </a:rPr>
            </a:br>
            <a:endParaRPr lang="ru-RU" dirty="0">
              <a:latin typeface="Times New Roman" panose="02020603050405020304" pitchFamily="18" charset="0"/>
              <a:cs typeface="Times New Roman" panose="02020603050405020304" pitchFamily="18" charset="0"/>
            </a:endParaRPr>
          </a:p>
          <a:p>
            <a:pPr marL="285750" indent="-285750">
              <a:buFontTx/>
              <a:buChar char="-"/>
            </a:pPr>
            <a:r>
              <a:rPr lang="ru-RU" dirty="0">
                <a:latin typeface="Times New Roman" panose="02020603050405020304" pitchFamily="18" charset="0"/>
                <a:cs typeface="Times New Roman" panose="02020603050405020304" pitchFamily="18" charset="0"/>
              </a:rPr>
              <a:t>Связанный список может оказаться более эффективным по сравнению с массивами в случаях, когда мы не можем заранее угадать количество элементов. В случае массивов вся память для элементов выделяется вместе. Даже с динамическими массивами, такими как </a:t>
            </a:r>
            <a:r>
              <a:rPr lang="ru-RU" dirty="0" err="1">
                <a:latin typeface="Times New Roman" panose="02020603050405020304" pitchFamily="18" charset="0"/>
                <a:cs typeface="Times New Roman" panose="02020603050405020304" pitchFamily="18" charset="0"/>
              </a:rPr>
              <a:t>vector</a:t>
            </a:r>
            <a:r>
              <a:rPr lang="ru-RU" dirty="0">
                <a:latin typeface="Times New Roman" panose="02020603050405020304" pitchFamily="18" charset="0"/>
                <a:cs typeface="Times New Roman" panose="02020603050405020304" pitchFamily="18" charset="0"/>
              </a:rPr>
              <a:t> в C++ или </a:t>
            </a:r>
            <a:r>
              <a:rPr lang="ru-RU" dirty="0" err="1">
                <a:latin typeface="Times New Roman" panose="02020603050405020304" pitchFamily="18" charset="0"/>
                <a:cs typeface="Times New Roman" panose="02020603050405020304" pitchFamily="18" charset="0"/>
              </a:rPr>
              <a:t>list</a:t>
            </a:r>
            <a:r>
              <a:rPr lang="ru-RU" dirty="0">
                <a:latin typeface="Times New Roman" panose="02020603050405020304" pitchFamily="18" charset="0"/>
                <a:cs typeface="Times New Roman" panose="02020603050405020304" pitchFamily="18" charset="0"/>
              </a:rPr>
              <a:t> в Python или </a:t>
            </a:r>
            <a:r>
              <a:rPr lang="ru-RU" dirty="0" err="1">
                <a:latin typeface="Times New Roman" panose="02020603050405020304" pitchFamily="18" charset="0"/>
                <a:cs typeface="Times New Roman" panose="02020603050405020304" pitchFamily="18" charset="0"/>
              </a:rPr>
              <a:t>ArrayList</a:t>
            </a:r>
            <a:r>
              <a:rPr lang="ru-RU" dirty="0">
                <a:latin typeface="Times New Roman" panose="02020603050405020304" pitchFamily="18" charset="0"/>
                <a:cs typeface="Times New Roman" panose="02020603050405020304" pitchFamily="18" charset="0"/>
              </a:rPr>
              <a:t> в Java. внутренняя работа включает в себя освобождение всей памяти и выделение большего фрагмента, когда вставки происходят за пределами текущей емкости. </a:t>
            </a:r>
            <a:endParaRPr lang="ru-RU" dirty="0"/>
          </a:p>
        </p:txBody>
      </p:sp>
    </p:spTree>
    <p:extLst>
      <p:ext uri="{BB962C8B-B14F-4D97-AF65-F5344CB8AC3E}">
        <p14:creationId xmlns:p14="http://schemas.microsoft.com/office/powerpoint/2010/main" val="21341490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2">
            <a:extLst>
              <a:ext uri="{FF2B5EF4-FFF2-40B4-BE49-F238E27FC236}">
                <a16:creationId xmlns:a16="http://schemas.microsoft.com/office/drawing/2014/main" id="{3E938672-0952-4303-90D6-285843A50533}"/>
              </a:ext>
            </a:extLst>
          </p:cNvPr>
          <p:cNvSpPr txBox="1">
            <a:spLocks/>
          </p:cNvSpPr>
          <p:nvPr/>
        </p:nvSpPr>
        <p:spPr>
          <a:xfrm>
            <a:off x="1133140" y="70873"/>
            <a:ext cx="9925717" cy="927688"/>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Недостатки связанных списков</a:t>
            </a:r>
          </a:p>
        </p:txBody>
      </p:sp>
      <p:sp>
        <p:nvSpPr>
          <p:cNvPr id="7" name="TextBox 6">
            <a:extLst>
              <a:ext uri="{FF2B5EF4-FFF2-40B4-BE49-F238E27FC236}">
                <a16:creationId xmlns:a16="http://schemas.microsoft.com/office/drawing/2014/main" id="{B5E2AFC3-D2F6-41D2-B9D4-F72334B0450A}"/>
              </a:ext>
            </a:extLst>
          </p:cNvPr>
          <p:cNvSpPr txBox="1"/>
          <p:nvPr/>
        </p:nvSpPr>
        <p:spPr>
          <a:xfrm>
            <a:off x="923923" y="998561"/>
            <a:ext cx="10344150" cy="5909310"/>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Связанные списки являются популярной структурой данных, но, как и любая другая структура данных, они имеют определенные недостатки. Некоторые из основных недостатков связанных списков:</a:t>
            </a:r>
          </a:p>
          <a:p>
            <a:endParaRPr lang="ru-RU"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Медленное время доступа: доступ к элементам в связанном списке может быть медленным, так как вам нужно пройти по связанному списку, чтобы найти нужный элемент, что является операцией O(n). Это делает связанные списки плохим выбором для ситуаций, когда вам нужно быстро получить доступ к элементам.</a:t>
            </a:r>
            <a:br>
              <a:rPr lang="ru-RU" dirty="0">
                <a:latin typeface="Times New Roman" panose="02020603050405020304" pitchFamily="18" charset="0"/>
                <a:cs typeface="Times New Roman" panose="02020603050405020304" pitchFamily="18" charset="0"/>
              </a:rPr>
            </a:br>
            <a:endParaRPr lang="ru-RU"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Указатели или ссылки: Связанные списки используют указатели или ссылки для доступа к следующему узлу, что может сделать их более сложными для понимания и использования по сравнению с массивами. Эта сложность может сделать связанные списки более трудными для отладки и обслуживания.</a:t>
            </a:r>
            <a:br>
              <a:rPr lang="ru-RU" dirty="0">
                <a:latin typeface="Times New Roman" panose="02020603050405020304" pitchFamily="18" charset="0"/>
                <a:cs typeface="Times New Roman" panose="02020603050405020304" pitchFamily="18" charset="0"/>
              </a:rPr>
            </a:br>
            <a:endParaRPr lang="ru-RU"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Более высокие накладные расходы: Связанные списки имеют более высокие накладные расходы по сравнению с массивами, так как каждый узел в связанном списке требует дополнительной памяти для хранения ссылки на следующий узел.</a:t>
            </a:r>
            <a:br>
              <a:rPr lang="ru-RU" dirty="0">
                <a:latin typeface="Times New Roman" panose="02020603050405020304" pitchFamily="18" charset="0"/>
                <a:cs typeface="Times New Roman" panose="02020603050405020304" pitchFamily="18" charset="0"/>
              </a:rPr>
            </a:br>
            <a:endParaRPr lang="ru-RU"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Неэффективность кэширования: Связанные списки неэффективны в отношении кэширования, так как память не является непрерывной. Это означает, что при обходе связанного списка вы вряд ли получите нужные вам данные в кэше, что приведет к промахам кэша и низкой производительности.</a:t>
            </a:r>
          </a:p>
          <a:p>
            <a:r>
              <a:rPr lang="ru-RU"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1287443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2">
            <a:extLst>
              <a:ext uri="{FF2B5EF4-FFF2-40B4-BE49-F238E27FC236}">
                <a16:creationId xmlns:a16="http://schemas.microsoft.com/office/drawing/2014/main" id="{3E938672-0952-4303-90D6-285843A50533}"/>
              </a:ext>
            </a:extLst>
          </p:cNvPr>
          <p:cNvSpPr txBox="1">
            <a:spLocks/>
          </p:cNvSpPr>
          <p:nvPr/>
        </p:nvSpPr>
        <p:spPr>
          <a:xfrm>
            <a:off x="1133138" y="185173"/>
            <a:ext cx="9925717" cy="927688"/>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latin typeface="Times New Roman" panose="02020603050405020304" pitchFamily="18" charset="0"/>
                <a:cs typeface="Times New Roman" panose="02020603050405020304" pitchFamily="18" charset="0"/>
              </a:rPr>
              <a:t>Примеры применения связанных списков в реальном мире</a:t>
            </a:r>
          </a:p>
        </p:txBody>
      </p:sp>
      <p:sp>
        <p:nvSpPr>
          <p:cNvPr id="8" name="TextBox 7">
            <a:extLst>
              <a:ext uri="{FF2B5EF4-FFF2-40B4-BE49-F238E27FC236}">
                <a16:creationId xmlns:a16="http://schemas.microsoft.com/office/drawing/2014/main" id="{1155759F-D8BA-435B-B4C5-ED2776B34C3B}"/>
              </a:ext>
            </a:extLst>
          </p:cNvPr>
          <p:cNvSpPr txBox="1"/>
          <p:nvPr/>
        </p:nvSpPr>
        <p:spPr>
          <a:xfrm>
            <a:off x="776285" y="1768078"/>
            <a:ext cx="10639425" cy="3139321"/>
          </a:xfrm>
          <a:prstGeom prst="rect">
            <a:avLst/>
          </a:prstGeom>
          <a:noFill/>
        </p:spPr>
        <p:txBody>
          <a:bodyPr wrap="square">
            <a:spAutoFit/>
          </a:bodyPr>
          <a:lstStyle/>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В веб-браузере URL-адреса предыдущей и следующей веб-страницы могут быть связаны с помощью кнопок «предыдущая» и «следующая» (двухсвязный список)</a:t>
            </a:r>
            <a:br>
              <a:rPr lang="en-US" dirty="0">
                <a:latin typeface="Times New Roman" panose="02020603050405020304" pitchFamily="18" charset="0"/>
                <a:cs typeface="Times New Roman" panose="02020603050405020304" pitchFamily="18" charset="0"/>
              </a:rPr>
            </a:br>
            <a:endParaRPr lang="ru-RU"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В средстве просмотра изображений предыдущее и следующее изображения могут быть связаны с помощью кнопок «предыдущая» и «следующая» (двухсвязный список)</a:t>
            </a:r>
            <a:br>
              <a:rPr lang="en-US" dirty="0">
                <a:latin typeface="Times New Roman" panose="02020603050405020304" pitchFamily="18" charset="0"/>
                <a:cs typeface="Times New Roman" panose="02020603050405020304" pitchFamily="18" charset="0"/>
              </a:rPr>
            </a:br>
            <a:endParaRPr lang="ru-RU"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Циклические связанные списки могут использоваться для реализации действий в циклическом режиме, когда мы переходим к каждому элементу по одному через время t</a:t>
            </a:r>
            <a:br>
              <a:rPr lang="en-US" dirty="0">
                <a:latin typeface="Times New Roman" panose="02020603050405020304" pitchFamily="18" charset="0"/>
                <a:cs typeface="Times New Roman" panose="02020603050405020304" pitchFamily="18" charset="0"/>
              </a:rPr>
            </a:br>
            <a:endParaRPr lang="ru-RU"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dirty="0">
                <a:latin typeface="Times New Roman" panose="02020603050405020304" pitchFamily="18" charset="0"/>
                <a:cs typeface="Times New Roman" panose="02020603050405020304" pitchFamily="18" charset="0"/>
              </a:rPr>
              <a:t>Связанные списки предпочтительнее массивов для реализации структур данных </a:t>
            </a:r>
            <a:r>
              <a:rPr lang="ru-RU" dirty="0" err="1">
                <a:latin typeface="Times New Roman" panose="02020603050405020304" pitchFamily="18" charset="0"/>
                <a:cs typeface="Times New Roman" panose="02020603050405020304" pitchFamily="18" charset="0"/>
              </a:rPr>
              <a:t>Queue</a:t>
            </a:r>
            <a:r>
              <a:rPr lang="ru-RU" dirty="0">
                <a:latin typeface="Times New Roman" panose="02020603050405020304" pitchFamily="18" charset="0"/>
                <a:cs typeface="Times New Roman" panose="02020603050405020304" pitchFamily="18" charset="0"/>
              </a:rPr>
              <a:t> и </a:t>
            </a:r>
            <a:r>
              <a:rPr lang="ru-RU" dirty="0" err="1">
                <a:latin typeface="Times New Roman" panose="02020603050405020304" pitchFamily="18" charset="0"/>
                <a:cs typeface="Times New Roman" panose="02020603050405020304" pitchFamily="18" charset="0"/>
              </a:rPr>
              <a:t>Deque</a:t>
            </a:r>
            <a:r>
              <a:rPr lang="ru-RU" dirty="0">
                <a:latin typeface="Times New Roman" panose="02020603050405020304" pitchFamily="18" charset="0"/>
                <a:cs typeface="Times New Roman" panose="02020603050405020304" pitchFamily="18" charset="0"/>
              </a:rPr>
              <a:t> из-за быстрых удалений (или вставок) из начала связанных списков.</a:t>
            </a:r>
          </a:p>
        </p:txBody>
      </p:sp>
    </p:spTree>
    <p:extLst>
      <p:ext uri="{BB962C8B-B14F-4D97-AF65-F5344CB8AC3E}">
        <p14:creationId xmlns:p14="http://schemas.microsoft.com/office/powerpoint/2010/main" val="21233449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D8EE967-943B-407F-8E78-2668FBEBC15D}"/>
              </a:ext>
            </a:extLst>
          </p:cNvPr>
          <p:cNvSpPr txBox="1"/>
          <p:nvPr/>
        </p:nvSpPr>
        <p:spPr>
          <a:xfrm>
            <a:off x="2541212" y="1654106"/>
            <a:ext cx="6520988" cy="523220"/>
          </a:xfrm>
          <a:prstGeom prst="rect">
            <a:avLst/>
          </a:prstGeom>
          <a:noFill/>
        </p:spPr>
        <p:txBody>
          <a:bodyPr wrap="square">
            <a:spAutoFit/>
          </a:bodyPr>
          <a:lstStyle/>
          <a:p>
            <a:r>
              <a:rPr lang="ru-RU" sz="2800" dirty="0"/>
              <a:t>https://github.com/kruffka/C-Programming</a:t>
            </a:r>
          </a:p>
        </p:txBody>
      </p:sp>
      <p:pic>
        <p:nvPicPr>
          <p:cNvPr id="5" name="Рисунок 4">
            <a:extLst>
              <a:ext uri="{FF2B5EF4-FFF2-40B4-BE49-F238E27FC236}">
                <a16:creationId xmlns:a16="http://schemas.microsoft.com/office/drawing/2014/main" id="{4BA00CC5-DBBE-4494-A2EC-6CA07C6372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52466" y="2177326"/>
            <a:ext cx="3498480" cy="3498480"/>
          </a:xfrm>
          <a:prstGeom prst="rect">
            <a:avLst/>
          </a:prstGeom>
        </p:spPr>
      </p:pic>
    </p:spTree>
    <p:extLst>
      <p:ext uri="{BB962C8B-B14F-4D97-AF65-F5344CB8AC3E}">
        <p14:creationId xmlns:p14="http://schemas.microsoft.com/office/powerpoint/2010/main" val="244768081"/>
      </p:ext>
    </p:extLst>
  </p:cSld>
  <p:clrMapOvr>
    <a:masterClrMapping/>
  </p:clrMapOvr>
</p:sld>
</file>

<file path=ppt/theme/theme1.xml><?xml version="1.0" encoding="utf-8"?>
<a:theme xmlns:a="http://schemas.openxmlformats.org/drawingml/2006/main" name="Office Theme">
  <a:themeElements>
    <a:clrScheme name="Тема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Тема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2851</TotalTime>
  <Words>3393</Words>
  <Application>Microsoft Office PowerPoint</Application>
  <PresentationFormat>Широкоэкранный</PresentationFormat>
  <Paragraphs>334</Paragraphs>
  <Slides>46</Slides>
  <Notes>46</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46</vt:i4>
      </vt:variant>
    </vt:vector>
  </HeadingPairs>
  <TitlesOfParts>
    <vt:vector size="52" baseType="lpstr">
      <vt:lpstr>Arial</vt:lpstr>
      <vt:lpstr>Calibri</vt:lpstr>
      <vt:lpstr>Calibri Light</vt:lpstr>
      <vt:lpstr>Consolas</vt:lpstr>
      <vt:lpstr>Times New Roman</vt:lpstr>
      <vt:lpstr>Office Theme</vt:lpstr>
      <vt:lpstr>C Programming 14_linked_lists</vt:lpstr>
      <vt:lpstr>Алгоритмы</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Andrey Veyler</dc:creator>
  <cp:lastModifiedBy>Andrey Veyler</cp:lastModifiedBy>
  <cp:revision>896</cp:revision>
  <dcterms:created xsi:type="dcterms:W3CDTF">2019-12-17T14:15:21Z</dcterms:created>
  <dcterms:modified xsi:type="dcterms:W3CDTF">2026-02-27T17:23:59Z</dcterms:modified>
</cp:coreProperties>
</file>