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46"/>
  </p:notesMasterIdLst>
  <p:sldIdLst>
    <p:sldId id="256" r:id="rId2"/>
    <p:sldId id="319" r:id="rId3"/>
    <p:sldId id="322" r:id="rId4"/>
    <p:sldId id="320" r:id="rId5"/>
    <p:sldId id="325" r:id="rId6"/>
    <p:sldId id="327" r:id="rId7"/>
    <p:sldId id="328" r:id="rId8"/>
    <p:sldId id="329" r:id="rId9"/>
    <p:sldId id="330" r:id="rId10"/>
    <p:sldId id="331" r:id="rId11"/>
    <p:sldId id="332" r:id="rId12"/>
    <p:sldId id="333" r:id="rId13"/>
    <p:sldId id="334" r:id="rId14"/>
    <p:sldId id="335" r:id="rId15"/>
    <p:sldId id="336" r:id="rId16"/>
    <p:sldId id="337" r:id="rId17"/>
    <p:sldId id="376" r:id="rId18"/>
    <p:sldId id="341" r:id="rId19"/>
    <p:sldId id="377" r:id="rId20"/>
    <p:sldId id="338" r:id="rId21"/>
    <p:sldId id="344" r:id="rId22"/>
    <p:sldId id="374" r:id="rId23"/>
    <p:sldId id="346" r:id="rId24"/>
    <p:sldId id="375" r:id="rId25"/>
    <p:sldId id="347" r:id="rId26"/>
    <p:sldId id="348" r:id="rId27"/>
    <p:sldId id="349" r:id="rId28"/>
    <p:sldId id="350" r:id="rId29"/>
    <p:sldId id="351" r:id="rId30"/>
    <p:sldId id="352" r:id="rId31"/>
    <p:sldId id="353" r:id="rId32"/>
    <p:sldId id="355" r:id="rId33"/>
    <p:sldId id="356" r:id="rId34"/>
    <p:sldId id="357" r:id="rId35"/>
    <p:sldId id="361" r:id="rId36"/>
    <p:sldId id="362" r:id="rId37"/>
    <p:sldId id="363" r:id="rId38"/>
    <p:sldId id="358" r:id="rId39"/>
    <p:sldId id="359" r:id="rId40"/>
    <p:sldId id="360" r:id="rId41"/>
    <p:sldId id="354" r:id="rId42"/>
    <p:sldId id="364" r:id="rId43"/>
    <p:sldId id="366" r:id="rId44"/>
    <p:sldId id="290" r:id="rId4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1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3" autoAdjust="0"/>
    <p:restoredTop sz="94630" autoAdjust="0"/>
  </p:normalViewPr>
  <p:slideViewPr>
    <p:cSldViewPr snapToGrid="0">
      <p:cViewPr varScale="1">
        <p:scale>
          <a:sx n="109" d="100"/>
          <a:sy n="109" d="100"/>
        </p:scale>
        <p:origin x="126" y="10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commentAuthors" Target="commentAuthors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01452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12396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374281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9483422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037549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9497246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48804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562806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31152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2176497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147565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567962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302511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8062760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93886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757097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423819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2062027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65454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395088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927852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593158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69437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51238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646618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3066256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9368061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14791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075665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4660317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67379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59228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553306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3373385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0605776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8702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335707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7892440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99728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219910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9073891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35266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1856048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20.02.2026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jpe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ru.wikipedia.org/wiki/%D0%90%D0%BB%D0%B3%D0%BE%D1%80%D0%B8%D1%82%D0%BC_%D1%81%D0%BE%D1%80%D1%82%D0%B8%D1%80%D0%BE%D0%B2%D0%BA%D0%B8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gi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e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1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521262"/>
            <a:ext cx="9144000" cy="2387600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14_linked_lists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2">
            <a:extLst>
              <a:ext uri="{FF2B5EF4-FFF2-40B4-BE49-F238E27FC236}">
                <a16:creationId xmlns:a16="http://schemas.microsoft.com/office/drawing/2014/main" id="{95D51B6C-91AE-4569-B8E6-A8FC50FEB3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33141" y="70140"/>
            <a:ext cx="9925717" cy="927688"/>
          </a:xfrm>
        </p:spPr>
        <p:txBody>
          <a:bodyPr>
            <a:norm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Алгоритмы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FDDC4BE-C3C1-49AC-8D7B-63FFCE0907CE}"/>
              </a:ext>
            </a:extLst>
          </p:cNvPr>
          <p:cNvSpPr txBox="1"/>
          <p:nvPr/>
        </p:nvSpPr>
        <p:spPr>
          <a:xfrm>
            <a:off x="729761" y="1225933"/>
            <a:ext cx="10955216" cy="50167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есть последовательность действий (или инструкций) для выполнения задачи и получения некоторого результата. Зная алгоритм его легко можно перенести в программу написанную на </a:t>
            </a:r>
            <a:r>
              <a:rPr lang="ru-RU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любом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языке, т.к. алгоритм от языка к языку остается прежним 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Алгоритмы повторяемы и выдают предсказуемые результаты каждый раз, когда они выполняются.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Алгоритмы можно стандартизировать и совместно использовать скажем в разных устройствах. Пример: стандарт 4G на телефоне - по сути это программа, состоящая из набора алгоритмов, благодаря которым в какой стране вы бы не оказались вам не придется менять телефон, чтобы пользоваться мобильной связью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 не зависит от используемого языка. Он сообщает программисту логику, используемую для решения проблемы. Таким образом, алгоритм - это логическая пошаговая процедура, которая служит программистам своего рода планом.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054" name="Picture 6" descr="Algoritmo - Iconos gratis de computadora">
            <a:extLst>
              <a:ext uri="{FF2B5EF4-FFF2-40B4-BE49-F238E27FC236}">
                <a16:creationId xmlns:a16="http://schemas.microsoft.com/office/drawing/2014/main" id="{3E3CA476-037C-4B2D-B784-CC71F29F17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67374" y="5352655"/>
            <a:ext cx="1435205" cy="14352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756801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Типы</a:t>
            </a:r>
            <a:r>
              <a:rPr lang="ru-RU" dirty="0"/>
              <a:t> алгоритмов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202808-04F9-4746-AC3F-021AB2827F52}"/>
              </a:ext>
            </a:extLst>
          </p:cNvPr>
          <p:cNvSpPr txBox="1"/>
          <p:nvPr/>
        </p:nvSpPr>
        <p:spPr>
          <a:xfrm>
            <a:off x="719957" y="1679453"/>
            <a:ext cx="10752083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Алгоритмы сортировки - алгоритмы для упорядочивания каких-либо данных в определенном порядке. В интернет-магазине включаем фильтр по количеству отзывов. Пузырьковая сортировка, сортировка вставками, быстрая сортировка, сортировка подсчетом и много-много других..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Алгоритмы поиска - алгоритмы поиска значения в наборе данных. Линейный поиск, бинарный и т.д.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Алгоритмы с графами - поиск кратчайших путей. Алгоритм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Дейкстра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BFS, DFS и т.д. Пример в 2gis ищем как пройти от какого-нибудь отеля до ТЦ. Социальные сети работают на алгоритмах с графами</a:t>
            </a:r>
          </a:p>
        </p:txBody>
      </p:sp>
      <p:pic>
        <p:nvPicPr>
          <p:cNvPr id="1028" name="Picture 4" descr="Структура данных – Бесплатные иконки: коммуникации">
            <a:extLst>
              <a:ext uri="{FF2B5EF4-FFF2-40B4-BE49-F238E27FC236}">
                <a16:creationId xmlns:a16="http://schemas.microsoft.com/office/drawing/2014/main" id="{C0DB302C-B29E-4579-AF1F-E0FD059977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03523" y="5339738"/>
            <a:ext cx="1397977" cy="13979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Структура данных – Бесплатные иконки: коммуникации">
            <a:extLst>
              <a:ext uri="{FF2B5EF4-FFF2-40B4-BE49-F238E27FC236}">
                <a16:creationId xmlns:a16="http://schemas.microsoft.com/office/drawing/2014/main" id="{FB9D7AD7-B1C6-4853-AC5E-5D1D6F4D5A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672" y="5662246"/>
            <a:ext cx="1075469" cy="10754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1613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Зачем алгоритмы?</a:t>
            </a: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6CE901E9-D6DF-48BF-8146-91E99A52AA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7341" y="1688125"/>
            <a:ext cx="11497318" cy="4053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4516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0" y="5506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</a:t>
            </a:r>
            <a:r>
              <a:rPr lang="ru-RU" dirty="0"/>
              <a:t> алгоритмов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FBF9C2C1-D326-4884-A7B4-0C88A21C4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56856" y="4608572"/>
            <a:ext cx="4932567" cy="2194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A2B1986-CBE6-488E-841E-9C236FEC5990}"/>
              </a:ext>
            </a:extLst>
          </p:cNvPr>
          <p:cNvSpPr txBox="1"/>
          <p:nvPr/>
        </p:nvSpPr>
        <p:spPr>
          <a:xfrm>
            <a:off x="711286" y="1054880"/>
            <a:ext cx="1076942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в алгоритмах относится к количеству ресурсов, необходимых для решения проблемы или выполнения задачи. К таким ресурсам относят время и память. (Time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and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Space </a:t>
            </a:r>
            <a:r>
              <a:rPr lang="ru-RU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complexity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Память (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Space Complexity)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сколько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оперативной памяти занимает программа, переменные и т.д. 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Время (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Time Complexity)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сколько времени нужно алгоритму на выполнение. Эта мера показывает зависимость между временем выполнения и кол-вом входных данных</a:t>
            </a:r>
          </a:p>
        </p:txBody>
      </p:sp>
    </p:spTree>
    <p:extLst>
      <p:ext uri="{BB962C8B-B14F-4D97-AF65-F5344CB8AC3E}">
        <p14:creationId xmlns:p14="http://schemas.microsoft.com/office/powerpoint/2010/main" val="3124484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D6C484A-193B-40DC-BF68-F82B821F376D}"/>
              </a:ext>
            </a:extLst>
          </p:cNvPr>
          <p:cNvSpPr txBox="1"/>
          <p:nvPr/>
        </p:nvSpPr>
        <p:spPr>
          <a:xfrm>
            <a:off x="1364463" y="3097572"/>
            <a:ext cx="496285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Сложность: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O(1) - </a:t>
            </a:r>
            <a:r>
              <a:rPr lang="ru-RU" sz="2000" dirty="0"/>
              <a:t>Константная ~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O(log n) - </a:t>
            </a:r>
            <a:r>
              <a:rPr lang="ru-RU" sz="2000" dirty="0"/>
              <a:t>Логарифмическая ~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O(n) - </a:t>
            </a:r>
            <a:r>
              <a:rPr lang="ru-RU" sz="2000" dirty="0"/>
              <a:t>Линейная ~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O(n log n) - </a:t>
            </a:r>
            <a:r>
              <a:rPr lang="ru-RU" sz="2000" dirty="0"/>
              <a:t>Линейно-логарифмическая ~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O(n^2) - </a:t>
            </a:r>
            <a:r>
              <a:rPr lang="ru-RU" sz="2000" dirty="0"/>
              <a:t>Квадратичная ~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O(n^3) - </a:t>
            </a:r>
            <a:r>
              <a:rPr lang="ru-RU" sz="2000" dirty="0"/>
              <a:t>Кубическая ~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O(2^n) - </a:t>
            </a:r>
            <a:r>
              <a:rPr lang="ru-RU" sz="2000" dirty="0"/>
              <a:t>Экспоненциальная ~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O(n!) - </a:t>
            </a:r>
            <a:r>
              <a:rPr lang="ru-RU" sz="2000" dirty="0"/>
              <a:t>Факториальная ~</a:t>
            </a: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1D39BE41-34E1-42C9-95D6-BF328ACC18EC}"/>
              </a:ext>
            </a:extLst>
          </p:cNvPr>
          <p:cNvGrpSpPr/>
          <p:nvPr/>
        </p:nvGrpSpPr>
        <p:grpSpPr>
          <a:xfrm>
            <a:off x="6175836" y="2242481"/>
            <a:ext cx="5412850" cy="4507231"/>
            <a:chOff x="6175836" y="2242481"/>
            <a:chExt cx="5412850" cy="4507231"/>
          </a:xfrm>
        </p:grpSpPr>
        <p:pic>
          <p:nvPicPr>
            <p:cNvPr id="8194" name="Picture 2" descr="alt text">
              <a:extLst>
                <a:ext uri="{FF2B5EF4-FFF2-40B4-BE49-F238E27FC236}">
                  <a16:creationId xmlns:a16="http://schemas.microsoft.com/office/drawing/2014/main" id="{B1901404-45C8-44DA-9A53-BFA01E963C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Прямая со стрелкой 6">
              <a:extLst>
                <a:ext uri="{FF2B5EF4-FFF2-40B4-BE49-F238E27FC236}">
                  <a16:creationId xmlns:a16="http://schemas.microsoft.com/office/drawing/2014/main" id="{446D689A-0FE7-4B56-B46E-12CFF61E6AD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>
              <a:extLst>
                <a:ext uri="{FF2B5EF4-FFF2-40B4-BE49-F238E27FC236}">
                  <a16:creationId xmlns:a16="http://schemas.microsoft.com/office/drawing/2014/main" id="{FA94D8B5-6113-411D-8CB2-5E4D3E4AA5E7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Заголовок 2">
            <a:extLst>
              <a:ext uri="{FF2B5EF4-FFF2-40B4-BE49-F238E27FC236}">
                <a16:creationId xmlns:a16="http://schemas.microsoft.com/office/drawing/2014/main" id="{C1C21091-1FCC-495A-ACBE-3D2A11563869}"/>
              </a:ext>
            </a:extLst>
          </p:cNvPr>
          <p:cNvSpPr txBox="1">
            <a:spLocks/>
          </p:cNvSpPr>
          <p:nvPr/>
        </p:nvSpPr>
        <p:spPr>
          <a:xfrm>
            <a:off x="1133141" y="765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</a:t>
            </a:r>
            <a:r>
              <a:rPr lang="en-US" dirty="0"/>
              <a:t> O notation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77BE1A-2F42-4706-8FCC-43108BAFBED6}"/>
              </a:ext>
            </a:extLst>
          </p:cNvPr>
          <p:cNvSpPr txBox="1"/>
          <p:nvPr/>
        </p:nvSpPr>
        <p:spPr>
          <a:xfrm>
            <a:off x="819869" y="1136425"/>
            <a:ext cx="1055226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O нотация используется для оценки наихудшего случая временной сложности алгоритма, т.е. "О" покажет как поменяется производительность алгоритма.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Записывается обычно следующим образом: O(n) - читается как "O от n", где n - размер входных данных.</a:t>
            </a:r>
          </a:p>
        </p:txBody>
      </p:sp>
    </p:spTree>
    <p:extLst>
      <p:ext uri="{BB962C8B-B14F-4D97-AF65-F5344CB8AC3E}">
        <p14:creationId xmlns:p14="http://schemas.microsoft.com/office/powerpoint/2010/main" val="31469509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O(1)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Константная</a:t>
            </a:r>
            <a:r>
              <a:rPr lang="ru-RU" dirty="0"/>
              <a:t> сложность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C597CE2-42BA-48AB-9FF7-B0488D27177D}"/>
              </a:ext>
            </a:extLst>
          </p:cNvPr>
          <p:cNvSpPr txBox="1"/>
          <p:nvPr/>
        </p:nvSpPr>
        <p:spPr>
          <a:xfrm>
            <a:off x="1133141" y="1805221"/>
            <a:ext cx="1006484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Такая сложность можно сказать является идеальной, т.к. производительность алгоритмов с такой сложностью не зависит от размера входных данных. Популярный пример такой сложности - получение элемента массива.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BDB8B55-0515-4904-ADC9-84934E8238E9}"/>
              </a:ext>
            </a:extLst>
          </p:cNvPr>
          <p:cNvSpPr txBox="1"/>
          <p:nvPr/>
        </p:nvSpPr>
        <p:spPr>
          <a:xfrm>
            <a:off x="1047237" y="3618673"/>
            <a:ext cx="671797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 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some_int_array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8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endParaRPr lang="en-US" sz="2800" dirty="0">
              <a:solidFill>
                <a:srgbClr val="569CD6"/>
              </a:solidFill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get_elem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some_int_array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idx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5" name="Группа 14">
            <a:extLst>
              <a:ext uri="{FF2B5EF4-FFF2-40B4-BE49-F238E27FC236}">
                <a16:creationId xmlns:a16="http://schemas.microsoft.com/office/drawing/2014/main" id="{A0234905-CA3D-49B7-B1BC-7D285DA48FC5}"/>
              </a:ext>
            </a:extLst>
          </p:cNvPr>
          <p:cNvGrpSpPr/>
          <p:nvPr/>
        </p:nvGrpSpPr>
        <p:grpSpPr>
          <a:xfrm>
            <a:off x="7149572" y="2455472"/>
            <a:ext cx="5412850" cy="4507231"/>
            <a:chOff x="6175836" y="2242481"/>
            <a:chExt cx="5412850" cy="4507231"/>
          </a:xfrm>
        </p:grpSpPr>
        <p:pic>
          <p:nvPicPr>
            <p:cNvPr id="16" name="Picture 2" descr="alt text">
              <a:extLst>
                <a:ext uri="{FF2B5EF4-FFF2-40B4-BE49-F238E27FC236}">
                  <a16:creationId xmlns:a16="http://schemas.microsoft.com/office/drawing/2014/main" id="{CB3AD3E6-DAF9-4201-B040-C0DBC038BE2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7" name="Прямая со стрелкой 16">
              <a:extLst>
                <a:ext uri="{FF2B5EF4-FFF2-40B4-BE49-F238E27FC236}">
                  <a16:creationId xmlns:a16="http://schemas.microsoft.com/office/drawing/2014/main" id="{BDA859F2-0926-4E4D-B9FB-2D8A8A748A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Прямая со стрелкой 17">
              <a:extLst>
                <a:ext uri="{FF2B5EF4-FFF2-40B4-BE49-F238E27FC236}">
                  <a16:creationId xmlns:a16="http://schemas.microsoft.com/office/drawing/2014/main" id="{B9D44126-50E2-493A-BFD0-58E92F1E03FF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382536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O(n)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Линейная сложность</a:t>
            </a:r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0EB5D76D-CAE6-4BA3-9B31-8B44A6CF42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7378" y="1528917"/>
            <a:ext cx="3831220" cy="2155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B195198-D576-4DA3-98CB-DAEABD9B6716}"/>
              </a:ext>
            </a:extLst>
          </p:cNvPr>
          <p:cNvGrpSpPr/>
          <p:nvPr/>
        </p:nvGrpSpPr>
        <p:grpSpPr>
          <a:xfrm>
            <a:off x="7149572" y="2455472"/>
            <a:ext cx="5412850" cy="4507231"/>
            <a:chOff x="6175836" y="2242481"/>
            <a:chExt cx="5412850" cy="4507231"/>
          </a:xfrm>
        </p:grpSpPr>
        <p:pic>
          <p:nvPicPr>
            <p:cNvPr id="6" name="Picture 2" descr="alt text">
              <a:extLst>
                <a:ext uri="{FF2B5EF4-FFF2-40B4-BE49-F238E27FC236}">
                  <a16:creationId xmlns:a16="http://schemas.microsoft.com/office/drawing/2014/main" id="{4E615E4B-ED82-427D-8575-D59C78D4005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7" name="Прямая со стрелкой 6">
              <a:extLst>
                <a:ext uri="{FF2B5EF4-FFF2-40B4-BE49-F238E27FC236}">
                  <a16:creationId xmlns:a16="http://schemas.microsoft.com/office/drawing/2014/main" id="{D192C843-34B0-4CB1-9643-B813615551B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B6AC3764-A637-40EA-B944-28FAC0F70C54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B9348750-5589-41AB-BA86-ACDA15266214}"/>
              </a:ext>
            </a:extLst>
          </p:cNvPr>
          <p:cNvSpPr txBox="1"/>
          <p:nvPr/>
        </p:nvSpPr>
        <p:spPr>
          <a:xfrm>
            <a:off x="934695" y="3995259"/>
            <a:ext cx="641398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s &lt; n; s++)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recipes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[s] == </a:t>
            </a:r>
            <a:r>
              <a:rPr lang="en-US" sz="28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'M'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get recipe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501264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n) Логарифмическая сложность</a:t>
            </a:r>
          </a:p>
        </p:txBody>
      </p:sp>
      <p:pic>
        <p:nvPicPr>
          <p:cNvPr id="12290" name="Picture 2" descr="alt text">
            <a:extLst>
              <a:ext uri="{FF2B5EF4-FFF2-40B4-BE49-F238E27FC236}">
                <a16:creationId xmlns:a16="http://schemas.microsoft.com/office/drawing/2014/main" id="{130D7796-85E4-4872-8B87-D37C61EA2D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851" y="3982915"/>
            <a:ext cx="5696519" cy="2509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9A9AAF3-DC33-4854-95D3-B45385479699}"/>
              </a:ext>
            </a:extLst>
          </p:cNvPr>
          <p:cNvSpPr txBox="1"/>
          <p:nvPr/>
        </p:nvSpPr>
        <p:spPr>
          <a:xfrm>
            <a:off x="557851" y="1383560"/>
            <a:ext cx="1124063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Поделим алфавит на 2 части А-Я: А-О и П-Я -&gt; буква М в первой половине алфавита, соответственно вторая половина нам не нужна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Делим первую половину еще на две половины А-О: А-Ж и З-О -&gt; буква М во второй половине, первую отбрасываем А-Ж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З-О -&gt; З-К и Л-О -&gt; Л-О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Л-О -&gt; Л-М и Н-О -&gt; Л-М</a:t>
            </a:r>
          </a:p>
          <a:p>
            <a:pPr marL="342900" indent="-342900">
              <a:buFont typeface="+mj-lt"/>
              <a:buAutoNum type="arabicPeriod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 и М -&gt; М ответ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операций чтобы найти ответ, где n = 33, 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(33)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=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5</a:t>
            </a: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83C98307-A7EB-4B6E-A128-0E18D09D7681}"/>
              </a:ext>
            </a:extLst>
          </p:cNvPr>
          <p:cNvGrpSpPr/>
          <p:nvPr/>
        </p:nvGrpSpPr>
        <p:grpSpPr>
          <a:xfrm>
            <a:off x="7149572" y="2455472"/>
            <a:ext cx="5412850" cy="4507231"/>
            <a:chOff x="6175836" y="2242481"/>
            <a:chExt cx="5412850" cy="4507231"/>
          </a:xfrm>
        </p:grpSpPr>
        <p:pic>
          <p:nvPicPr>
            <p:cNvPr id="6" name="Picture 2" descr="alt text">
              <a:extLst>
                <a:ext uri="{FF2B5EF4-FFF2-40B4-BE49-F238E27FC236}">
                  <a16:creationId xmlns:a16="http://schemas.microsoft.com/office/drawing/2014/main" id="{E4899A3C-313C-4BED-AE40-C91AED00757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C1F824CF-0AFB-47AE-A4D0-817BE164BD9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21A1470B-AE1E-4E17-9C1A-45AB00DE43BC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22214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548054" y="280999"/>
            <a:ext cx="11095892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O(n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n) - Линейно-логарифмическая сложность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7A4FAB-CBF0-42D1-9BA3-204B215EC64A}"/>
              </a:ext>
            </a:extLst>
          </p:cNvPr>
          <p:cNvSpPr txBox="1"/>
          <p:nvPr/>
        </p:nvSpPr>
        <p:spPr>
          <a:xfrm>
            <a:off x="751797" y="1435224"/>
            <a:ext cx="1093981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Она схожа с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 (log n)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но добавляется еще одна n - например мы ищем не в одной книге, а среди n книг рецептов Гордона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Рамзи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рецепт на какую-то букву.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Итого: есть цикл O(n), внутри которого используются алгоритмы "разделяй и властвуй" O(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n) -&gt; O(n *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log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n)</a:t>
            </a:r>
          </a:p>
        </p:txBody>
      </p:sp>
      <p:pic>
        <p:nvPicPr>
          <p:cNvPr id="11272" name="Picture 8" descr="Курс элементарной кулинарии. Готовим уверенно (Рамзи Г.) - купить книгу в  интернет-магазине на book24.ru. (ISBN: 978-5-389-05939-9))">
            <a:extLst>
              <a:ext uri="{FF2B5EF4-FFF2-40B4-BE49-F238E27FC236}">
                <a16:creationId xmlns:a16="http://schemas.microsoft.com/office/drawing/2014/main" id="{F3AC919B-4B56-46C0-9C5C-6E9ADC5849F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1797" y="3492922"/>
            <a:ext cx="2241576" cy="303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ACED7EE0-C537-4408-BAC9-D6BA7474BAF9}"/>
              </a:ext>
            </a:extLst>
          </p:cNvPr>
          <p:cNvGrpSpPr/>
          <p:nvPr/>
        </p:nvGrpSpPr>
        <p:grpSpPr>
          <a:xfrm>
            <a:off x="7149572" y="2455472"/>
            <a:ext cx="5412850" cy="4507231"/>
            <a:chOff x="6175836" y="2242481"/>
            <a:chExt cx="5412850" cy="4507231"/>
          </a:xfrm>
        </p:grpSpPr>
        <p:pic>
          <p:nvPicPr>
            <p:cNvPr id="7" name="Picture 2" descr="alt text">
              <a:extLst>
                <a:ext uri="{FF2B5EF4-FFF2-40B4-BE49-F238E27FC236}">
                  <a16:creationId xmlns:a16="http://schemas.microsoft.com/office/drawing/2014/main" id="{1CE5F50A-D261-404E-BB93-A6A7EBF3E9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D1944415-0437-405C-9D74-1DB967A5019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AF15A600-07ED-4453-B692-621939B9B152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1" name="Picture 2">
            <a:extLst>
              <a:ext uri="{FF2B5EF4-FFF2-40B4-BE49-F238E27FC236}">
                <a16:creationId xmlns:a16="http://schemas.microsoft.com/office/drawing/2014/main" id="{19CF9687-04DE-48A1-B481-674F66775E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80543" y="4646365"/>
            <a:ext cx="3432243" cy="19306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855516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O(n^2) Квадратичная сложность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BC8DB-628B-40E7-9E83-A235637E9488}"/>
              </a:ext>
            </a:extLst>
          </p:cNvPr>
          <p:cNvSpPr txBox="1"/>
          <p:nvPr/>
        </p:nvSpPr>
        <p:spPr>
          <a:xfrm>
            <a:off x="940755" y="1716511"/>
            <a:ext cx="7303257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Сюда относятся все вложенные циклы, т.е. цикл в цикле. Самый простой пример - пузырьковая сортировка.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07E978-3741-4058-851D-CC7030DCC35D}"/>
              </a:ext>
            </a:extLst>
          </p:cNvPr>
          <p:cNvSpPr txBox="1"/>
          <p:nvPr/>
        </p:nvSpPr>
        <p:spPr>
          <a:xfrm>
            <a:off x="509931" y="3122423"/>
            <a:ext cx="7303255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 -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 &gt;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swap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(&amp;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[j], &amp;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 +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4B22E93B-3AC3-448D-8E94-6815B68F1A7B}"/>
              </a:ext>
            </a:extLst>
          </p:cNvPr>
          <p:cNvGrpSpPr/>
          <p:nvPr/>
        </p:nvGrpSpPr>
        <p:grpSpPr>
          <a:xfrm>
            <a:off x="7149572" y="2455472"/>
            <a:ext cx="5412850" cy="4507231"/>
            <a:chOff x="6175836" y="2242481"/>
            <a:chExt cx="5412850" cy="4507231"/>
          </a:xfrm>
        </p:grpSpPr>
        <p:pic>
          <p:nvPicPr>
            <p:cNvPr id="6" name="Picture 2" descr="alt text">
              <a:extLst>
                <a:ext uri="{FF2B5EF4-FFF2-40B4-BE49-F238E27FC236}">
                  <a16:creationId xmlns:a16="http://schemas.microsoft.com/office/drawing/2014/main" id="{E6B72AC3-93CC-463E-BAB5-C862A741B84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8" name="Прямая со стрелкой 7">
              <a:extLst>
                <a:ext uri="{FF2B5EF4-FFF2-40B4-BE49-F238E27FC236}">
                  <a16:creationId xmlns:a16="http://schemas.microsoft.com/office/drawing/2014/main" id="{267B7E0C-FCE4-4DE8-8E68-B96B7C4D01C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D887CF5C-932D-4540-8080-40250E8EBF20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278377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O(n^3) Кубическая сложность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369A89-7D52-4690-B240-3B455A30C12D}"/>
              </a:ext>
            </a:extLst>
          </p:cNvPr>
          <p:cNvSpPr txBox="1"/>
          <p:nvPr/>
        </p:nvSpPr>
        <p:spPr>
          <a:xfrm>
            <a:off x="1133141" y="1781033"/>
            <a:ext cx="1058346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O(n) - один проход по набору данных (один цикл), O(n^2) - n*n проходом по данным (два цикла - цикл в цикле), то O(n^3) три цикла, пример: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F387EC37-B616-485F-B1A3-41B605A34984}"/>
              </a:ext>
            </a:extLst>
          </p:cNvPr>
          <p:cNvGrpSpPr/>
          <p:nvPr/>
        </p:nvGrpSpPr>
        <p:grpSpPr>
          <a:xfrm>
            <a:off x="7149572" y="2455472"/>
            <a:ext cx="5412850" cy="4507231"/>
            <a:chOff x="6175836" y="2242481"/>
            <a:chExt cx="5412850" cy="4507231"/>
          </a:xfrm>
        </p:grpSpPr>
        <p:pic>
          <p:nvPicPr>
            <p:cNvPr id="7" name="Picture 2" descr="alt text">
              <a:extLst>
                <a:ext uri="{FF2B5EF4-FFF2-40B4-BE49-F238E27FC236}">
                  <a16:creationId xmlns:a16="http://schemas.microsoft.com/office/drawing/2014/main" id="{8CD104E3-C582-4976-97FD-D698FF5A95DF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0" name="Прямая со стрелкой 9">
              <a:extLst>
                <a:ext uri="{FF2B5EF4-FFF2-40B4-BE49-F238E27FC236}">
                  <a16:creationId xmlns:a16="http://schemas.microsoft.com/office/drawing/2014/main" id="{FD181985-DE24-4D43-94CF-9EF21495B9B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Прямая со стрелкой 10">
              <a:extLst>
                <a:ext uri="{FF2B5EF4-FFF2-40B4-BE49-F238E27FC236}">
                  <a16:creationId xmlns:a16="http://schemas.microsoft.com/office/drawing/2014/main" id="{49CC82DC-0F26-4FF8-BFE4-D9A7A3B3C2E5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59DA9DA6-CCAA-409F-B613-FC8E2912362D}"/>
              </a:ext>
            </a:extLst>
          </p:cNvPr>
          <p:cNvSpPr txBox="1"/>
          <p:nvPr/>
        </p:nvSpPr>
        <p:spPr>
          <a:xfrm>
            <a:off x="1004523" y="2932201"/>
            <a:ext cx="6785459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n;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k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k &lt; n; k++)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28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do </a:t>
            </a:r>
            <a:r>
              <a:rPr lang="en-US" sz="28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smth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7263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O(2^n) Экспоненциальная сложность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38576C-8150-479F-9766-57642210A9F4}"/>
              </a:ext>
            </a:extLst>
          </p:cNvPr>
          <p:cNvSpPr txBox="1"/>
          <p:nvPr/>
        </p:nvSpPr>
        <p:spPr>
          <a:xfrm>
            <a:off x="828155" y="1518033"/>
            <a:ext cx="1023070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Такую сложность можно встретить в рекурсиях, например при расчете чисел Фибоначчи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данном коде используется рекурсия - функция, вызывающая саму себя. Однако каждый раз, когда вызывается функция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fib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(), она порождает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 собой два дополнительных вызова, что приводит к экспоненциальному увеличению количества вызовов функций с увеличением n.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1915F3BC-120F-4B5C-ADA1-3904ED546B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0854" y="5189884"/>
            <a:ext cx="4006708" cy="15148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06EC663-882E-4B20-B229-A9E13D0F55F8}"/>
              </a:ext>
            </a:extLst>
          </p:cNvPr>
          <p:cNvSpPr txBox="1"/>
          <p:nvPr/>
        </p:nvSpPr>
        <p:spPr>
          <a:xfrm>
            <a:off x="898493" y="2943115"/>
            <a:ext cx="7146468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fib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(n &lt;=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fib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-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fib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- 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70F64460-63F0-44CE-A775-024C791D559D}"/>
              </a:ext>
            </a:extLst>
          </p:cNvPr>
          <p:cNvGrpSpPr/>
          <p:nvPr/>
        </p:nvGrpSpPr>
        <p:grpSpPr>
          <a:xfrm>
            <a:off x="7149572" y="2455472"/>
            <a:ext cx="5412850" cy="4507231"/>
            <a:chOff x="6175836" y="2242481"/>
            <a:chExt cx="5412850" cy="4507231"/>
          </a:xfrm>
        </p:grpSpPr>
        <p:pic>
          <p:nvPicPr>
            <p:cNvPr id="10" name="Picture 2" descr="alt text">
              <a:extLst>
                <a:ext uri="{FF2B5EF4-FFF2-40B4-BE49-F238E27FC236}">
                  <a16:creationId xmlns:a16="http://schemas.microsoft.com/office/drawing/2014/main" id="{AC8272F3-6081-412D-85B0-FFE3F610904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1" name="Прямая со стрелкой 10">
              <a:extLst>
                <a:ext uri="{FF2B5EF4-FFF2-40B4-BE49-F238E27FC236}">
                  <a16:creationId xmlns:a16="http://schemas.microsoft.com/office/drawing/2014/main" id="{6861FC4E-4CED-4068-BCA3-6C7720BD5A0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Прямая со стрелкой 11">
              <a:extLst>
                <a:ext uri="{FF2B5EF4-FFF2-40B4-BE49-F238E27FC236}">
                  <a16:creationId xmlns:a16="http://schemas.microsoft.com/office/drawing/2014/main" id="{10B42352-664C-4A6F-B657-73397A3CE426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79049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5000" lnSpcReduction="1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O(n!)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Факториальная сложность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9A15D2-2F37-4667-99CD-941D50B58692}"/>
              </a:ext>
            </a:extLst>
          </p:cNvPr>
          <p:cNvSpPr txBox="1"/>
          <p:nvPr/>
        </p:nvSpPr>
        <p:spPr>
          <a:xfrm>
            <a:off x="978277" y="1636381"/>
            <a:ext cx="1023544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Здесь время выполнения алгоритма растет пропорционально факториалу размера входных данных. Самый простой пример такой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трудозатратной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фукции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F4B96A0-4124-4119-9925-CB195098803D}"/>
              </a:ext>
            </a:extLst>
          </p:cNvPr>
          <p:cNvSpPr txBox="1"/>
          <p:nvPr/>
        </p:nvSpPr>
        <p:spPr>
          <a:xfrm>
            <a:off x="964498" y="4921167"/>
            <a:ext cx="4634613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Вызов функции f() от n единожды порождает n функций, вызывающих n-1 функций, вызывающих n-2 функций..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278156-0D3E-4243-A601-6A55765CFE27}"/>
              </a:ext>
            </a:extLst>
          </p:cNvPr>
          <p:cNvSpPr txBox="1"/>
          <p:nvPr/>
        </p:nvSpPr>
        <p:spPr>
          <a:xfrm>
            <a:off x="978277" y="2455472"/>
            <a:ext cx="642103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8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8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n; </a:t>
            </a:r>
            <a:r>
              <a:rPr lang="en-US" sz="28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8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 - </a:t>
            </a:r>
            <a:r>
              <a:rPr lang="en-US" sz="28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8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8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C923BE0C-5637-401F-A215-3A4DE28E064E}"/>
              </a:ext>
            </a:extLst>
          </p:cNvPr>
          <p:cNvGrpSpPr/>
          <p:nvPr/>
        </p:nvGrpSpPr>
        <p:grpSpPr>
          <a:xfrm>
            <a:off x="7149572" y="2455472"/>
            <a:ext cx="5412850" cy="4507231"/>
            <a:chOff x="6175836" y="2242481"/>
            <a:chExt cx="5412850" cy="4507231"/>
          </a:xfrm>
        </p:grpSpPr>
        <p:pic>
          <p:nvPicPr>
            <p:cNvPr id="11" name="Picture 2" descr="alt text">
              <a:extLst>
                <a:ext uri="{FF2B5EF4-FFF2-40B4-BE49-F238E27FC236}">
                  <a16:creationId xmlns:a16="http://schemas.microsoft.com/office/drawing/2014/main" id="{6C71630E-30CF-44DD-B595-95975E1F1CC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175836" y="2242481"/>
              <a:ext cx="5412850" cy="45072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13" name="Прямая со стрелкой 12">
              <a:extLst>
                <a:ext uri="{FF2B5EF4-FFF2-40B4-BE49-F238E27FC236}">
                  <a16:creationId xmlns:a16="http://schemas.microsoft.com/office/drawing/2014/main" id="{E9AB1C66-A131-4510-98C4-A92221C4FC1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178524" y="2957857"/>
              <a:ext cx="0" cy="314242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CF2D29B2-C300-417A-A3D8-2CE04100991F}"/>
                </a:ext>
              </a:extLst>
            </p:cNvPr>
            <p:cNvCxnSpPr>
              <a:cxnSpLocks/>
            </p:cNvCxnSpPr>
            <p:nvPr/>
          </p:nvCxnSpPr>
          <p:spPr>
            <a:xfrm>
              <a:off x="7178524" y="6100277"/>
              <a:ext cx="3606585" cy="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230617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Нюансы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Big O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5ED634B-DB63-4125-999F-80D66DAC101A}"/>
              </a:ext>
            </a:extLst>
          </p:cNvPr>
          <p:cNvSpPr txBox="1"/>
          <p:nvPr/>
        </p:nvSpPr>
        <p:spPr>
          <a:xfrm>
            <a:off x="1133141" y="1630907"/>
            <a:ext cx="10467456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программировании абсолютно нормальна практика с упрощением букв и цифр в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big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 по возможности, например:</a:t>
            </a: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O(n) == O(2*n)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O(n^2 + n) == O(n^2)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8F90B4-8DF5-4701-943B-2BC9F1455123}"/>
              </a:ext>
            </a:extLst>
          </p:cNvPr>
          <p:cNvSpPr txBox="1"/>
          <p:nvPr/>
        </p:nvSpPr>
        <p:spPr>
          <a:xfrm>
            <a:off x="3318137" y="3745171"/>
            <a:ext cx="6097464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+ </a:t>
            </a:r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(log </a:t>
            </a:r>
            <a:r>
              <a:rPr lang="pt-BR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(n^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 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B5CEA8"/>
                </a:solidFill>
                <a:latin typeface="Consolas" panose="020B0609020204030204" pitchFamily="49" charset="0"/>
              </a:rPr>
              <a:t>3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 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10000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 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D4D4D4"/>
                </a:solidFill>
                <a:latin typeface="Consolas" panose="020B0609020204030204" pitchFamily="49" charset="0"/>
              </a:rPr>
              <a:t>2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log 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log </a:t>
            </a:r>
            <a:r>
              <a:rPr lang="pt-BR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 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 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^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lang="pt-BR" sz="2400" dirty="0">
                <a:solidFill>
                  <a:srgbClr val="B5CEA8"/>
                </a:solidFill>
                <a:latin typeface="Consolas" panose="020B0609020204030204" pitchFamily="49" charset="0"/>
              </a:rPr>
              <a:t>100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 log 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(n^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 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 + </a:t>
            </a:r>
            <a:r>
              <a:rPr lang="pt-BR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999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= </a:t>
            </a:r>
            <a:r>
              <a:rPr lang="pt-BR" sz="2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2400" dirty="0">
                <a:solidFill>
                  <a:srgbClr val="9CDCFE"/>
                </a:solidFill>
                <a:latin typeface="Consolas" panose="020B0609020204030204" pitchFamily="49" charset="0"/>
              </a:rPr>
              <a:t>n</a:t>
            </a:r>
            <a:r>
              <a:rPr lang="pt-BR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!)  </a:t>
            </a:r>
            <a:endParaRPr lang="pt-BR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53395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Пытаемся оценить сложность алгоритма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FF6DD0-0BCF-40E7-B8E2-FD59EE5B8F66}"/>
              </a:ext>
            </a:extLst>
          </p:cNvPr>
          <p:cNvSpPr txBox="1"/>
          <p:nvPr/>
        </p:nvSpPr>
        <p:spPr>
          <a:xfrm>
            <a:off x="2575055" y="1841073"/>
            <a:ext cx="7562475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findMax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max =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length;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&gt; max)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max =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max;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23822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Пытаемся оценить сложность алгоритма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0033C2-CC06-478F-A5B8-983730653384}"/>
              </a:ext>
            </a:extLst>
          </p:cNvPr>
          <p:cNvSpPr txBox="1"/>
          <p:nvPr/>
        </p:nvSpPr>
        <p:spPr>
          <a:xfrm>
            <a:off x="2181149" y="2114021"/>
            <a:ext cx="863339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sumOfPairs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length;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length; 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  sum +=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2400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sz="24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sum;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89684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Пытаемся оценить сложность алгоритма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3FF6DD0-0BCF-40E7-B8E2-FD59EE5B8F66}"/>
              </a:ext>
            </a:extLst>
          </p:cNvPr>
          <p:cNvSpPr txBox="1"/>
          <p:nvPr/>
        </p:nvSpPr>
        <p:spPr>
          <a:xfrm>
            <a:off x="1294865" y="2459504"/>
            <a:ext cx="96022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keys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{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0xDEADBEEF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0xC0FFEE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0xFFFF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get_key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keys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[n];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217043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Пытаемся оценить сложность алгоритма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0033C2-CC06-478F-A5B8-983730653384}"/>
              </a:ext>
            </a:extLst>
          </p:cNvPr>
          <p:cNvSpPr txBox="1"/>
          <p:nvPr/>
        </p:nvSpPr>
        <p:spPr>
          <a:xfrm>
            <a:off x="3460603" y="1581769"/>
            <a:ext cx="5270791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test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[]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length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sum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length;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j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j &lt; length;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j++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sum +=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+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[j];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(length &lt;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sum;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max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&lt;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 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++)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 &gt; max)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  max =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arr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i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];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} 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sum + max;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853457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Сортировки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7130C2-F2EC-4DAD-9526-8EDC842CDA8D}"/>
              </a:ext>
            </a:extLst>
          </p:cNvPr>
          <p:cNvSpPr txBox="1"/>
          <p:nvPr/>
        </p:nvSpPr>
        <p:spPr>
          <a:xfrm>
            <a:off x="4195438" y="2239127"/>
            <a:ext cx="380112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Залазим на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wiki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сортировками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4">
            <a:extLst>
              <a:ext uri="{FF2B5EF4-FFF2-40B4-BE49-F238E27FC236}">
                <a16:creationId xmlns:a16="http://schemas.microsoft.com/office/drawing/2014/main" id="{C7ACD6CD-0E2A-423A-A9D1-A67A7A090184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2663" y="2824559"/>
            <a:ext cx="2788410" cy="27884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49706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149271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Связанный список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1099DA-8A51-4746-863E-498F9D99C754}"/>
              </a:ext>
            </a:extLst>
          </p:cNvPr>
          <p:cNvSpPr txBox="1"/>
          <p:nvPr/>
        </p:nvSpPr>
        <p:spPr>
          <a:xfrm>
            <a:off x="907569" y="1098841"/>
            <a:ext cx="1059748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	Связанные список — это структура данных, которая хранит элементы в линейном порядке и позволяет вставлять и удалять элементы в любом месте последовательности. Списки могут быть односвязными, двусвязными или круговыми (циклическими). </a:t>
            </a: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42C138E-3C6A-4642-BD85-6E4898A2E83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207" t="7311" r="-1207" b="213"/>
          <a:stretch/>
        </p:blipFill>
        <p:spPr>
          <a:xfrm>
            <a:off x="1133141" y="2281643"/>
            <a:ext cx="10614433" cy="4181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8170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Связанные списки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Linked List)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CEAAE1C-82CA-473D-B121-AC809B48139A}"/>
              </a:ext>
            </a:extLst>
          </p:cNvPr>
          <p:cNvSpPr txBox="1"/>
          <p:nvPr/>
        </p:nvSpPr>
        <p:spPr>
          <a:xfrm>
            <a:off x="1310054" y="1773719"/>
            <a:ext cx="1027820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Связанный список представляет собой последовательность узлов, где каждый узел состоит из двух компонентов:</a:t>
            </a:r>
          </a:p>
          <a:p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Данные: любые значения, например, число, структуры и т.д.</a:t>
            </a:r>
          </a:p>
          <a:p>
            <a:pPr marL="342900" indent="-342900">
              <a:buFont typeface="+mj-lt"/>
              <a:buAutoNum type="arabicPeriod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Указатель: ссылка на следующий узел в списке.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1BE3F2-A87A-4EC9-B04F-7AEBAEC43BA4}"/>
              </a:ext>
            </a:extLst>
          </p:cNvPr>
          <p:cNvSpPr txBox="1"/>
          <p:nvPr/>
        </p:nvSpPr>
        <p:spPr>
          <a:xfrm>
            <a:off x="1310054" y="3961018"/>
            <a:ext cx="550398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Чтобы получить доступ к любому элементу (узлу), необходимо последовательно пройтись по всем узлам перед ним.</a:t>
            </a:r>
          </a:p>
        </p:txBody>
      </p:sp>
      <p:pic>
        <p:nvPicPr>
          <p:cNvPr id="7" name="Picture 4" descr="A Beginners Overview of Linked Lists in Python">
            <a:extLst>
              <a:ext uri="{FF2B5EF4-FFF2-40B4-BE49-F238E27FC236}">
                <a16:creationId xmlns:a16="http://schemas.microsoft.com/office/drawing/2014/main" id="{DE5F789F-064C-4BB4-92D1-10EC861C3F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4437" y="3698424"/>
            <a:ext cx="5204318" cy="29274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90900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Односвязные списки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BBEDE8-06B4-47AB-944D-6982C8914B47}"/>
              </a:ext>
            </a:extLst>
          </p:cNvPr>
          <p:cNvSpPr txBox="1"/>
          <p:nvPr/>
        </p:nvSpPr>
        <p:spPr>
          <a:xfrm>
            <a:off x="1133140" y="1671851"/>
            <a:ext cx="10483307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Односвязный список состоит из узлов. В каждом узле хранится указатель на следующий узел и сами данные. Указатели последнего узла (хвост -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tail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указывают на NULL, что указывает на конец связанного списка.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02DC72-A538-4F6B-B51F-73716448D9D4}"/>
              </a:ext>
            </a:extLst>
          </p:cNvPr>
          <p:cNvSpPr txBox="1"/>
          <p:nvPr/>
        </p:nvSpPr>
        <p:spPr>
          <a:xfrm>
            <a:off x="1133140" y="3499112"/>
            <a:ext cx="306354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node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{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data</a:t>
            </a:r>
            <a:endParaRPr lang="en-US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*</a:t>
            </a:r>
            <a:r>
              <a:rPr lang="ru-RU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};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25602" name="Picture 2" descr="alt text">
            <a:extLst>
              <a:ext uri="{FF2B5EF4-FFF2-40B4-BE49-F238E27FC236}">
                <a16:creationId xmlns:a16="http://schemas.microsoft.com/office/drawing/2014/main" id="{3804FAE8-3271-4A1A-A54D-F74D48AC44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7186" y="3429000"/>
            <a:ext cx="7460705" cy="1937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38479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CEF7D3C9-F027-4DFF-AC25-52606D3BE3A7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Создадим свой односвязный список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0DB1BF-5E9E-4424-860B-E071D4C6E128}"/>
              </a:ext>
            </a:extLst>
          </p:cNvPr>
          <p:cNvSpPr txBox="1"/>
          <p:nvPr/>
        </p:nvSpPr>
        <p:spPr>
          <a:xfrm>
            <a:off x="1019962" y="1603639"/>
            <a:ext cx="1076173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Здесь начинаем 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live code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(программировать в живую)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Создадим односвязный список и напишем функции вставка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удаление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</a:t>
            </a:r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длина списка и вывод списка</a:t>
            </a:r>
          </a:p>
        </p:txBody>
      </p:sp>
      <p:pic>
        <p:nvPicPr>
          <p:cNvPr id="24579" name="Picture 3" descr="hacker nigga Blank Template - Imgflip">
            <a:extLst>
              <a:ext uri="{FF2B5EF4-FFF2-40B4-BE49-F238E27FC236}">
                <a16:creationId xmlns:a16="http://schemas.microsoft.com/office/drawing/2014/main" id="{144225E3-943F-4DCB-902A-1581EAF72F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00" t="824" r="3864" b="1730"/>
          <a:stretch/>
        </p:blipFill>
        <p:spPr bwMode="auto">
          <a:xfrm>
            <a:off x="1229857" y="3456075"/>
            <a:ext cx="3113544" cy="28732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alt text">
            <a:extLst>
              <a:ext uri="{FF2B5EF4-FFF2-40B4-BE49-F238E27FC236}">
                <a16:creationId xmlns:a16="http://schemas.microsoft.com/office/drawing/2014/main" id="{3128A57A-4357-4D8B-AFAF-2031CB28E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9071" y="4129274"/>
            <a:ext cx="7460705" cy="19376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934875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2">
            <a:extLst>
              <a:ext uri="{FF2B5EF4-FFF2-40B4-BE49-F238E27FC236}">
                <a16:creationId xmlns:a16="http://schemas.microsoft.com/office/drawing/2014/main" id="{8B69733F-0158-48CC-AD66-3D9A4AB92330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00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Односвязный список (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Singly Linked List)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21BE18-6217-41B6-A87E-350F1EFEBA5A}"/>
              </a:ext>
            </a:extLst>
          </p:cNvPr>
          <p:cNvSpPr txBox="1"/>
          <p:nvPr/>
        </p:nvSpPr>
        <p:spPr>
          <a:xfrm>
            <a:off x="1502453" y="1600938"/>
            <a:ext cx="986763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Односвязный список состоит из узлов. В каждом узле хранится указатель на следующий узел и сами данные. Указатели последнего узла (хвост -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tail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указывают на NULL, что указывает на конец связанного списка (т.е. дальше нет узлов)</a:t>
            </a:r>
          </a:p>
        </p:txBody>
      </p:sp>
      <p:pic>
        <p:nvPicPr>
          <p:cNvPr id="2051" name="Picture 3" descr="alt text">
            <a:extLst>
              <a:ext uri="{FF2B5EF4-FFF2-40B4-BE49-F238E27FC236}">
                <a16:creationId xmlns:a16="http://schemas.microsoft.com/office/drawing/2014/main" id="{1CB01C8C-B9C7-44F0-8F01-904395596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53070" y="3429000"/>
            <a:ext cx="6455980" cy="16177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F82BCB8-FAAB-4D02-B56B-49CDC2E7FCA5}"/>
              </a:ext>
            </a:extLst>
          </p:cNvPr>
          <p:cNvSpPr txBox="1"/>
          <p:nvPr/>
        </p:nvSpPr>
        <p:spPr>
          <a:xfrm>
            <a:off x="2697315" y="5277658"/>
            <a:ext cx="58917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 структуры узла и односвязного списка из 3 узлов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E7D816-7E57-4241-A588-BFFF64D54DF0}"/>
              </a:ext>
            </a:extLst>
          </p:cNvPr>
          <p:cNvSpPr txBox="1"/>
          <p:nvPr/>
        </p:nvSpPr>
        <p:spPr>
          <a:xfrm>
            <a:off x="1502453" y="3359899"/>
            <a:ext cx="375061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{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typedef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struct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884826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2">
            <a:extLst>
              <a:ext uri="{FF2B5EF4-FFF2-40B4-BE49-F238E27FC236}">
                <a16:creationId xmlns:a16="http://schemas.microsoft.com/office/drawing/2014/main" id="{E4C795B3-5CE2-4496-85B4-DAED154AE161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Создаем узлы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B36D71-5363-49A7-BB66-78994295302B}"/>
              </a:ext>
            </a:extLst>
          </p:cNvPr>
          <p:cNvSpPr txBox="1"/>
          <p:nvPr/>
        </p:nvSpPr>
        <p:spPr>
          <a:xfrm>
            <a:off x="4188900" y="1483550"/>
            <a:ext cx="3296568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sz="1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en-US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endParaRPr lang="en-US" sz="1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r>
              <a:rPr lang="en-US" sz="1400" dirty="0">
                <a:solidFill>
                  <a:srgbClr val="CCCCCC"/>
                </a:solidFill>
                <a:latin typeface="Consolas" panose="020B0609020204030204" pitchFamily="49" charset="0"/>
              </a:rPr>
              <a:t>. . .</a:t>
            </a:r>
            <a:endParaRPr lang="ru-RU" sz="1400" dirty="0">
              <a:solidFill>
                <a:srgbClr val="CCCCCC"/>
              </a:solidFill>
              <a:latin typeface="Consolas" panose="020B0609020204030204" pitchFamily="49" charset="0"/>
            </a:endParaRPr>
          </a:p>
          <a:p>
            <a:b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fr-F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fr-F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node1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fr-F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fr-F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node2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fr-FR" sz="1400" b="0" dirty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fr-FR" sz="1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node3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fr-FR" sz="14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newNode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fr-FR" sz="1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fr-FR" sz="1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endParaRPr lang="fr-FR" sz="1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pic>
        <p:nvPicPr>
          <p:cNvPr id="4099" name="Picture 3" descr="alt text">
            <a:extLst>
              <a:ext uri="{FF2B5EF4-FFF2-40B4-BE49-F238E27FC236}">
                <a16:creationId xmlns:a16="http://schemas.microsoft.com/office/drawing/2014/main" id="{52EC9A81-4D85-4C45-889A-FA32C967D9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9"/>
          <a:stretch/>
        </p:blipFill>
        <p:spPr bwMode="auto">
          <a:xfrm>
            <a:off x="1555657" y="3237718"/>
            <a:ext cx="8692091" cy="29817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182008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35A8A6DA-F585-4F66-A306-B34DD2B42D9D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Создаем узлы</a:t>
            </a:r>
          </a:p>
        </p:txBody>
      </p:sp>
      <p:pic>
        <p:nvPicPr>
          <p:cNvPr id="5122" name="Picture 2" descr="alt text">
            <a:extLst>
              <a:ext uri="{FF2B5EF4-FFF2-40B4-BE49-F238E27FC236}">
                <a16:creationId xmlns:a16="http://schemas.microsoft.com/office/drawing/2014/main" id="{A21C4C44-7E23-4963-BAFD-53A7AA8B06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589" y="1657852"/>
            <a:ext cx="10543978" cy="2258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78C8D566-C176-4BD3-885E-10D6E41FA1F9}"/>
              </a:ext>
            </a:extLst>
          </p:cNvPr>
          <p:cNvSpPr txBox="1"/>
          <p:nvPr/>
        </p:nvSpPr>
        <p:spPr>
          <a:xfrm>
            <a:off x="824011" y="5080934"/>
            <a:ext cx="1036241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Указатели node1, node2 и node3 находятся в стеке и вероятнее всего будут лежать рядом друг с другом и друг за другом, а вот сами структуры находятся в куче и могут лежать совсем не по порядку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62D2749-EE53-485D-87AA-691165B38D85}"/>
              </a:ext>
            </a:extLst>
          </p:cNvPr>
          <p:cNvSpPr txBox="1"/>
          <p:nvPr/>
        </p:nvSpPr>
        <p:spPr>
          <a:xfrm>
            <a:off x="824011" y="4175449"/>
            <a:ext cx="1061255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Мы выделили память под три структуры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node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заполнили их числами и адрес начала каждой структуры записали в указатели node1, node2 и node3 соответственно</a:t>
            </a:r>
          </a:p>
        </p:txBody>
      </p:sp>
    </p:spTree>
    <p:extLst>
      <p:ext uri="{BB962C8B-B14F-4D97-AF65-F5344CB8AC3E}">
        <p14:creationId xmlns:p14="http://schemas.microsoft.com/office/powerpoint/2010/main" val="38402378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730CD5CD-F253-43FE-BF49-ED9CD72C1548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Связываем узлы</a:t>
            </a:r>
          </a:p>
        </p:txBody>
      </p:sp>
      <p:pic>
        <p:nvPicPr>
          <p:cNvPr id="6147" name="Picture 3" descr="alt text">
            <a:extLst>
              <a:ext uri="{FF2B5EF4-FFF2-40B4-BE49-F238E27FC236}">
                <a16:creationId xmlns:a16="http://schemas.microsoft.com/office/drawing/2014/main" id="{94146CFA-BEE7-471E-923B-5B81FA96C6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8836" y="1615193"/>
            <a:ext cx="10334465" cy="3000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2926C53-7368-4F0A-A500-2D07E9E9E52B}"/>
              </a:ext>
            </a:extLst>
          </p:cNvPr>
          <p:cNvSpPr txBox="1"/>
          <p:nvPr/>
        </p:nvSpPr>
        <p:spPr>
          <a:xfrm>
            <a:off x="2604463" y="4782868"/>
            <a:ext cx="38483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node1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node2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E92DE3-04EF-426E-9FBD-95A7CD1AA4BF}"/>
              </a:ext>
            </a:extLst>
          </p:cNvPr>
          <p:cNvSpPr txBox="1"/>
          <p:nvPr/>
        </p:nvSpPr>
        <p:spPr>
          <a:xfrm>
            <a:off x="6730297" y="4781142"/>
            <a:ext cx="40974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node2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-&gt;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node3</a:t>
            </a:r>
            <a: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279745436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7D0408B8-1A26-43F1-92E1-D64816CC1B11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Развяжем узел 2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(delete node 2)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170" name="Picture 2" descr="alt text">
            <a:extLst>
              <a:ext uri="{FF2B5EF4-FFF2-40B4-BE49-F238E27FC236}">
                <a16:creationId xmlns:a16="http://schemas.microsoft.com/office/drawing/2014/main" id="{EEA7C073-E686-4578-B1BB-9DD505489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4397" y="1888450"/>
            <a:ext cx="9583206" cy="28831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A1D5B6C-ACC8-4B10-8C7B-0D52BBF9C973}"/>
              </a:ext>
            </a:extLst>
          </p:cNvPr>
          <p:cNvSpPr txBox="1"/>
          <p:nvPr/>
        </p:nvSpPr>
        <p:spPr>
          <a:xfrm>
            <a:off x="1190885" y="5074985"/>
            <a:ext cx="992571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создании списка таким образом есть нюанс: под каждый узел мы создавали свою переменную-указатель со своим именем, а это не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серъезно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если мы захотим расширяться. В реальности пишут отдельные функции для добавления узла в список, например в конец, начало, между двумя любыми (в середину).</a:t>
            </a:r>
          </a:p>
        </p:txBody>
      </p:sp>
    </p:spTree>
    <p:extLst>
      <p:ext uri="{BB962C8B-B14F-4D97-AF65-F5344CB8AC3E}">
        <p14:creationId xmlns:p14="http://schemas.microsoft.com/office/powerpoint/2010/main" val="20130671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alt text">
            <a:extLst>
              <a:ext uri="{FF2B5EF4-FFF2-40B4-BE49-F238E27FC236}">
                <a16:creationId xmlns:a16="http://schemas.microsoft.com/office/drawing/2014/main" id="{E5D793F4-913D-44E9-AF81-678EF76559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4080" y="2569768"/>
            <a:ext cx="8243838" cy="34575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543FADAA-5BD8-4214-81CC-EBD1A6C3251D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Добавим голову к списку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6DC2F8-F5C5-481F-9873-7C9417C93EB0}"/>
              </a:ext>
            </a:extLst>
          </p:cNvPr>
          <p:cNvSpPr txBox="1"/>
          <p:nvPr/>
        </p:nvSpPr>
        <p:spPr>
          <a:xfrm>
            <a:off x="3048525" y="1647079"/>
            <a:ext cx="609494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Список пустой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node1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привяжемся к списку 1 -&gt; 3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11866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9A81F131-66F7-43FE-8A6C-D508EAAA9C4D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Проход по списку и его вывод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4C17576-E8CD-447C-B9DF-7CFD35DBAFC2}"/>
              </a:ext>
            </a:extLst>
          </p:cNvPr>
          <p:cNvSpPr txBox="1"/>
          <p:nvPr/>
        </p:nvSpPr>
        <p:spPr>
          <a:xfrm>
            <a:off x="746361" y="1715607"/>
            <a:ext cx="58178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Пока текущий узел не равен NULL: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Печатаем на экран данные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/>
              <a:t>Приравниваем текущий указатель на следующий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Список закончился</a:t>
            </a:r>
          </a:p>
        </p:txBody>
      </p:sp>
      <p:pic>
        <p:nvPicPr>
          <p:cNvPr id="9218" name="Picture 2" descr="alt text">
            <a:extLst>
              <a:ext uri="{FF2B5EF4-FFF2-40B4-BE49-F238E27FC236}">
                <a16:creationId xmlns:a16="http://schemas.microsoft.com/office/drawing/2014/main" id="{8F0228A1-0D92-4912-B4F8-5FE5C549AF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6361" y="3104101"/>
            <a:ext cx="5392377" cy="2232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0" name="Picture 4" descr="alt text">
            <a:extLst>
              <a:ext uri="{FF2B5EF4-FFF2-40B4-BE49-F238E27FC236}">
                <a16:creationId xmlns:a16="http://schemas.microsoft.com/office/drawing/2014/main" id="{E146E015-17E2-4653-9246-22134F190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4034" y="1609740"/>
            <a:ext cx="4962859" cy="2232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222" name="Picture 6" descr="alt text">
            <a:extLst>
              <a:ext uri="{FF2B5EF4-FFF2-40B4-BE49-F238E27FC236}">
                <a16:creationId xmlns:a16="http://schemas.microsoft.com/office/drawing/2014/main" id="{D22327C7-84A4-435D-A5D1-DC4EA191AE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4035" y="4234744"/>
            <a:ext cx="4962859" cy="2275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873606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Заголовок 2">
            <a:extLst>
              <a:ext uri="{FF2B5EF4-FFF2-40B4-BE49-F238E27FC236}">
                <a16:creationId xmlns:a16="http://schemas.microsoft.com/office/drawing/2014/main" id="{F6CF6776-696C-4A86-AA7E-FD693C0D51C5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Длина списка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7ECCE6-13C3-4A0F-89EB-CC25594DA038}"/>
              </a:ext>
            </a:extLst>
          </p:cNvPr>
          <p:cNvSpPr txBox="1"/>
          <p:nvPr/>
        </p:nvSpPr>
        <p:spPr>
          <a:xfrm>
            <a:off x="3048525" y="3417897"/>
            <a:ext cx="60949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Длина списка = 0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Пока текущий узел не равен NULL: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Длина списка + 1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Приравниваем текущий указатель на следующий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Возвращаем длину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602A8C-BDDD-4667-B4FC-C0ABDB0854C8}"/>
              </a:ext>
            </a:extLst>
          </p:cNvPr>
          <p:cNvSpPr txBox="1"/>
          <p:nvPr/>
        </p:nvSpPr>
        <p:spPr>
          <a:xfrm>
            <a:off x="3470646" y="2108112"/>
            <a:ext cx="525070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Возвращает длину списка (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int)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lengthList</a:t>
            </a:r>
            <a: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sz="2000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ru-RU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615276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F66EEF51-71E4-41D1-96B2-F8CB5B4287BD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</a:t>
            </a:r>
            <a:r>
              <a:rPr lang="ru-RU" dirty="0"/>
              <a:t> в списке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269353-9A37-4864-A5B7-E73E24DA6354}"/>
              </a:ext>
            </a:extLst>
          </p:cNvPr>
          <p:cNvSpPr txBox="1"/>
          <p:nvPr/>
        </p:nvSpPr>
        <p:spPr>
          <a:xfrm>
            <a:off x="2647292" y="2048205"/>
            <a:ext cx="689741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Функция поиска, проходим по списку, </a:t>
            </a:r>
            <a:endParaRPr lang="en-US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6A9955"/>
                </a:solidFill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если элемент в списке вернем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иначе 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false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bool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searchList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head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target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D18C7C-12F0-43BE-AF0F-F20D511CF9AC}"/>
              </a:ext>
            </a:extLst>
          </p:cNvPr>
          <p:cNvSpPr txBox="1"/>
          <p:nvPr/>
        </p:nvSpPr>
        <p:spPr>
          <a:xfrm>
            <a:off x="3048525" y="3593162"/>
            <a:ext cx="609494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Пока текущий узел не равен NULL: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data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искомой</a:t>
            </a:r>
          </a:p>
          <a:p>
            <a:pPr marL="1200150" lvl="2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Возвращаем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true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(искомый элемент есть в списке)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Приравниваем текущий указатель на следующий</a:t>
            </a:r>
          </a:p>
        </p:txBody>
      </p:sp>
    </p:spTree>
    <p:extLst>
      <p:ext uri="{BB962C8B-B14F-4D97-AF65-F5344CB8AC3E}">
        <p14:creationId xmlns:p14="http://schemas.microsoft.com/office/powerpoint/2010/main" val="123348387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57485359-5D72-4627-8CA0-B7FA62198B5D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элемента в начало</a:t>
            </a:r>
          </a:p>
        </p:txBody>
      </p:sp>
      <p:pic>
        <p:nvPicPr>
          <p:cNvPr id="10242" name="Picture 2" descr="alt text">
            <a:extLst>
              <a:ext uri="{FF2B5EF4-FFF2-40B4-BE49-F238E27FC236}">
                <a16:creationId xmlns:a16="http://schemas.microsoft.com/office/drawing/2014/main" id="{60B0CA64-502D-4222-B7DA-644196345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8242" y="3064816"/>
            <a:ext cx="7355512" cy="3093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61AF76-6A42-444F-87F0-2AF8E503FDEA}"/>
              </a:ext>
            </a:extLst>
          </p:cNvPr>
          <p:cNvSpPr txBox="1"/>
          <p:nvPr/>
        </p:nvSpPr>
        <p:spPr>
          <a:xfrm>
            <a:off x="2634679" y="1576189"/>
            <a:ext cx="69226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новый узел с заданным значением.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Установить следующий указатель нового узла на текущий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должен указывать на новый узел.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Вернуть новую голову списка.</a:t>
            </a:r>
          </a:p>
        </p:txBody>
      </p:sp>
    </p:spTree>
    <p:extLst>
      <p:ext uri="{BB962C8B-B14F-4D97-AF65-F5344CB8AC3E}">
        <p14:creationId xmlns:p14="http://schemas.microsoft.com/office/powerpoint/2010/main" val="42295588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57485359-5D72-4627-8CA0-B7FA62198B5D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Удаление первого узла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61AF76-6A42-444F-87F0-2AF8E503FDEA}"/>
              </a:ext>
            </a:extLst>
          </p:cNvPr>
          <p:cNvSpPr txBox="1"/>
          <p:nvPr/>
        </p:nvSpPr>
        <p:spPr>
          <a:xfrm>
            <a:off x="2634680" y="1557271"/>
            <a:ext cx="692263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Проверить, имеет ли голова значение NULL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да, то вернуть NULL (список пуст)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Сохранить текущий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во временной переменной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Переместить указатель головы на следующий узел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Удалить временный узел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Вернуть новый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связанного списка</a:t>
            </a:r>
          </a:p>
        </p:txBody>
      </p:sp>
      <p:pic>
        <p:nvPicPr>
          <p:cNvPr id="15362" name="Picture 2" descr="alt text">
            <a:extLst>
              <a:ext uri="{FF2B5EF4-FFF2-40B4-BE49-F238E27FC236}">
                <a16:creationId xmlns:a16="http://schemas.microsoft.com/office/drawing/2014/main" id="{F14DDFF1-C747-4716-81F5-7020DED36CA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0487" y="3546404"/>
            <a:ext cx="9371023" cy="19913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410778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57485359-5D72-4627-8CA0-B7FA62198B5D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 элемента в конец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61AF76-6A42-444F-87F0-2AF8E503FDEA}"/>
              </a:ext>
            </a:extLst>
          </p:cNvPr>
          <p:cNvSpPr txBox="1"/>
          <p:nvPr/>
        </p:nvSpPr>
        <p:spPr>
          <a:xfrm>
            <a:off x="1451477" y="1607720"/>
            <a:ext cx="928904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новый узел с заданным значением.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Проверить пуст ли список: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да, сделать новый узел головой и вернуть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Перемещаться по списку до тех пор, пока не будет достигнут последний узел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Связать новый узел с текущим последним узлом, установив указатель следующего узла у последнего узла на новый узел</a:t>
            </a:r>
          </a:p>
        </p:txBody>
      </p:sp>
      <p:pic>
        <p:nvPicPr>
          <p:cNvPr id="14338" name="Picture 2" descr="alt text">
            <a:extLst>
              <a:ext uri="{FF2B5EF4-FFF2-40B4-BE49-F238E27FC236}">
                <a16:creationId xmlns:a16="http://schemas.microsoft.com/office/drawing/2014/main" id="{E34C54C3-47D0-430D-B712-243B6EFA89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1477" y="3851370"/>
            <a:ext cx="9289045" cy="2256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2076896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57485359-5D72-4627-8CA0-B7FA62198B5D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Добавление</a:t>
            </a:r>
            <a:r>
              <a:rPr lang="ru-RU" dirty="0"/>
              <a:t> элемента в начало списка</a:t>
            </a:r>
          </a:p>
        </p:txBody>
      </p:sp>
      <p:pic>
        <p:nvPicPr>
          <p:cNvPr id="10242" name="Picture 2" descr="alt text">
            <a:extLst>
              <a:ext uri="{FF2B5EF4-FFF2-40B4-BE49-F238E27FC236}">
                <a16:creationId xmlns:a16="http://schemas.microsoft.com/office/drawing/2014/main" id="{60B0CA64-502D-4222-B7DA-6441963458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8242" y="3064816"/>
            <a:ext cx="7355512" cy="30930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961AF76-6A42-444F-87F0-2AF8E503FDEA}"/>
              </a:ext>
            </a:extLst>
          </p:cNvPr>
          <p:cNvSpPr txBox="1"/>
          <p:nvPr/>
        </p:nvSpPr>
        <p:spPr>
          <a:xfrm>
            <a:off x="2418242" y="1614026"/>
            <a:ext cx="692263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Создать новый узел с заданным значением.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Установить следующий указатель нового узла на текущий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должен указывать на новый узел.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Вернуть новую голову списка.</a:t>
            </a:r>
          </a:p>
        </p:txBody>
      </p:sp>
    </p:spTree>
    <p:extLst>
      <p:ext uri="{BB962C8B-B14F-4D97-AF65-F5344CB8AC3E}">
        <p14:creationId xmlns:p14="http://schemas.microsoft.com/office/powerpoint/2010/main" val="298461535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1AAB8ED9-172B-4AD1-AAE1-4E67B13A6692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Удаление последнего узла</a:t>
            </a:r>
          </a:p>
        </p:txBody>
      </p:sp>
      <p:pic>
        <p:nvPicPr>
          <p:cNvPr id="16386" name="Picture 2" descr="alt text">
            <a:extLst>
              <a:ext uri="{FF2B5EF4-FFF2-40B4-BE49-F238E27FC236}">
                <a16:creationId xmlns:a16="http://schemas.microsoft.com/office/drawing/2014/main" id="{07F4662E-E2D8-4156-9DB3-9FEC6869FF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1750" y="3967481"/>
            <a:ext cx="9648497" cy="260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AB2191-FF28-4C3C-AD1A-20E89E45BE23}"/>
              </a:ext>
            </a:extLst>
          </p:cNvPr>
          <p:cNvSpPr txBox="1"/>
          <p:nvPr/>
        </p:nvSpPr>
        <p:spPr>
          <a:xfrm>
            <a:off x="1271750" y="1438977"/>
            <a:ext cx="94009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Проверить пуст ли список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NULL)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да, вернуть NULL (список пуст)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Проверить, равен ли следующий узел от головы NULL (только один узел в списке - голова)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Если да, удалить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вернуть NULL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Пройти по списку, чтобы найти предпоследний узел (второй с конца)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Удалить последний узел (узел после предпоследнего)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Установить следующий указатель предпоследнего узла в NULL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Возвращаем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head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списка</a:t>
            </a:r>
          </a:p>
        </p:txBody>
      </p:sp>
    </p:spTree>
    <p:extLst>
      <p:ext uri="{BB962C8B-B14F-4D97-AF65-F5344CB8AC3E}">
        <p14:creationId xmlns:p14="http://schemas.microsoft.com/office/powerpoint/2010/main" val="12174932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08721C48-D618-4B47-A54A-D3DE236050A6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6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Вставка в середину и удаление из середины</a:t>
            </a:r>
          </a:p>
        </p:txBody>
      </p:sp>
      <p:pic>
        <p:nvPicPr>
          <p:cNvPr id="17412" name="Picture 4" descr="Я устал, я ухожу» Борис Ельцин — самый мемный президент России. Как он  вошел в историю интернета?: Интернет: Интернет и СМИ: Lenta.ru">
            <a:extLst>
              <a:ext uri="{FF2B5EF4-FFF2-40B4-BE49-F238E27FC236}">
                <a16:creationId xmlns:a16="http://schemas.microsoft.com/office/drawing/2014/main" id="{3D0F29D2-BD4F-4949-8EA0-FEF389E9DE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2079" y="3078376"/>
            <a:ext cx="5067842" cy="3375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D68553-7FEE-4DB2-99A4-C4452C80C00B}"/>
              </a:ext>
            </a:extLst>
          </p:cNvPr>
          <p:cNvSpPr txBox="1"/>
          <p:nvPr/>
        </p:nvSpPr>
        <p:spPr>
          <a:xfrm>
            <a:off x="1464617" y="1475051"/>
            <a:ext cx="97225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Здесь я уже устал рисовать и расписывать - поэтому самостоятельно.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Что для этого нужно сделать?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Понять все примеры выше с поиском и вставкой/удалением, а также не забывать вначале проверку на пустой список, чтоб не схватить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сегу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segfault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0067830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CD20947F-7E4C-46F6-A130-46C8196EE471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Стек</a:t>
            </a:r>
            <a:r>
              <a:rPr lang="ru-RU" dirty="0"/>
              <a:t> и Очередь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A59264-C7FC-466E-AE84-EEE8D99AC42D}"/>
              </a:ext>
            </a:extLst>
          </p:cNvPr>
          <p:cNvSpPr txBox="1"/>
          <p:nvPr/>
        </p:nvSpPr>
        <p:spPr>
          <a:xfrm>
            <a:off x="826112" y="1179274"/>
            <a:ext cx="10632265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Стек (англ.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стопка) - еще одна из простейших структур данных. Для описания стека часто используется аббревиатура LIFO (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Last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In, First Out), подчёркивающая, что элемент, попавший в стек последним, первым будет из него извлечён. Классический стек поддерживает всего лишь три операции: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Добавить элемент в стек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push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(Сложность: O(1))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Извлечь элемент из стека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pop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(Сложность: O(1))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Проверить, пуст ли стек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isEmpty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(Сложность: O(1))</a:t>
            </a:r>
          </a:p>
          <a:p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Очередь (англ.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queue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поддерживает тот же набор операций, что и стек, но имеет противоположную семантику. Для описания очереди используется аббревиатура FIFO (First In, First Out), так как первым из очереди извлекается элемент, раньше всех в неё добавленный.</a:t>
            </a:r>
          </a:p>
        </p:txBody>
      </p:sp>
      <p:pic>
        <p:nvPicPr>
          <p:cNvPr id="18438" name="Picture 6" descr="alt text">
            <a:extLst>
              <a:ext uri="{FF2B5EF4-FFF2-40B4-BE49-F238E27FC236}">
                <a16:creationId xmlns:a16="http://schemas.microsoft.com/office/drawing/2014/main" id="{12FDBC4E-8B51-4CA6-A11B-E330AF3331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4670" y="4360343"/>
            <a:ext cx="4981575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440" name="Picture 8" descr="Stack vs Queue">
            <a:extLst>
              <a:ext uri="{FF2B5EF4-FFF2-40B4-BE49-F238E27FC236}">
                <a16:creationId xmlns:a16="http://schemas.microsoft.com/office/drawing/2014/main" id="{849D4061-7D45-45BE-920B-8A8C846798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57" t="25488" b="26309"/>
          <a:stretch/>
        </p:blipFill>
        <p:spPr bwMode="auto">
          <a:xfrm>
            <a:off x="6930521" y="4360343"/>
            <a:ext cx="3947948" cy="2171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166461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3E938672-0952-4303-90D6-285843A50533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Примеры из реальной жизни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2F73B-FD2C-4BBB-8D2D-7E89F6A14DAF}"/>
              </a:ext>
            </a:extLst>
          </p:cNvPr>
          <p:cNvSpPr txBox="1"/>
          <p:nvPr/>
        </p:nvSpPr>
        <p:spPr>
          <a:xfrm>
            <a:off x="880766" y="1334751"/>
            <a:ext cx="1043046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Стеки используются для кнопок отмены в различных программах. Самые последние изменения помещаются в стек. Даже кнопка «Назад» в браузере работает с помощью стека, в который помещаются все недавно посещенные веб-страницы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Очереди: Представим, что у вас есть веб-сайт, который предоставляет файлы тысячам пользователей. Вы не можете обслуживать все запросы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одновременно, вы можете обрабатывать только, например, 100 за раз. Справедливой политикой будет подача в порядке очереди: обслуживайте 100 человек за раз в порядке их поступления.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Аналогично в многозадачной операционной системе ЦП не может выполнять все задания одновременно, поэтому задания необходимо группировать в пакеты, а затем планировать в соответствии с некоторой политикой. Опять же, очередь может быть подходящим вариантом в этом случае</a:t>
            </a:r>
          </a:p>
        </p:txBody>
      </p:sp>
      <p:pic>
        <p:nvPicPr>
          <p:cNvPr id="21506" name="Picture 2" descr="CS106B Stacks and Queues">
            <a:extLst>
              <a:ext uri="{FF2B5EF4-FFF2-40B4-BE49-F238E27FC236}">
                <a16:creationId xmlns:a16="http://schemas.microsoft.com/office/drawing/2014/main" id="{5BB50EEF-B302-4065-870C-4A5C1354D8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44" b="1866"/>
          <a:stretch/>
        </p:blipFill>
        <p:spPr bwMode="auto">
          <a:xfrm>
            <a:off x="6095999" y="4786411"/>
            <a:ext cx="4656081" cy="18320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188468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3E938672-0952-4303-90D6-285843A50533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Двусвязный список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7B63C32-1B2B-4CCF-8036-83917C272CD2}"/>
              </a:ext>
            </a:extLst>
          </p:cNvPr>
          <p:cNvSpPr txBox="1"/>
          <p:nvPr/>
        </p:nvSpPr>
        <p:spPr>
          <a:xfrm>
            <a:off x="1808272" y="1781351"/>
            <a:ext cx="742713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prev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предыдущий узел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data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любые данные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node_t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*</a:t>
            </a:r>
            <a:r>
              <a:rPr lang="ru-RU" b="0" dirty="0" err="1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next</a:t>
            </a:r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указатель на следующий узел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};</a:t>
            </a:r>
          </a:p>
        </p:txBody>
      </p:sp>
      <p:pic>
        <p:nvPicPr>
          <p:cNvPr id="20482" name="Picture 2" descr="alt text">
            <a:extLst>
              <a:ext uri="{FF2B5EF4-FFF2-40B4-BE49-F238E27FC236}">
                <a16:creationId xmlns:a16="http://schemas.microsoft.com/office/drawing/2014/main" id="{36A837DF-B557-48E7-A60E-57531F7E6C7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08272" y="3599322"/>
            <a:ext cx="8066887" cy="197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6149116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3E938672-0952-4303-90D6-285843A50533}"/>
              </a:ext>
            </a:extLst>
          </p:cNvPr>
          <p:cNvSpPr txBox="1">
            <a:spLocks/>
          </p:cNvSpPr>
          <p:nvPr/>
        </p:nvSpPr>
        <p:spPr>
          <a:xfrm>
            <a:off x="1133141" y="289948"/>
            <a:ext cx="9925717" cy="92768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Циклический</a:t>
            </a:r>
            <a:r>
              <a:rPr lang="ru-RU" dirty="0"/>
              <a:t> список</a:t>
            </a:r>
          </a:p>
        </p:txBody>
      </p:sp>
      <p:pic>
        <p:nvPicPr>
          <p:cNvPr id="22530" name="Picture 2" descr="alt text">
            <a:extLst>
              <a:ext uri="{FF2B5EF4-FFF2-40B4-BE49-F238E27FC236}">
                <a16:creationId xmlns:a16="http://schemas.microsoft.com/office/drawing/2014/main" id="{CDC36120-7F0D-48C7-8396-1F8A028566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499" y="1485900"/>
            <a:ext cx="9525000" cy="1943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532" name="Picture 4" descr="alt text">
            <a:extLst>
              <a:ext uri="{FF2B5EF4-FFF2-40B4-BE49-F238E27FC236}">
                <a16:creationId xmlns:a16="http://schemas.microsoft.com/office/drawing/2014/main" id="{D26C9937-8A89-43B5-9299-86D5FF907D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3499" y="3624492"/>
            <a:ext cx="9534525" cy="218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5784249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D8EE967-943B-407F-8E78-2668FBEBC15D}"/>
              </a:ext>
            </a:extLst>
          </p:cNvPr>
          <p:cNvSpPr txBox="1"/>
          <p:nvPr/>
        </p:nvSpPr>
        <p:spPr>
          <a:xfrm>
            <a:off x="2541212" y="1654106"/>
            <a:ext cx="652098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dirty="0"/>
              <a:t>https://github.com/kruffka/C-Programming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BA00CC5-DBBE-4494-A2EC-6CA07C6372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2466" y="2177326"/>
            <a:ext cx="3498480" cy="34984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7680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2848</TotalTime>
  <Words>2993</Words>
  <Application>Microsoft Office PowerPoint</Application>
  <PresentationFormat>Широкоэкранный</PresentationFormat>
  <Paragraphs>312</Paragraphs>
  <Slides>44</Slides>
  <Notes>44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44</vt:i4>
      </vt:variant>
    </vt:vector>
  </HeadingPairs>
  <TitlesOfParts>
    <vt:vector size="50" baseType="lpstr">
      <vt:lpstr>Arial</vt:lpstr>
      <vt:lpstr>Calibri</vt:lpstr>
      <vt:lpstr>Calibri Light</vt:lpstr>
      <vt:lpstr>Consolas</vt:lpstr>
      <vt:lpstr>Times New Roman</vt:lpstr>
      <vt:lpstr>Office Theme</vt:lpstr>
      <vt:lpstr>C Programming 14_linked_lists</vt:lpstr>
      <vt:lpstr>Алгоритмы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893</cp:revision>
  <dcterms:created xsi:type="dcterms:W3CDTF">2019-12-17T14:15:21Z</dcterms:created>
  <dcterms:modified xsi:type="dcterms:W3CDTF">2026-02-20T11:52:21Z</dcterms:modified>
</cp:coreProperties>
</file>