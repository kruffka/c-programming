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56" r:id="rId2"/>
    <p:sldId id="270" r:id="rId3"/>
    <p:sldId id="296" r:id="rId4"/>
    <p:sldId id="269" r:id="rId5"/>
    <p:sldId id="272" r:id="rId6"/>
    <p:sldId id="297" r:id="rId7"/>
    <p:sldId id="304" r:id="rId8"/>
    <p:sldId id="273" r:id="rId9"/>
    <p:sldId id="298" r:id="rId10"/>
    <p:sldId id="305" r:id="rId11"/>
    <p:sldId id="274" r:id="rId12"/>
    <p:sldId id="299" r:id="rId13"/>
    <p:sldId id="306" r:id="rId14"/>
    <p:sldId id="275" r:id="rId15"/>
    <p:sldId id="300" r:id="rId16"/>
    <p:sldId id="307" r:id="rId17"/>
    <p:sldId id="291" r:id="rId18"/>
    <p:sldId id="301" r:id="rId19"/>
    <p:sldId id="302" r:id="rId20"/>
    <p:sldId id="294" r:id="rId21"/>
    <p:sldId id="295" r:id="rId22"/>
    <p:sldId id="292" r:id="rId23"/>
    <p:sldId id="310" r:id="rId24"/>
    <p:sldId id="309" r:id="rId25"/>
    <p:sldId id="311" r:id="rId26"/>
    <p:sldId id="308" r:id="rId27"/>
    <p:sldId id="278" r:id="rId28"/>
    <p:sldId id="290" r:id="rId2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rey Veyler" initials="AV" lastIdx="1" clrIdx="0">
    <p:extLst>
      <p:ext uri="{19B8F6BF-5375-455C-9EA6-DF929625EA0E}">
        <p15:presenceInfo xmlns:p15="http://schemas.microsoft.com/office/powerpoint/2012/main" userId="3d9934d1e83c21f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6D9F66E-5EB9-4882-86FB-DCBF35E3C3E4}" styleName="Средний стиль 4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30" autoAdjust="0"/>
  </p:normalViewPr>
  <p:slideViewPr>
    <p:cSldViewPr snapToGrid="0">
      <p:cViewPr varScale="1">
        <p:scale>
          <a:sx n="35" d="100"/>
          <a:sy n="35" d="100"/>
        </p:scale>
        <p:origin x="1002" y="4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F5437-F444-4613-A039-4AD69D91C86A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7EAB29-8E86-49C7-96F5-7C9D720761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5886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9856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5935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В Языке Си можно задавать значения переменных с помощью приставок:</a:t>
            </a:r>
          </a:p>
          <a:p>
            <a:r>
              <a:rPr lang="ru-RU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**без приставки**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decimal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(десятичная)</a:t>
            </a:r>
          </a:p>
          <a:p>
            <a:r>
              <a:rPr lang="ru-RU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**0x**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hexademical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шестнадатеричная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ru-RU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**0**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octal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(восьмеричная)</a:t>
            </a:r>
          </a:p>
          <a:p>
            <a:r>
              <a:rPr lang="ru-RU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**0b**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binary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(двоичная)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А также выводить следующие значения в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ru-RU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**%d**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dec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**%x**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hex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**%o**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oct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04014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90737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89403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02970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94061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41599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8925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43665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15755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25017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44078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не запутаться с минусом, </a:t>
            </a:r>
            <a:r>
              <a:rPr lang="ru-RU" b="1" dirty="0"/>
              <a:t>обычно</a:t>
            </a:r>
            <a:r>
              <a:rPr lang="ru-RU" dirty="0"/>
              <a:t> при работе с </a:t>
            </a:r>
            <a:r>
              <a:rPr lang="ru-RU" b="1" dirty="0"/>
              <a:t>битовыми операциями </a:t>
            </a:r>
            <a:r>
              <a:rPr lang="ru-RU" dirty="0"/>
              <a:t>создают переменные </a:t>
            </a:r>
            <a:r>
              <a:rPr lang="ru-RU" b="1" dirty="0" err="1"/>
              <a:t>unsigned</a:t>
            </a:r>
            <a:r>
              <a:rPr lang="ru-RU" dirty="0"/>
              <a:t> типа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5090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44649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88963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0274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В двоичном виде: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```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 = 3  = 00000011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 &lt;&lt; 1 = 00000110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```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Несложно заметить что все биты сдвинулись ровно на один. Теперь попробуем сдвинуть влево a на 5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```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 = 3  = 00000011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 &lt;&lt; 5 = 01100000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```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Увидим, что появилось 5 нулей перед нашими '1', это и есть результат сдвига числа 3 влево на 5 бит. Переменная типа 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ru-RU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занимает 1 байт**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а что будет если сдвинуть эту переменную на 7 бит влево?</a:t>
            </a:r>
          </a:p>
          <a:p>
            <a:b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```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 = 3  = 00000011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 &lt;&lt; 7 = 10000000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```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На самом деле самая первая единичка навсегда убежит, а результат будет = -128 (для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signed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и 128 для (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           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Если взять любую переменную типа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и 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**сдвинуть влево на 8 бит, то получим 0**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                         </a:t>
            </a:r>
          </a:p>
          <a:p>
            <a:b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88099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**Важно:**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При сдвиге вправо или влево при сдвиге битов за наш допустимый размер мы эти биты теряем. Исключением являются отрицательные числа (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signed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тип данных). Если самый старший бит содержит 1 и сдвинуть все число вправо на X бит, то справа мы потеряем X бит, а слева в старшие биты запишется X единиц - такое работает лишь для 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**знаковых типов данных**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    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30162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57946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1562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5224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99069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93355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64748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84155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00550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8560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4783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6502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1211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9404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0888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2053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9032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295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0088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6095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0999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F7D01-7D49-4F37-AA30-F04C65571A4A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17906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521262"/>
            <a:ext cx="9144000" cy="2387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Programming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4_bitwise_ops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762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357101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Зачем?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CCE7DDC-8F29-45EA-AA80-47F8698C0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7288" y="3847953"/>
            <a:ext cx="4856819" cy="2215665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B42D00-BD06-422C-8661-9FA4A1DDBF29}"/>
              </a:ext>
            </a:extLst>
          </p:cNvPr>
          <p:cNvSpPr txBox="1"/>
          <p:nvPr/>
        </p:nvSpPr>
        <p:spPr>
          <a:xfrm>
            <a:off x="1098141" y="1814194"/>
            <a:ext cx="1039284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Битовые операции: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Позволяют работать с отдельными битами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Работают быстрее некоторых арифметических операций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DBBE37-7D71-46A0-B3AD-E7B7142B0080}"/>
              </a:ext>
            </a:extLst>
          </p:cNvPr>
          <p:cNvSpPr txBox="1"/>
          <p:nvPr/>
        </p:nvSpPr>
        <p:spPr>
          <a:xfrm>
            <a:off x="846776" y="3986289"/>
            <a:ext cx="625051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Картинка с котиком из интернета (метаинформация)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пакет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который доставил нам эту картинку, он также использует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отдельные биты в своем заголовке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Различные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алгоритмы шифрования</a:t>
            </a:r>
          </a:p>
        </p:txBody>
      </p:sp>
    </p:spTree>
    <p:extLst>
      <p:ext uri="{BB962C8B-B14F-4D97-AF65-F5344CB8AC3E}">
        <p14:creationId xmlns:p14="http://schemas.microsoft.com/office/powerpoint/2010/main" val="863335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357101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printf</a:t>
            </a:r>
            <a:r>
              <a:rPr lang="en-US" dirty="0"/>
              <a:t> bin?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221C6E-6C4B-4DBE-A492-AC230574EE52}"/>
              </a:ext>
            </a:extLst>
          </p:cNvPr>
          <p:cNvSpPr txBox="1"/>
          <p:nvPr/>
        </p:nvSpPr>
        <p:spPr>
          <a:xfrm>
            <a:off x="2896019" y="2478859"/>
            <a:ext cx="747138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sv-SE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dec </a:t>
            </a:r>
            <a:r>
              <a:rPr lang="sv-SE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v-SE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123</a:t>
            </a:r>
            <a:r>
              <a:rPr lang="sv-SE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v-SE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sv-SE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hex </a:t>
            </a:r>
            <a:r>
              <a:rPr lang="sv-SE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v-SE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0x7b</a:t>
            </a:r>
            <a:r>
              <a:rPr lang="sv-SE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sv-SE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or 0x7B</a:t>
            </a:r>
            <a:endParaRPr lang="sv-SE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sv-SE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sv-SE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oct </a:t>
            </a:r>
            <a:r>
              <a:rPr lang="sv-SE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v-SE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0173</a:t>
            </a:r>
            <a:r>
              <a:rPr lang="sv-SE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v-SE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sv-SE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bin </a:t>
            </a:r>
            <a:r>
              <a:rPr lang="sv-SE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v-SE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0b1111011</a:t>
            </a:r>
            <a:r>
              <a:rPr lang="sv-SE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sv-SE" sz="2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b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dec, hex, oct, bin);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%x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%o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== ?"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dec, hex, oct);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719201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497632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Bitwise Operators</a:t>
            </a:r>
            <a:endParaRPr lang="ru-RU" dirty="0"/>
          </a:p>
        </p:txBody>
      </p:sp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E254EB63-E563-4283-9B96-057DE566EB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145965"/>
              </p:ext>
            </p:extLst>
          </p:nvPr>
        </p:nvGraphicFramePr>
        <p:xfrm>
          <a:off x="3868094" y="2219193"/>
          <a:ext cx="5729952" cy="30329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7885">
                  <a:extLst>
                    <a:ext uri="{9D8B030D-6E8A-4147-A177-3AD203B41FA5}">
                      <a16:colId xmlns:a16="http://schemas.microsoft.com/office/drawing/2014/main" val="308611735"/>
                    </a:ext>
                  </a:extLst>
                </a:gridCol>
                <a:gridCol w="4192067">
                  <a:extLst>
                    <a:ext uri="{9D8B030D-6E8A-4147-A177-3AD203B41FA5}">
                      <a16:colId xmlns:a16="http://schemas.microsoft.com/office/drawing/2014/main" val="3822017701"/>
                    </a:ext>
                  </a:extLst>
                </a:gridCol>
              </a:tblGrid>
              <a:tr h="591837"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 (</a:t>
                      </a:r>
                      <a:r>
                        <a:rPr lang="ru-RU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748124"/>
                  </a:ext>
                </a:extLst>
              </a:tr>
              <a:tr h="591837"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</a:t>
                      </a:r>
                      <a:r>
                        <a:rPr lang="ru-RU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(ИЛИ)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3282311"/>
                  </a:ext>
                </a:extLst>
              </a:tr>
              <a:tr h="591837"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&gt;&gt;, &lt;&lt;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Shift</a:t>
                      </a:r>
                      <a:r>
                        <a:rPr lang="ru-RU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(Сдвиг)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654681"/>
                  </a:ext>
                </a:extLst>
              </a:tr>
              <a:tr h="6655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</a:t>
                      </a:r>
                      <a:r>
                        <a:rPr lang="ru-RU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(Отрицание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360729"/>
                  </a:ext>
                </a:extLst>
              </a:tr>
              <a:tr h="591837"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^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XOR</a:t>
                      </a:r>
                      <a:r>
                        <a:rPr lang="ru-RU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ru-RU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Искл</a:t>
                      </a:r>
                      <a:r>
                        <a:rPr lang="ru-RU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ИЛИ)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87880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CA58796-5C13-47B7-A9F8-E8F6EC1B054B}"/>
              </a:ext>
            </a:extLst>
          </p:cNvPr>
          <p:cNvSpPr txBox="1"/>
          <p:nvPr/>
        </p:nvSpPr>
        <p:spPr>
          <a:xfrm>
            <a:off x="683476" y="5960258"/>
            <a:ext cx="110257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путать: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Один символ `&amp;` -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побитовое 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два символа `&amp;&amp;` -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логическое 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тоже самое с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ИЛИ</a:t>
            </a:r>
          </a:p>
        </p:txBody>
      </p:sp>
    </p:spTree>
    <p:extLst>
      <p:ext uri="{BB962C8B-B14F-4D97-AF65-F5344CB8AC3E}">
        <p14:creationId xmlns:p14="http://schemas.microsoft.com/office/powerpoint/2010/main" val="1534910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497632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AND (</a:t>
            </a:r>
            <a:r>
              <a:rPr lang="ru-RU" dirty="0"/>
              <a:t>И</a:t>
            </a:r>
            <a:r>
              <a:rPr lang="en-US" dirty="0"/>
              <a:t>)</a:t>
            </a:r>
            <a:r>
              <a:rPr lang="ru-RU" dirty="0"/>
              <a:t> </a:t>
            </a:r>
            <a:r>
              <a:rPr lang="en-US" dirty="0"/>
              <a:t>“&amp;”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1297FF-3408-40A1-8775-E2802D306B64}"/>
              </a:ext>
            </a:extLst>
          </p:cNvPr>
          <p:cNvSpPr txBox="1"/>
          <p:nvPr/>
        </p:nvSpPr>
        <p:spPr>
          <a:xfrm>
            <a:off x="7370007" y="2109749"/>
            <a:ext cx="257062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 =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&amp; b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= 00000011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= 00000111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&amp;= 00000011</a:t>
            </a:r>
          </a:p>
        </p:txBody>
      </p:sp>
      <p:graphicFrame>
        <p:nvGraphicFramePr>
          <p:cNvPr id="4" name="Таблица 2">
            <a:extLst>
              <a:ext uri="{FF2B5EF4-FFF2-40B4-BE49-F238E27FC236}">
                <a16:creationId xmlns:a16="http://schemas.microsoft.com/office/drawing/2014/main" id="{54CFB655-F4DF-49DF-9224-39794F3969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9030637"/>
              </p:ext>
            </p:extLst>
          </p:nvPr>
        </p:nvGraphicFramePr>
        <p:xfrm>
          <a:off x="2797781" y="2109749"/>
          <a:ext cx="2671729" cy="30329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6010">
                  <a:extLst>
                    <a:ext uri="{9D8B030D-6E8A-4147-A177-3AD203B41FA5}">
                      <a16:colId xmlns:a16="http://schemas.microsoft.com/office/drawing/2014/main" val="308611735"/>
                    </a:ext>
                  </a:extLst>
                </a:gridCol>
                <a:gridCol w="766846">
                  <a:extLst>
                    <a:ext uri="{9D8B030D-6E8A-4147-A177-3AD203B41FA5}">
                      <a16:colId xmlns:a16="http://schemas.microsoft.com/office/drawing/2014/main" val="3822017701"/>
                    </a:ext>
                  </a:extLst>
                </a:gridCol>
                <a:gridCol w="1218873">
                  <a:extLst>
                    <a:ext uri="{9D8B030D-6E8A-4147-A177-3AD203B41FA5}">
                      <a16:colId xmlns:a16="http://schemas.microsoft.com/office/drawing/2014/main" val="559690074"/>
                    </a:ext>
                  </a:extLst>
                </a:gridCol>
              </a:tblGrid>
              <a:tr h="59183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748124"/>
                  </a:ext>
                </a:extLst>
              </a:tr>
              <a:tr h="59183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3282311"/>
                  </a:ext>
                </a:extLst>
              </a:tr>
              <a:tr h="59183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654681"/>
                  </a:ext>
                </a:extLst>
              </a:tr>
              <a:tr h="6655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360729"/>
                  </a:ext>
                </a:extLst>
              </a:tr>
              <a:tr h="59183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878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6195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3" y="426193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&amp; b = ?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1297FF-3408-40A1-8775-E2802D306B64}"/>
              </a:ext>
            </a:extLst>
          </p:cNvPr>
          <p:cNvSpPr txBox="1"/>
          <p:nvPr/>
        </p:nvSpPr>
        <p:spPr>
          <a:xfrm>
            <a:off x="4227980" y="3013501"/>
            <a:ext cx="39793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17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 = 5</a:t>
            </a:r>
          </a:p>
        </p:txBody>
      </p:sp>
    </p:spTree>
    <p:extLst>
      <p:ext uri="{BB962C8B-B14F-4D97-AF65-F5344CB8AC3E}">
        <p14:creationId xmlns:p14="http://schemas.microsoft.com/office/powerpoint/2010/main" val="391244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3" y="426193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&amp; b = ?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1297FF-3408-40A1-8775-E2802D306B64}"/>
              </a:ext>
            </a:extLst>
          </p:cNvPr>
          <p:cNvSpPr txBox="1"/>
          <p:nvPr/>
        </p:nvSpPr>
        <p:spPr>
          <a:xfrm>
            <a:off x="4227980" y="3013501"/>
            <a:ext cx="397931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17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 = 5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&amp; b = 1</a:t>
            </a:r>
          </a:p>
        </p:txBody>
      </p:sp>
    </p:spTree>
    <p:extLst>
      <p:ext uri="{BB962C8B-B14F-4D97-AF65-F5344CB8AC3E}">
        <p14:creationId xmlns:p14="http://schemas.microsoft.com/office/powerpoint/2010/main" val="3019002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497632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OR (</a:t>
            </a:r>
            <a:r>
              <a:rPr lang="ru-RU" dirty="0"/>
              <a:t>ИЛИ</a:t>
            </a:r>
            <a:r>
              <a:rPr lang="en-US" dirty="0"/>
              <a:t>)</a:t>
            </a:r>
            <a:r>
              <a:rPr lang="ru-RU" dirty="0"/>
              <a:t> </a:t>
            </a:r>
            <a:r>
              <a:rPr lang="en-US" dirty="0"/>
              <a:t>“|”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1297FF-3408-40A1-8775-E2802D306B64}"/>
              </a:ext>
            </a:extLst>
          </p:cNvPr>
          <p:cNvSpPr txBox="1"/>
          <p:nvPr/>
        </p:nvSpPr>
        <p:spPr>
          <a:xfrm>
            <a:off x="6993971" y="2229506"/>
            <a:ext cx="253278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 =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7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= 00000011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= 00000111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 = 00000111</a:t>
            </a:r>
          </a:p>
        </p:txBody>
      </p:sp>
      <p:graphicFrame>
        <p:nvGraphicFramePr>
          <p:cNvPr id="4" name="Таблица 2">
            <a:extLst>
              <a:ext uri="{FF2B5EF4-FFF2-40B4-BE49-F238E27FC236}">
                <a16:creationId xmlns:a16="http://schemas.microsoft.com/office/drawing/2014/main" id="{24DA957F-850E-42B4-9809-13A17387D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2405890"/>
              </p:ext>
            </p:extLst>
          </p:nvPr>
        </p:nvGraphicFramePr>
        <p:xfrm>
          <a:off x="2665244" y="2236535"/>
          <a:ext cx="2671729" cy="30329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6010">
                  <a:extLst>
                    <a:ext uri="{9D8B030D-6E8A-4147-A177-3AD203B41FA5}">
                      <a16:colId xmlns:a16="http://schemas.microsoft.com/office/drawing/2014/main" val="308611735"/>
                    </a:ext>
                  </a:extLst>
                </a:gridCol>
                <a:gridCol w="766846">
                  <a:extLst>
                    <a:ext uri="{9D8B030D-6E8A-4147-A177-3AD203B41FA5}">
                      <a16:colId xmlns:a16="http://schemas.microsoft.com/office/drawing/2014/main" val="3822017701"/>
                    </a:ext>
                  </a:extLst>
                </a:gridCol>
                <a:gridCol w="1218873">
                  <a:extLst>
                    <a:ext uri="{9D8B030D-6E8A-4147-A177-3AD203B41FA5}">
                      <a16:colId xmlns:a16="http://schemas.microsoft.com/office/drawing/2014/main" val="559690074"/>
                    </a:ext>
                  </a:extLst>
                </a:gridCol>
              </a:tblGrid>
              <a:tr h="59183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748124"/>
                  </a:ext>
                </a:extLst>
              </a:tr>
              <a:tr h="59183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3282311"/>
                  </a:ext>
                </a:extLst>
              </a:tr>
              <a:tr h="59183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654681"/>
                  </a:ext>
                </a:extLst>
              </a:tr>
              <a:tr h="6655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360729"/>
                  </a:ext>
                </a:extLst>
              </a:tr>
              <a:tr h="59183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878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1181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3" y="426193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| b = ?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1297FF-3408-40A1-8775-E2802D306B64}"/>
              </a:ext>
            </a:extLst>
          </p:cNvPr>
          <p:cNvSpPr txBox="1"/>
          <p:nvPr/>
        </p:nvSpPr>
        <p:spPr>
          <a:xfrm>
            <a:off x="4205678" y="3013501"/>
            <a:ext cx="39793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17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 = 6</a:t>
            </a:r>
          </a:p>
        </p:txBody>
      </p:sp>
    </p:spTree>
    <p:extLst>
      <p:ext uri="{BB962C8B-B14F-4D97-AF65-F5344CB8AC3E}">
        <p14:creationId xmlns:p14="http://schemas.microsoft.com/office/powerpoint/2010/main" val="642293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3" y="426193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| b = ?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1297FF-3408-40A1-8775-E2802D306B64}"/>
              </a:ext>
            </a:extLst>
          </p:cNvPr>
          <p:cNvSpPr txBox="1"/>
          <p:nvPr/>
        </p:nvSpPr>
        <p:spPr>
          <a:xfrm>
            <a:off x="4205678" y="3013501"/>
            <a:ext cx="397931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17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 = 6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| b = 23</a:t>
            </a:r>
          </a:p>
        </p:txBody>
      </p:sp>
    </p:spTree>
    <p:extLst>
      <p:ext uri="{BB962C8B-B14F-4D97-AF65-F5344CB8AC3E}">
        <p14:creationId xmlns:p14="http://schemas.microsoft.com/office/powerpoint/2010/main" val="1521792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497632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XOR (</a:t>
            </a:r>
            <a:r>
              <a:rPr lang="ru-RU" dirty="0"/>
              <a:t>Исключающее ИЛИ</a:t>
            </a:r>
            <a:r>
              <a:rPr lang="en-US" dirty="0"/>
              <a:t>)</a:t>
            </a:r>
            <a:r>
              <a:rPr lang="ru-RU" dirty="0"/>
              <a:t> </a:t>
            </a:r>
            <a:r>
              <a:rPr lang="en-US" dirty="0"/>
              <a:t>“^” 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1297FF-3408-40A1-8775-E2802D306B64}"/>
              </a:ext>
            </a:extLst>
          </p:cNvPr>
          <p:cNvSpPr txBox="1"/>
          <p:nvPr/>
        </p:nvSpPr>
        <p:spPr>
          <a:xfrm>
            <a:off x="7023119" y="2097912"/>
            <a:ext cx="295530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 =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= 00000011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= 00000111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 = 00000100</a:t>
            </a:r>
          </a:p>
        </p:txBody>
      </p:sp>
      <p:graphicFrame>
        <p:nvGraphicFramePr>
          <p:cNvPr id="4" name="Таблица 2">
            <a:extLst>
              <a:ext uri="{FF2B5EF4-FFF2-40B4-BE49-F238E27FC236}">
                <a16:creationId xmlns:a16="http://schemas.microsoft.com/office/drawing/2014/main" id="{E8DDAF36-AB22-425E-AC7C-EF3719F37E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607771"/>
              </p:ext>
            </p:extLst>
          </p:nvPr>
        </p:nvGraphicFramePr>
        <p:xfrm>
          <a:off x="2754454" y="2104941"/>
          <a:ext cx="2671729" cy="30329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6010">
                  <a:extLst>
                    <a:ext uri="{9D8B030D-6E8A-4147-A177-3AD203B41FA5}">
                      <a16:colId xmlns:a16="http://schemas.microsoft.com/office/drawing/2014/main" val="308611735"/>
                    </a:ext>
                  </a:extLst>
                </a:gridCol>
                <a:gridCol w="766846">
                  <a:extLst>
                    <a:ext uri="{9D8B030D-6E8A-4147-A177-3AD203B41FA5}">
                      <a16:colId xmlns:a16="http://schemas.microsoft.com/office/drawing/2014/main" val="3822017701"/>
                    </a:ext>
                  </a:extLst>
                </a:gridCol>
                <a:gridCol w="1218873">
                  <a:extLst>
                    <a:ext uri="{9D8B030D-6E8A-4147-A177-3AD203B41FA5}">
                      <a16:colId xmlns:a16="http://schemas.microsoft.com/office/drawing/2014/main" val="559690074"/>
                    </a:ext>
                  </a:extLst>
                </a:gridCol>
              </a:tblGrid>
              <a:tr h="59183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^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748124"/>
                  </a:ext>
                </a:extLst>
              </a:tr>
              <a:tr h="59183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3282311"/>
                  </a:ext>
                </a:extLst>
              </a:tr>
              <a:tr h="59183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654681"/>
                  </a:ext>
                </a:extLst>
              </a:tr>
              <a:tr h="6655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360729"/>
                  </a:ext>
                </a:extLst>
              </a:tr>
              <a:tr h="59183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878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0067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3" y="426193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^ b = ?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1297FF-3408-40A1-8775-E2802D306B64}"/>
              </a:ext>
            </a:extLst>
          </p:cNvPr>
          <p:cNvSpPr txBox="1"/>
          <p:nvPr/>
        </p:nvSpPr>
        <p:spPr>
          <a:xfrm>
            <a:off x="4406400" y="3013501"/>
            <a:ext cx="39793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17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 = 8</a:t>
            </a:r>
          </a:p>
        </p:txBody>
      </p:sp>
    </p:spTree>
    <p:extLst>
      <p:ext uri="{BB962C8B-B14F-4D97-AF65-F5344CB8AC3E}">
        <p14:creationId xmlns:p14="http://schemas.microsoft.com/office/powerpoint/2010/main" val="3728562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3" y="426193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^ b = ?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1297FF-3408-40A1-8775-E2802D306B64}"/>
              </a:ext>
            </a:extLst>
          </p:cNvPr>
          <p:cNvSpPr txBox="1"/>
          <p:nvPr/>
        </p:nvSpPr>
        <p:spPr>
          <a:xfrm>
            <a:off x="4406400" y="3013501"/>
            <a:ext cx="397931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17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 = 8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^ b = 25</a:t>
            </a:r>
          </a:p>
        </p:txBody>
      </p:sp>
    </p:spTree>
    <p:extLst>
      <p:ext uri="{BB962C8B-B14F-4D97-AF65-F5344CB8AC3E}">
        <p14:creationId xmlns:p14="http://schemas.microsoft.com/office/powerpoint/2010/main" val="2734971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497632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NOT (</a:t>
            </a:r>
            <a:r>
              <a:rPr lang="ru-RU" dirty="0"/>
              <a:t>Отрицание</a:t>
            </a:r>
            <a:r>
              <a:rPr lang="en-US" dirty="0"/>
              <a:t>) ~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1297FF-3408-40A1-8775-E2802D306B64}"/>
              </a:ext>
            </a:extLst>
          </p:cNvPr>
          <p:cNvSpPr txBox="1"/>
          <p:nvPr/>
        </p:nvSpPr>
        <p:spPr>
          <a:xfrm>
            <a:off x="6940319" y="2888050"/>
            <a:ext cx="308773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-4 (252)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= 00000011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 = 11111100</a:t>
            </a:r>
          </a:p>
        </p:txBody>
      </p:sp>
      <p:graphicFrame>
        <p:nvGraphicFramePr>
          <p:cNvPr id="4" name="Таблица 2">
            <a:extLst>
              <a:ext uri="{FF2B5EF4-FFF2-40B4-BE49-F238E27FC236}">
                <a16:creationId xmlns:a16="http://schemas.microsoft.com/office/drawing/2014/main" id="{B1A20E6E-7D9A-4805-8617-D37493B23D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397872"/>
              </p:ext>
            </p:extLst>
          </p:nvPr>
        </p:nvGraphicFramePr>
        <p:xfrm>
          <a:off x="2614302" y="2815787"/>
          <a:ext cx="1904883" cy="17755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6010">
                  <a:extLst>
                    <a:ext uri="{9D8B030D-6E8A-4147-A177-3AD203B41FA5}">
                      <a16:colId xmlns:a16="http://schemas.microsoft.com/office/drawing/2014/main" val="308611735"/>
                    </a:ext>
                  </a:extLst>
                </a:gridCol>
                <a:gridCol w="1218873">
                  <a:extLst>
                    <a:ext uri="{9D8B030D-6E8A-4147-A177-3AD203B41FA5}">
                      <a16:colId xmlns:a16="http://schemas.microsoft.com/office/drawing/2014/main" val="559690074"/>
                    </a:ext>
                  </a:extLst>
                </a:gridCol>
              </a:tblGrid>
              <a:tr h="59183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748124"/>
                  </a:ext>
                </a:extLst>
              </a:tr>
              <a:tr h="59183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3282311"/>
                  </a:ext>
                </a:extLst>
              </a:tr>
              <a:tr h="59183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65468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BCE60CD-5208-4621-961F-3F400BA26A50}"/>
              </a:ext>
            </a:extLst>
          </p:cNvPr>
          <p:cNvSpPr txBox="1"/>
          <p:nvPr/>
        </p:nvSpPr>
        <p:spPr>
          <a:xfrm>
            <a:off x="3703974" y="5846211"/>
            <a:ext cx="81487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https://www.rapidtables.com/convert/number/binary-to-decimal.html?x=11111100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30830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3" y="426193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~a?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1297FF-3408-40A1-8775-E2802D306B64}"/>
              </a:ext>
            </a:extLst>
          </p:cNvPr>
          <p:cNvSpPr txBox="1"/>
          <p:nvPr/>
        </p:nvSpPr>
        <p:spPr>
          <a:xfrm>
            <a:off x="3648117" y="3013501"/>
            <a:ext cx="53174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-5 (0b11111011)</a:t>
            </a:r>
          </a:p>
        </p:txBody>
      </p:sp>
    </p:spTree>
    <p:extLst>
      <p:ext uri="{BB962C8B-B14F-4D97-AF65-F5344CB8AC3E}">
        <p14:creationId xmlns:p14="http://schemas.microsoft.com/office/powerpoint/2010/main" val="4022501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3" y="426193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~a?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1297FF-3408-40A1-8775-E2802D306B64}"/>
              </a:ext>
            </a:extLst>
          </p:cNvPr>
          <p:cNvSpPr txBox="1"/>
          <p:nvPr/>
        </p:nvSpPr>
        <p:spPr>
          <a:xfrm>
            <a:off x="3648117" y="3013501"/>
            <a:ext cx="531746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-5 (0b11111011)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~a = 4</a:t>
            </a:r>
          </a:p>
        </p:txBody>
      </p:sp>
    </p:spTree>
    <p:extLst>
      <p:ext uri="{BB962C8B-B14F-4D97-AF65-F5344CB8AC3E}">
        <p14:creationId xmlns:p14="http://schemas.microsoft.com/office/powerpoint/2010/main" val="33542961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332836" y="1389730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Shift (</a:t>
            </a:r>
            <a:r>
              <a:rPr lang="ru-RU" dirty="0"/>
              <a:t>Сдвиг</a:t>
            </a:r>
            <a:r>
              <a:rPr lang="en-US" dirty="0"/>
              <a:t>) “&gt;&gt;”, “&lt;&lt;“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0EF576-F63E-4F8E-80A6-DCF443C97CEB}"/>
              </a:ext>
            </a:extLst>
          </p:cNvPr>
          <p:cNvSpPr txBox="1"/>
          <p:nvPr/>
        </p:nvSpPr>
        <p:spPr>
          <a:xfrm>
            <a:off x="4329925" y="3254955"/>
            <a:ext cx="353215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pt-BR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pt-BR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pt-BR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 = a &lt;&lt; </a:t>
            </a:r>
            <a:r>
              <a:rPr lang="pt-BR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pt-BR" sz="2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 </a:t>
            </a:r>
            <a:r>
              <a:rPr lang="pt-BR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b = a &gt;&gt; </a:t>
            </a:r>
            <a:r>
              <a:rPr lang="pt-BR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239544-89E4-4CF8-8CAC-3F39F2920F9E}"/>
              </a:ext>
            </a:extLst>
          </p:cNvPr>
          <p:cNvSpPr txBox="1"/>
          <p:nvPr/>
        </p:nvSpPr>
        <p:spPr>
          <a:xfrm>
            <a:off x="701598" y="6038606"/>
            <a:ext cx="53944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Сдвиг работает только для </a:t>
            </a:r>
            <a:r>
              <a:rPr lang="ru-RU" sz="2400" b="1" dirty="0"/>
              <a:t>целых чисел</a:t>
            </a:r>
          </a:p>
        </p:txBody>
      </p:sp>
    </p:spTree>
    <p:extLst>
      <p:ext uri="{BB962C8B-B14F-4D97-AF65-F5344CB8AC3E}">
        <p14:creationId xmlns:p14="http://schemas.microsoft.com/office/powerpoint/2010/main" val="3271839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285759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Left shift (</a:t>
            </a:r>
            <a:r>
              <a:rPr lang="ru-RU" dirty="0"/>
              <a:t>Сдвиг влево</a:t>
            </a:r>
            <a:r>
              <a:rPr lang="en-US" dirty="0"/>
              <a:t>) “&lt;&lt;“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0438FD-A42C-4455-9CEA-B47168A76DC8}"/>
              </a:ext>
            </a:extLst>
          </p:cNvPr>
          <p:cNvSpPr txBox="1"/>
          <p:nvPr/>
        </p:nvSpPr>
        <p:spPr>
          <a:xfrm>
            <a:off x="4217949" y="1856898"/>
            <a:ext cx="334257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/>
              <a:t>a = 3   = 00000011</a:t>
            </a:r>
          </a:p>
          <a:p>
            <a:r>
              <a:rPr lang="pt-BR" sz="3200" dirty="0"/>
              <a:t>a &lt;&lt; 1 = 00000110</a:t>
            </a:r>
          </a:p>
          <a:p>
            <a:endParaRPr lang="pt-BR" sz="3200" dirty="0"/>
          </a:p>
          <a:p>
            <a:r>
              <a:rPr lang="pt-BR" sz="3200" dirty="0"/>
              <a:t>a = 3   = 00000011</a:t>
            </a:r>
          </a:p>
          <a:p>
            <a:r>
              <a:rPr lang="pt-BR" sz="3200" dirty="0"/>
              <a:t>a &lt;&lt; 5 = 01100000</a:t>
            </a:r>
          </a:p>
          <a:p>
            <a:endParaRPr lang="pt-BR" sz="3200" dirty="0"/>
          </a:p>
          <a:p>
            <a:r>
              <a:rPr lang="pt-BR" sz="3200" dirty="0"/>
              <a:t>a = 3   = 00000011</a:t>
            </a:r>
          </a:p>
          <a:p>
            <a:r>
              <a:rPr lang="pt-BR" sz="3200" dirty="0"/>
              <a:t>a &lt;&lt; 7 = 10000000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5332522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285759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Right shift (</a:t>
            </a:r>
            <a:r>
              <a:rPr lang="ru-RU" dirty="0"/>
              <a:t>Сдвиг вправо</a:t>
            </a:r>
            <a:r>
              <a:rPr lang="en-US" dirty="0"/>
              <a:t>) “&gt;&gt;“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0438FD-A42C-4455-9CEA-B47168A76DC8}"/>
              </a:ext>
            </a:extLst>
          </p:cNvPr>
          <p:cNvSpPr txBox="1"/>
          <p:nvPr/>
        </p:nvSpPr>
        <p:spPr>
          <a:xfrm>
            <a:off x="3683154" y="2430509"/>
            <a:ext cx="620844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/>
              <a:t>a = 3   = 00000011</a:t>
            </a:r>
          </a:p>
          <a:p>
            <a:r>
              <a:rPr lang="pt-BR" sz="3200" dirty="0"/>
              <a:t>a &gt;&gt; 1 = 00000001</a:t>
            </a:r>
          </a:p>
          <a:p>
            <a:endParaRPr lang="pt-BR" sz="3200" dirty="0"/>
          </a:p>
          <a:p>
            <a:r>
              <a:rPr lang="pt-BR" sz="3200" dirty="0"/>
              <a:t>char a = -128; // = 10000000</a:t>
            </a:r>
          </a:p>
          <a:p>
            <a:r>
              <a:rPr lang="pt-BR" sz="3200" dirty="0"/>
              <a:t>a = a &gt;&gt; 1;       // = 11000000 = -64</a:t>
            </a:r>
          </a:p>
        </p:txBody>
      </p:sp>
    </p:spTree>
    <p:extLst>
      <p:ext uri="{BB962C8B-B14F-4D97-AF65-F5344CB8AC3E}">
        <p14:creationId xmlns:p14="http://schemas.microsoft.com/office/powerpoint/2010/main" val="2081711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497632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 &gt;&gt; 24) &lt;&lt; 8 = 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0E483F-A2AD-46C0-AA3D-87A939E3D524}"/>
              </a:ext>
            </a:extLst>
          </p:cNvPr>
          <p:cNvSpPr txBox="1"/>
          <p:nvPr/>
        </p:nvSpPr>
        <p:spPr>
          <a:xfrm>
            <a:off x="3643024" y="3075057"/>
            <a:ext cx="490594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a = 0xBAADF00D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83CF14-EDDF-4B80-939A-2651EA7AA4E7}"/>
              </a:ext>
            </a:extLst>
          </p:cNvPr>
          <p:cNvSpPr txBox="1"/>
          <p:nvPr/>
        </p:nvSpPr>
        <p:spPr>
          <a:xfrm>
            <a:off x="6805031" y="6032139"/>
            <a:ext cx="52940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https://en.wikipedia.org/wiki/Hexspeak</a:t>
            </a:r>
          </a:p>
        </p:txBody>
      </p:sp>
    </p:spTree>
    <p:extLst>
      <p:ext uri="{BB962C8B-B14F-4D97-AF65-F5344CB8AC3E}">
        <p14:creationId xmlns:p14="http://schemas.microsoft.com/office/powerpoint/2010/main" val="24356101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497632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 &gt;&gt; 24) &lt;&lt; 8 = ?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0E483F-A2AD-46C0-AA3D-87A939E3D524}"/>
              </a:ext>
            </a:extLst>
          </p:cNvPr>
          <p:cNvSpPr txBox="1"/>
          <p:nvPr/>
        </p:nvSpPr>
        <p:spPr>
          <a:xfrm>
            <a:off x="3925818" y="2665577"/>
            <a:ext cx="47386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a = 0xBAADF00D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0x000000BA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0x0000BA00</a:t>
            </a:r>
          </a:p>
        </p:txBody>
      </p:sp>
    </p:spTree>
    <p:extLst>
      <p:ext uri="{BB962C8B-B14F-4D97-AF65-F5344CB8AC3E}">
        <p14:creationId xmlns:p14="http://schemas.microsoft.com/office/powerpoint/2010/main" val="39519529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308061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Mult</a:t>
            </a:r>
            <a:r>
              <a:rPr lang="en-US" dirty="0"/>
              <a:t> by 2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3625D8-2DFF-4BA4-BA00-56B7F02062A1}"/>
              </a:ext>
            </a:extLst>
          </p:cNvPr>
          <p:cNvSpPr txBox="1"/>
          <p:nvPr/>
        </p:nvSpPr>
        <p:spPr>
          <a:xfrm>
            <a:off x="1071181" y="1770130"/>
            <a:ext cx="1060414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Можно заметить, что при </a:t>
            </a:r>
            <a:r>
              <a:rPr lang="ru-RU" sz="2400" b="1" dirty="0"/>
              <a:t>сдвиге числа влево </a:t>
            </a:r>
            <a:r>
              <a:rPr lang="ru-RU" sz="2400" dirty="0"/>
              <a:t>мы его </a:t>
            </a:r>
            <a:r>
              <a:rPr lang="ru-RU" sz="2400" b="1" dirty="0"/>
              <a:t>умножаем</a:t>
            </a:r>
            <a:r>
              <a:rPr lang="en-US" sz="2400" b="1" dirty="0"/>
              <a:t> </a:t>
            </a:r>
            <a:r>
              <a:rPr lang="ru-RU" sz="2400" b="1" dirty="0"/>
              <a:t>на 2 в степени количества сдвинутых бит</a:t>
            </a:r>
            <a:r>
              <a:rPr lang="ru-RU" sz="2400" dirty="0"/>
              <a:t>. Простыми словами: сдвигая </a:t>
            </a:r>
            <a:r>
              <a:rPr lang="ru-RU" sz="2400" b="1" dirty="0"/>
              <a:t>влево на 1 бит </a:t>
            </a:r>
            <a:r>
              <a:rPr lang="ru-RU" sz="2400" dirty="0"/>
              <a:t>умножаем </a:t>
            </a:r>
            <a:r>
              <a:rPr lang="ru-RU" sz="2400" b="1" dirty="0"/>
              <a:t>на 2</a:t>
            </a:r>
            <a:r>
              <a:rPr lang="ru-RU" sz="2400" dirty="0"/>
              <a:t>, сдвигая </a:t>
            </a:r>
            <a:r>
              <a:rPr lang="ru-RU" sz="2400" b="1" dirty="0"/>
              <a:t>на 2</a:t>
            </a:r>
            <a:r>
              <a:rPr lang="ru-RU" sz="2400" dirty="0"/>
              <a:t> бита умножаем </a:t>
            </a:r>
            <a:r>
              <a:rPr lang="ru-RU" sz="2400" b="1" dirty="0"/>
              <a:t>на 4</a:t>
            </a:r>
            <a:r>
              <a:rPr lang="ru-RU" sz="2400" dirty="0"/>
              <a:t>, на </a:t>
            </a:r>
            <a:r>
              <a:rPr lang="ru-RU" sz="2400" b="1" dirty="0"/>
              <a:t>3 бита</a:t>
            </a:r>
            <a:r>
              <a:rPr lang="ru-RU" sz="2400" dirty="0"/>
              <a:t> умножаем </a:t>
            </a:r>
            <a:r>
              <a:rPr lang="ru-RU" sz="2400" b="1" dirty="0"/>
              <a:t>на 8</a:t>
            </a:r>
            <a:r>
              <a:rPr lang="ru-RU" sz="2400" dirty="0"/>
              <a:t> и т.д..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488418-2CA8-4BC4-BBDA-B40B6E4EBA8A}"/>
              </a:ext>
            </a:extLst>
          </p:cNvPr>
          <p:cNvSpPr txBox="1"/>
          <p:nvPr/>
        </p:nvSpPr>
        <p:spPr>
          <a:xfrm>
            <a:off x="3660721" y="4020235"/>
            <a:ext cx="60941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/>
              <a:t>a = 3   = 00000011</a:t>
            </a:r>
          </a:p>
          <a:p>
            <a:r>
              <a:rPr lang="pt-BR" sz="3200" dirty="0"/>
              <a:t>a &lt;&lt; 4 = 00110000 = 3 * 2^4 = 48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6072113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308061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Div</a:t>
            </a:r>
            <a:r>
              <a:rPr lang="en-US" dirty="0"/>
              <a:t> by 2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3625D8-2DFF-4BA4-BA00-56B7F02062A1}"/>
              </a:ext>
            </a:extLst>
          </p:cNvPr>
          <p:cNvSpPr txBox="1"/>
          <p:nvPr/>
        </p:nvSpPr>
        <p:spPr>
          <a:xfrm>
            <a:off x="2287725" y="2167382"/>
            <a:ext cx="81710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/>
              <a:t>Сдвигая вправо на 1 бит - делим на 2 и т.д..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488418-2CA8-4BC4-BBDA-B40B6E4EBA8A}"/>
              </a:ext>
            </a:extLst>
          </p:cNvPr>
          <p:cNvSpPr txBox="1"/>
          <p:nvPr/>
        </p:nvSpPr>
        <p:spPr>
          <a:xfrm>
            <a:off x="3553554" y="3567235"/>
            <a:ext cx="563939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/>
              <a:t>a = 17 = 00010001</a:t>
            </a:r>
          </a:p>
          <a:p>
            <a:r>
              <a:rPr lang="pt-BR" sz="3200" dirty="0"/>
              <a:t>a &gt;&gt; 1 = 00001000 = 17 / 2 = 8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1976519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497632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Extract byte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D59634-A052-4F56-A795-8336D0FC0D11}"/>
              </a:ext>
            </a:extLst>
          </p:cNvPr>
          <p:cNvSpPr txBox="1"/>
          <p:nvPr/>
        </p:nvSpPr>
        <p:spPr>
          <a:xfrm>
            <a:off x="1589314" y="2450801"/>
            <a:ext cx="91354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0x00C0FFEE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0x000000FF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тоже что и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 &amp; 0xFF</a:t>
            </a:r>
            <a:r>
              <a:rPr lang="ru-RU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"first byte of a =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%x</a:t>
            </a:r>
            <a:r>
              <a:rPr lang="en-US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c == 0xEE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((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0x000000FF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"second byte of a =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%x</a:t>
            </a:r>
            <a:r>
              <a:rPr lang="en-US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c == 0xFF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3157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497632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Extract bit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C3EAA8-99E2-45ED-9288-817A15521786}"/>
              </a:ext>
            </a:extLst>
          </p:cNvPr>
          <p:cNvSpPr txBox="1"/>
          <p:nvPr/>
        </p:nvSpPr>
        <p:spPr>
          <a:xfrm>
            <a:off x="3951712" y="2065867"/>
            <a:ext cx="428857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&gt;&gt; i) &amp; 1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исходное число,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- номер искомого бита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6218F0-8F74-4DB4-914E-06BA98B09970}"/>
              </a:ext>
            </a:extLst>
          </p:cNvPr>
          <p:cNvSpPr txBox="1"/>
          <p:nvPr/>
        </p:nvSpPr>
        <p:spPr>
          <a:xfrm>
            <a:off x="2068815" y="4595412"/>
            <a:ext cx="97960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17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b = (a &gt;&gt;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&amp;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5 </a:t>
            </a:r>
            <a:r>
              <a:rPr lang="en-US" sz="24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бит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с </a:t>
            </a:r>
            <a:r>
              <a:rPr lang="en-US" sz="24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нуля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(6 </a:t>
            </a:r>
            <a:r>
              <a:rPr lang="en-US" sz="24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бит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43345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532902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/>
              <a:t>sizeof</a:t>
            </a:r>
            <a:endParaRPr lang="ru-RU" sz="6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031167-B3E7-4782-920C-63A4B5AA6989}"/>
              </a:ext>
            </a:extLst>
          </p:cNvPr>
          <p:cNvSpPr txBox="1"/>
          <p:nvPr/>
        </p:nvSpPr>
        <p:spPr>
          <a:xfrm>
            <a:off x="2122573" y="4103115"/>
            <a:ext cx="928512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a;</a:t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(a);</a:t>
            </a:r>
            <a:r>
              <a:rPr lang="ru-RU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= 1 байт</a:t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= 4 байта (вероятнее всего)</a:t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75F4DB-BF74-4D9A-BD4E-CD7029559830}"/>
              </a:ext>
            </a:extLst>
          </p:cNvPr>
          <p:cNvSpPr txBox="1"/>
          <p:nvPr/>
        </p:nvSpPr>
        <p:spPr>
          <a:xfrm>
            <a:off x="2122573" y="2044005"/>
            <a:ext cx="877203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дословно размер чего-либо что в скобках, это 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оператор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знающий размеры типов данных и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переменых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байтах</a:t>
            </a:r>
            <a:endParaRPr lang="ru-RU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13485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3765391" y="1132816"/>
            <a:ext cx="4661210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/>
              <a:t>print binary</a:t>
            </a:r>
            <a:endParaRPr lang="ru-RU" sz="6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031167-B3E7-4782-920C-63A4B5AA6989}"/>
              </a:ext>
            </a:extLst>
          </p:cNvPr>
          <p:cNvSpPr txBox="1"/>
          <p:nvPr/>
        </p:nvSpPr>
        <p:spPr>
          <a:xfrm>
            <a:off x="2234219" y="2983744"/>
            <a:ext cx="772355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123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0x7b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or 0x7B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0173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0b01111011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== 0x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%x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== 0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%o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== 0b"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7376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813CAB2-2AD3-CBC2-8DE8-2FF5AB76B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4708" y="732353"/>
            <a:ext cx="2503404" cy="927688"/>
          </a:xfrm>
        </p:spPr>
        <p:txBody>
          <a:bodyPr/>
          <a:lstStyle/>
          <a:p>
            <a:r>
              <a:rPr lang="en-US" dirty="0" err="1"/>
              <a:t>Github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8EE967-943B-407F-8E78-2668FBEBC15D}"/>
              </a:ext>
            </a:extLst>
          </p:cNvPr>
          <p:cNvSpPr txBox="1"/>
          <p:nvPr/>
        </p:nvSpPr>
        <p:spPr>
          <a:xfrm>
            <a:off x="3105916" y="1798093"/>
            <a:ext cx="65209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https://github.com/kruffka/C-Programming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BA00CC5-DBBE-4494-A2EC-6CA07C6372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1551" y="2459365"/>
            <a:ext cx="3498480" cy="349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68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1375</TotalTime>
  <Words>1307</Words>
  <Application>Microsoft Office PowerPoint</Application>
  <PresentationFormat>Широкоэкранный</PresentationFormat>
  <Paragraphs>252</Paragraphs>
  <Slides>28</Slides>
  <Notes>28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Consolas</vt:lpstr>
      <vt:lpstr>Times New Roman</vt:lpstr>
      <vt:lpstr>Office Theme</vt:lpstr>
      <vt:lpstr>C Programming 4_bitwise_ops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Github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Andrey Veyler</dc:creator>
  <cp:lastModifiedBy>Andrey Veyler</cp:lastModifiedBy>
  <cp:revision>457</cp:revision>
  <dcterms:created xsi:type="dcterms:W3CDTF">2019-12-17T14:15:21Z</dcterms:created>
  <dcterms:modified xsi:type="dcterms:W3CDTF">2026-09-22T08:36:28Z</dcterms:modified>
</cp:coreProperties>
</file>