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56" r:id="rId2"/>
    <p:sldId id="296" r:id="rId3"/>
    <p:sldId id="297" r:id="rId4"/>
    <p:sldId id="260" r:id="rId5"/>
    <p:sldId id="303" r:id="rId6"/>
    <p:sldId id="271" r:id="rId7"/>
    <p:sldId id="273" r:id="rId8"/>
    <p:sldId id="274" r:id="rId9"/>
    <p:sldId id="302" r:id="rId10"/>
    <p:sldId id="304" r:id="rId11"/>
    <p:sldId id="305" r:id="rId12"/>
    <p:sldId id="281" r:id="rId13"/>
    <p:sldId id="298" r:id="rId14"/>
    <p:sldId id="306" r:id="rId15"/>
    <p:sldId id="278" r:id="rId16"/>
    <p:sldId id="269" r:id="rId17"/>
    <p:sldId id="280" r:id="rId18"/>
    <p:sldId id="268" r:id="rId19"/>
    <p:sldId id="307" r:id="rId20"/>
    <p:sldId id="308" r:id="rId21"/>
    <p:sldId id="312" r:id="rId22"/>
    <p:sldId id="313" r:id="rId23"/>
    <p:sldId id="309" r:id="rId24"/>
    <p:sldId id="318" r:id="rId25"/>
    <p:sldId id="321" r:id="rId26"/>
    <p:sldId id="325" r:id="rId27"/>
    <p:sldId id="326" r:id="rId28"/>
    <p:sldId id="322" r:id="rId29"/>
    <p:sldId id="323" r:id="rId30"/>
    <p:sldId id="327" r:id="rId31"/>
    <p:sldId id="324" r:id="rId32"/>
    <p:sldId id="328" r:id="rId33"/>
    <p:sldId id="330" r:id="rId34"/>
    <p:sldId id="331" r:id="rId35"/>
    <p:sldId id="257" r:id="rId36"/>
    <p:sldId id="332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0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3F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50" d="100"/>
          <a:sy n="150" d="100"/>
        </p:scale>
        <p:origin x="144" y="1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Всем </a:t>
            </a:r>
            <a:r>
              <a:rPr lang="en-US" dirty="0"/>
              <a:t>HELLO, WORLD!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Зовут меня</a:t>
            </a:r>
            <a:r>
              <a:rPr lang="en-US" dirty="0"/>
              <a:t>…</a:t>
            </a:r>
            <a:r>
              <a:rPr lang="ru-RU" dirty="0"/>
              <a:t>.</a:t>
            </a:r>
            <a:r>
              <a:rPr lang="en-US" dirty="0"/>
              <a:t> </a:t>
            </a:r>
            <a:r>
              <a:rPr lang="ru-RU" dirty="0"/>
              <a:t>Я ваш препод по программированию (лекции и практики) на 1 курс. Также работаю в Бюро 1440</a:t>
            </a:r>
            <a:r>
              <a:rPr lang="en-US" dirty="0"/>
              <a:t> (</a:t>
            </a:r>
            <a:r>
              <a:rPr lang="ru-RU" dirty="0" err="1"/>
              <a:t>Старлинк</a:t>
            </a:r>
            <a:r>
              <a:rPr lang="ru-RU" dirty="0"/>
              <a:t> у нас дома)</a:t>
            </a:r>
            <a:r>
              <a:rPr lang="en-US" dirty="0"/>
              <a:t>,</a:t>
            </a:r>
            <a:r>
              <a:rPr lang="ru-RU" dirty="0"/>
              <a:t> компания из холдинга в честь которого ваша группа называется. Кто-то может слышал по новостям</a:t>
            </a:r>
            <a:r>
              <a:rPr lang="en-US" dirty="0"/>
              <a:t>, </a:t>
            </a:r>
            <a:r>
              <a:rPr lang="ru-RU" dirty="0"/>
              <a:t>если нет</a:t>
            </a:r>
            <a:r>
              <a:rPr lang="en-US" dirty="0"/>
              <a:t>, </a:t>
            </a:r>
            <a:r>
              <a:rPr lang="ru-RU" dirty="0"/>
              <a:t>то еще услышите.. Разрабатываю там софт для наземной части</a:t>
            </a:r>
            <a:r>
              <a:rPr lang="en-US" dirty="0"/>
              <a:t>,</a:t>
            </a:r>
            <a:r>
              <a:rPr lang="ru-RU" dirty="0"/>
              <a:t> что сигналы с космосом по </a:t>
            </a:r>
            <a:r>
              <a:rPr lang="en-US" dirty="0"/>
              <a:t>5</a:t>
            </a:r>
            <a:r>
              <a:rPr lang="ru-RU" dirty="0"/>
              <a:t>г работает</a:t>
            </a:r>
            <a:r>
              <a:rPr lang="en-US" dirty="0"/>
              <a:t>, </a:t>
            </a:r>
            <a:r>
              <a:rPr lang="ru-RU" dirty="0"/>
              <a:t>короче говоря вроде программист и попробую вас чему-нибудь поучить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5842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Изучать мы будем всякое, где-то чуть глубже, а где-то по основам пробежимся. Первым делом нам нужен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**Язык Программирования**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Изучать будем с самого нуля, т.е. те кто впервые вообще слышит о программировании –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**не страшно**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   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Язык Си – самая классика, во многих вузах мира с него начинают путь и не просто так: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Довольно прост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На нем написано множество других языков программирования (в т.ч. ваш любимый Python), следовательно поняв Си, будет попроще перепрыгнуть на другие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Поможет вам пройти универ на хорошую концовку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Хоть с каждым годом популярность ниже, но без него никуда, он везде.. Операционные Системы, драйвера,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embedded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и прочее системное ПО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Позволяет чуть лучше понять работу компьютера (Системное программирование -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fast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small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ru-RU" b="0" dirty="0">
                <a:solidFill>
                  <a:srgbClr val="6796E6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Even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Beethoven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wrote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his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Symphony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502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Делимся если еще не поделились на половинки</a:t>
            </a:r>
            <a:r>
              <a:rPr lang="en-US" dirty="0"/>
              <a:t>, </a:t>
            </a:r>
            <a:r>
              <a:rPr lang="ru-RU" dirty="0"/>
              <a:t>т.к. ПК для всех не хватит</a:t>
            </a:r>
            <a:r>
              <a:rPr lang="en-US" dirty="0"/>
              <a:t>, </a:t>
            </a:r>
            <a:r>
              <a:rPr lang="ru-RU" dirty="0"/>
              <a:t>аудитории </a:t>
            </a:r>
            <a:r>
              <a:rPr lang="ru-RU" dirty="0" err="1"/>
              <a:t>расчитаны</a:t>
            </a:r>
            <a:r>
              <a:rPr lang="ru-RU" dirty="0"/>
              <a:t> на половинки групп. Ходим так</a:t>
            </a:r>
            <a:r>
              <a:rPr lang="en-US" dirty="0"/>
              <a:t>, </a:t>
            </a:r>
            <a:r>
              <a:rPr lang="ru-RU" dirty="0"/>
              <a:t>чтобы не было 30 человек на одной паре и 1 на другой</a:t>
            </a:r>
            <a:r>
              <a:rPr lang="en-US" dirty="0"/>
              <a:t>, </a:t>
            </a:r>
            <a:r>
              <a:rPr lang="ru-RU" dirty="0"/>
              <a:t>можно меняться друг с другом</a:t>
            </a:r>
            <a:r>
              <a:rPr lang="en-US" dirty="0"/>
              <a:t>, </a:t>
            </a:r>
            <a:r>
              <a:rPr lang="ru-RU" dirty="0"/>
              <a:t>если время пары неудобное я открыт к сдвигу расписания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5501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Еще по поводу практик</a:t>
            </a:r>
            <a:r>
              <a:rPr lang="en-US" dirty="0"/>
              <a:t>, </a:t>
            </a:r>
            <a:r>
              <a:rPr lang="ru-RU" dirty="0"/>
              <a:t>свои ноутбуки если у кого есть – приносите</a:t>
            </a:r>
            <a:r>
              <a:rPr lang="en-US" dirty="0"/>
              <a:t>, </a:t>
            </a:r>
            <a:r>
              <a:rPr lang="ru-RU" dirty="0"/>
              <a:t>вам будет проще. Работать мы будем под линуксом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83200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0768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Медленный вариант немного</a:t>
            </a:r>
            <a:r>
              <a:rPr lang="en-US" dirty="0"/>
              <a:t>, </a:t>
            </a:r>
            <a:r>
              <a:rPr lang="ru-RU" dirty="0"/>
              <a:t>но понадобится для других курсов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57529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матерых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680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на все материалы и лабы тут. В конце можно найти некоторый список литературы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44892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где я буду оставлять лекции</a:t>
            </a:r>
            <a:r>
              <a:rPr lang="en-US" dirty="0"/>
              <a:t>, </a:t>
            </a:r>
            <a:r>
              <a:rPr lang="ru-RU" dirty="0"/>
              <a:t>пожалуйста</a:t>
            </a:r>
            <a:r>
              <a:rPr lang="en-US" dirty="0"/>
              <a:t>, </a:t>
            </a:r>
            <a:r>
              <a:rPr lang="ru-RU" dirty="0"/>
              <a:t>заходите хоть иногда. Трачу достаточно много сил и времени для написания этих лекций. Первое ваше ДЗ кстати </a:t>
            </a:r>
            <a:r>
              <a:rPr lang="ru-RU" dirty="0" err="1"/>
              <a:t>зарегаться</a:t>
            </a:r>
            <a:r>
              <a:rPr lang="ru-RU" dirty="0"/>
              <a:t> в </a:t>
            </a:r>
            <a:r>
              <a:rPr lang="en-US" dirty="0"/>
              <a:t>github.com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91443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Начнем издалека</a:t>
            </a:r>
            <a:r>
              <a:rPr lang="en-US" dirty="0"/>
              <a:t>, </a:t>
            </a:r>
            <a:r>
              <a:rPr lang="ru-RU" dirty="0"/>
              <a:t>все и знают</a:t>
            </a:r>
            <a:r>
              <a:rPr lang="en-US" dirty="0"/>
              <a:t>, </a:t>
            </a:r>
            <a:r>
              <a:rPr lang="ru-RU" dirty="0"/>
              <a:t>но на всякий: программа – набор инструкций</a:t>
            </a:r>
            <a:br>
              <a:rPr lang="ru-RU" dirty="0"/>
            </a:br>
            <a:endParaRPr lang="ru-RU" dirty="0"/>
          </a:p>
          <a:p>
            <a:r>
              <a:rPr lang="ru-RU" dirty="0"/>
              <a:t>Включили телефон или комп - включили одну большую (операционная система) и сотни маленьких программ (приложения и сервисы)</a:t>
            </a:r>
          </a:p>
          <a:p>
            <a:r>
              <a:rPr lang="ru-RU" dirty="0"/>
              <a:t>Дома умный чайник - тоже программа</a:t>
            </a:r>
          </a:p>
          <a:p>
            <a:r>
              <a:rPr lang="ru-RU" dirty="0"/>
              <a:t>Летите в самолете или едете на машине - опять же куча-куча встроенных программ одновременно работает вокруг</a:t>
            </a:r>
          </a:p>
          <a:p>
            <a:r>
              <a:rPr lang="ru-RU" dirty="0"/>
              <a:t>Мессенджеры, браузеры, сайты в них, ИИ для генерации видео и т.д...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9339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Все знают что такое ЯП</a:t>
            </a:r>
            <a:r>
              <a:rPr lang="en-US" dirty="0"/>
              <a:t>,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5997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Запишите определения и кратко вопросы на которые отвечают эти правила. Это важно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56739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Процедурная (императивная)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: парадигма, где используются процедуры (функции) и все выполняется последовательно (открой холодильник, возьми пиво, закрой холодильник), например C;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Объектно-ориентированная (ООП)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: Описываются Объекты и интерфейсы их взаимодействия между собой, классический ООП - это Java;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Функциональная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: здесь все есть функция и избегают циклов, т.к. используют рекурсию (она здесь крайне эффективна);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Мультипарадигменные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 ЯП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: несколько парадигм сразу, например ООП и процедурная в C++;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На языке Си можно написать все что угодно, но стоит ли оно того? Нет, т.к. можно потратить сильно меньше времени, сил и строк кода используя правильно выбранный инструмент (ЯП).</a:t>
            </a:r>
            <a:b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</a:b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ВАЖНО: Языков универсальных нет, каждый язык подходит под свои задачи!!!</a:t>
            </a:r>
            <a:endParaRPr lang="ru-RU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Так как существует большое количество разных задач и языков для них существует множество разработчиков - Прикладные, Системные, Веб, Мобильные и т.д...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Но, чтобы быть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хорошим разработчиком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в своей сфере важно уметь задавать вопросы по типу: А зачем мы используем именно это, а не то..? Какой инструмент выбрать?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74299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Исходный код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должен быть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транслирован (или переведен)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в понятный процессору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машинный код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(0 и 1). Т.е. Мы берем специальный переводчик, суем туда наши английские слова и на выходе получаем уже машинные слова.</a:t>
            </a:r>
            <a:br>
              <a:rPr lang="ru-RU" dirty="0"/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Переводчики исходного кода в машинный чаще всего встречаются двух видов -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интерпретатор и компилятор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. А процесс перевода в таком случае называют интерпретацией или компиляцией. При этом сам переводчик - это тоже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программа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!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Как происходит перевод?</a:t>
            </a:r>
            <a:endParaRPr lang="ru-RU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br>
              <a:rPr lang="ru-RU" dirty="0"/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Различия этих трансляторов: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Многие ошибки при компиляции видим сразу, при интерпретации увидим лишь когда дойдем до строки с ошибкой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Скомпилированная программа будет выполняться быстрее, т.к. это уже готовый к работе набор машинных команд, который нужно лишь скормить процессору, а интерпретируемая программа в процессор попадет только после перевода интерпретатором и проверкой что все с командой все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ок</a:t>
            </a:r>
            <a:endParaRPr lang="ru-RU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Для переноса интерпретируемой программы с одного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пк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на другой (с разными ОС, архитектурами и т.д.) нам нужно лишь иметь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интерпритатор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на машине. Если попытаться запустить скомпилированную программу под какую-нибудь одну ОС или архитектуру CPU на вторую ОС или CPU, то с высокой вероятностью ничего не заработает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Также в современном мире есть такой подход как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JIT-компиляция (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Just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-In-Time)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исходный код транслируется в промежуточный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байт-код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затем уже этот байт-код когда надо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"на лету"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компилируется в машинный код и уходит на процессор.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71501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Итого: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**GCC/</a:t>
            </a:r>
            <a:r>
              <a:rPr lang="ru-RU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Clang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для нас - это некоторая программа-переводчик, которую мы будем называть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**компилятор**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с помощью которого мы переведем наш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**исходный**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код в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**машинный**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код для запуска программы на процессоре.    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639278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Код, который мы написали с использованием ЯП высокого уровня и английских слов мы обычно называем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Исходный код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(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Source 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code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), например код на языке некоторой программы на Си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Как из исходного кода получить машинный?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- Здесь поможет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трансляция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(перевод)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54995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В любом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пк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телефоне, умном чайнике и т.д. всегда будут эти ребята: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Процессор (CPU), Оперативная память (RAM) и Постоянное Запоминающее Устройство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(жесткий диск, SSD, флешка, SD-карта и т.д.), которое энергонезависимо, т.е. данные на нем останутся даже если нет питания. ПЗУ хранит программу (набор инструкций), при запуске программы - она загружается в оперативку, а затем процессор читает инструкции из нее и выполняет их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ru-RU" b="0" i="0">
                <a:solidFill>
                  <a:srgbClr val="333333"/>
                </a:solidFill>
                <a:effectLst/>
                <a:latin typeface="Helvetica Neue"/>
              </a:rPr>
              <a:t>И здесь важно понимать, что </a:t>
            </a:r>
            <a:r>
              <a:rPr lang="ru-RU" b="1" i="0">
                <a:solidFill>
                  <a:srgbClr val="000000"/>
                </a:solidFill>
                <a:effectLst/>
                <a:latin typeface="Helvetica Neue"/>
              </a:rPr>
              <a:t>процессоры не понимают инструкций на английском языке</a:t>
            </a:r>
            <a:r>
              <a:rPr lang="ru-RU" b="0" i="0">
                <a:solidFill>
                  <a:srgbClr val="333333"/>
                </a:solidFill>
                <a:effectLst/>
                <a:latin typeface="Helvetica Neue"/>
              </a:rPr>
              <a:t>, они воспринимают только команды на машинном языке из 0 и 1. Такие команды мы еще называем </a:t>
            </a:r>
            <a:r>
              <a:rPr lang="ru-RU" b="1" i="0">
                <a:solidFill>
                  <a:srgbClr val="000000"/>
                </a:solidFill>
                <a:effectLst/>
                <a:latin typeface="Helvetica Neue"/>
              </a:rPr>
              <a:t>машинный код</a:t>
            </a:r>
            <a:r>
              <a:rPr lang="ru-RU" b="0" i="0">
                <a:solidFill>
                  <a:srgbClr val="333333"/>
                </a:solidFill>
                <a:effectLst/>
                <a:latin typeface="Helvetica Neue"/>
              </a:rPr>
              <a:t> (Machine или Binary).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24360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в конце еще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сругнулся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что не знает что такое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print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: 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undefined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 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reference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 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to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 `</a:t>
            </a:r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print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'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43730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Представим себе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коробку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в которую можно класть яблоки. Возьмем маркер и напишем на коробке - "коробка яблок". Можно взять эту "коробка яблок" и накидать в нее яблок, а потом взять и посмотреть сколько там сейчас всего яблок.</a:t>
            </a:r>
            <a:b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При этом коробка не бесконечная, в нее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влазит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определенное количество яблок. Можно создать коробку с гречкой, в нее яблоки складывать не будем, т.к. эти коробки предназначены для разных типов 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продуктов</a:t>
            </a:r>
          </a:p>
          <a:p>
            <a:br>
              <a:rPr lang="ru-RU" dirty="0"/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С переменными в такая же тема: у них есть имя и они умеют в себе хранить информацию определенного типа. 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08989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Для того чтобы создать свою переменную сначала нужно ее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объявить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.</a:t>
            </a:r>
            <a:b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</a:b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Важно: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Объявление переменной (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Variable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Declaration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) - создать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переменную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(коробку), указав ее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имя и тип данных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. Делается это единожды (для каждого имени переменной) и далее можно использовать переменную сколько угодно раз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ЯП, в которых используются типы данных для переменных - называются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статически типизированным языком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. Где тип данных скрыт от пользователя - ЯП с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динамической типизацией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например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python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в котором мы не указываем тип данных явно, за нас это делает интерпретатор во время обращения к переменной.</a:t>
            </a:r>
          </a:p>
          <a:p>
            <a:endParaRPr lang="en-US" dirty="0"/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Читается обычно с имени переменной, потом тип данных и затем чему равно: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**Объявляем переменную 'a' типа </a:t>
            </a:r>
            <a:r>
              <a:rPr lang="ru-RU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равной 5**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</a:t>
            </a:r>
          </a:p>
          <a:p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**Важно:**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мы могли написать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но обычно мы опускаем слово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signed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(программисты ленивые), а вот если мы намеренно захотим сделать беззнаковый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то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**обязательно**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напишем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!  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5892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Кстати, в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**статически типизированных**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языках можно делать так:           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Сначала объявили, а затем чему-то присвоили (-5).           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**Важно:**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В языке Си при объявлении переменной без присваивания значения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b;`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не дает гарантий, что b по умолчанию будет равна 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`0`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 Значение может быть равно некоторому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**мусору**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 большому случайному числу.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41169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В языке Си мы имеем следующие типы данных для переменных:      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Диапазон значений зависит от размера переменной. Только для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размер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**ГДЕ УГОДНО**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будет 1 байт, это минимальный объем информации с которым мы можем работать.         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Все остальные типы данных могут иметь другой размер, зависит от архитектуры и компилятора. Так например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может быть 4 байта как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(32 битные системы)  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242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92009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Допустим нам предлагают 2147483648$ или удвоить и отдать следующему, мы соглашаемся удвоить и передать следующему ()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r>
              <a:rPr lang="en-US" b="0" i="0" dirty="0" err="1">
                <a:solidFill>
                  <a:srgbClr val="333333"/>
                </a:solidFill>
                <a:effectLst/>
                <a:latin typeface="Helvetica Neue"/>
              </a:rPr>
              <a:t>Overflow.c</a:t>
            </a:r>
            <a:r>
              <a:rPr lang="en-US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пробуем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Компилятор такое иногда может обнаружить и выдать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предуреждение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warning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однако все равно скомпилирует программу.       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Выход за диапазон типа данных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пемеренной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называется 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**переполнением**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overflow</a:t>
            </a:r>
            <a:r>
              <a:rPr lang="ru-RU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       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Эту проблему важно осознавать, так как она приводит к многочисленным ошибкам. И в реальной жизни были связанные с ней случаи.        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Также эта проблема скоро настигнет старые 32-битные компьютеры в 2038 году. Они начнут думать, что они вернулись в 1970 год, как это на них повлияет?  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7991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Когда их впихивали в компьютер, то рассматривали разные варианты, вот например прямой код:       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Здесь нет двух нулей, которые мешали бы математике, а также данный код не требует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реализаии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операций вычитания в процессоре, что позволяет сделать процессор еще меньше и впихать в него чего-то другого        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Почему не надо операции вычитания? Попробуйте -5 + 5 = 11111011 + 00000101 = ?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18454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Когда их впихивали в компьютер, то рассматривали разные варианты, вот например прямой код:       </a:t>
            </a: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Здесь нет двух нулей, которые мешали бы математике, а также данный код не требует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реализаии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операций вычитания в процессоре, что позволяет сделать процессор еще меньше и впихать в него чего-то другого        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Почему не надо операции вычитания? Попробуйте -5 + 5 = 11111011 + 00000101 = ?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770020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Повторюсь: Машины не умеют в английские слова и символы, только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0 и 1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.</a:t>
            </a:r>
            <a:b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Символы в компьютерах у нас 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закодированы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в виде специальных таблиц.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Рассмотрим самую базовую из Американского стандарта (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ASCII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- American Standard Code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for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Information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Interchange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)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Первый столбец код в десятичной системе, второй тоже самое в шестнадцатеричной и третий столбец значение (символ). Всего символов здесь 128 - что прекрасно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влазит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в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char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!</a:t>
            </a:r>
            <a:br>
              <a:rPr lang="ru-RU" dirty="0"/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Первые символы до 31 - служебные символы, при попытке их вывести чаще всего будет ерунда в виде квадратиков или вопросиков. А вот далее можно обнаружить заглавные и не очень буквы всего английского алфавита.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Пробуем </a:t>
            </a:r>
            <a:r>
              <a:rPr lang="en-US" b="0" i="0" dirty="0" err="1">
                <a:solidFill>
                  <a:srgbClr val="333333"/>
                </a:solidFill>
                <a:effectLst/>
                <a:latin typeface="Helvetica Neue"/>
              </a:rPr>
              <a:t>ascii.c</a:t>
            </a:r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endParaRPr lang="en-US" b="0" i="0" dirty="0">
              <a:solidFill>
                <a:srgbClr val="333333"/>
              </a:solidFill>
              <a:effectLst/>
              <a:latin typeface="Helvetica Neue"/>
            </a:endParaRP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Для использования других языков были добавлены другие таблицы с большим размером, сегодня это UTF стандарт (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Unicode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Transformation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Format. UTF-8 и прочие).</a:t>
            </a:r>
            <a:br>
              <a:rPr lang="ru-RU" dirty="0"/>
            </a:b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UTF первые 128 бит по таблице ASCII, а все остальное это разные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emoji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и все возможные алфавиты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00461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Первый бит снова под знак, остальное мантисса и экспонента для формулы (−1^s)∗m∗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b^e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, где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s – знак (0 положительное число, 1 отрицательное)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m – мантисса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b – основание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e – экспонента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Пример представим число 122.88 в 0 и 1: 122.88 = (−1^0)∗12288∗ 10^(−2)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s = 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m = 12288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b = 10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e = -2</a:t>
            </a:r>
          </a:p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Правда b для компьютера будет = 2 (двоичная система), 10 здесь для простоты понимания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218005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Самостоятельно: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Попросите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нейронку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написать программу на Си, которая в цикле бесконечно прибавляет к переменной типа </a:t>
            </a:r>
            <a:r>
              <a:rPr lang="ru-RU" b="0" i="0" dirty="0" err="1">
                <a:solidFill>
                  <a:srgbClr val="333333"/>
                </a:solidFill>
                <a:effectLst/>
                <a:latin typeface="Helvetica Neue"/>
              </a:rPr>
              <a:t>float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 единицу и выводит на экран результат. Что произошло?</a:t>
            </a:r>
          </a:p>
          <a:p>
            <a:pPr algn="l"/>
            <a:r>
              <a:rPr lang="ru-RU" b="1" i="0" dirty="0" err="1">
                <a:solidFill>
                  <a:srgbClr val="000000"/>
                </a:solidFill>
                <a:effectLst/>
                <a:latin typeface="Helvetica Neue"/>
              </a:rPr>
              <a:t>Лайфхак</a:t>
            </a:r>
            <a:r>
              <a:rPr lang="ru-RU" b="1" i="0" dirty="0">
                <a:solidFill>
                  <a:srgbClr val="000000"/>
                </a:solidFill>
                <a:effectLst/>
                <a:latin typeface="Helvetica Neue"/>
              </a:rPr>
              <a:t>:</a:t>
            </a:r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 При создании своего банка - заводите отдельный счет, в который перечисляете остаток копеек (при операциях с округлением) от операций клиентов и за годы получаете миллионы пассивного дохода..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26284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В чем отличие a++ и ++a?</a:t>
            </a:r>
          </a:p>
          <a:p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005033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0" i="0" dirty="0">
                <a:solidFill>
                  <a:srgbClr val="333333"/>
                </a:solidFill>
                <a:effectLst/>
                <a:latin typeface="Helvetica Neue"/>
              </a:rPr>
              <a:t>Для языка Си допустимы сокращенный синтаксис для присвоения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029803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Пробуем </a:t>
            </a:r>
            <a:r>
              <a:rPr lang="en-US" dirty="0" err="1"/>
              <a:t>hello.c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#define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0564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тех кто еще читает книги – книга от создателей языка Си</a:t>
            </a:r>
          </a:p>
          <a:p>
            <a:endParaRPr lang="ru-RU" dirty="0"/>
          </a:p>
          <a:p>
            <a:r>
              <a:rPr lang="ru-RU" dirty="0"/>
              <a:t>Также можно учиться с ИИ</a:t>
            </a:r>
            <a:r>
              <a:rPr lang="en-US" dirty="0"/>
              <a:t>, </a:t>
            </a:r>
            <a:r>
              <a:rPr lang="ru-RU" dirty="0"/>
              <a:t>главное учиться</a:t>
            </a:r>
            <a:r>
              <a:rPr lang="en-US" dirty="0"/>
              <a:t>, </a:t>
            </a:r>
            <a:r>
              <a:rPr lang="ru-RU" dirty="0"/>
              <a:t>а не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83764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01170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Ссылка где я буду оставлять лекции</a:t>
            </a:r>
            <a:r>
              <a:rPr lang="en-US" dirty="0"/>
              <a:t>, </a:t>
            </a:r>
            <a:r>
              <a:rPr lang="ru-RU" dirty="0"/>
              <a:t>пожалуйста</a:t>
            </a:r>
            <a:r>
              <a:rPr lang="en-US" dirty="0"/>
              <a:t>, </a:t>
            </a:r>
            <a:r>
              <a:rPr lang="ru-RU" dirty="0"/>
              <a:t>заходите хоть иногда. Трачу достаточно много сил и времени для написания этих лекций. Первое ваше ДЗ кстати </a:t>
            </a:r>
            <a:r>
              <a:rPr lang="ru-RU" dirty="0" err="1"/>
              <a:t>зарегаться</a:t>
            </a:r>
            <a:r>
              <a:rPr lang="ru-RU" dirty="0"/>
              <a:t> в </a:t>
            </a:r>
            <a:r>
              <a:rPr lang="en-US" dirty="0"/>
              <a:t>github.com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4421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01.09.2026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gif"/><Relationship Id="rId4" Type="http://schemas.openxmlformats.org/officeDocument/2006/relationships/image" Target="../media/image2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3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10" Type="http://schemas.openxmlformats.org/officeDocument/2006/relationships/image" Target="../media/image53.png"/><Relationship Id="rId4" Type="http://schemas.openxmlformats.org/officeDocument/2006/relationships/image" Target="../media/image37.png"/><Relationship Id="rId9" Type="http://schemas.openxmlformats.org/officeDocument/2006/relationships/image" Target="../media/image5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&#1055;&#1088;&#1086;&#1073;&#1083;&#1077;&#1084;&#1072;_2038_&#1075;&#1086;&#1076;&#1072;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0.jpe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0.30000000000000004.com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0.30000000000000004.com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3929293" y="2458328"/>
            <a:ext cx="4333414" cy="194134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0_hello_world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99F3D5E-D3F4-4868-8179-F2AAEF4AC1A6}"/>
              </a:ext>
            </a:extLst>
          </p:cNvPr>
          <p:cNvGrpSpPr/>
          <p:nvPr/>
        </p:nvGrpSpPr>
        <p:grpSpPr>
          <a:xfrm>
            <a:off x="7444615" y="4334591"/>
            <a:ext cx="4788513" cy="1384995"/>
            <a:chOff x="7403487" y="5016253"/>
            <a:chExt cx="4788513" cy="138499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AC8CD95-E09F-4313-B5F1-3C5EBE0F0981}"/>
                </a:ext>
              </a:extLst>
            </p:cNvPr>
            <p:cNvSpPr txBox="1"/>
            <p:nvPr/>
          </p:nvSpPr>
          <p:spPr>
            <a:xfrm>
              <a:off x="7403487" y="5016253"/>
              <a:ext cx="4788513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Вейлер Андрей Игоревич</a:t>
              </a:r>
            </a:p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andrei_veiler@mail.ru</a:t>
              </a:r>
            </a:p>
            <a:p>
              <a:r>
                <a:rPr lang="en-US" sz="28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@kruffka</a:t>
              </a:r>
            </a:p>
          </p:txBody>
        </p:sp>
        <p:pic>
          <p:nvPicPr>
            <p:cNvPr id="10" name="Picture 4" descr="Telegram — Википедия">
              <a:extLst>
                <a:ext uri="{FF2B5EF4-FFF2-40B4-BE49-F238E27FC236}">
                  <a16:creationId xmlns:a16="http://schemas.microsoft.com/office/drawing/2014/main" id="{0E594208-AED1-4155-A82C-AB707CD2A6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6346" y="5971176"/>
              <a:ext cx="364342" cy="364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Mail - Official Apple Support">
              <a:extLst>
                <a:ext uri="{FF2B5EF4-FFF2-40B4-BE49-F238E27FC236}">
                  <a16:creationId xmlns:a16="http://schemas.microsoft.com/office/drawing/2014/main" id="{61C46AB0-FC1A-4626-91A6-90A6DB480F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6346" y="5526580"/>
              <a:ext cx="364342" cy="3643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Заголовок 3">
            <a:extLst>
              <a:ext uri="{FF2B5EF4-FFF2-40B4-BE49-F238E27FC236}">
                <a16:creationId xmlns:a16="http://schemas.microsoft.com/office/drawing/2014/main" id="{7A482BD7-7A80-45BB-B9B6-3C3212D9F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1979" y="188778"/>
            <a:ext cx="8968576" cy="1058496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Ты кто?</a:t>
            </a:r>
          </a:p>
        </p:txBody>
      </p:sp>
      <p:pic>
        <p:nvPicPr>
          <p:cNvPr id="1028" name="Picture 4" descr="БЮРО 1440 — Российская аэрокосмическая компания">
            <a:extLst>
              <a:ext uri="{FF2B5EF4-FFF2-40B4-BE49-F238E27FC236}">
                <a16:creationId xmlns:a16="http://schemas.microsoft.com/office/drawing/2014/main" id="{5547B25C-C193-4F7C-BA8E-0F5C276140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634" y="1538452"/>
            <a:ext cx="6931935" cy="4622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88DB538A-5533-4A86-AB83-68CF46125DC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-428" t="42523" r="2202" b="4611"/>
          <a:stretch/>
        </p:blipFill>
        <p:spPr>
          <a:xfrm>
            <a:off x="7444615" y="1538452"/>
            <a:ext cx="3504515" cy="156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962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Заголовок 3">
            <a:extLst>
              <a:ext uri="{FF2B5EF4-FFF2-40B4-BE49-F238E27FC236}">
                <a16:creationId xmlns:a16="http://schemas.microsoft.com/office/drawing/2014/main" id="{7A482BD7-7A80-45BB-B9B6-3C3212D9F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1979" y="188778"/>
            <a:ext cx="8968576" cy="1058496"/>
          </a:xfrm>
        </p:spPr>
        <p:txBody>
          <a:bodyPr/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Немного о курсе</a:t>
            </a:r>
          </a:p>
        </p:txBody>
      </p:sp>
      <p:pic>
        <p:nvPicPr>
          <p:cNvPr id="14" name="Picture 20" descr="Linux Icon | Operating Systems Iconpack | Tatice">
            <a:extLst>
              <a:ext uri="{FF2B5EF4-FFF2-40B4-BE49-F238E27FC236}">
                <a16:creationId xmlns:a16="http://schemas.microsoft.com/office/drawing/2014/main" id="{A28AA943-3F7D-4CB0-B68A-3A14B9863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21142" y="351677"/>
            <a:ext cx="848722" cy="848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4" descr="cmake&quot; Icon - Download for free – Iconduck">
            <a:extLst>
              <a:ext uri="{FF2B5EF4-FFF2-40B4-BE49-F238E27FC236}">
                <a16:creationId xmlns:a16="http://schemas.microsoft.com/office/drawing/2014/main" id="{2A4C4AE8-6817-4470-AA7B-20E4954932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1737" y="2497398"/>
            <a:ext cx="738809" cy="737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FE9A25AE-B928-4DBF-A3B7-ADE92EC7A7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324" y="3335582"/>
            <a:ext cx="1334230" cy="147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 descr="File, type, vscode Icon in vscode">
            <a:extLst>
              <a:ext uri="{FF2B5EF4-FFF2-40B4-BE49-F238E27FC236}">
                <a16:creationId xmlns:a16="http://schemas.microsoft.com/office/drawing/2014/main" id="{ECE5935D-D6C1-4CAB-9308-604769408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038" y="1978896"/>
            <a:ext cx="887185" cy="887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6">
            <a:extLst>
              <a:ext uri="{FF2B5EF4-FFF2-40B4-BE49-F238E27FC236}">
                <a16:creationId xmlns:a16="http://schemas.microsoft.com/office/drawing/2014/main" id="{DE09CBBF-D725-4696-A614-5A339264CE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77524" y="1282351"/>
            <a:ext cx="1079543" cy="1079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What is C++? - Viking Software A/S">
            <a:extLst>
              <a:ext uri="{FF2B5EF4-FFF2-40B4-BE49-F238E27FC236}">
                <a16:creationId xmlns:a16="http://schemas.microsoft.com/office/drawing/2014/main" id="{F7FEB18C-1D05-47D6-A66D-AF72E0AEAF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643" y="4421732"/>
            <a:ext cx="887185" cy="8871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the best framework for Unit Testing?">
            <a:extLst>
              <a:ext uri="{FF2B5EF4-FFF2-40B4-BE49-F238E27FC236}">
                <a16:creationId xmlns:a16="http://schemas.microsoft.com/office/drawing/2014/main" id="{7D3DC770-92D8-4E1A-A763-BE0B0AFFD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1796" y="5998508"/>
            <a:ext cx="1251477" cy="670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What is Multithreading in Python and How to Achieve it? Edureka">
            <a:extLst>
              <a:ext uri="{FF2B5EF4-FFF2-40B4-BE49-F238E27FC236}">
                <a16:creationId xmlns:a16="http://schemas.microsoft.com/office/drawing/2014/main" id="{FA41BF73-F479-4DBF-8E9C-A0DD873FA2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15865" y="3573405"/>
            <a:ext cx="2210554" cy="1147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1AD0293-C6CF-4C7F-A468-D2B6150B40C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7247" y="4253538"/>
            <a:ext cx="1396713" cy="876120"/>
          </a:xfrm>
          <a:prstGeom prst="rect">
            <a:avLst/>
          </a:prstGeom>
        </p:spPr>
      </p:pic>
      <p:pic>
        <p:nvPicPr>
          <p:cNvPr id="3090" name="Picture 18" descr="Processor Icon PNG Transparent Background, Free Download #9581 -  FreeIconsPNG">
            <a:extLst>
              <a:ext uri="{FF2B5EF4-FFF2-40B4-BE49-F238E27FC236}">
                <a16:creationId xmlns:a16="http://schemas.microsoft.com/office/drawing/2014/main" id="{821E5B98-CEB5-497A-88DE-52EADCD2C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4446" y="5568792"/>
            <a:ext cx="1168601" cy="934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EBD5D9B-191F-4326-A5A5-B4BA5F40701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97247" y="5408036"/>
            <a:ext cx="1091083" cy="907537"/>
          </a:xfrm>
          <a:prstGeom prst="rect">
            <a:avLst/>
          </a:prstGeom>
        </p:spPr>
      </p:pic>
      <p:pic>
        <p:nvPicPr>
          <p:cNvPr id="3098" name="Picture 26" descr="Bug - Free computer icons">
            <a:extLst>
              <a:ext uri="{FF2B5EF4-FFF2-40B4-BE49-F238E27FC236}">
                <a16:creationId xmlns:a16="http://schemas.microsoft.com/office/drawing/2014/main" id="{BBA8A69C-26A9-48D0-9249-E750A9AFC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7168" y="5635869"/>
            <a:ext cx="770080" cy="77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5EF70B10-80B9-424A-B764-C8333921648D}"/>
              </a:ext>
            </a:extLst>
          </p:cNvPr>
          <p:cNvGrpSpPr/>
          <p:nvPr/>
        </p:nvGrpSpPr>
        <p:grpSpPr>
          <a:xfrm>
            <a:off x="4214559" y="5683297"/>
            <a:ext cx="1434212" cy="1147369"/>
            <a:chOff x="2810762" y="5554469"/>
            <a:chExt cx="1819250" cy="1483204"/>
          </a:xfrm>
        </p:grpSpPr>
        <p:pic>
          <p:nvPicPr>
            <p:cNvPr id="18" name="Picture 10" descr="Logo, google, g icon - Free download on Iconfinder">
              <a:extLst>
                <a:ext uri="{FF2B5EF4-FFF2-40B4-BE49-F238E27FC236}">
                  <a16:creationId xmlns:a16="http://schemas.microsoft.com/office/drawing/2014/main" id="{A394D704-21DD-47F7-A197-BB141EEE5E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10762" y="5681342"/>
              <a:ext cx="1356331" cy="13563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10" descr="Chatgpt logo transparent background. 22841114 PNG">
              <a:extLst>
                <a:ext uri="{FF2B5EF4-FFF2-40B4-BE49-F238E27FC236}">
                  <a16:creationId xmlns:a16="http://schemas.microsoft.com/office/drawing/2014/main" id="{0217BFD4-03CB-48CE-B8B7-B481C8AF50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51424" y="6062521"/>
              <a:ext cx="678588" cy="686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00" name="Picture 28">
              <a:extLst>
                <a:ext uri="{FF2B5EF4-FFF2-40B4-BE49-F238E27FC236}">
                  <a16:creationId xmlns:a16="http://schemas.microsoft.com/office/drawing/2014/main" id="{445CABCE-2C22-47AE-8DCE-B7733B6D69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9332" y="5554469"/>
              <a:ext cx="399189" cy="3991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4C911282-0A8C-4A66-BDA9-EBCBB5D9863D}"/>
              </a:ext>
            </a:extLst>
          </p:cNvPr>
          <p:cNvSpPr txBox="1"/>
          <p:nvPr/>
        </p:nvSpPr>
        <p:spPr>
          <a:xfrm>
            <a:off x="7681194" y="5497623"/>
            <a:ext cx="208463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" dirty="0"/>
              <a:t>10111100  11010110  00001011  00011110  00111010  11110100  10101001  00011101  </a:t>
            </a:r>
          </a:p>
          <a:p>
            <a:r>
              <a:rPr lang="en-US" sz="400" dirty="0"/>
              <a:t>01011101  01010010  10000011  01000010  00011000  11101000  10011101  01111111  </a:t>
            </a:r>
          </a:p>
          <a:p>
            <a:r>
              <a:rPr lang="en-US" sz="400" dirty="0"/>
              <a:t>11101101  01100101  11000101  01010111  10001010  00001011  11100110  11010111  </a:t>
            </a:r>
          </a:p>
          <a:p>
            <a:r>
              <a:rPr lang="en-US" sz="400" dirty="0"/>
              <a:t>11001101  00111000  00001110  01010101  00110010  00111001  00110000  10111001  </a:t>
            </a:r>
          </a:p>
          <a:p>
            <a:r>
              <a:rPr lang="en-US" sz="400" dirty="0"/>
              <a:t>00000100  00010000  01100111  10100111  10111001  00000000  01101010  00110001  </a:t>
            </a:r>
          </a:p>
          <a:p>
            <a:r>
              <a:rPr lang="en-US" sz="400" dirty="0"/>
              <a:t>01101111  10110110  10000001  01000000  11010001  00001110  01001110  01001011  </a:t>
            </a:r>
          </a:p>
          <a:p>
            <a:r>
              <a:rPr lang="en-US" sz="400" dirty="0"/>
              <a:t>11011001  00000100  01000000  10111000  10010001  10111110  01001011  00010001  </a:t>
            </a:r>
          </a:p>
          <a:p>
            <a:r>
              <a:rPr lang="en-US" sz="400" dirty="0"/>
              <a:t>00000111  10010110  11101011  01101111  10011110  01101000  11001001  11110101  </a:t>
            </a:r>
          </a:p>
          <a:p>
            <a:r>
              <a:rPr lang="en-US" sz="400" dirty="0"/>
              <a:t>10000100  10000000  00010010  10111100  01000101  10110110  00000100  11111011  </a:t>
            </a:r>
          </a:p>
          <a:p>
            <a:r>
              <a:rPr lang="en-US" sz="400" dirty="0"/>
              <a:t>10111110  10110100  10011110  01111100  11100001  11110111  11100001  10001100  </a:t>
            </a:r>
          </a:p>
          <a:p>
            <a:r>
              <a:rPr lang="en-US" sz="400" dirty="0"/>
              <a:t>00010001  11000111  10111000  01110110  11101010  10001010  01011001  11010100  </a:t>
            </a:r>
          </a:p>
          <a:p>
            <a:r>
              <a:rPr lang="en-US" sz="400" dirty="0"/>
              <a:t>01011111  10110010  11000011  11110110  01101110  10110110  01001000  11000100  </a:t>
            </a:r>
          </a:p>
          <a:p>
            <a:r>
              <a:rPr lang="en-US" sz="400" dirty="0"/>
              <a:t>10001100  10101001  00010000  10011010  00011111  10101111  11001000  00100101  </a:t>
            </a:r>
          </a:p>
          <a:p>
            <a:r>
              <a:rPr lang="en-US" sz="400" dirty="0"/>
              <a:t>11000011  00111001  01111100  11010001  11011101  01110100  01100101  10110110  </a:t>
            </a:r>
          </a:p>
          <a:p>
            <a:r>
              <a:rPr lang="en-US" sz="400" dirty="0"/>
              <a:t>01110010  10011010  01000001  01100001  10010101  10110010  11101111  00100011  </a:t>
            </a:r>
          </a:p>
          <a:p>
            <a:r>
              <a:rPr lang="en-US" sz="400" dirty="0"/>
              <a:t>00101111  10011100  01010000  01011001  01110101  10101111  01001000  00110110</a:t>
            </a:r>
            <a:endParaRPr lang="ru-RU" sz="400" dirty="0"/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3EC744FA-52EB-4D51-97C7-B9BD861E151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63251" y="1158776"/>
            <a:ext cx="1991585" cy="10776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34C0561-B7E8-442A-AC0B-5F12E8C667A8}"/>
              </a:ext>
            </a:extLst>
          </p:cNvPr>
          <p:cNvSpPr txBox="1"/>
          <p:nvPr/>
        </p:nvSpPr>
        <p:spPr>
          <a:xfrm>
            <a:off x="798542" y="1292554"/>
            <a:ext cx="744871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Разберемся с Языком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Подтянем технический английский и русский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Научимся уверенно стукать по клавишам в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консольке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Linux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Система контроля версий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- очень нужная штука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Системы сборки кода и архитектура ПК и ПО под капотом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Отладка программ (всякая разная) для поиска багов и познания вселенной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Базовые алгоритмы и про их сложность (подробнее узнаете 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САОДе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тестируют ПО и чутка про жизненный цикл программ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Основы многопоточных программ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Насколько успеем основы C++ понюхать и кого-нибудь еще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мб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Go)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Познаем кто такой Code Style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Обсудим ИИ вместе с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ИИрочками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Зацепим что-нибудь еще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щас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вспомню)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D65A443-F821-47D4-AEA6-086458647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7538" y="4967280"/>
            <a:ext cx="699672" cy="699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ok AI Icon SVG Vector &amp; PNG Free Download | UXWing">
            <a:extLst>
              <a:ext uri="{FF2B5EF4-FFF2-40B4-BE49-F238E27FC236}">
                <a16:creationId xmlns:a16="http://schemas.microsoft.com/office/drawing/2014/main" id="{5D2E6627-662E-4288-AE22-8854A4751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10228" y="3601853"/>
            <a:ext cx="216191" cy="207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02479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00898" y="188778"/>
            <a:ext cx="9052084" cy="1589629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Когда и кто приходит?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(практики)</a:t>
            </a:r>
          </a:p>
        </p:txBody>
      </p:sp>
      <p:pic>
        <p:nvPicPr>
          <p:cNvPr id="5" name="Google Shape;169;p21" title="a black cat is playing with an apple laptop on a table . (источник: Tenor)">
            <a:extLst>
              <a:ext uri="{FF2B5EF4-FFF2-40B4-BE49-F238E27FC236}">
                <a16:creationId xmlns:a16="http://schemas.microsoft.com/office/drawing/2014/main" id="{BC752AC7-3AB3-42A6-B574-02F7EA76DAC4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6728" y="3594538"/>
            <a:ext cx="2667123" cy="2710008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pic>
        <p:nvPicPr>
          <p:cNvPr id="6" name="Google Shape;168;p21" title="a cat is sitting at a desk typing on a computer keyboard . (источник: Tenor)">
            <a:extLst>
              <a:ext uri="{FF2B5EF4-FFF2-40B4-BE49-F238E27FC236}">
                <a16:creationId xmlns:a16="http://schemas.microsoft.com/office/drawing/2014/main" id="{3C2FE486-4EC5-4D6D-A61A-8EC2B4145252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50742" y="1942369"/>
            <a:ext cx="2196737" cy="207627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  <p:pic>
        <p:nvPicPr>
          <p:cNvPr id="7" name="Google Shape;170;p21" title="a cat laying on a blanket looking at a cell phone with the words gets off computer to go to bed below it (источник: Tenor)">
            <a:extLst>
              <a:ext uri="{FF2B5EF4-FFF2-40B4-BE49-F238E27FC236}">
                <a16:creationId xmlns:a16="http://schemas.microsoft.com/office/drawing/2014/main" id="{81E6A8FD-BF1A-4F23-9FE7-666050C9954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b="8975"/>
          <a:stretch/>
        </p:blipFill>
        <p:spPr>
          <a:xfrm>
            <a:off x="8268563" y="2348116"/>
            <a:ext cx="2284949" cy="2161767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67183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4521" y="276701"/>
            <a:ext cx="9052084" cy="85750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Linux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ноутбуков</a:t>
            </a:r>
          </a:p>
        </p:txBody>
      </p:sp>
      <p:pic>
        <p:nvPicPr>
          <p:cNvPr id="10" name="Picture 22" descr="Веб-разработка в Windows | Microsoft Learn">
            <a:extLst>
              <a:ext uri="{FF2B5EF4-FFF2-40B4-BE49-F238E27FC236}">
                <a16:creationId xmlns:a16="http://schemas.microsoft.com/office/drawing/2014/main" id="{E243C07B-8C18-4F5B-9AB3-E3E32766B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0141" y="2335731"/>
            <a:ext cx="3578101" cy="201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4">
            <a:extLst>
              <a:ext uri="{FF2B5EF4-FFF2-40B4-BE49-F238E27FC236}">
                <a16:creationId xmlns:a16="http://schemas.microsoft.com/office/drawing/2014/main" id="{C1C0FC5F-40EF-465A-AC95-7790A90E2C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76554" y="2250788"/>
            <a:ext cx="2356423" cy="2356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359B922-CB31-44BE-B714-51FEDB7BA2BF}"/>
              </a:ext>
            </a:extLst>
          </p:cNvPr>
          <p:cNvSpPr txBox="1"/>
          <p:nvPr/>
        </p:nvSpPr>
        <p:spPr>
          <a:xfrm>
            <a:off x="1190386" y="4459985"/>
            <a:ext cx="30544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Subsystem for Linux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5F8E8-CD22-434D-9007-A07568C1495B}"/>
              </a:ext>
            </a:extLst>
          </p:cNvPr>
          <p:cNvSpPr txBox="1"/>
          <p:nvPr/>
        </p:nvSpPr>
        <p:spPr>
          <a:xfrm>
            <a:off x="5258844" y="4459985"/>
            <a:ext cx="2487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 + Linux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88E38A-2414-47ED-8DB0-B3174310A67B}"/>
              </a:ext>
            </a:extLst>
          </p:cNvPr>
          <p:cNvSpPr txBox="1"/>
          <p:nvPr/>
        </p:nvSpPr>
        <p:spPr>
          <a:xfrm>
            <a:off x="9031978" y="4459985"/>
            <a:ext cx="1716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Desktop Ubuntu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9C752B6-8E1C-419E-9737-9A9F2E57E936}"/>
              </a:ext>
            </a:extLst>
          </p:cNvPr>
          <p:cNvSpPr txBox="1"/>
          <p:nvPr/>
        </p:nvSpPr>
        <p:spPr>
          <a:xfrm>
            <a:off x="219901" y="5915922"/>
            <a:ext cx="90744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*Если у вас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MacOS,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 ставить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linux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 нужно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достаточно включить режим разработчика</a:t>
            </a:r>
          </a:p>
        </p:txBody>
      </p:sp>
      <p:pic>
        <p:nvPicPr>
          <p:cNvPr id="1026" name="Picture 2" descr="Ubuntu 20.04">
            <a:extLst>
              <a:ext uri="{FF2B5EF4-FFF2-40B4-BE49-F238E27FC236}">
                <a16:creationId xmlns:a16="http://schemas.microsoft.com/office/drawing/2014/main" id="{9351C943-C7EB-4D6C-B818-9F8FE5393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290" y="2180891"/>
            <a:ext cx="2097808" cy="2097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1631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5118" y="504212"/>
            <a:ext cx="9646623" cy="1107502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Subsystem for Linux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7186CF8-30D2-1D45-0FE2-77B76BCB04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31137" b="500"/>
          <a:stretch/>
        </p:blipFill>
        <p:spPr>
          <a:xfrm>
            <a:off x="1405118" y="2414217"/>
            <a:ext cx="5828195" cy="328372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1177572-2E71-48FC-9BBD-303F690DA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9260" y="1527961"/>
            <a:ext cx="3177622" cy="4825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32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9314" y="497632"/>
            <a:ext cx="9013371" cy="11648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1DCBDA8-C70D-9DC9-6955-9D2D9708E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3699" y="1931657"/>
            <a:ext cx="6324600" cy="398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0409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9314" y="497632"/>
            <a:ext cx="9013371" cy="11648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Ubuntu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49112C4-A4DE-C2DC-6EFB-D133D63292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7911" y="1919059"/>
            <a:ext cx="7496175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5760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3">
            <a:extLst>
              <a:ext uri="{FF2B5EF4-FFF2-40B4-BE49-F238E27FC236}">
                <a16:creationId xmlns:a16="http://schemas.microsoft.com/office/drawing/2014/main" id="{B73BD34D-2022-4B0F-85B3-5F6F09B25973}"/>
              </a:ext>
            </a:extLst>
          </p:cNvPr>
          <p:cNvSpPr txBox="1">
            <a:spLocks/>
          </p:cNvSpPr>
          <p:nvPr/>
        </p:nvSpPr>
        <p:spPr>
          <a:xfrm>
            <a:off x="3077973" y="369129"/>
            <a:ext cx="6036053" cy="10292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Eios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F252F-458C-4247-8628-C93D1C08737F}"/>
              </a:ext>
            </a:extLst>
          </p:cNvPr>
          <p:cNvSpPr txBox="1"/>
          <p:nvPr/>
        </p:nvSpPr>
        <p:spPr>
          <a:xfrm>
            <a:off x="7016693" y="2972816"/>
            <a:ext cx="355881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Кодовое слово: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ИКС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BE6717-B4D6-4915-9EE4-5F7817491539}"/>
              </a:ext>
            </a:extLst>
          </p:cNvPr>
          <p:cNvSpPr txBox="1"/>
          <p:nvPr/>
        </p:nvSpPr>
        <p:spPr>
          <a:xfrm>
            <a:off x="2283802" y="5870702"/>
            <a:ext cx="49346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https://eios.sibsutis.ru/course/view.php?id=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4600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0CB5A94-FF50-46C4-B980-CFC0E8DF0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1057" y="1398370"/>
            <a:ext cx="4434754" cy="4381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478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3">
            <a:extLst>
              <a:ext uri="{FF2B5EF4-FFF2-40B4-BE49-F238E27FC236}">
                <a16:creationId xmlns:a16="http://schemas.microsoft.com/office/drawing/2014/main" id="{B73BD34D-2022-4B0F-85B3-5F6F09B25973}"/>
              </a:ext>
            </a:extLst>
          </p:cNvPr>
          <p:cNvSpPr txBox="1">
            <a:spLocks/>
          </p:cNvSpPr>
          <p:nvPr/>
        </p:nvSpPr>
        <p:spPr>
          <a:xfrm>
            <a:off x="3077973" y="87355"/>
            <a:ext cx="6036053" cy="10292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A3525-D98B-41D4-B453-3D9442E4A712}"/>
              </a:ext>
            </a:extLst>
          </p:cNvPr>
          <p:cNvSpPr txBox="1"/>
          <p:nvPr/>
        </p:nvSpPr>
        <p:spPr>
          <a:xfrm>
            <a:off x="3909262" y="5015876"/>
            <a:ext cx="4542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https://github.com/kruffka/C-Programming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A5481-3C0E-47CE-B6F1-BE358EF60B71}"/>
              </a:ext>
            </a:extLst>
          </p:cNvPr>
          <p:cNvSpPr txBox="1"/>
          <p:nvPr/>
        </p:nvSpPr>
        <p:spPr>
          <a:xfrm>
            <a:off x="654581" y="5866296"/>
            <a:ext cx="112219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Домашка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Завести аккаунт на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github.com.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Желательно использовать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@Gmail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т.к. с другими могут возникнуть проблемы при регистрации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1E4B81-95B4-4C5C-954E-CCA5043B6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139" y="1181216"/>
            <a:ext cx="3858627" cy="383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12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7034A93E-C1EC-45AB-A22C-DA1F336DF23A}"/>
              </a:ext>
            </a:extLst>
          </p:cNvPr>
          <p:cNvSpPr txBox="1"/>
          <p:nvPr/>
        </p:nvSpPr>
        <p:spPr>
          <a:xfrm>
            <a:off x="781506" y="664697"/>
            <a:ext cx="111789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это набор инструкций, которые кто-то (или что-то) выполняет для получения некоторого результата. </a:t>
            </a:r>
          </a:p>
        </p:txBody>
      </p:sp>
      <p:graphicFrame>
        <p:nvGraphicFramePr>
          <p:cNvPr id="5" name="Таблица 5">
            <a:extLst>
              <a:ext uri="{FF2B5EF4-FFF2-40B4-BE49-F238E27FC236}">
                <a16:creationId xmlns:a16="http://schemas.microsoft.com/office/drawing/2014/main" id="{3DEAC774-F7AC-4B37-A78C-3B01547CDD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147399"/>
              </p:ext>
            </p:extLst>
          </p:nvPr>
        </p:nvGraphicFramePr>
        <p:xfrm>
          <a:off x="781506" y="1864725"/>
          <a:ext cx="10731043" cy="37461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060514">
                  <a:extLst>
                    <a:ext uri="{9D8B030D-6E8A-4147-A177-3AD203B41FA5}">
                      <a16:colId xmlns:a16="http://schemas.microsoft.com/office/drawing/2014/main" val="809447463"/>
                    </a:ext>
                  </a:extLst>
                </a:gridCol>
                <a:gridCol w="2986743">
                  <a:extLst>
                    <a:ext uri="{9D8B030D-6E8A-4147-A177-3AD203B41FA5}">
                      <a16:colId xmlns:a16="http://schemas.microsoft.com/office/drawing/2014/main" val="3417138333"/>
                    </a:ext>
                  </a:extLst>
                </a:gridCol>
                <a:gridCol w="5683786">
                  <a:extLst>
                    <a:ext uri="{9D8B030D-6E8A-4147-A177-3AD203B41FA5}">
                      <a16:colId xmlns:a16="http://schemas.microsoft.com/office/drawing/2014/main" val="592344088"/>
                    </a:ext>
                  </a:extLst>
                </a:gridCol>
              </a:tblGrid>
              <a:tr h="81224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Понятие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ru-RU" sz="2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8421646"/>
                  </a:ext>
                </a:extLst>
              </a:tr>
              <a:tr h="1173242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Рецепт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Текст на бумаге на русском языке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Код на языке программирования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5453805"/>
                  </a:ext>
                </a:extLst>
              </a:tr>
              <a:tr h="937689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Исполнитель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Повар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Процессор (в ПК, телефоне, утюге и самолете)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7197680"/>
                  </a:ext>
                </a:extLst>
              </a:tr>
              <a:tr h="812244"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Процесс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Придумывание и запись рецепта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Программирование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725696"/>
                  </a:ext>
                </a:extLst>
              </a:tr>
            </a:tbl>
          </a:graphicData>
        </a:graphic>
      </p:graphicFrame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A1641F1-1989-4BC7-BDD0-76B062DB5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9501" y="1864725"/>
            <a:ext cx="1301749" cy="7314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249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E2CB14-C56F-4962-9721-BA4DD3855164}"/>
              </a:ext>
            </a:extLst>
          </p:cNvPr>
          <p:cNvSpPr txBox="1"/>
          <p:nvPr/>
        </p:nvSpPr>
        <p:spPr>
          <a:xfrm>
            <a:off x="776338" y="1449394"/>
            <a:ext cx="1081559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Язык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- это заданный набор символов и правил, по которым мы общаемся.</a:t>
            </a:r>
            <a:endParaRPr lang="en-US" sz="2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sz="28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Язык программирования (ЯП) 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– это набор правил, по которым человек пишет инструкции понятные для машины (компьютера). Состоит из набора правил (</a:t>
            </a:r>
            <a:r>
              <a:rPr lang="ru-RU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лексических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ru-RU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синтаксических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и </a:t>
            </a:r>
            <a:r>
              <a:rPr lang="ru-RU" sz="28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семантических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054B5367-E6FF-42F1-B3E1-F7A425D6B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133" y="5682398"/>
            <a:ext cx="730529" cy="821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6">
            <a:extLst>
              <a:ext uri="{FF2B5EF4-FFF2-40B4-BE49-F238E27FC236}">
                <a16:creationId xmlns:a16="http://schemas.microsoft.com/office/drawing/2014/main" id="{C3B78F5A-A6B5-4F66-9B21-AAC68218CC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3460" y="5802146"/>
            <a:ext cx="790674" cy="5581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50">
            <a:extLst>
              <a:ext uri="{FF2B5EF4-FFF2-40B4-BE49-F238E27FC236}">
                <a16:creationId xmlns:a16="http://schemas.microsoft.com/office/drawing/2014/main" id="{13CB4522-5676-470B-B423-697196DAE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1255" y="5726972"/>
            <a:ext cx="790674" cy="866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52">
            <a:extLst>
              <a:ext uri="{FF2B5EF4-FFF2-40B4-BE49-F238E27FC236}">
                <a16:creationId xmlns:a16="http://schemas.microsoft.com/office/drawing/2014/main" id="{DE214D67-F326-4539-9B23-E2CFC79B2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3023" y="5823841"/>
            <a:ext cx="583508" cy="584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54">
            <a:extLst>
              <a:ext uri="{FF2B5EF4-FFF2-40B4-BE49-F238E27FC236}">
                <a16:creationId xmlns:a16="http://schemas.microsoft.com/office/drawing/2014/main" id="{6D93CE46-6667-4F61-BD3E-7E0C56C167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691" y="5823841"/>
            <a:ext cx="721571" cy="721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6CBCEFF8-C23D-40FB-B1BE-32B6D46300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25" y="5250941"/>
            <a:ext cx="901496" cy="60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0" name="Picture 26" descr="Java Logo PNG Vector (AI, PDF, SVG) Free Download">
            <a:extLst>
              <a:ext uri="{FF2B5EF4-FFF2-40B4-BE49-F238E27FC236}">
                <a16:creationId xmlns:a16="http://schemas.microsoft.com/office/drawing/2014/main" id="{4AA19CC9-8FC9-4733-9828-AB98CDB9C1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5040" y="5682398"/>
            <a:ext cx="1208678" cy="6526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4" name="Picture 30">
            <a:extLst>
              <a:ext uri="{FF2B5EF4-FFF2-40B4-BE49-F238E27FC236}">
                <a16:creationId xmlns:a16="http://schemas.microsoft.com/office/drawing/2014/main" id="{EC96F405-5F75-47FE-9937-6CB1326865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1000" y="5784332"/>
            <a:ext cx="583507" cy="583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Язык программирования Swift: где используется, основы">
            <a:extLst>
              <a:ext uri="{FF2B5EF4-FFF2-40B4-BE49-F238E27FC236}">
                <a16:creationId xmlns:a16="http://schemas.microsoft.com/office/drawing/2014/main" id="{FBB8DEB1-A7AC-410E-8D0D-FF1CEB094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2355" y="5741248"/>
            <a:ext cx="639425" cy="63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The Go Programming Language">
            <a:extLst>
              <a:ext uri="{FF2B5EF4-FFF2-40B4-BE49-F238E27FC236}">
                <a16:creationId xmlns:a16="http://schemas.microsoft.com/office/drawing/2014/main" id="{C51DDB23-4136-4FD8-BDB6-22F0C92BEF7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1" t="27135" r="5843" b="24461"/>
          <a:stretch/>
        </p:blipFill>
        <p:spPr bwMode="auto">
          <a:xfrm>
            <a:off x="9776922" y="5794169"/>
            <a:ext cx="1269650" cy="59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4" name="Picture 18">
            <a:extLst>
              <a:ext uri="{FF2B5EF4-FFF2-40B4-BE49-F238E27FC236}">
                <a16:creationId xmlns:a16="http://schemas.microsoft.com/office/drawing/2014/main" id="{D848E5C5-2E67-44F1-8BC0-31AC1C6459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3573" y="5786838"/>
            <a:ext cx="1174813" cy="548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984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371A338B-3CC1-431A-A9B0-8E88BEABA7BC}"/>
              </a:ext>
            </a:extLst>
          </p:cNvPr>
          <p:cNvSpPr txBox="1"/>
          <p:nvPr/>
        </p:nvSpPr>
        <p:spPr>
          <a:xfrm>
            <a:off x="883996" y="766732"/>
            <a:ext cx="10379557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Лексика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Lexicon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–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набор допустимых символов и токенов в языке программирования.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Какие слова и символы можно использовать в предложении?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слова типа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while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Допустимые имена переменных. Операторы (+, -, &amp;&amp;, |, ~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прочие символы вроде " ", ";" ","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Семантика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Semantics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значение и смысл программных конструкций.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"Является ли написанное предложение корректным? Если да, то что оно делает?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интерпретировать выражения, пример "x++" – прибавить к значению "x" единицу и записать результат в "x"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Синтаксис (</a:t>
            </a:r>
            <a:r>
              <a:rPr lang="ru-RU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Syntax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относится к правилам и структуре языка программирования.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 построить правильное предложение?</a:t>
            </a: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предложения: Как правильно написать условие "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if-else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", </a:t>
            </a: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куда ставить круглые скобки, а куда точку с запятой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 эти правила строго прописаны в стандарте языка.</a:t>
            </a:r>
          </a:p>
        </p:txBody>
      </p:sp>
      <p:pic>
        <p:nvPicPr>
          <p:cNvPr id="2050" name="Picture 2" descr="Русский язык. 1 класс">
            <a:extLst>
              <a:ext uri="{FF2B5EF4-FFF2-40B4-BE49-F238E27FC236}">
                <a16:creationId xmlns:a16="http://schemas.microsoft.com/office/drawing/2014/main" id="{4022D2E3-18A7-4EC2-A8DD-B3667000A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25607" y="4813542"/>
            <a:ext cx="1475893" cy="1949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6899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1347C07F-C496-45CF-A505-247F571AC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8397" y="277332"/>
            <a:ext cx="10775206" cy="744274"/>
          </a:xfrm>
        </p:spPr>
        <p:txBody>
          <a:bodyPr>
            <a:normAutofit/>
          </a:bodyPr>
          <a:lstStyle/>
          <a:p>
            <a:r>
              <a:rPr lang="ru-RU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Классификация языков программирования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FEC70-553C-4C4A-A637-FC046A13593B}"/>
              </a:ext>
            </a:extLst>
          </p:cNvPr>
          <p:cNvSpPr txBox="1"/>
          <p:nvPr/>
        </p:nvSpPr>
        <p:spPr>
          <a:xfrm>
            <a:off x="3511719" y="1406289"/>
            <a:ext cx="42226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Языки программирования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4AB050-3883-4890-B089-3647A35CE28B}"/>
              </a:ext>
            </a:extLst>
          </p:cNvPr>
          <p:cNvSpPr txBox="1"/>
          <p:nvPr/>
        </p:nvSpPr>
        <p:spPr>
          <a:xfrm>
            <a:off x="1380768" y="2604523"/>
            <a:ext cx="29241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Машинные языки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0C9723-1808-489C-B56B-D0FDE09BA419}"/>
              </a:ext>
            </a:extLst>
          </p:cNvPr>
          <p:cNvSpPr txBox="1"/>
          <p:nvPr/>
        </p:nvSpPr>
        <p:spPr>
          <a:xfrm>
            <a:off x="6096000" y="2604523"/>
            <a:ext cx="38236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Языки высокого уровня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692D17-FEC2-4774-B834-3AE1B2BF06D5}"/>
              </a:ext>
            </a:extLst>
          </p:cNvPr>
          <p:cNvSpPr txBox="1"/>
          <p:nvPr/>
        </p:nvSpPr>
        <p:spPr>
          <a:xfrm>
            <a:off x="3096126" y="4187440"/>
            <a:ext cx="33950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Процедурная (императивная)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парадигма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7014B4-B380-4640-A1AB-4578AB6ED052}"/>
              </a:ext>
            </a:extLst>
          </p:cNvPr>
          <p:cNvSpPr txBox="1"/>
          <p:nvPr/>
        </p:nvSpPr>
        <p:spPr>
          <a:xfrm>
            <a:off x="6351135" y="4187440"/>
            <a:ext cx="327365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Объектно-ориентированная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парадигма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7F4D9E-1842-45FF-8A7B-DC5830A040EB}"/>
              </a:ext>
            </a:extLst>
          </p:cNvPr>
          <p:cNvSpPr txBox="1"/>
          <p:nvPr/>
        </p:nvSpPr>
        <p:spPr>
          <a:xfrm>
            <a:off x="9795925" y="4187440"/>
            <a:ext cx="20441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Функциональная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парадигма</a:t>
            </a:r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1E415508-E4C8-4CFD-8E7D-F80D700C8BB2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flipH="1">
            <a:off x="2842867" y="1929509"/>
            <a:ext cx="2780168" cy="6750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DDD2ED86-3C71-4A27-8959-F13D869DBA09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5623035" y="1929509"/>
            <a:ext cx="2384771" cy="67501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Прямая со стрелкой 28">
            <a:extLst>
              <a:ext uri="{FF2B5EF4-FFF2-40B4-BE49-F238E27FC236}">
                <a16:creationId xmlns:a16="http://schemas.microsoft.com/office/drawing/2014/main" id="{EF995387-91FD-4F36-8054-6359CBAB22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flipH="1">
            <a:off x="4793643" y="3127743"/>
            <a:ext cx="3214163" cy="10596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FE0B9003-18F2-4640-93A4-92CA241E8C92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flipH="1">
            <a:off x="7987961" y="3127743"/>
            <a:ext cx="19845" cy="10596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 стрелкой 34">
            <a:extLst>
              <a:ext uri="{FF2B5EF4-FFF2-40B4-BE49-F238E27FC236}">
                <a16:creationId xmlns:a16="http://schemas.microsoft.com/office/drawing/2014/main" id="{FB93E197-CE66-4F96-9C37-D8A7A71CE5B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>
            <a:off x="8007806" y="3127743"/>
            <a:ext cx="2810194" cy="105969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5EBEB18-C41F-41AB-8879-A2B96D8FA547}"/>
              </a:ext>
            </a:extLst>
          </p:cNvPr>
          <p:cNvSpPr txBox="1"/>
          <p:nvPr/>
        </p:nvSpPr>
        <p:spPr>
          <a:xfrm>
            <a:off x="1380768" y="3156450"/>
            <a:ext cx="15696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Assembler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9204102-6399-4E36-9E87-B79521E6F209}"/>
              </a:ext>
            </a:extLst>
          </p:cNvPr>
          <p:cNvSpPr txBox="1"/>
          <p:nvPr/>
        </p:nvSpPr>
        <p:spPr>
          <a:xfrm>
            <a:off x="4542209" y="5011879"/>
            <a:ext cx="112723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Pascal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DA3365-B65C-4AFE-A4BB-804B54F3E5F1}"/>
              </a:ext>
            </a:extLst>
          </p:cNvPr>
          <p:cNvSpPr txBox="1"/>
          <p:nvPr/>
        </p:nvSpPr>
        <p:spPr>
          <a:xfrm>
            <a:off x="7349098" y="5011879"/>
            <a:ext cx="92845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C#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9701A0-64EB-4391-83C4-2EF6057F7230}"/>
              </a:ext>
            </a:extLst>
          </p:cNvPr>
          <p:cNvSpPr txBox="1"/>
          <p:nvPr/>
        </p:nvSpPr>
        <p:spPr>
          <a:xfrm>
            <a:off x="10363387" y="5011879"/>
            <a:ext cx="125547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Erlang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Haskell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A58271-DFA1-4094-8CC0-4485D2C70948}"/>
              </a:ext>
            </a:extLst>
          </p:cNvPr>
          <p:cNvSpPr txBox="1"/>
          <p:nvPr/>
        </p:nvSpPr>
        <p:spPr>
          <a:xfrm>
            <a:off x="180858" y="6293577"/>
            <a:ext cx="64612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Каждый ЯП и парадигма созданы для решения своих </a:t>
            </a:r>
            <a:r>
              <a:rPr lang="ru-RU" sz="1800" b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задач</a:t>
            </a:r>
            <a:r>
              <a:rPr lang="en-US" sz="1800" b="1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!</a:t>
            </a:r>
            <a:endParaRPr lang="ru-RU" sz="1800" b="1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988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53E14806-7116-85B7-DBB5-294C36162AA6}"/>
              </a:ext>
            </a:extLst>
          </p:cNvPr>
          <p:cNvSpPr txBox="1"/>
          <p:nvPr/>
        </p:nvSpPr>
        <p:spPr>
          <a:xfrm>
            <a:off x="2912344" y="1407267"/>
            <a:ext cx="70756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Компиляция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Интерпретация</a:t>
            </a:r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CD3D09E1-2BAF-1600-C64B-488B0BB68B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718" y="4671675"/>
            <a:ext cx="964305" cy="108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0516FA21-220D-6D44-D126-BD395B54C5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5880" y="4671675"/>
            <a:ext cx="1133473" cy="80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58" name="Picture 50">
            <a:extLst>
              <a:ext uri="{FF2B5EF4-FFF2-40B4-BE49-F238E27FC236}">
                <a16:creationId xmlns:a16="http://schemas.microsoft.com/office/drawing/2014/main" id="{8173DD3C-DC0C-35F6-15EC-BF151A1E7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7379" y="5165701"/>
            <a:ext cx="1035673" cy="11349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60" name="Picture 52">
            <a:extLst>
              <a:ext uri="{FF2B5EF4-FFF2-40B4-BE49-F238E27FC236}">
                <a16:creationId xmlns:a16="http://schemas.microsoft.com/office/drawing/2014/main" id="{E9AC9B6C-4955-3356-0C4C-B1EEC4836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82760" y="3668568"/>
            <a:ext cx="900292" cy="901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62" name="Picture 54">
            <a:extLst>
              <a:ext uri="{FF2B5EF4-FFF2-40B4-BE49-F238E27FC236}">
                <a16:creationId xmlns:a16="http://schemas.microsoft.com/office/drawing/2014/main" id="{3652339A-76C1-6EF1-BC87-6CF60FA66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3233" y="4771599"/>
            <a:ext cx="900293" cy="900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Заголовок 6">
            <a:extLst>
              <a:ext uri="{FF2B5EF4-FFF2-40B4-BE49-F238E27FC236}">
                <a16:creationId xmlns:a16="http://schemas.microsoft.com/office/drawing/2014/main" id="{6FF1B8E5-55AC-4A88-B188-E0993BDDB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641" y="250497"/>
            <a:ext cx="10775206" cy="744274"/>
          </a:xfrm>
        </p:spPr>
        <p:txBody>
          <a:bodyPr>
            <a:normAutofit/>
          </a:bodyPr>
          <a:lstStyle/>
          <a:p>
            <a:r>
              <a:rPr lang="ru-RU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Трансляция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C1B39F2C-9CD7-4103-B259-7986B45B4C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784" y="5325775"/>
            <a:ext cx="999332" cy="1104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Php – Бесплатные иконки: логотип">
            <a:extLst>
              <a:ext uri="{FF2B5EF4-FFF2-40B4-BE49-F238E27FC236}">
                <a16:creationId xmlns:a16="http://schemas.microsoft.com/office/drawing/2014/main" id="{DF9665E5-77D2-4349-B0AD-59B1D946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8824" y="5325775"/>
            <a:ext cx="1328953" cy="1328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6C88B4E-B259-4CB4-AA7E-EFA5CADFEB2F}"/>
              </a:ext>
            </a:extLst>
          </p:cNvPr>
          <p:cNvSpPr txBox="1"/>
          <p:nvPr/>
        </p:nvSpPr>
        <p:spPr>
          <a:xfrm>
            <a:off x="844995" y="2239252"/>
            <a:ext cx="417402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Лексический анализ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Синтаксический анализ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Семантический анализ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Оптимизация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Генерация кода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4A2C26-6DF6-401D-BC85-53D29534FA05}"/>
              </a:ext>
            </a:extLst>
          </p:cNvPr>
          <p:cNvSpPr txBox="1"/>
          <p:nvPr/>
        </p:nvSpPr>
        <p:spPr>
          <a:xfrm>
            <a:off x="5584998" y="2254014"/>
            <a:ext cx="6607002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Прочитать инструкцию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Определить соответствующие действия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соответствующие действия</a:t>
            </a:r>
          </a:p>
          <a:p>
            <a:pPr marL="342900" indent="-342900">
              <a:buAutoNum type="arabicParenR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не конец программы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 выполнить п.1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22E7F6EF-C9E6-4D16-8BB1-2C8DE83BA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769" y="5934611"/>
            <a:ext cx="1384002" cy="9233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171185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C7FAF5-3B6E-2EDB-A95A-196DFECF58EE}"/>
              </a:ext>
            </a:extLst>
          </p:cNvPr>
          <p:cNvSpPr/>
          <p:nvPr/>
        </p:nvSpPr>
        <p:spPr>
          <a:xfrm>
            <a:off x="4125082" y="1802246"/>
            <a:ext cx="3780105" cy="3500513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439FFF-A69D-5E7F-1DD1-2D75CD9521F5}"/>
              </a:ext>
            </a:extLst>
          </p:cNvPr>
          <p:cNvSpPr txBox="1"/>
          <p:nvPr/>
        </p:nvSpPr>
        <p:spPr>
          <a:xfrm>
            <a:off x="620171" y="3110386"/>
            <a:ext cx="27265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code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963548-B37A-B03B-0FC7-F77E63D1D74E}"/>
              </a:ext>
            </a:extLst>
          </p:cNvPr>
          <p:cNvSpPr txBox="1"/>
          <p:nvPr/>
        </p:nvSpPr>
        <p:spPr>
          <a:xfrm>
            <a:off x="8693159" y="3130724"/>
            <a:ext cx="31187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code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Прямая со стрелкой 6">
            <a:extLst>
              <a:ext uri="{FF2B5EF4-FFF2-40B4-BE49-F238E27FC236}">
                <a16:creationId xmlns:a16="http://schemas.microsoft.com/office/drawing/2014/main" id="{C9D5BC41-8DF5-3F1A-AE17-EDD33CA53B27}"/>
              </a:ext>
            </a:extLst>
          </p:cNvPr>
          <p:cNvCxnSpPr>
            <a:cxnSpLocks/>
          </p:cNvCxnSpPr>
          <p:nvPr/>
        </p:nvCxnSpPr>
        <p:spPr>
          <a:xfrm>
            <a:off x="3346687" y="3518470"/>
            <a:ext cx="658880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CDA25800-E2D1-0064-D6BA-ABDA0579276C}"/>
              </a:ext>
            </a:extLst>
          </p:cNvPr>
          <p:cNvCxnSpPr>
            <a:cxnSpLocks/>
          </p:cNvCxnSpPr>
          <p:nvPr/>
        </p:nvCxnSpPr>
        <p:spPr>
          <a:xfrm>
            <a:off x="8092892" y="3492000"/>
            <a:ext cx="600267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E14806-7116-85B7-DBB5-294C36162AA6}"/>
              </a:ext>
            </a:extLst>
          </p:cNvPr>
          <p:cNvSpPr txBox="1"/>
          <p:nvPr/>
        </p:nvSpPr>
        <p:spPr>
          <a:xfrm>
            <a:off x="4596257" y="3132905"/>
            <a:ext cx="315360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Compilation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3861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9314" y="168232"/>
            <a:ext cx="9013371" cy="11648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code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6CB05C-C565-4D84-1107-3E25A23F478E}"/>
              </a:ext>
            </a:extLst>
          </p:cNvPr>
          <p:cNvSpPr txBox="1"/>
          <p:nvPr/>
        </p:nvSpPr>
        <p:spPr>
          <a:xfrm>
            <a:off x="2727993" y="1689479"/>
            <a:ext cx="787469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3600" b="0" dirty="0" err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3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&gt;</a:t>
            </a:r>
            <a:endParaRPr lang="ru-RU" sz="3600" b="0" dirty="0">
              <a:solidFill>
                <a:srgbClr val="A5D6FF"/>
              </a:solidFill>
              <a:effectLst/>
              <a:latin typeface="Consolas" panose="020B0609020204030204" pitchFamily="49" charset="0"/>
            </a:endParaRPr>
          </a:p>
          <a:p>
            <a:endParaRPr lang="en-US" sz="3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3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36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sz="3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"hello, world!</a:t>
            </a:r>
            <a:r>
              <a:rPr lang="en-US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36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36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36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3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36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858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73F8D07-54EA-586C-6A7E-C0A2D0CCE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89314" y="168408"/>
            <a:ext cx="9013371" cy="116486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r>
              <a:rPr lang="en-US" dirty="0"/>
              <a:t> Code</a:t>
            </a:r>
            <a:endParaRPr lang="ru-RU"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11B72FA-143F-4EB2-BC96-671F3D1EA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1125" y="1613986"/>
            <a:ext cx="8049748" cy="289600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5E6C1E3-E90C-4096-90E9-436F9CEFF887}"/>
              </a:ext>
            </a:extLst>
          </p:cNvPr>
          <p:cNvSpPr txBox="1"/>
          <p:nvPr/>
        </p:nvSpPr>
        <p:spPr>
          <a:xfrm>
            <a:off x="3095196" y="4777999"/>
            <a:ext cx="600160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01001000 01100101 01101100 01101100 01101111 00101100 00100000 01110111 01101111 01110010 01101100 01100100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01001000 01100101 01101100 01101100 01101111 00101100 00100000 01110111 01101111 01110010 01101100 01100100</a:t>
            </a:r>
          </a:p>
        </p:txBody>
      </p:sp>
    </p:spTree>
    <p:extLst>
      <p:ext uri="{BB962C8B-B14F-4D97-AF65-F5344CB8AC3E}">
        <p14:creationId xmlns:p14="http://schemas.microsoft.com/office/powerpoint/2010/main" val="3763095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2852057" y="2883099"/>
            <a:ext cx="6487885" cy="109180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Hello, errors?</a:t>
            </a:r>
            <a:endParaRPr lang="ru-RU" sz="6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181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B81C635-AE9D-4E72-B22F-08CF5D830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8186" y="5161509"/>
            <a:ext cx="2459056" cy="16964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5BB871-CEEC-4FD8-B36C-83CACD8D9845}"/>
              </a:ext>
            </a:extLst>
          </p:cNvPr>
          <p:cNvSpPr txBox="1"/>
          <p:nvPr/>
        </p:nvSpPr>
        <p:spPr>
          <a:xfrm>
            <a:off x="975858" y="1797278"/>
            <a:ext cx="1070814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Переменная – коробка, в которую можно положить яблоки (записать данные)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посмотреть сколько их там (прочитать данные).</a:t>
            </a:r>
            <a:b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Коробка не бесконечная.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 данных – назначение коробки. Если коробка для яблок, то гречу туда не сыпем. 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Разные типы продуктов = разные коробки</a:t>
            </a:r>
          </a:p>
        </p:txBody>
      </p:sp>
      <p:pic>
        <p:nvPicPr>
          <p:cNvPr id="3080" name="Picture 8" descr="Download Apples Image Red Apple Fruit PNG Transparent Background, Free  Download #49410 - FreeIconsPNG">
            <a:extLst>
              <a:ext uri="{FF2B5EF4-FFF2-40B4-BE49-F238E27FC236}">
                <a16:creationId xmlns:a16="http://schemas.microsoft.com/office/drawing/2014/main" id="{4E54CB39-67CC-4C7F-B72A-2D69F8192C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45317" y="5893456"/>
            <a:ext cx="944562" cy="691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9801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 declaration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7D6E21-7FA9-451E-8A96-F509B8E31858}"/>
              </a:ext>
            </a:extLst>
          </p:cNvPr>
          <p:cNvSpPr txBox="1"/>
          <p:nvPr/>
        </p:nvSpPr>
        <p:spPr>
          <a:xfrm>
            <a:off x="3390167" y="2698261"/>
            <a:ext cx="609746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apples = </a:t>
            </a:r>
            <a:r>
              <a:rPr lang="en-US" sz="28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28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endParaRPr lang="en-US" sz="2800" dirty="0">
              <a:solidFill>
                <a:srgbClr val="D4D4D4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 тип данных </a:t>
            </a:r>
            <a:r>
              <a:rPr lang="en-US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целые числа</a:t>
            </a:r>
            <a:r>
              <a:rPr lang="en-US" sz="28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2800" b="1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apples</a:t>
            </a:r>
            <a:r>
              <a:rPr lang="ru-RU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- имя переменной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= - оператор присвоения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5 - целочисленная константа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 - конец инструкции</a:t>
            </a:r>
            <a:endParaRPr lang="en-US" sz="2800" b="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F48612-33A5-40A8-896D-B2C7C6F51775}"/>
              </a:ext>
            </a:extLst>
          </p:cNvPr>
          <p:cNvSpPr txBox="1"/>
          <p:nvPr/>
        </p:nvSpPr>
        <p:spPr>
          <a:xfrm>
            <a:off x="2863710" y="1731452"/>
            <a:ext cx="725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Объявляем переменную '</a:t>
            </a:r>
            <a:r>
              <a:rPr lang="en-US" sz="2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apples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' типа </a:t>
            </a:r>
            <a:r>
              <a:rPr lang="en-US" sz="2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равной 5</a:t>
            </a:r>
          </a:p>
        </p:txBody>
      </p:sp>
    </p:spTree>
    <p:extLst>
      <p:ext uri="{BB962C8B-B14F-4D97-AF65-F5344CB8AC3E}">
        <p14:creationId xmlns:p14="http://schemas.microsoft.com/office/powerpoint/2010/main" val="15121990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Заголовок 3">
            <a:extLst>
              <a:ext uri="{FF2B5EF4-FFF2-40B4-BE49-F238E27FC236}">
                <a16:creationId xmlns:a16="http://schemas.microsoft.com/office/drawing/2014/main" id="{F7D56ED5-FD5A-4621-A328-C90297FC9D4A}"/>
              </a:ext>
            </a:extLst>
          </p:cNvPr>
          <p:cNvSpPr txBox="1">
            <a:spLocks/>
          </p:cNvSpPr>
          <p:nvPr/>
        </p:nvSpPr>
        <p:spPr>
          <a:xfrm>
            <a:off x="1741714" y="320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Variable declaration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E70605-7430-42AC-9D71-D01102058D47}"/>
              </a:ext>
            </a:extLst>
          </p:cNvPr>
          <p:cNvSpPr txBox="1"/>
          <p:nvPr/>
        </p:nvSpPr>
        <p:spPr>
          <a:xfrm>
            <a:off x="2690586" y="2274838"/>
            <a:ext cx="79901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// это комментарий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600" b="0" dirty="0">
              <a:solidFill>
                <a:srgbClr val="569CD6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apples;</a:t>
            </a:r>
            <a:r>
              <a:rPr lang="ru-RU" sz="36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// не обязательно == 0</a:t>
            </a:r>
            <a:endParaRPr lang="en-US" sz="36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apples = -</a:t>
            </a:r>
            <a:r>
              <a:rPr lang="en-US" sz="36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36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3600" b="0" dirty="0">
              <a:solidFill>
                <a:srgbClr val="D4D4D4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 descr="Waste - Free computer icons">
            <a:extLst>
              <a:ext uri="{FF2B5EF4-FFF2-40B4-BE49-F238E27FC236}">
                <a16:creationId xmlns:a16="http://schemas.microsoft.com/office/drawing/2014/main" id="{97B96D83-98AD-46F8-8F9A-FA99CA9CC4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064" y="5238750"/>
            <a:ext cx="1517650" cy="151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8040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types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8A5D3C1-5AA9-4D8F-AABC-1CFB096E87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074" y="1389956"/>
            <a:ext cx="9727850" cy="4455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CA8785E-68A6-441A-8A1C-ED3CE24783F5}"/>
              </a:ext>
            </a:extLst>
          </p:cNvPr>
          <p:cNvSpPr txBox="1"/>
          <p:nvPr/>
        </p:nvSpPr>
        <p:spPr>
          <a:xfrm>
            <a:off x="1140801" y="6245215"/>
            <a:ext cx="112651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*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Формат - подсказка какой </a:t>
            </a: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специальный символ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использовать для вывода через </a:t>
            </a:r>
            <a:r>
              <a:rPr lang="ru-RU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042617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Types and constants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AC18E-A1CD-47C2-9400-8AC46F74BD68}"/>
              </a:ext>
            </a:extLst>
          </p:cNvPr>
          <p:cNvSpPr txBox="1"/>
          <p:nvPr/>
        </p:nvSpPr>
        <p:spPr>
          <a:xfrm>
            <a:off x="4033540" y="1781939"/>
            <a:ext cx="412491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a = </a:t>
            </a:r>
            <a:r>
              <a:rPr lang="en-US" sz="44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b = </a:t>
            </a:r>
            <a:r>
              <a:rPr lang="en-US" sz="44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'A'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short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 = -</a:t>
            </a:r>
            <a:r>
              <a:rPr lang="en-US" sz="44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float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 = </a:t>
            </a:r>
            <a:r>
              <a:rPr lang="en-US" sz="44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5.132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44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double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 = </a:t>
            </a:r>
            <a:r>
              <a:rPr lang="en-US" sz="44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5.0</a:t>
            </a:r>
            <a:r>
              <a:rPr lang="en-US" sz="44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4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6490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Overflow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9F1E2-954B-4FE0-85EE-F4C1242D472F}"/>
              </a:ext>
            </a:extLst>
          </p:cNvPr>
          <p:cNvSpPr txBox="1"/>
          <p:nvPr/>
        </p:nvSpPr>
        <p:spPr>
          <a:xfrm>
            <a:off x="1861403" y="2778551"/>
            <a:ext cx="846919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unsigned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0" dirty="0">
                <a:solidFill>
                  <a:srgbClr val="569CD6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money = </a:t>
            </a:r>
            <a:r>
              <a:rPr lang="en-US" sz="32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2147483648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en-US" sz="32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0" dirty="0" err="1">
                <a:solidFill>
                  <a:srgbClr val="DCDCA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printf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32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"double of money is </a:t>
            </a:r>
            <a:r>
              <a:rPr lang="en-US" sz="3200" b="0" dirty="0">
                <a:solidFill>
                  <a:srgbClr val="9CDCF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%u</a:t>
            </a:r>
            <a:r>
              <a:rPr lang="en-US" sz="32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$</a:t>
            </a:r>
            <a:r>
              <a:rPr lang="en-US" sz="3200" b="0" dirty="0">
                <a:solidFill>
                  <a:srgbClr val="D7BA7D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\n</a:t>
            </a:r>
            <a:r>
              <a:rPr lang="en-US" sz="3200" b="0" dirty="0">
                <a:solidFill>
                  <a:srgbClr val="CE917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money * </a:t>
            </a:r>
            <a:r>
              <a:rPr lang="en-US" sz="3200" b="0" dirty="0">
                <a:solidFill>
                  <a:srgbClr val="B5CEA8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sz="3200" b="0" dirty="0">
                <a:solidFill>
                  <a:srgbClr val="D4D4D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  <a:endParaRPr lang="en-US" sz="32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FE1F9A-9B44-4954-B2FF-E6B8938B6163}"/>
              </a:ext>
            </a:extLst>
          </p:cNvPr>
          <p:cNvSpPr txBox="1"/>
          <p:nvPr/>
        </p:nvSpPr>
        <p:spPr>
          <a:xfrm>
            <a:off x="6579943" y="6142540"/>
            <a:ext cx="6097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https://ru.wikipedia.org/wiki/</a:t>
            </a:r>
            <a:r>
              <a:rPr lang="ru-RU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Проблема_2038_года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2009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298274" y="378372"/>
            <a:ext cx="7595452" cy="10697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502460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A1FC82-4DAC-45A9-AE68-17EC2FF5FDC6}"/>
              </a:ext>
            </a:extLst>
          </p:cNvPr>
          <p:cNvSpPr txBox="1"/>
          <p:nvPr/>
        </p:nvSpPr>
        <p:spPr>
          <a:xfrm>
            <a:off x="1951629" y="1670602"/>
            <a:ext cx="1752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Прямой код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D6AA11-5CD1-4EA3-80D5-CDEA7D0E126F}"/>
              </a:ext>
            </a:extLst>
          </p:cNvPr>
          <p:cNvSpPr txBox="1"/>
          <p:nvPr/>
        </p:nvSpPr>
        <p:spPr>
          <a:xfrm>
            <a:off x="6607563" y="1670602"/>
            <a:ext cx="29629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Дополнительный код</a:t>
            </a:r>
          </a:p>
        </p:txBody>
      </p:sp>
      <p:graphicFrame>
        <p:nvGraphicFramePr>
          <p:cNvPr id="10" name="Таблица 10">
            <a:extLst>
              <a:ext uri="{FF2B5EF4-FFF2-40B4-BE49-F238E27FC236}">
                <a16:creationId xmlns:a16="http://schemas.microsoft.com/office/drawing/2014/main" id="{8F4DF56F-8CC2-47FE-BFD4-61D8A7C3D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922342"/>
              </p:ext>
            </p:extLst>
          </p:nvPr>
        </p:nvGraphicFramePr>
        <p:xfrm>
          <a:off x="974528" y="2738581"/>
          <a:ext cx="149571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53">
                  <a:extLst>
                    <a:ext uri="{9D8B030D-6E8A-4147-A177-3AD203B41FA5}">
                      <a16:colId xmlns:a16="http://schemas.microsoft.com/office/drawing/2014/main" val="2041692866"/>
                    </a:ext>
                  </a:extLst>
                </a:gridCol>
                <a:gridCol w="1280463">
                  <a:extLst>
                    <a:ext uri="{9D8B030D-6E8A-4147-A177-3AD203B41FA5}">
                      <a16:colId xmlns:a16="http://schemas.microsoft.com/office/drawing/2014/main" val="29619637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908097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6FA0DC1-7D03-4482-913A-F5FBAD96C1E6}"/>
              </a:ext>
            </a:extLst>
          </p:cNvPr>
          <p:cNvSpPr txBox="1"/>
          <p:nvPr/>
        </p:nvSpPr>
        <p:spPr>
          <a:xfrm>
            <a:off x="668739" y="2416335"/>
            <a:ext cx="2190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31   30                    0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8" name="Таблица 10">
            <a:extLst>
              <a:ext uri="{FF2B5EF4-FFF2-40B4-BE49-F238E27FC236}">
                <a16:creationId xmlns:a16="http://schemas.microsoft.com/office/drawing/2014/main" id="{04518407-F77F-4112-B80D-2D8801AD1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4175635"/>
              </p:ext>
            </p:extLst>
          </p:nvPr>
        </p:nvGraphicFramePr>
        <p:xfrm>
          <a:off x="7039687" y="2736769"/>
          <a:ext cx="149571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53">
                  <a:extLst>
                    <a:ext uri="{9D8B030D-6E8A-4147-A177-3AD203B41FA5}">
                      <a16:colId xmlns:a16="http://schemas.microsoft.com/office/drawing/2014/main" val="2041692866"/>
                    </a:ext>
                  </a:extLst>
                </a:gridCol>
                <a:gridCol w="1280463">
                  <a:extLst>
                    <a:ext uri="{9D8B030D-6E8A-4147-A177-3AD203B41FA5}">
                      <a16:colId xmlns:a16="http://schemas.microsoft.com/office/drawing/2014/main" val="29619637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90809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6C03D2E-B081-4480-9CFB-08C854AA96B8}"/>
              </a:ext>
            </a:extLst>
          </p:cNvPr>
          <p:cNvSpPr txBox="1"/>
          <p:nvPr/>
        </p:nvSpPr>
        <p:spPr>
          <a:xfrm>
            <a:off x="6733898" y="2414523"/>
            <a:ext cx="2190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31   30                    0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FC0A54-E4A8-4C67-B35C-2EEF4441099C}"/>
              </a:ext>
            </a:extLst>
          </p:cNvPr>
          <p:cNvSpPr txBox="1"/>
          <p:nvPr/>
        </p:nvSpPr>
        <p:spPr>
          <a:xfrm>
            <a:off x="668739" y="3639340"/>
            <a:ext cx="5316777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 = 00000101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 = 10000101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Прост в вычислении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+ Количество «+» чисел равно количеству «-»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чисел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Два нуля (-0 и +0)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Требует реализации операции вычитания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3DA6E3-E624-4B6D-82CC-7EDE46AB9AE7}"/>
              </a:ext>
            </a:extLst>
          </p:cNvPr>
          <p:cNvSpPr txBox="1"/>
          <p:nvPr/>
        </p:nvSpPr>
        <p:spPr>
          <a:xfrm>
            <a:off x="6783064" y="4546801"/>
            <a:ext cx="3504677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= 00000101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-5 -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</a:p>
          <a:p>
            <a:pPr marL="800100" lvl="1" indent="-34290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Прямой код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00000101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Обратный код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11111010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Прибавляем 1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11111011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800100" lvl="1" indent="-342900"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Единица в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       11111011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2" name="Picture 5">
            <a:extLst>
              <a:ext uri="{FF2B5EF4-FFF2-40B4-BE49-F238E27FC236}">
                <a16:creationId xmlns:a16="http://schemas.microsoft.com/office/drawing/2014/main" id="{E770F863-376D-40C0-94F3-3F5B93432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3315" y="2448715"/>
            <a:ext cx="21907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3">
            <a:extLst>
              <a:ext uri="{FF2B5EF4-FFF2-40B4-BE49-F238E27FC236}">
                <a16:creationId xmlns:a16="http://schemas.microsoft.com/office/drawing/2014/main" id="{E4CB795B-2E13-4423-8CFD-A45A3056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7432" y="2414523"/>
            <a:ext cx="2011792" cy="259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0779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2298274" y="378372"/>
            <a:ext cx="7595452" cy="106971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numbers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502460"/>
            <a:ext cx="184731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6CB7E9-EC03-4529-A6EB-AFAFC63A33AB}"/>
              </a:ext>
            </a:extLst>
          </p:cNvPr>
          <p:cNvSpPr txBox="1"/>
          <p:nvPr/>
        </p:nvSpPr>
        <p:spPr>
          <a:xfrm>
            <a:off x="1274885" y="2101362"/>
            <a:ext cx="1004081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Самый старший бит в знаковой переменной отвечает за знак! '1' - число отрицательное, '0' - число положительное. Если переменная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unsigned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то старший бит не используется для знака, отсюда допустимый диапазон больше на 1 бит.</a:t>
            </a:r>
          </a:p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Например для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char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мы получаем не -128..127, а 0..255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BFE364-C444-4E6F-BDF3-F3AEB422BD8A}"/>
              </a:ext>
            </a:extLst>
          </p:cNvPr>
          <p:cNvSpPr txBox="1"/>
          <p:nvPr/>
        </p:nvSpPr>
        <p:spPr>
          <a:xfrm>
            <a:off x="1274885" y="5284150"/>
            <a:ext cx="609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Какой диапазон чисел будет для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signed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  <p:graphicFrame>
        <p:nvGraphicFramePr>
          <p:cNvPr id="24" name="Таблица 10">
            <a:extLst>
              <a:ext uri="{FF2B5EF4-FFF2-40B4-BE49-F238E27FC236}">
                <a16:creationId xmlns:a16="http://schemas.microsoft.com/office/drawing/2014/main" id="{146383AE-395A-45A5-B1F1-A9A5CB7F79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0752013"/>
              </p:ext>
            </p:extLst>
          </p:nvPr>
        </p:nvGraphicFramePr>
        <p:xfrm>
          <a:off x="9650547" y="4040354"/>
          <a:ext cx="149571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253">
                  <a:extLst>
                    <a:ext uri="{9D8B030D-6E8A-4147-A177-3AD203B41FA5}">
                      <a16:colId xmlns:a16="http://schemas.microsoft.com/office/drawing/2014/main" val="2041692866"/>
                    </a:ext>
                  </a:extLst>
                </a:gridCol>
                <a:gridCol w="1280463">
                  <a:extLst>
                    <a:ext uri="{9D8B030D-6E8A-4147-A177-3AD203B41FA5}">
                      <a16:colId xmlns:a16="http://schemas.microsoft.com/office/drawing/2014/main" val="29619637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908097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DD217D57-63AD-4A64-8447-36FE55AA8B1A}"/>
              </a:ext>
            </a:extLst>
          </p:cNvPr>
          <p:cNvSpPr txBox="1"/>
          <p:nvPr/>
        </p:nvSpPr>
        <p:spPr>
          <a:xfrm>
            <a:off x="9344758" y="3718108"/>
            <a:ext cx="21907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7   6                    0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49254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ASCII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6D7F0B-61B0-4F50-9A6E-B2D48BE63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683" y="1478861"/>
            <a:ext cx="9794631" cy="4605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0256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IEEE-754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Таблица 10">
            <a:extLst>
              <a:ext uri="{FF2B5EF4-FFF2-40B4-BE49-F238E27FC236}">
                <a16:creationId xmlns:a16="http://schemas.microsoft.com/office/drawing/2014/main" id="{E890849C-373B-414E-91F7-6C3BAD2C4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56083"/>
              </p:ext>
            </p:extLst>
          </p:nvPr>
        </p:nvGraphicFramePr>
        <p:xfrm>
          <a:off x="6117349" y="5169955"/>
          <a:ext cx="4339989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363">
                  <a:extLst>
                    <a:ext uri="{9D8B030D-6E8A-4147-A177-3AD203B41FA5}">
                      <a16:colId xmlns:a16="http://schemas.microsoft.com/office/drawing/2014/main" val="2041692866"/>
                    </a:ext>
                  </a:extLst>
                </a:gridCol>
                <a:gridCol w="1718839">
                  <a:extLst>
                    <a:ext uri="{9D8B030D-6E8A-4147-A177-3AD203B41FA5}">
                      <a16:colId xmlns:a16="http://schemas.microsoft.com/office/drawing/2014/main" val="2961963788"/>
                    </a:ext>
                  </a:extLst>
                </a:gridCol>
                <a:gridCol w="2224787">
                  <a:extLst>
                    <a:ext uri="{9D8B030D-6E8A-4147-A177-3AD203B41FA5}">
                      <a16:colId xmlns:a16="http://schemas.microsoft.com/office/drawing/2014/main" val="111867314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s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ru-RU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39080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068C06D-49E3-42DC-9105-CB99CE671E41}"/>
              </a:ext>
            </a:extLst>
          </p:cNvPr>
          <p:cNvSpPr txBox="1"/>
          <p:nvPr/>
        </p:nvSpPr>
        <p:spPr>
          <a:xfrm>
            <a:off x="5878513" y="4847709"/>
            <a:ext cx="47971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31   30                          23 22                                     0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143D4D-68D7-42F8-94FC-370DA64ABD4B}"/>
                  </a:ext>
                </a:extLst>
              </p:cNvPr>
              <p:cNvSpPr txBox="1"/>
              <p:nvPr/>
            </p:nvSpPr>
            <p:spPr>
              <a:xfrm>
                <a:off x="1998528" y="1791624"/>
                <a:ext cx="5775684" cy="41004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)∗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m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e</m:t>
                        </m:r>
                      </m:sup>
                    </m:sSup>
                  </m:oMath>
                </a14:m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endPara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 –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знак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(0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положительное число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1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отрицательное)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 –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мантисса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 –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основание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 – 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экспонента</a:t>
                </a:r>
              </a:p>
              <a:p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12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.88 = </a:t>
                </a:r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0" smtClean="0">
                            <a:latin typeface="Cambria Math" panose="02040503050406030204" pitchFamily="18" charset="0"/>
                          </a:rPr>
                          <m:t>−1</m:t>
                        </m:r>
                      </m:e>
                      <m:sup>
                        <m:r>
                          <a:rPr lang="ru-RU" sz="20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sup>
                    </m:sSup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)∗</m:t>
                    </m:r>
                    <m:r>
                      <a:rPr lang="ru-RU" sz="2000" b="0" i="0" smtClean="0">
                        <a:latin typeface="Cambria Math" panose="02040503050406030204" pitchFamily="18" charset="0"/>
                      </a:rPr>
                      <m:t>12288</m:t>
                    </m:r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ru-RU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ru-RU" sz="2000" b="0" i="0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  <m:sup>
                        <m:r>
                          <a:rPr lang="ru-RU" sz="2000" b="0" i="0" smtClean="0">
                            <a:latin typeface="Cambria Math" panose="02040503050406030204" pitchFamily="18" charset="0"/>
                          </a:rPr>
                          <m:t>−2</m:t>
                        </m:r>
                      </m:sup>
                    </m:sSup>
                  </m:oMath>
                </a14:m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 = 0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 = 12288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 = 10</a:t>
                </a:r>
              </a:p>
              <a:p>
                <a:r>
                  <a:rPr lang="en-US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 = -2</a:t>
                </a:r>
              </a:p>
              <a:p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D143D4D-68D7-42F8-94FC-370DA64ABD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8528" y="1791624"/>
                <a:ext cx="5775684" cy="4100418"/>
              </a:xfrm>
              <a:prstGeom prst="rect">
                <a:avLst/>
              </a:prstGeom>
              <a:blipFill>
                <a:blip r:embed="rId3"/>
                <a:stretch>
                  <a:fillRect l="-1162" t="-89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031FD4B-9B6B-42A6-8B7A-9177B3435919}"/>
              </a:ext>
            </a:extLst>
          </p:cNvPr>
          <p:cNvSpPr txBox="1"/>
          <p:nvPr/>
        </p:nvSpPr>
        <p:spPr>
          <a:xfrm>
            <a:off x="7954841" y="6220722"/>
            <a:ext cx="39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https://0.30000000000000004.com/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69497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62786C2-6B94-4A5C-96B6-22DAE3987298}"/>
              </a:ext>
            </a:extLst>
          </p:cNvPr>
          <p:cNvSpPr txBox="1"/>
          <p:nvPr/>
        </p:nvSpPr>
        <p:spPr>
          <a:xfrm>
            <a:off x="2553278" y="3105834"/>
            <a:ext cx="70854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https://0.30000000000000004.com/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Заголовок 3">
            <a:extLst>
              <a:ext uri="{FF2B5EF4-FFF2-40B4-BE49-F238E27FC236}">
                <a16:creationId xmlns:a16="http://schemas.microsoft.com/office/drawing/2014/main" id="{EB5E227A-39C0-412F-B3FB-E7C8BE2905C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 + 0.1 != 0.3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90171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5" y="4758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Operators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144529D-878D-4A07-B19E-3FA241AD1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623484"/>
              </p:ext>
            </p:extLst>
          </p:nvPr>
        </p:nvGraphicFramePr>
        <p:xfrm>
          <a:off x="1589316" y="1283677"/>
          <a:ext cx="9013370" cy="5223339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2285649">
                  <a:extLst>
                    <a:ext uri="{9D8B030D-6E8A-4147-A177-3AD203B41FA5}">
                      <a16:colId xmlns:a16="http://schemas.microsoft.com/office/drawing/2014/main" val="284487438"/>
                    </a:ext>
                  </a:extLst>
                </a:gridCol>
                <a:gridCol w="1610882">
                  <a:extLst>
                    <a:ext uri="{9D8B030D-6E8A-4147-A177-3AD203B41FA5}">
                      <a16:colId xmlns:a16="http://schemas.microsoft.com/office/drawing/2014/main" val="2796634176"/>
                    </a:ext>
                  </a:extLst>
                </a:gridCol>
                <a:gridCol w="1744314">
                  <a:extLst>
                    <a:ext uri="{9D8B030D-6E8A-4147-A177-3AD203B41FA5}">
                      <a16:colId xmlns:a16="http://schemas.microsoft.com/office/drawing/2014/main" val="1343240721"/>
                    </a:ext>
                  </a:extLst>
                </a:gridCol>
                <a:gridCol w="3372525">
                  <a:extLst>
                    <a:ext uri="{9D8B030D-6E8A-4147-A177-3AD203B41FA5}">
                      <a16:colId xmlns:a16="http://schemas.microsoft.com/office/drawing/2014/main" val="2722715245"/>
                    </a:ext>
                  </a:extLst>
                </a:gridCol>
              </a:tblGrid>
              <a:tr h="333045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Операция (выражение)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Оператор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Синтаксис выражения</a:t>
                      </a:r>
                      <a:endParaRPr lang="en-US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853113625"/>
                  </a:ext>
                </a:extLst>
              </a:tr>
              <a:tr h="437661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Присваивание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=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1203188634"/>
                  </a:ext>
                </a:extLst>
              </a:tr>
              <a:tr h="437661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Сложение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+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1899429345"/>
                  </a:ext>
                </a:extLst>
              </a:tr>
              <a:tr h="371367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Вычитание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–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840398460"/>
                  </a:ext>
                </a:extLst>
              </a:tr>
              <a:tr h="348064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Унарный плюс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+a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70290120"/>
                  </a:ext>
                </a:extLst>
              </a:tr>
              <a:tr h="348064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Унарный минус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-a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0506478"/>
                  </a:ext>
                </a:extLst>
              </a:tr>
              <a:tr h="437661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Умножение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*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*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837276327"/>
                  </a:ext>
                </a:extLst>
              </a:tr>
              <a:tr h="437661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Деление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/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061736276"/>
                  </a:ext>
                </a:extLst>
              </a:tr>
              <a:tr h="608330">
                <a:tc grid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Операция модуль (остаток от деления целых чисел)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%</a:t>
                      </a:r>
                      <a:endParaRPr lang="ru-RU" sz="20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 %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644954014"/>
                  </a:ext>
                </a:extLst>
              </a:tr>
              <a:tr h="333045">
                <a:tc row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Инкремент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префиксный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++a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610685316"/>
                  </a:ext>
                </a:extLst>
              </a:tr>
              <a:tr h="333045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суфиксный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a++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81788796"/>
                  </a:ext>
                </a:extLst>
              </a:tr>
              <a:tr h="333045">
                <a:tc rowSpan="2"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Декремент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префиксный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--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--a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426761160"/>
                  </a:ext>
                </a:extLst>
              </a:tr>
              <a:tr h="333045"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b="1" dirty="0" err="1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суфиксный</a:t>
                      </a:r>
                      <a:endParaRPr lang="en-US" sz="20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--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0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a--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3746438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7357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8C3DA25C-8F93-41DF-91B3-85F2D0FE2F1E}"/>
              </a:ext>
            </a:extLst>
          </p:cNvPr>
          <p:cNvSpPr txBox="1">
            <a:spLocks/>
          </p:cNvSpPr>
          <p:nvPr/>
        </p:nvSpPr>
        <p:spPr>
          <a:xfrm>
            <a:off x="1589314" y="1682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Assignment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61648C68-F047-4B90-88C2-32888A3B27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772343"/>
              </p:ext>
            </p:extLst>
          </p:nvPr>
        </p:nvGraphicFramePr>
        <p:xfrm>
          <a:off x="1067044" y="1778000"/>
          <a:ext cx="10057911" cy="4281928"/>
        </p:xfrm>
        <a:graphic>
          <a:graphicData uri="http://schemas.openxmlformats.org/drawingml/2006/table">
            <a:tbl>
              <a:tblPr>
                <a:tableStyleId>{E8B1032C-EA38-4F05-BA0D-38AFFFC7BED3}</a:tableStyleId>
              </a:tblPr>
              <a:tblGrid>
                <a:gridCol w="3568616">
                  <a:extLst>
                    <a:ext uri="{9D8B030D-6E8A-4147-A177-3AD203B41FA5}">
                      <a16:colId xmlns:a16="http://schemas.microsoft.com/office/drawing/2014/main" val="284487438"/>
                    </a:ext>
                  </a:extLst>
                </a:gridCol>
                <a:gridCol w="1854650">
                  <a:extLst>
                    <a:ext uri="{9D8B030D-6E8A-4147-A177-3AD203B41FA5}">
                      <a16:colId xmlns:a16="http://schemas.microsoft.com/office/drawing/2014/main" val="1343240721"/>
                    </a:ext>
                  </a:extLst>
                </a:gridCol>
                <a:gridCol w="2163759">
                  <a:extLst>
                    <a:ext uri="{9D8B030D-6E8A-4147-A177-3AD203B41FA5}">
                      <a16:colId xmlns:a16="http://schemas.microsoft.com/office/drawing/2014/main" val="2722715245"/>
                    </a:ext>
                  </a:extLst>
                </a:gridCol>
                <a:gridCol w="2470886">
                  <a:extLst>
                    <a:ext uri="{9D8B030D-6E8A-4147-A177-3AD203B41FA5}">
                      <a16:colId xmlns:a16="http://schemas.microsoft.com/office/drawing/2014/main" val="2529484183"/>
                    </a:ext>
                  </a:extLst>
                </a:gridCol>
              </a:tblGrid>
              <a:tr h="743170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Операция (выражение)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Оператор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Синтаксис выражения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Значение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853113625"/>
                  </a:ext>
                </a:extLst>
              </a:tr>
              <a:tr h="614157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Сложение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+</a:t>
                      </a:r>
                      <a:endParaRPr lang="ru-RU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+= b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= a +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1899429345"/>
                  </a:ext>
                </a:extLst>
              </a:tr>
              <a:tr h="521125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Вычитание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-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 –= b</a:t>
                      </a:r>
                      <a:endParaRPr lang="en-US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= a -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840398460"/>
                  </a:ext>
                </a:extLst>
              </a:tr>
              <a:tr h="614157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Умножение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*</a:t>
                      </a:r>
                      <a:endParaRPr lang="ru-RU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*= b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= a *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837276327"/>
                  </a:ext>
                </a:extLst>
              </a:tr>
              <a:tr h="614157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Деление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/</a:t>
                      </a:r>
                      <a:endParaRPr lang="ru-RU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/= b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= a /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2061736276"/>
                  </a:ext>
                </a:extLst>
              </a:tr>
              <a:tr h="1087706">
                <a:tc>
                  <a:txBody>
                    <a:bodyPr/>
                    <a:lstStyle/>
                    <a:p>
                      <a:pPr algn="ctr" fontAlgn="t"/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Операция модуль (остаток от деления целых чисел)</a:t>
                      </a:r>
                      <a:endParaRPr lang="en-US" sz="2400" b="1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%</a:t>
                      </a:r>
                      <a:endParaRPr lang="ru-RU" sz="2400" dirty="0">
                        <a:solidFill>
                          <a:schemeClr val="tx1"/>
                        </a:solidFill>
                        <a:effectLst/>
                        <a:latin typeface="+mn-lt"/>
                        <a:cs typeface="Times New Roman" panose="02020603050405020304" pitchFamily="18" charset="0"/>
                      </a:endParaRP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%= b</a:t>
                      </a:r>
                    </a:p>
                  </a:txBody>
                  <a:tcPr marL="22383" marR="22383" marT="22383" marB="22383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2400" dirty="0">
                          <a:solidFill>
                            <a:schemeClr val="tx1"/>
                          </a:solidFill>
                          <a:effectLst/>
                          <a:latin typeface="+mn-lt"/>
                          <a:cs typeface="Times New Roman" panose="02020603050405020304" pitchFamily="18" charset="0"/>
                        </a:rPr>
                        <a:t>a = a % b</a:t>
                      </a:r>
                    </a:p>
                  </a:txBody>
                  <a:tcPr marL="22383" marR="22383" marT="22383" marB="22383"/>
                </a:tc>
                <a:extLst>
                  <a:ext uri="{0D108BD9-81ED-4DB2-BD59-A6C34878D82A}">
                    <a16:rowId xmlns:a16="http://schemas.microsoft.com/office/drawing/2014/main" val="3644954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710189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5C7FAF5-3B6E-2EDB-A95A-196DFECF58EE}"/>
              </a:ext>
            </a:extLst>
          </p:cNvPr>
          <p:cNvSpPr/>
          <p:nvPr/>
        </p:nvSpPr>
        <p:spPr>
          <a:xfrm>
            <a:off x="798394" y="1658203"/>
            <a:ext cx="10461010" cy="1644551"/>
          </a:xfrm>
          <a:prstGeom prst="rect">
            <a:avLst/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E14806-7116-85B7-DBB5-294C36162AA6}"/>
              </a:ext>
            </a:extLst>
          </p:cNvPr>
          <p:cNvSpPr txBox="1"/>
          <p:nvPr/>
        </p:nvSpPr>
        <p:spPr>
          <a:xfrm>
            <a:off x="3993756" y="415797"/>
            <a:ext cx="510247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Compilation steps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5B8B8A2-C229-9C9F-3A2A-DAF738B12D0F}"/>
              </a:ext>
            </a:extLst>
          </p:cNvPr>
          <p:cNvSpPr/>
          <p:nvPr/>
        </p:nvSpPr>
        <p:spPr>
          <a:xfrm>
            <a:off x="980361" y="1924333"/>
            <a:ext cx="2100587" cy="1105468"/>
          </a:xfrm>
          <a:prstGeom prst="rect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2016BFF3-32C0-28DC-0831-00AF371C6D90}"/>
              </a:ext>
            </a:extLst>
          </p:cNvPr>
          <p:cNvCxnSpPr>
            <a:cxnSpLocks/>
          </p:cNvCxnSpPr>
          <p:nvPr/>
        </p:nvCxnSpPr>
        <p:spPr>
          <a:xfrm>
            <a:off x="344331" y="2453476"/>
            <a:ext cx="323461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CF00E53D-5634-9C02-477C-76996AF54395}"/>
              </a:ext>
            </a:extLst>
          </p:cNvPr>
          <p:cNvCxnSpPr>
            <a:cxnSpLocks/>
          </p:cNvCxnSpPr>
          <p:nvPr/>
        </p:nvCxnSpPr>
        <p:spPr>
          <a:xfrm>
            <a:off x="3193602" y="2458715"/>
            <a:ext cx="323461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8A9A3ECE-CBD1-7D9E-5027-D1DA67954D0E}"/>
              </a:ext>
            </a:extLst>
          </p:cNvPr>
          <p:cNvCxnSpPr>
            <a:cxnSpLocks/>
          </p:cNvCxnSpPr>
          <p:nvPr/>
        </p:nvCxnSpPr>
        <p:spPr>
          <a:xfrm>
            <a:off x="5973008" y="2437158"/>
            <a:ext cx="323461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 стрелкой 15">
            <a:extLst>
              <a:ext uri="{FF2B5EF4-FFF2-40B4-BE49-F238E27FC236}">
                <a16:creationId xmlns:a16="http://schemas.microsoft.com/office/drawing/2014/main" id="{431DC5C9-62F6-1C4F-7238-0796B770D5AE}"/>
              </a:ext>
            </a:extLst>
          </p:cNvPr>
          <p:cNvCxnSpPr>
            <a:cxnSpLocks/>
          </p:cNvCxnSpPr>
          <p:nvPr/>
        </p:nvCxnSpPr>
        <p:spPr>
          <a:xfrm>
            <a:off x="8717556" y="2453476"/>
            <a:ext cx="323461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ED0FD444-DB33-B722-D683-90E8D7E92AC8}"/>
              </a:ext>
            </a:extLst>
          </p:cNvPr>
          <p:cNvCxnSpPr>
            <a:cxnSpLocks/>
          </p:cNvCxnSpPr>
          <p:nvPr/>
        </p:nvCxnSpPr>
        <p:spPr>
          <a:xfrm>
            <a:off x="11441509" y="2444407"/>
            <a:ext cx="323461" cy="0"/>
          </a:xfrm>
          <a:prstGeom prst="straightConnector1">
            <a:avLst/>
          </a:prstGeom>
          <a:ln w="603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C2D7B64D-A08F-B30D-5222-33F98C39F4F7}"/>
              </a:ext>
            </a:extLst>
          </p:cNvPr>
          <p:cNvSpPr/>
          <p:nvPr/>
        </p:nvSpPr>
        <p:spPr>
          <a:xfrm>
            <a:off x="3671340" y="1924335"/>
            <a:ext cx="2137985" cy="1105468"/>
          </a:xfrm>
          <a:prstGeom prst="rect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3EEAC00B-CD29-4C62-2E0D-1DF8F49B8907}"/>
              </a:ext>
            </a:extLst>
          </p:cNvPr>
          <p:cNvSpPr/>
          <p:nvPr/>
        </p:nvSpPr>
        <p:spPr>
          <a:xfrm>
            <a:off x="6480171" y="1924335"/>
            <a:ext cx="2137985" cy="1105468"/>
          </a:xfrm>
          <a:prstGeom prst="rect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D11E9881-4410-848C-17F6-932BD655719E}"/>
              </a:ext>
            </a:extLst>
          </p:cNvPr>
          <p:cNvSpPr/>
          <p:nvPr/>
        </p:nvSpPr>
        <p:spPr>
          <a:xfrm>
            <a:off x="9155852" y="1924332"/>
            <a:ext cx="1879931" cy="1105469"/>
          </a:xfrm>
          <a:prstGeom prst="rect">
            <a:avLst/>
          </a:prstGeom>
          <a:noFill/>
          <a:ln w="508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4ED92F-2E6E-F88E-4CE1-EE3AA67298AF}"/>
              </a:ext>
            </a:extLst>
          </p:cNvPr>
          <p:cNvSpPr txBox="1"/>
          <p:nvPr/>
        </p:nvSpPr>
        <p:spPr>
          <a:xfrm>
            <a:off x="1029458" y="2252492"/>
            <a:ext cx="1989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5252750-ACB0-DA50-80DD-CDAD0D253458}"/>
              </a:ext>
            </a:extLst>
          </p:cNvPr>
          <p:cNvSpPr txBox="1"/>
          <p:nvPr/>
        </p:nvSpPr>
        <p:spPr>
          <a:xfrm>
            <a:off x="3863960" y="2252492"/>
            <a:ext cx="1752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Compilation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43F73B-F619-83B8-BFB0-4A39879DE54A}"/>
              </a:ext>
            </a:extLst>
          </p:cNvPr>
          <p:cNvSpPr txBox="1"/>
          <p:nvPr/>
        </p:nvSpPr>
        <p:spPr>
          <a:xfrm>
            <a:off x="6742696" y="2246233"/>
            <a:ext cx="1511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Assembler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696CE9-90BF-9375-E646-7EE1C09F5845}"/>
              </a:ext>
            </a:extLst>
          </p:cNvPr>
          <p:cNvSpPr txBox="1"/>
          <p:nvPr/>
        </p:nvSpPr>
        <p:spPr>
          <a:xfrm>
            <a:off x="9581024" y="2246232"/>
            <a:ext cx="10305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Linker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04362-8D87-406D-8364-C81DB37A3D0E}"/>
              </a:ext>
            </a:extLst>
          </p:cNvPr>
          <p:cNvSpPr txBox="1"/>
          <p:nvPr/>
        </p:nvSpPr>
        <p:spPr>
          <a:xfrm>
            <a:off x="1029458" y="4081708"/>
            <a:ext cx="5893665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Обработка препроцессором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Трансляция программы из языка СИ в Ассемблер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Трансляция из Ассемблера в объектный модуль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Объектный модуль в исполняемую программу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8C4E59-478E-41F6-AAF3-38133EB0DE30}"/>
              </a:ext>
            </a:extLst>
          </p:cNvPr>
          <p:cNvSpPr txBox="1"/>
          <p:nvPr/>
        </p:nvSpPr>
        <p:spPr>
          <a:xfrm>
            <a:off x="7549163" y="4081707"/>
            <a:ext cx="28980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gcc -E hello.c -o hello.i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-S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hello.i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-o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hello.s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gcc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-c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hello.s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-o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hello.o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4)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gcc hello.o -o hello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71954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7C4DEFFF-3E27-47FE-9F94-4F1B7232296A}"/>
              </a:ext>
            </a:extLst>
          </p:cNvPr>
          <p:cNvSpPr txBox="1"/>
          <p:nvPr/>
        </p:nvSpPr>
        <p:spPr>
          <a:xfrm>
            <a:off x="4831241" y="237997"/>
            <a:ext cx="2529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Optional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4D3071E-3288-4B9E-8029-523DD26C3FA5}"/>
              </a:ext>
            </a:extLst>
          </p:cNvPr>
          <p:cNvSpPr txBox="1"/>
          <p:nvPr/>
        </p:nvSpPr>
        <p:spPr>
          <a:xfrm>
            <a:off x="607323" y="1217324"/>
            <a:ext cx="1097735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Brian W. Kernighan. Dennis M. Ritchie - The C programming language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CS50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или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CS50x -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Гарвадский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курс каждый год: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Youtube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Т.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Хирьянов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Курс молодого бойца СИ: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YouTube</a:t>
            </a: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 Владимиров - Практика С для МФТИ: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YouTube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досуге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начинающих: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Stepik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W3Schools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другие онлайн штучки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продолжающих/олимпиадное/собесы: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leetcode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Олимпиадное программирование: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codeforces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Продолжение следует..</a:t>
            </a:r>
          </a:p>
        </p:txBody>
      </p:sp>
    </p:spTree>
    <p:extLst>
      <p:ext uri="{BB962C8B-B14F-4D97-AF65-F5344CB8AC3E}">
        <p14:creationId xmlns:p14="http://schemas.microsoft.com/office/powerpoint/2010/main" val="9360635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1D6DDCA-2435-48E9-A804-41423F9D4BC5}"/>
              </a:ext>
            </a:extLst>
          </p:cNvPr>
          <p:cNvSpPr txBox="1"/>
          <p:nvPr/>
        </p:nvSpPr>
        <p:spPr>
          <a:xfrm>
            <a:off x="2007697" y="1112630"/>
            <a:ext cx="7782900" cy="48013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Команды в терминале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mkdir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my_dir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Создать каталог </a:t>
            </a:r>
            <a:r>
              <a:rPr lang="en-US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my_dir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ls   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Просмотреть список файлов в текущем каталоге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pwd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Вывести имя текущей директории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cd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my_dir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Перейти в каталог </a:t>
            </a:r>
            <a:r>
              <a:rPr lang="en-US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my_dir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cd ..        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Подняться на каталог "выше" (вернуться назад)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nano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hello.c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открыть файл в текст. редакторе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nano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rm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file_name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удалить файл с именем </a:t>
            </a:r>
            <a:r>
              <a:rPr lang="en-US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file_name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man command</a:t>
            </a:r>
            <a:r>
              <a:rPr lang="en-US" dirty="0">
                <a:solidFill>
                  <a:srgbClr val="CCCCCC"/>
                </a:solidFill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Мануал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dirty="0">
                <a:solidFill>
                  <a:srgbClr val="6A9955"/>
                </a:solidFill>
                <a:latin typeface="Consolas" panose="020B0609020204030204" pitchFamily="49" charset="0"/>
              </a:rPr>
              <a:t>Описание команды)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Команды в текст. редакторе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nano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CTRL+O (^O)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save program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CTRL+X (^X)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exit program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Компиляция и запуск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gcc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hello.c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-o hello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./hello</a:t>
            </a:r>
            <a:endParaRPr lang="ru-RU" dirty="0"/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1BFFD37-09C8-4240-9340-90A1E2B4F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07657" y="206852"/>
            <a:ext cx="7313070" cy="905778"/>
          </a:xfrm>
        </p:spPr>
        <p:txBody>
          <a:bodyPr>
            <a:noAutofit/>
          </a:bodyPr>
          <a:lstStyle/>
          <a:p>
            <a:r>
              <a:rPr lang="en-US" sz="4800" dirty="0"/>
              <a:t>List of commands</a:t>
            </a:r>
            <a:endParaRPr lang="ru-RU" sz="4800" dirty="0"/>
          </a:p>
        </p:txBody>
      </p:sp>
    </p:spTree>
    <p:extLst>
      <p:ext uri="{BB962C8B-B14F-4D97-AF65-F5344CB8AC3E}">
        <p14:creationId xmlns:p14="http://schemas.microsoft.com/office/powerpoint/2010/main" val="35174909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3">
            <a:extLst>
              <a:ext uri="{FF2B5EF4-FFF2-40B4-BE49-F238E27FC236}">
                <a16:creationId xmlns:a16="http://schemas.microsoft.com/office/drawing/2014/main" id="{B73BD34D-2022-4B0F-85B3-5F6F09B25973}"/>
              </a:ext>
            </a:extLst>
          </p:cNvPr>
          <p:cNvSpPr txBox="1">
            <a:spLocks/>
          </p:cNvSpPr>
          <p:nvPr/>
        </p:nvSpPr>
        <p:spPr>
          <a:xfrm>
            <a:off x="3077973" y="87355"/>
            <a:ext cx="6036053" cy="102924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A3525-D98B-41D4-B453-3D9442E4A712}"/>
              </a:ext>
            </a:extLst>
          </p:cNvPr>
          <p:cNvSpPr txBox="1"/>
          <p:nvPr/>
        </p:nvSpPr>
        <p:spPr>
          <a:xfrm>
            <a:off x="3909262" y="5015876"/>
            <a:ext cx="4542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https://github.com/kruffka/C-Programming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A5481-3C0E-47CE-B6F1-BE358EF60B71}"/>
              </a:ext>
            </a:extLst>
          </p:cNvPr>
          <p:cNvSpPr txBox="1"/>
          <p:nvPr/>
        </p:nvSpPr>
        <p:spPr>
          <a:xfrm>
            <a:off x="654581" y="5866296"/>
            <a:ext cx="1122191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Домашка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Завести аккаунт на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github.com.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Желательно использовать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@Gmail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т.к. с другими могут возникнуть проблемы при регистрации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71E4B81-95B4-4C5C-954E-CCA5043B6D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139" y="1181216"/>
            <a:ext cx="3858627" cy="3834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204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1969</TotalTime>
  <Words>3843</Words>
  <Application>Microsoft Office PowerPoint</Application>
  <PresentationFormat>Широкоэкранный</PresentationFormat>
  <Paragraphs>469</Paragraphs>
  <Slides>36</Slides>
  <Notes>36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Consolas</vt:lpstr>
      <vt:lpstr>Helvetica Neue</vt:lpstr>
      <vt:lpstr>Times New Roman</vt:lpstr>
      <vt:lpstr>Office Theme</vt:lpstr>
      <vt:lpstr>Programming  0_hello_world</vt:lpstr>
      <vt:lpstr>Ты кто?</vt:lpstr>
      <vt:lpstr>Немного о курсе</vt:lpstr>
      <vt:lpstr>Когда и кто приходит? (практики)</vt:lpstr>
      <vt:lpstr>Linux для ноутбуков</vt:lpstr>
      <vt:lpstr>Windows Subsystem for Linux</vt:lpstr>
      <vt:lpstr>Virtual Machine</vt:lpstr>
      <vt:lpstr>Ubuntu OS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Классификация языков программирования</vt:lpstr>
      <vt:lpstr>Трансляция</vt:lpstr>
      <vt:lpstr>Презентация PowerPoint</vt:lpstr>
      <vt:lpstr>Source code</vt:lpstr>
      <vt:lpstr>Machine Code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List of commands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327</cp:revision>
  <dcterms:created xsi:type="dcterms:W3CDTF">2019-12-17T14:15:21Z</dcterms:created>
  <dcterms:modified xsi:type="dcterms:W3CDTF">2026-09-01T13:42:25Z</dcterms:modified>
</cp:coreProperties>
</file>