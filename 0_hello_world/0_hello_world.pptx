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96" r:id="rId3"/>
    <p:sldId id="297" r:id="rId4"/>
    <p:sldId id="260" r:id="rId5"/>
    <p:sldId id="303" r:id="rId6"/>
    <p:sldId id="271" r:id="rId7"/>
    <p:sldId id="273" r:id="rId8"/>
    <p:sldId id="274" r:id="rId9"/>
    <p:sldId id="302" r:id="rId10"/>
    <p:sldId id="304" r:id="rId11"/>
    <p:sldId id="305" r:id="rId12"/>
    <p:sldId id="281" r:id="rId13"/>
    <p:sldId id="298" r:id="rId14"/>
    <p:sldId id="279" r:id="rId15"/>
    <p:sldId id="306" r:id="rId16"/>
    <p:sldId id="268" r:id="rId17"/>
    <p:sldId id="280" r:id="rId18"/>
    <p:sldId id="278" r:id="rId19"/>
    <p:sldId id="267" r:id="rId20"/>
    <p:sldId id="269" r:id="rId21"/>
    <p:sldId id="299" r:id="rId22"/>
    <p:sldId id="307" r:id="rId23"/>
    <p:sldId id="310" r:id="rId24"/>
    <p:sldId id="308" r:id="rId25"/>
    <p:sldId id="309" r:id="rId26"/>
    <p:sldId id="311" r:id="rId27"/>
    <p:sldId id="312" r:id="rId28"/>
    <p:sldId id="313" r:id="rId29"/>
    <p:sldId id="317" r:id="rId30"/>
    <p:sldId id="318" r:id="rId31"/>
    <p:sldId id="314" r:id="rId32"/>
    <p:sldId id="315" r:id="rId33"/>
    <p:sldId id="319" r:id="rId34"/>
    <p:sldId id="320" r:id="rId35"/>
    <p:sldId id="321" r:id="rId36"/>
    <p:sldId id="325" r:id="rId37"/>
    <p:sldId id="326" r:id="rId38"/>
    <p:sldId id="322" r:id="rId39"/>
    <p:sldId id="323" r:id="rId40"/>
    <p:sldId id="327" r:id="rId41"/>
    <p:sldId id="324" r:id="rId42"/>
    <p:sldId id="328" r:id="rId43"/>
    <p:sldId id="330" r:id="rId44"/>
    <p:sldId id="331" r:id="rId45"/>
    <p:sldId id="257" r:id="rId4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0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3F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30" autoAdjust="0"/>
  </p:normalViewPr>
  <p:slideViewPr>
    <p:cSldViewPr snapToGrid="0">
      <p:cViewPr varScale="1">
        <p:scale>
          <a:sx n="67" d="100"/>
          <a:sy n="67" d="100"/>
        </p:scale>
        <p:origin x="54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Всем </a:t>
            </a:r>
            <a:r>
              <a:rPr lang="en-US" dirty="0"/>
              <a:t>HELLO, WORLD!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Зовут меня</a:t>
            </a:r>
            <a:r>
              <a:rPr lang="en-US" dirty="0"/>
              <a:t>…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Я ваш препод по программированию (лекции и практики) на 1 курс. Также работаю в Бюро 1440</a:t>
            </a:r>
            <a:r>
              <a:rPr lang="en-US" dirty="0"/>
              <a:t> (</a:t>
            </a:r>
            <a:r>
              <a:rPr lang="ru-RU" dirty="0" err="1"/>
              <a:t>Старлинк</a:t>
            </a:r>
            <a:r>
              <a:rPr lang="ru-RU" dirty="0"/>
              <a:t> у нас дома)</a:t>
            </a:r>
            <a:r>
              <a:rPr lang="en-US" dirty="0"/>
              <a:t>,</a:t>
            </a:r>
            <a:r>
              <a:rPr lang="ru-RU" dirty="0"/>
              <a:t> компания из холдинга в честь которого ваша группа называется. Кто-то может слышал по новостям</a:t>
            </a:r>
            <a:r>
              <a:rPr lang="en-US" dirty="0"/>
              <a:t>, </a:t>
            </a:r>
            <a:r>
              <a:rPr lang="ru-RU" dirty="0"/>
              <a:t>если нет</a:t>
            </a:r>
            <a:r>
              <a:rPr lang="en-US" dirty="0"/>
              <a:t>, </a:t>
            </a:r>
            <a:r>
              <a:rPr lang="ru-RU" dirty="0"/>
              <a:t>то еще услышите.. Разрабатываю там софт для наземной части</a:t>
            </a:r>
            <a:r>
              <a:rPr lang="en-US" dirty="0"/>
              <a:t>,</a:t>
            </a:r>
            <a:r>
              <a:rPr lang="ru-RU" dirty="0"/>
              <a:t> что сигналы с космосом по </a:t>
            </a:r>
            <a:r>
              <a:rPr lang="en-US" dirty="0"/>
              <a:t>5</a:t>
            </a:r>
            <a:r>
              <a:rPr lang="ru-RU" dirty="0"/>
              <a:t>г работает</a:t>
            </a:r>
            <a:r>
              <a:rPr lang="en-US" dirty="0"/>
              <a:t>, </a:t>
            </a:r>
            <a:r>
              <a:rPr lang="ru-RU" dirty="0"/>
              <a:t>короче говоря вроде программист и попробую вас чему-нибудь поучить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584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Изучать мы будем всякое, где-то чуть глубже, а где-то по основам пробежимся. Первым делом нам нужен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**Язык Программирования**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Изучать будем с самого нуля, т.е. те кто впервые вообще слышит о программировании –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**не страшно**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   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Язык Си – самая классика, во многих вузах мира с него начинают путь и не просто так: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Довольно прост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На нем написано множество других языков программирования (в т.ч. ваш любимый Python), следовательно поняв Си, будет попроще перепрыгнуть на другие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Поможет вам пройти универ на хорошую концовку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Хоть с каждым годом популярность ниже, но без него никуда, он везде.. Операционные Системы, драйвера,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embedded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и прочее системное ПО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Позволяет чуть лучше понять работу компьютера (Системное программирование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small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Even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Beethoven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wrote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his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Symphony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502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Делимся если еще не поделились на половинки</a:t>
            </a:r>
            <a:r>
              <a:rPr lang="en-US" dirty="0"/>
              <a:t>, </a:t>
            </a:r>
            <a:r>
              <a:rPr lang="ru-RU" dirty="0"/>
              <a:t>т.к. ПК для всех не хватит</a:t>
            </a:r>
            <a:r>
              <a:rPr lang="en-US" dirty="0"/>
              <a:t>, </a:t>
            </a:r>
            <a:r>
              <a:rPr lang="ru-RU" dirty="0"/>
              <a:t>аудитории </a:t>
            </a:r>
            <a:r>
              <a:rPr lang="ru-RU" dirty="0" err="1"/>
              <a:t>расчитаны</a:t>
            </a:r>
            <a:r>
              <a:rPr lang="ru-RU" dirty="0"/>
              <a:t> на половинки групп. Ходим так</a:t>
            </a:r>
            <a:r>
              <a:rPr lang="en-US" dirty="0"/>
              <a:t>, </a:t>
            </a:r>
            <a:r>
              <a:rPr lang="ru-RU" dirty="0"/>
              <a:t>чтобы не было 30 человек на одной паре и 1 на другой</a:t>
            </a:r>
            <a:r>
              <a:rPr lang="en-US" dirty="0"/>
              <a:t>, </a:t>
            </a:r>
            <a:r>
              <a:rPr lang="ru-RU" dirty="0"/>
              <a:t>можно меняться друг с другом</a:t>
            </a:r>
            <a:r>
              <a:rPr lang="en-US" dirty="0"/>
              <a:t>, </a:t>
            </a:r>
            <a:r>
              <a:rPr lang="ru-RU" dirty="0"/>
              <a:t>если время пары неудобное я открыт к сдвигу расписания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550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Еще по поводу практик</a:t>
            </a:r>
            <a:r>
              <a:rPr lang="en-US" dirty="0"/>
              <a:t>, </a:t>
            </a:r>
            <a:r>
              <a:rPr lang="ru-RU" dirty="0"/>
              <a:t>свои ноутбуки если у кого есть – приносите</a:t>
            </a:r>
            <a:r>
              <a:rPr lang="en-US" dirty="0"/>
              <a:t>, </a:t>
            </a:r>
            <a:r>
              <a:rPr lang="ru-RU" dirty="0"/>
              <a:t>вам будет проще. Работать мы будем под линуксом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320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768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Медленный вариант немного</a:t>
            </a:r>
            <a:r>
              <a:rPr lang="en-US" dirty="0"/>
              <a:t>, </a:t>
            </a:r>
            <a:r>
              <a:rPr lang="ru-RU" dirty="0"/>
              <a:t>но понадобится для других курсов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752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матерых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680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Ссылка на все материалы и лабы тут. В конце можно найти некоторый список литературы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489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Ссылка где я буду оставлять лекции</a:t>
            </a:r>
            <a:r>
              <a:rPr lang="en-US" dirty="0"/>
              <a:t>, </a:t>
            </a:r>
            <a:r>
              <a:rPr lang="ru-RU" dirty="0"/>
              <a:t>пожалуйста</a:t>
            </a:r>
            <a:r>
              <a:rPr lang="en-US" dirty="0"/>
              <a:t>, </a:t>
            </a:r>
            <a:r>
              <a:rPr lang="ru-RU" dirty="0"/>
              <a:t>заходите хоть иногда. Трачу достаточно много сил и времени для написания этих лекций. Первое ваше ДЗ кстати </a:t>
            </a:r>
            <a:r>
              <a:rPr lang="ru-RU" dirty="0" err="1"/>
              <a:t>зарегаться</a:t>
            </a:r>
            <a:r>
              <a:rPr lang="ru-RU" dirty="0"/>
              <a:t> в </a:t>
            </a:r>
            <a:r>
              <a:rPr lang="en-US" dirty="0"/>
              <a:t>github.com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144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Начнем издалека</a:t>
            </a:r>
            <a:r>
              <a:rPr lang="en-US" dirty="0"/>
              <a:t>, </a:t>
            </a:r>
            <a:r>
              <a:rPr lang="ru-RU" dirty="0"/>
              <a:t>все и знают</a:t>
            </a:r>
            <a:r>
              <a:rPr lang="en-US" dirty="0"/>
              <a:t>, </a:t>
            </a:r>
            <a:r>
              <a:rPr lang="ru-RU" dirty="0"/>
              <a:t>но на всякий: программа – набор инструкций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Включили телефон или комп - включили одну большую (операционная система) и сотни маленьких программ (приложения и сервисы)</a:t>
            </a:r>
          </a:p>
          <a:p>
            <a:r>
              <a:rPr lang="ru-RU" dirty="0"/>
              <a:t>Дома умный чайник - тоже программа</a:t>
            </a:r>
          </a:p>
          <a:p>
            <a:r>
              <a:rPr lang="ru-RU" dirty="0"/>
              <a:t>Летите в самолете или едете на машине - опять же куча-куча встроенных программ одновременно работает вокруг</a:t>
            </a:r>
          </a:p>
          <a:p>
            <a:r>
              <a:rPr lang="ru-RU" dirty="0"/>
              <a:t>Мессенджеры, браузеры, сайты в них, ИИ для генерации видео и т.д...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33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Все знают что такое ЯП</a:t>
            </a:r>
            <a:r>
              <a:rPr lang="en-US" dirty="0"/>
              <a:t>,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599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Запишите определения и кратко вопросы на которые отвечают эти правила. Это важно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673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В прошлом веке программы писали используя машинный код, по сути состоящий из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0 и 1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т.к. вычислительные устройства других команд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не воспринимают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. Довольно быстро стало понятно, что это все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сложно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и не удобно по многим причинам. Где-то в 1950 году придумали специальные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мнемоники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для упрощения и назвали это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ассемблером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. Мнемоники это замена команд на слова, например: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Helvetica Neue"/>
              </a:rPr>
              <a:t>add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 вместо 05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где "05" - команда сложения в шестнадцатеричном виде (0x05 = 0b00000101), а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add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- и есть та самая мнемоника на ассемблере. Ассемблер сейчас в универах не изучают, т.к. ассемблер это ЯП низкого уровня и он ориентирован на конкретный тип процессора (архитектуру).</a:t>
            </a:r>
            <a:br>
              <a:rPr lang="ru-RU" dirty="0"/>
            </a:b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Можно сказать: Кол-во архитектур = кол-ву машинных языков (ассемблеров). Соответственно выучить ассемблер = выучить машинный язык конкретного процессора, а какой учить в универе? Сейчас в мире порядка 20 популярных архитектур, о некоторых из них вы могли даже слышать или видеть пользуясь ПК: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x86_64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(ПК, ноутбуки,..) и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ARM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(телефоны, Маки,..) (о них мы поговорим чуть позже)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375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Процедурная (императивная)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: парадигма, где используются процедуры (функции) и все выполняется последовательно (открой холодильник, возьми пиво, закрой холодильник), например C;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Объектно-ориентированная (ООП)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: Описываются Объекты и интерфейсы их взаимодействия между собой, классический ООП - это Java;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Функциональная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: здесь все есть функция и избегают циклов, т.к. используют рекурсию (она здесь крайне эффективна);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Helvetica Neue"/>
              </a:rPr>
              <a:t>Мультипарадигменные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 ЯП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: несколько парадигм сразу, например ООП и процедурная в C++;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На языке Си можно написать все что угодно, но стоит ли оно того? Нет, т.к. можно потратить сильно меньше времени, сил и строк кода используя правильно выбранный инструмент (ЯП).</a:t>
            </a:r>
            <a:b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</a:b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ВАЖНО: Языков универсальных нет, каждый язык подходит под свои задачи!!!</a:t>
            </a:r>
            <a:endParaRPr lang="ru-RU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Так как существует большое количество разных задач и языков для них существует множество разработчиков - Прикладные, Системные, Веб, Мобильные и т.д...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Но, чтобы быть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хорошим разработчиком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в своей сфере важно уметь задавать вопросы по типу: А зачем мы используем именно это, а не то..? Какой инструмент выбрать?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429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В любом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пк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телефоне, умном чайнике и т.д. всегда будут эти ребята: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Процессор (CPU), Оперативная память (RAM) и Постоянное Запоминающее Устройство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(жесткий диск, SSD, флешка, SD-карта и т.д.), которое энергонезависимо, т.е. данные на нем останутся даже если нет питания. ПЗУ хранит программу (набор инструкций), при запуске программы - она загружается в оперативку, а затем процессор читает инструкции из нее и выполняет их</a:t>
            </a:r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ru-RU" b="0" i="0">
                <a:solidFill>
                  <a:srgbClr val="333333"/>
                </a:solidFill>
                <a:effectLst/>
                <a:latin typeface="Helvetica Neue"/>
              </a:rPr>
              <a:t>И здесь важно понимать, что </a:t>
            </a:r>
            <a:r>
              <a:rPr lang="ru-RU" b="1" i="0">
                <a:solidFill>
                  <a:srgbClr val="000000"/>
                </a:solidFill>
                <a:effectLst/>
                <a:latin typeface="Helvetica Neue"/>
              </a:rPr>
              <a:t>процессоры не понимают инструкций на английском языке</a:t>
            </a:r>
            <a:r>
              <a:rPr lang="ru-RU" b="0" i="0">
                <a:solidFill>
                  <a:srgbClr val="333333"/>
                </a:solidFill>
                <a:effectLst/>
                <a:latin typeface="Helvetica Neue"/>
              </a:rPr>
              <a:t>, они воспринимают только команды на машинном языке из 0 и 1. Такие команды мы еще называем </a:t>
            </a:r>
            <a:r>
              <a:rPr lang="ru-RU" b="1" i="0">
                <a:solidFill>
                  <a:srgbClr val="000000"/>
                </a:solidFill>
                <a:effectLst/>
                <a:latin typeface="Helvetica Neue"/>
              </a:rPr>
              <a:t>машинный код</a:t>
            </a:r>
            <a:r>
              <a:rPr lang="ru-RU" b="0" i="0">
                <a:solidFill>
                  <a:srgbClr val="333333"/>
                </a:solidFill>
                <a:effectLst/>
                <a:latin typeface="Helvetica Neue"/>
              </a:rPr>
              <a:t> (Machine или Binary).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436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Код, который мы написали с использованием ЯП высокого уровня и английских слов мы обычно называем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Исходный код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(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Source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Helvetica Neue"/>
              </a:rPr>
              <a:t>code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), например код на языке некоторой программы на Си</a:t>
            </a:r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Как из исходного кода получить машинный?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- Здесь поможет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трансляция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(перевод)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499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Исходный код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должен быть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транслирован (или переведен)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в понятный процессору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машинный код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(0 и 1). Т.е. Мы берем специальный переводчик, суем туда наши английские слова и на выходе получаем уже машинные слова.</a:t>
            </a:r>
            <a:br>
              <a:rPr lang="ru-RU" dirty="0"/>
            </a:b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Переводчики исходного кода в машинный чаще всего встречаются двух видов -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интерпретатор и компилятор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. А процесс перевода в таком случае называют интерпретацией или компиляцией. При этом сам переводчик - это тоже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программа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!</a:t>
            </a:r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Как происходит перевод?</a:t>
            </a:r>
            <a:endParaRPr lang="ru-RU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br>
              <a:rPr lang="ru-RU" dirty="0"/>
            </a:b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Различия этих трансляторов: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Многие ошибки при компиляции видим сразу, при интерпретации увидим лишь когда дойдем до строки с ошибкой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Скомпилированная программа будет выполняться быстрее, т.к. это уже готовый к работе набор машинных команд, который нужно лишь скормить процессору, а интерпретируемая программа в процессор попадет только после перевода интерпретатором и проверкой что все с командой все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ок</a:t>
            </a:r>
            <a:endParaRPr lang="ru-RU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Для переноса интерпретируемой программы с одного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пк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на другой (с разными ОС, архитектурами и т.д.) нам нужно лишь иметь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интерпритатор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на машине. Если попытаться запустить скомпилированную программу под какую-нибудь одну ОС или архитектуру CPU на вторую ОС или CPU, то с высокой вероятностью ничего не заработает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Также в современном мире есть такой подход как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JIT-компиляция (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Helvetica Neue"/>
              </a:rPr>
              <a:t>Just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-In-Time)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исходный код транслируется в промежуточный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байт-код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затем уже этот байт-код когда надо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"на лету"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компилируется в машинный код и уходит на процессор.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1501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Есть такая штука как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**стандарты**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о которых в IT вы можете часто слышать. По сути это просто официально утвержденный документ, описывающий что и как должно работать. Для языка Си также есть документы описывающие его, например стандарты C99, C11, C17, C23, где цифра - год (плюс-минус) выпуска (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стандарта. Можно найти и почитать их [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тут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ru-RU" b="0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https://www.iso-9899.info/wiki/The_Standard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     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Сам стандарт затем реализуется некоторыми дяденьками и для языка Си реализация стандарта -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**есть компиляторы (программы) и стандартные библиотеки**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Наиболее популярные компиляторы это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**GCC и </a:t>
            </a:r>
            <a:r>
              <a:rPr lang="ru-RU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Clang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они оба хороши, но я буду показывать на GCC, т.к. в большинстве дистрибутивов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он по умолчанию. Вы можете использовать любой по желанию. Кстати, на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макбуках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у вас будет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Clang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по умолчанию  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Сама компиляция состоит из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**4 шагов**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но об этом я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**обязательно**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расскажу и покажу чуть позже..       </a:t>
            </a: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3663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Итого: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**GCC/</a:t>
            </a:r>
            <a:r>
              <a:rPr lang="ru-RU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Clang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для нас - это некоторая программа-переводчик, которую мы будем называть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**компилятор**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с помощью которого мы переведем наш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**исходный**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код в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**машинный**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код для запуска программы на процессоре.    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3927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Так выглядит исходный код программы на языке Си, которая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выводит на экран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строку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hello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world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!</a:t>
            </a:r>
            <a:br>
              <a:rPr lang="ru-RU" dirty="0"/>
            </a:b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Итак, пройдемся по коду по порядку.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ВНИМАНИЕ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будет все понятно совсем не сразу, это нормально.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На этом этапе достаточно уметь копировать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Helvetica Neue"/>
              </a:rPr>
              <a:t>копировать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 код у преподавателя</a:t>
            </a:r>
          </a:p>
          <a:p>
            <a:endParaRPr lang="ru-RU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Соберем и запустим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Helvetica Neue"/>
              </a:rPr>
              <a:t>hello.c</a:t>
            </a:r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Если не написать '-o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', то на выходе получим исполняемый файл с именем '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a.out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' - такое имя по умолчанию дает компилятор.     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Так не делать: '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hello.c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-o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hello.c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' - вы затрете свой исходный файл исполняемым</a:t>
            </a:r>
          </a:p>
          <a:p>
            <a:endParaRPr lang="ru-RU" b="1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1215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в конце еще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сругнулся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что не знает что такое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print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: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Helvetica Neue"/>
              </a:rPr>
              <a:t>undefined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Helvetica Neue"/>
              </a:rPr>
              <a:t>reference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Helvetica Neue"/>
              </a:rPr>
              <a:t>to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 `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Helvetica Neue"/>
              </a:rPr>
              <a:t>print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'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3730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9645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Представим себе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коробку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в которую можно класть яблоки. Возьмем маркер и напишем на коробке - "коробка яблок". Можно взять эту "коробка яблок" и накидать в нее яблок, а потом взять и посмотреть сколько там сейчас всего яблок.</a:t>
            </a:r>
            <a:b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</a:b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При этом коробка не бесконечная, в нее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влазит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определенное количество яблок. Можно создать коробку с гречкой, в нее яблоки складывать не будем, т.к. эти коробки предназначены для разных типов </a:t>
            </a:r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продуктов</a:t>
            </a:r>
          </a:p>
          <a:p>
            <a:br>
              <a:rPr lang="ru-RU" dirty="0"/>
            </a:b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С переменными в такая же тема: у них есть имя и они умеют в себе хранить информацию определенного типа. 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8989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В языке Си мы имеем следующие типы данных для переменных:      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Диапазон значений зависит от размера переменной. Только для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размер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**ГДЕ УГОДНО**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будет 1 байт, это минимальный объем информации с которым мы можем работать.         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Все остальные типы данных могут иметь другой размер, зависит от архитектуры и компилятора. Так например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может быть 4 байта как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(32 битные системы)  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42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3870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Для того чтобы создать свою переменную сначала нужно ее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объявить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.</a:t>
            </a:r>
            <a:b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</a:b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Важно: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Объявление переменной (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Variable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Declaration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) - создать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переменную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(коробку), указав ее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имя и тип данных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. Делается это единожды (для каждого имени переменной) и далее можно использовать переменную сколько угодно раз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ЯП, в которых используются типы данных для переменных - называются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статически типизированным языком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. Где тип данных скрыт от пользователя - ЯП с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динамической типизацией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например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в котором мы не указываем тип данных явно, за нас это делает интерпретатор во время обращения к переменной.</a:t>
            </a:r>
          </a:p>
          <a:p>
            <a:endParaRPr lang="en-US" dirty="0"/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Читается обычно с имени переменной, потом тип данных и затем чему равно: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**Объявляем переменную 'a' типа </a:t>
            </a:r>
            <a:r>
              <a:rPr lang="ru-RU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равной 5**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</a:t>
            </a:r>
          </a:p>
          <a:p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**Важно:**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мы могли написать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signed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но обычно мы опускаем слово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signed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(программисты ленивые), а вот если мы намеренно захотим сделать беззнаковый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то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**обязательно**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напишем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ru-RU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!  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5892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Кстати, в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**статически типизированных**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языках можно делать так:           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Сначала объявили, а затем чему-то присвоили (-5).           </a:t>
            </a: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**Важно:**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В языке Си при объявлении переменной без присваивания значения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b;`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не дает гарантий, что b по умолчанию будет равна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`0`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Значение может быть равно некоторому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**мусору**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большому случайному числу.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1169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1876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2009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Пробуем </a:t>
            </a:r>
            <a:r>
              <a:rPr lang="en-US" dirty="0" err="1"/>
              <a:t>print_apples.c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print_vars.c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7147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7024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2506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7226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Допустим нам предлагают 2147483648$ или удвоить и отдать следующему, мы соглашаемся удвоить и передать следующему ()</a:t>
            </a:r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en-US" b="0" i="0" dirty="0" err="1">
                <a:solidFill>
                  <a:srgbClr val="333333"/>
                </a:solidFill>
                <a:effectLst/>
                <a:latin typeface="Helvetica Neue"/>
              </a:rPr>
              <a:t>Overflow.c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пробуем</a:t>
            </a:r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Компилятор такое иногда может обнаружить и выдать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предуреждение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warning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однако все равно скомпилирует программу.       </a:t>
            </a: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Выход за диапазон типа данных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пемеренной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называется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**переполнением**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ru-RU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overflow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       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Эту проблему важно осознавать, так как она приводит к многочисленным ошибкам. И в реальной жизни были связанные с ней случаи.        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Также эта проблема скоро настигнет старые 32-битные компьютеры в 2038 году. Они начнут думать, что они вернулись в 1970 год, как это на них повлияет?  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9919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Когда их впихивали в компьютер, то рассматривали разные варианты, вот например прямой код:       </a:t>
            </a: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Здесь нет двух нулей, которые мешали бы математике, а также данный код не требует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реализаии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операций вычитания в процессоре, что позволяет сделать процессор еще меньше и впихать в него чего-то другого        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Почему не надо операции вычитания? Попробуйте -5 + 5 = 11111011 + 00000101 = ?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8454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Когда их впихивали в компьютер, то рассматривали разные варианты, вот например прямой код:       </a:t>
            </a: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Здесь нет двух нулей, которые мешали бы математике, а также данный код не требует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реализаии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операций вычитания в процессоре, что позволяет сделать процессор еще меньше и впихать в него чего-то другого        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Почему не надо операции вычитания? Попробуйте -5 + 5 = 11111011 + 00000101 = ?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7002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Повторюсь: Машины не умеют в английские слова и символы, только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0 и 1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.</a:t>
            </a:r>
            <a:b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</a:b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Символы в компьютерах у нас 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закодированы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в виде специальных таблиц.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Рассмотрим самую базовую из Американского стандарта (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ASCII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- American Standard Code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for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Information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Interchange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Первый столбец код в десятичной системе, второй тоже самое в шестнадцатеричной и третий столбец значение (символ). Всего символов здесь 128 - что прекрасно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влазит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в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char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!</a:t>
            </a:r>
            <a:br>
              <a:rPr lang="ru-RU" dirty="0"/>
            </a:b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Первые символы до 31 - служебные символы, при попытке их вывести чаще всего будет ерунда в виде квадратиков или вопросиков. А вот далее можно обнаружить заглавные и не очень буквы всего английского алфавита.</a:t>
            </a:r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Пробуем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 Neue"/>
              </a:rPr>
              <a:t>ascii.c</a:t>
            </a:r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Для использования других языков были добавлены другие таблицы с большим размером, сегодня это UTF стандарт (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Unicode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Transformation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Format. UTF-8 и прочие).</a:t>
            </a:r>
            <a:br>
              <a:rPr lang="ru-RU" dirty="0"/>
            </a:b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UTF первые 128 бит по таблице ASCII, а все остальное это разные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emoji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и все возможные алфавиты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0461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Первый бит снова под знак, остальное мантисса и экспонента для формулы (−1^s)∗m∗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b^e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где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s – знак (0 положительное число, 1 отрицательное)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m – мантисса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b – основание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e – экспонента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Пример представим число 122.88 в 0 и 1: 122.88 = (−1^0)∗12288∗ 10^(−2)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s = 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m = 12288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b =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e = -2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Правда b для компьютера будет = 2 (двоичная система), 10 здесь для простоты понимания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1800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Самостоятельно: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Попросите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нейронку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написать программу на Си, которая в цикле бесконечно прибавляет к переменной типа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float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единицу и выводит на экран результат. Что произошло?</a:t>
            </a:r>
          </a:p>
          <a:p>
            <a:pPr algn="l"/>
            <a:r>
              <a:rPr lang="ru-RU" b="1" i="0" dirty="0" err="1">
                <a:solidFill>
                  <a:srgbClr val="000000"/>
                </a:solidFill>
                <a:effectLst/>
                <a:latin typeface="Helvetica Neue"/>
              </a:rPr>
              <a:t>Лайфхак</a:t>
            </a:r>
            <a:r>
              <a:rPr lang="ru-RU" b="1" i="0" dirty="0">
                <a:solidFill>
                  <a:srgbClr val="000000"/>
                </a:solidFill>
                <a:effectLst/>
                <a:latin typeface="Helvetica Neue"/>
              </a:rPr>
              <a:t>: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 При создании своего банка - заводите отдельный счет, в который перечисляете остаток копеек (при операциях с округлением) от операций клиентов и за годы получаете миллионы пассивного дохода..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6284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В чем отличие a++ и ++a?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0503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Для языка Си допустимы сокращенный синтаксис для присвоения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2980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Пробуем </a:t>
            </a:r>
            <a:r>
              <a:rPr lang="en-US" dirty="0" err="1"/>
              <a:t>hello.c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#define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0564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тех кто еще читает книги – книга от создателей языка Си</a:t>
            </a:r>
          </a:p>
          <a:p>
            <a:endParaRPr lang="ru-RU" dirty="0"/>
          </a:p>
          <a:p>
            <a:r>
              <a:rPr lang="ru-RU" dirty="0"/>
              <a:t>Также можно учиться с ИИ</a:t>
            </a:r>
            <a:r>
              <a:rPr lang="en-US" dirty="0"/>
              <a:t>, </a:t>
            </a:r>
            <a:r>
              <a:rPr lang="ru-RU" dirty="0"/>
              <a:t>главное учиться</a:t>
            </a:r>
            <a:r>
              <a:rPr lang="en-US" dirty="0"/>
              <a:t>, </a:t>
            </a:r>
            <a:r>
              <a:rPr lang="ru-RU" dirty="0"/>
              <a:t>а не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8376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117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gif"/><Relationship Id="rId4" Type="http://schemas.openxmlformats.org/officeDocument/2006/relationships/image" Target="../media/image22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5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36.png"/><Relationship Id="rId9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F%D1%80%D0%BE%D0%B1%D0%BB%D0%B5%D0%BC%D0%B0_2038_%D0%B3%D0%BE%D0%B4%D0%B0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0.30000000000000004.com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0.30000000000000004.com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29293" y="2458328"/>
            <a:ext cx="4333414" cy="1941343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Programming</a:t>
            </a:r>
            <a:br>
              <a:rPr lang="ru-RU" dirty="0"/>
            </a:br>
            <a:br>
              <a:rPr lang="en-US" dirty="0"/>
            </a:br>
            <a:r>
              <a:rPr lang="en-US" sz="3200" dirty="0"/>
              <a:t>0_hello_world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99F3D5E-D3F4-4868-8179-F2AAEF4AC1A6}"/>
              </a:ext>
            </a:extLst>
          </p:cNvPr>
          <p:cNvGrpSpPr/>
          <p:nvPr/>
        </p:nvGrpSpPr>
        <p:grpSpPr>
          <a:xfrm>
            <a:off x="7444615" y="4334591"/>
            <a:ext cx="4788513" cy="1384995"/>
            <a:chOff x="7403487" y="5016253"/>
            <a:chExt cx="4788513" cy="138499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AC8CD95-E09F-4313-B5F1-3C5EBE0F0981}"/>
                </a:ext>
              </a:extLst>
            </p:cNvPr>
            <p:cNvSpPr txBox="1"/>
            <p:nvPr/>
          </p:nvSpPr>
          <p:spPr>
            <a:xfrm>
              <a:off x="7403487" y="5016253"/>
              <a:ext cx="478851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dirty="0"/>
                <a:t>Вейлер Андрей Игоревич</a:t>
              </a:r>
            </a:p>
            <a:p>
              <a:r>
                <a:rPr lang="en-US" sz="2800" dirty="0"/>
                <a:t>      andrei_veiler@mail.ru</a:t>
              </a:r>
            </a:p>
            <a:p>
              <a:r>
                <a:rPr lang="en-US" sz="2800" dirty="0"/>
                <a:t>      @kruffka</a:t>
              </a:r>
            </a:p>
          </p:txBody>
        </p:sp>
        <p:pic>
          <p:nvPicPr>
            <p:cNvPr id="10" name="Picture 4" descr="Telegram — Википедия">
              <a:extLst>
                <a:ext uri="{FF2B5EF4-FFF2-40B4-BE49-F238E27FC236}">
                  <a16:creationId xmlns:a16="http://schemas.microsoft.com/office/drawing/2014/main" id="{0E594208-AED1-4155-A82C-AB707CD2A6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6346" y="5971176"/>
              <a:ext cx="364342" cy="364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Mail - Official Apple Support">
              <a:extLst>
                <a:ext uri="{FF2B5EF4-FFF2-40B4-BE49-F238E27FC236}">
                  <a16:creationId xmlns:a16="http://schemas.microsoft.com/office/drawing/2014/main" id="{61C46AB0-FC1A-4626-91A6-90A6DB480F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6346" y="5526580"/>
              <a:ext cx="364342" cy="364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Заголовок 3">
            <a:extLst>
              <a:ext uri="{FF2B5EF4-FFF2-40B4-BE49-F238E27FC236}">
                <a16:creationId xmlns:a16="http://schemas.microsoft.com/office/drawing/2014/main" id="{7A482BD7-7A80-45BB-B9B6-3C3212D9F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1979" y="188778"/>
            <a:ext cx="8968576" cy="1058496"/>
          </a:xfrm>
        </p:spPr>
        <p:txBody>
          <a:bodyPr/>
          <a:lstStyle/>
          <a:p>
            <a:r>
              <a:rPr lang="ru-RU" dirty="0"/>
              <a:t>Ты кто?</a:t>
            </a:r>
          </a:p>
        </p:txBody>
      </p:sp>
      <p:pic>
        <p:nvPicPr>
          <p:cNvPr id="1028" name="Picture 4" descr="БЮРО 1440 — Российская аэрокосмическая компания">
            <a:extLst>
              <a:ext uri="{FF2B5EF4-FFF2-40B4-BE49-F238E27FC236}">
                <a16:creationId xmlns:a16="http://schemas.microsoft.com/office/drawing/2014/main" id="{5547B25C-C193-4F7C-BA8E-0F5C27614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34" y="1538452"/>
            <a:ext cx="6931935" cy="4622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8DB538A-5533-4A86-AB83-68CF46125DC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428" t="42523" r="2202" b="4611"/>
          <a:stretch/>
        </p:blipFill>
        <p:spPr>
          <a:xfrm>
            <a:off x="7444615" y="1538452"/>
            <a:ext cx="3504515" cy="1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6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>
            <a:extLst>
              <a:ext uri="{FF2B5EF4-FFF2-40B4-BE49-F238E27FC236}">
                <a16:creationId xmlns:a16="http://schemas.microsoft.com/office/drawing/2014/main" id="{7A482BD7-7A80-45BB-B9B6-3C3212D9F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1979" y="188778"/>
            <a:ext cx="8968576" cy="1058496"/>
          </a:xfrm>
        </p:spPr>
        <p:txBody>
          <a:bodyPr/>
          <a:lstStyle/>
          <a:p>
            <a:r>
              <a:rPr lang="ru-RU" dirty="0"/>
              <a:t>Немного о курсе</a:t>
            </a:r>
          </a:p>
        </p:txBody>
      </p:sp>
      <p:pic>
        <p:nvPicPr>
          <p:cNvPr id="14" name="Picture 20" descr="Linux Icon | Operating Systems Iconpack | Tatice">
            <a:extLst>
              <a:ext uri="{FF2B5EF4-FFF2-40B4-BE49-F238E27FC236}">
                <a16:creationId xmlns:a16="http://schemas.microsoft.com/office/drawing/2014/main" id="{A28AA943-3F7D-4CB0-B68A-3A14B9863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142" y="351677"/>
            <a:ext cx="848722" cy="84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make&quot; Icon - Download for free – Iconduck">
            <a:extLst>
              <a:ext uri="{FF2B5EF4-FFF2-40B4-BE49-F238E27FC236}">
                <a16:creationId xmlns:a16="http://schemas.microsoft.com/office/drawing/2014/main" id="{2A4C4AE8-6817-4470-AA7B-20E495493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737" y="2497398"/>
            <a:ext cx="738809" cy="73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FE9A25AE-B928-4DBF-A3B7-ADE92EC7A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746" y="2911045"/>
            <a:ext cx="1334230" cy="147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File, type, vscode Icon in vscode">
            <a:extLst>
              <a:ext uri="{FF2B5EF4-FFF2-40B4-BE49-F238E27FC236}">
                <a16:creationId xmlns:a16="http://schemas.microsoft.com/office/drawing/2014/main" id="{ECE5935D-D6C1-4CAB-9308-604769408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038" y="1978896"/>
            <a:ext cx="887185" cy="88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DE09CBBF-D725-4696-A614-5A339264C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843" y="1568511"/>
            <a:ext cx="1079543" cy="107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What is C++? - Viking Software A/S">
            <a:extLst>
              <a:ext uri="{FF2B5EF4-FFF2-40B4-BE49-F238E27FC236}">
                <a16:creationId xmlns:a16="http://schemas.microsoft.com/office/drawing/2014/main" id="{F7FEB18C-1D05-47D6-A66D-AF72E0AEA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71" y="4146065"/>
            <a:ext cx="887185" cy="88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What is the best framework for Unit Testing?">
            <a:extLst>
              <a:ext uri="{FF2B5EF4-FFF2-40B4-BE49-F238E27FC236}">
                <a16:creationId xmlns:a16="http://schemas.microsoft.com/office/drawing/2014/main" id="{7D3DC770-92D8-4E1A-A763-BE0B0AFFD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796" y="5998508"/>
            <a:ext cx="1251477" cy="67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What is Multithreading in Python and How to Achieve it? Edureka">
            <a:extLst>
              <a:ext uri="{FF2B5EF4-FFF2-40B4-BE49-F238E27FC236}">
                <a16:creationId xmlns:a16="http://schemas.microsoft.com/office/drawing/2014/main" id="{FA41BF73-F479-4DBF-8E9C-A0DD873FA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865" y="3573405"/>
            <a:ext cx="2210554" cy="114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AD0293-C6CF-4C7F-A468-D2B6150B40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7247" y="4253538"/>
            <a:ext cx="1396713" cy="876120"/>
          </a:xfrm>
          <a:prstGeom prst="rect">
            <a:avLst/>
          </a:prstGeom>
        </p:spPr>
      </p:pic>
      <p:pic>
        <p:nvPicPr>
          <p:cNvPr id="3090" name="Picture 18" descr="Processor Icon PNG Transparent Background, Free Download #9581 -  FreeIconsPNG">
            <a:extLst>
              <a:ext uri="{FF2B5EF4-FFF2-40B4-BE49-F238E27FC236}">
                <a16:creationId xmlns:a16="http://schemas.microsoft.com/office/drawing/2014/main" id="{821E5B98-CEB5-497A-88DE-52EADCD2C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446" y="5568792"/>
            <a:ext cx="1168601" cy="93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BD5D9B-191F-4326-A5A5-B4BA5F4070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97247" y="5408036"/>
            <a:ext cx="1091083" cy="907537"/>
          </a:xfrm>
          <a:prstGeom prst="rect">
            <a:avLst/>
          </a:prstGeom>
        </p:spPr>
      </p:pic>
      <p:pic>
        <p:nvPicPr>
          <p:cNvPr id="3098" name="Picture 26" descr="Bug - Free computer icons">
            <a:extLst>
              <a:ext uri="{FF2B5EF4-FFF2-40B4-BE49-F238E27FC236}">
                <a16:creationId xmlns:a16="http://schemas.microsoft.com/office/drawing/2014/main" id="{BBA8A69C-26A9-48D0-9249-E750A9AFC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168" y="5635869"/>
            <a:ext cx="770080" cy="77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EF70B10-80B9-424A-B764-C8333921648D}"/>
              </a:ext>
            </a:extLst>
          </p:cNvPr>
          <p:cNvGrpSpPr/>
          <p:nvPr/>
        </p:nvGrpSpPr>
        <p:grpSpPr>
          <a:xfrm>
            <a:off x="4214559" y="5683297"/>
            <a:ext cx="1434212" cy="1147369"/>
            <a:chOff x="2810762" y="5554469"/>
            <a:chExt cx="1819250" cy="1483204"/>
          </a:xfrm>
        </p:grpSpPr>
        <p:pic>
          <p:nvPicPr>
            <p:cNvPr id="18" name="Picture 10" descr="Logo, google, g icon - Free download on Iconfinder">
              <a:extLst>
                <a:ext uri="{FF2B5EF4-FFF2-40B4-BE49-F238E27FC236}">
                  <a16:creationId xmlns:a16="http://schemas.microsoft.com/office/drawing/2014/main" id="{A394D704-21DD-47F7-A197-BB141EEE5E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0762" y="5681342"/>
              <a:ext cx="1356331" cy="135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0" descr="Chatgpt logo transparent background. 22841114 PNG">
              <a:extLst>
                <a:ext uri="{FF2B5EF4-FFF2-40B4-BE49-F238E27FC236}">
                  <a16:creationId xmlns:a16="http://schemas.microsoft.com/office/drawing/2014/main" id="{0217BFD4-03CB-48CE-B8B7-B481C8AF50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1424" y="6062521"/>
              <a:ext cx="678588" cy="6868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00" name="Picture 28">
              <a:extLst>
                <a:ext uri="{FF2B5EF4-FFF2-40B4-BE49-F238E27FC236}">
                  <a16:creationId xmlns:a16="http://schemas.microsoft.com/office/drawing/2014/main" id="{445CABCE-2C22-47AE-8DCE-B7733B6D69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9332" y="5554469"/>
              <a:ext cx="399189" cy="3991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C911282-0A8C-4A66-BDA9-EBCBB5D9863D}"/>
              </a:ext>
            </a:extLst>
          </p:cNvPr>
          <p:cNvSpPr txBox="1"/>
          <p:nvPr/>
        </p:nvSpPr>
        <p:spPr>
          <a:xfrm>
            <a:off x="7681194" y="5497623"/>
            <a:ext cx="20846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10111100  11010110  00001011  00011110  00111010  11110100  10101001  00011101  </a:t>
            </a:r>
          </a:p>
          <a:p>
            <a:r>
              <a:rPr lang="en-US" sz="400" dirty="0"/>
              <a:t>01011101  01010010  10000011  01000010  00011000  11101000  10011101  01111111  </a:t>
            </a:r>
          </a:p>
          <a:p>
            <a:r>
              <a:rPr lang="en-US" sz="400" dirty="0"/>
              <a:t>11101101  01100101  11000101  01010111  10001010  00001011  11100110  11010111  </a:t>
            </a:r>
          </a:p>
          <a:p>
            <a:r>
              <a:rPr lang="en-US" sz="400" dirty="0"/>
              <a:t>11001101  00111000  00001110  01010101  00110010  00111001  00110000  10111001  </a:t>
            </a:r>
          </a:p>
          <a:p>
            <a:r>
              <a:rPr lang="en-US" sz="400" dirty="0"/>
              <a:t>00000100  00010000  01100111  10100111  10111001  00000000  01101010  00110001  </a:t>
            </a:r>
          </a:p>
          <a:p>
            <a:r>
              <a:rPr lang="en-US" sz="400" dirty="0"/>
              <a:t>01101111  10110110  10000001  01000000  11010001  00001110  01001110  01001011  </a:t>
            </a:r>
          </a:p>
          <a:p>
            <a:r>
              <a:rPr lang="en-US" sz="400" dirty="0"/>
              <a:t>11011001  00000100  01000000  10111000  10010001  10111110  01001011  00010001  </a:t>
            </a:r>
          </a:p>
          <a:p>
            <a:r>
              <a:rPr lang="en-US" sz="400" dirty="0"/>
              <a:t>00000111  10010110  11101011  01101111  10011110  01101000  11001001  11110101  </a:t>
            </a:r>
          </a:p>
          <a:p>
            <a:r>
              <a:rPr lang="en-US" sz="400" dirty="0"/>
              <a:t>10000100  10000000  00010010  10111100  01000101  10110110  00000100  11111011  </a:t>
            </a:r>
          </a:p>
          <a:p>
            <a:r>
              <a:rPr lang="en-US" sz="400" dirty="0"/>
              <a:t>10111110  10110100  10011110  01111100  11100001  11110111  11100001  10001100  </a:t>
            </a:r>
          </a:p>
          <a:p>
            <a:r>
              <a:rPr lang="en-US" sz="400" dirty="0"/>
              <a:t>00010001  11000111  10111000  01110110  11101010  10001010  01011001  11010100  </a:t>
            </a:r>
          </a:p>
          <a:p>
            <a:r>
              <a:rPr lang="en-US" sz="400" dirty="0"/>
              <a:t>01011111  10110010  11000011  11110110  01101110  10110110  01001000  11000100  </a:t>
            </a:r>
          </a:p>
          <a:p>
            <a:r>
              <a:rPr lang="en-US" sz="400" dirty="0"/>
              <a:t>10001100  10101001  00010000  10011010  00011111  10101111  11001000  00100101  </a:t>
            </a:r>
          </a:p>
          <a:p>
            <a:r>
              <a:rPr lang="en-US" sz="400" dirty="0"/>
              <a:t>11000011  00111001  01111100  11010001  11011101  01110100  01100101  10110110  </a:t>
            </a:r>
          </a:p>
          <a:p>
            <a:r>
              <a:rPr lang="en-US" sz="400" dirty="0"/>
              <a:t>01110010  10011010  01000001  01100001  10010101  10110010  11101111  00100011  </a:t>
            </a:r>
          </a:p>
          <a:p>
            <a:r>
              <a:rPr lang="en-US" sz="400" dirty="0"/>
              <a:t>00101111  10011100  01010000  01011001  01110101  10101111  01001000  00110110</a:t>
            </a:r>
            <a:endParaRPr lang="ru-RU" sz="40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EC744FA-52EB-4D51-97C7-B9BD861E151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63251" y="1158776"/>
            <a:ext cx="1991585" cy="107769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34C0561-B7E8-442A-AC0B-5F12E8C667A8}"/>
              </a:ext>
            </a:extLst>
          </p:cNvPr>
          <p:cNvSpPr txBox="1"/>
          <p:nvPr/>
        </p:nvSpPr>
        <p:spPr>
          <a:xfrm>
            <a:off x="680512" y="1425120"/>
            <a:ext cx="62132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- Разберемся с Языком </a:t>
            </a:r>
            <a:r>
              <a:rPr lang="en-US" dirty="0"/>
              <a:t>C</a:t>
            </a:r>
            <a:endParaRPr lang="ru-RU" dirty="0"/>
          </a:p>
          <a:p>
            <a:r>
              <a:rPr lang="ru-RU" dirty="0"/>
              <a:t>- Подтянем технический Английский и Русский язык </a:t>
            </a:r>
          </a:p>
          <a:p>
            <a:r>
              <a:rPr lang="ru-RU" dirty="0"/>
              <a:t>- </a:t>
            </a:r>
            <a:r>
              <a:rPr lang="en-US" dirty="0"/>
              <a:t>Code Style</a:t>
            </a:r>
            <a:endParaRPr lang="ru-RU" dirty="0"/>
          </a:p>
          <a:p>
            <a:r>
              <a:rPr lang="ru-RU" dirty="0"/>
              <a:t>- Узнаем как работать в </a:t>
            </a:r>
            <a:r>
              <a:rPr lang="ru-RU" dirty="0" err="1"/>
              <a:t>консольке</a:t>
            </a:r>
            <a:r>
              <a:rPr lang="ru-RU" dirty="0"/>
              <a:t> </a:t>
            </a:r>
            <a:r>
              <a:rPr lang="ru-RU" dirty="0" err="1"/>
              <a:t>linux</a:t>
            </a:r>
            <a:endParaRPr lang="ru-RU" dirty="0"/>
          </a:p>
          <a:p>
            <a:r>
              <a:rPr lang="ru-RU" dirty="0"/>
              <a:t>- Система контроля версий (</a:t>
            </a:r>
            <a:r>
              <a:rPr lang="ru-RU" dirty="0" err="1"/>
              <a:t>Git</a:t>
            </a:r>
            <a:r>
              <a:rPr lang="ru-RU" dirty="0"/>
              <a:t>)</a:t>
            </a:r>
          </a:p>
          <a:p>
            <a:r>
              <a:rPr lang="ru-RU" dirty="0"/>
              <a:t>- Системы сборки кода</a:t>
            </a:r>
          </a:p>
          <a:p>
            <a:r>
              <a:rPr lang="ru-RU" dirty="0"/>
              <a:t>- Архитектура ПК и ПО</a:t>
            </a:r>
          </a:p>
          <a:p>
            <a:r>
              <a:rPr lang="ru-RU" dirty="0"/>
              <a:t>- Отладка программ (всякая разная)</a:t>
            </a:r>
          </a:p>
          <a:p>
            <a:r>
              <a:rPr lang="ru-RU" dirty="0"/>
              <a:t>- Базовые алгоритмы и чуть про их сложность (подробнее узнаете на </a:t>
            </a:r>
            <a:r>
              <a:rPr lang="ru-RU" dirty="0" err="1"/>
              <a:t>САОДе</a:t>
            </a:r>
            <a:r>
              <a:rPr lang="ru-RU" dirty="0"/>
              <a:t>)</a:t>
            </a:r>
          </a:p>
          <a:p>
            <a:r>
              <a:rPr lang="ru-RU" dirty="0"/>
              <a:t>- Жизненный цикл ПО и основы тестирования</a:t>
            </a:r>
          </a:p>
          <a:p>
            <a:r>
              <a:rPr lang="ru-RU" dirty="0"/>
              <a:t>- Основы многопоточных программ</a:t>
            </a:r>
          </a:p>
          <a:p>
            <a:r>
              <a:rPr lang="ru-RU" dirty="0"/>
              <a:t>- Насколько успеем основы C++</a:t>
            </a:r>
          </a:p>
          <a:p>
            <a:r>
              <a:rPr lang="ru-RU" dirty="0"/>
              <a:t>- Обсудим ИИ вместе с ИИ</a:t>
            </a:r>
          </a:p>
          <a:p>
            <a:r>
              <a:rPr lang="ru-RU" dirty="0"/>
              <a:t>- Ну и немного мемов</a:t>
            </a:r>
            <a:r>
              <a:rPr lang="en-US" dirty="0"/>
              <a:t> (</a:t>
            </a:r>
            <a:r>
              <a:rPr lang="ru-RU" dirty="0"/>
              <a:t>профессия разработчика нервная.. смех полезен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247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73F8D07-54EA-586C-6A7E-C0A2D0CC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898" y="188778"/>
            <a:ext cx="9052084" cy="1589629"/>
          </a:xfrm>
        </p:spPr>
        <p:txBody>
          <a:bodyPr>
            <a:normAutofit fontScale="90000"/>
          </a:bodyPr>
          <a:lstStyle/>
          <a:p>
            <a:r>
              <a:rPr lang="ru-RU" dirty="0"/>
              <a:t>Когда и кто приходит?</a:t>
            </a:r>
            <a:br>
              <a:rPr lang="ru-RU" dirty="0"/>
            </a:br>
            <a:r>
              <a:rPr lang="ru-RU" dirty="0"/>
              <a:t>(практики)</a:t>
            </a:r>
          </a:p>
        </p:txBody>
      </p:sp>
      <p:pic>
        <p:nvPicPr>
          <p:cNvPr id="5" name="Google Shape;169;p21" title="a black cat is playing with an apple laptop on a table . (источник: Tenor)">
            <a:extLst>
              <a:ext uri="{FF2B5EF4-FFF2-40B4-BE49-F238E27FC236}">
                <a16:creationId xmlns:a16="http://schemas.microsoft.com/office/drawing/2014/main" id="{BC752AC7-3AB3-42A6-B574-02F7EA76DAC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728" y="3594538"/>
            <a:ext cx="2667123" cy="2710008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6" name="Google Shape;168;p21" title="a cat is sitting at a desk typing on a computer keyboard . (источник: Tenor)">
            <a:extLst>
              <a:ext uri="{FF2B5EF4-FFF2-40B4-BE49-F238E27FC236}">
                <a16:creationId xmlns:a16="http://schemas.microsoft.com/office/drawing/2014/main" id="{3C2FE486-4EC5-4D6D-A61A-8EC2B414525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0742" y="1942369"/>
            <a:ext cx="2196737" cy="207627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7" name="Google Shape;170;p21" title="a cat laying on a blanket looking at a cell phone with the words gets off computer to go to bed below it (источник: Tenor)">
            <a:extLst>
              <a:ext uri="{FF2B5EF4-FFF2-40B4-BE49-F238E27FC236}">
                <a16:creationId xmlns:a16="http://schemas.microsoft.com/office/drawing/2014/main" id="{81E6A8FD-BF1A-4F23-9FE7-666050C9954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b="8975"/>
          <a:stretch/>
        </p:blipFill>
        <p:spPr>
          <a:xfrm>
            <a:off x="8268563" y="2348116"/>
            <a:ext cx="2284949" cy="216176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671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73F8D07-54EA-586C-6A7E-C0A2D0CC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4521" y="276701"/>
            <a:ext cx="9052084" cy="857507"/>
          </a:xfrm>
        </p:spPr>
        <p:txBody>
          <a:bodyPr>
            <a:normAutofit fontScale="90000"/>
          </a:bodyPr>
          <a:lstStyle/>
          <a:p>
            <a:r>
              <a:rPr lang="en-US" dirty="0"/>
              <a:t>Linux </a:t>
            </a:r>
            <a:r>
              <a:rPr lang="ru-RU" dirty="0"/>
              <a:t>для ноутбуков</a:t>
            </a:r>
          </a:p>
        </p:txBody>
      </p:sp>
      <p:pic>
        <p:nvPicPr>
          <p:cNvPr id="10" name="Picture 22" descr="Веб-разработка в Windows | Microsoft Learn">
            <a:extLst>
              <a:ext uri="{FF2B5EF4-FFF2-40B4-BE49-F238E27FC236}">
                <a16:creationId xmlns:a16="http://schemas.microsoft.com/office/drawing/2014/main" id="{E243C07B-8C18-4F5B-9AB3-E3E32766B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141" y="2335731"/>
            <a:ext cx="3578101" cy="201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4">
            <a:extLst>
              <a:ext uri="{FF2B5EF4-FFF2-40B4-BE49-F238E27FC236}">
                <a16:creationId xmlns:a16="http://schemas.microsoft.com/office/drawing/2014/main" id="{C1C0FC5F-40EF-465A-AC95-7790A90E2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554" y="2250788"/>
            <a:ext cx="2356423" cy="235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59B922-CB31-44BE-B714-51FEDB7BA2BF}"/>
              </a:ext>
            </a:extLst>
          </p:cNvPr>
          <p:cNvSpPr txBox="1"/>
          <p:nvPr/>
        </p:nvSpPr>
        <p:spPr>
          <a:xfrm>
            <a:off x="1190386" y="4459985"/>
            <a:ext cx="297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Windows Subsystem for Linux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F5F8E8-CD22-434D-9007-A07568C1495B}"/>
              </a:ext>
            </a:extLst>
          </p:cNvPr>
          <p:cNvSpPr txBox="1"/>
          <p:nvPr/>
        </p:nvSpPr>
        <p:spPr>
          <a:xfrm>
            <a:off x="5258844" y="4459985"/>
            <a:ext cx="2396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Virtual Machine + Linux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88E38A-2414-47ED-8DB0-B3174310A67B}"/>
              </a:ext>
            </a:extLst>
          </p:cNvPr>
          <p:cNvSpPr txBox="1"/>
          <p:nvPr/>
        </p:nvSpPr>
        <p:spPr>
          <a:xfrm>
            <a:off x="9031978" y="4459985"/>
            <a:ext cx="1716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Desktop Ubuntu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C752B6-8E1C-419E-9737-9A9F2E57E936}"/>
              </a:ext>
            </a:extLst>
          </p:cNvPr>
          <p:cNvSpPr txBox="1"/>
          <p:nvPr/>
        </p:nvSpPr>
        <p:spPr>
          <a:xfrm>
            <a:off x="219901" y="5929672"/>
            <a:ext cx="9074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*Если у вас </a:t>
            </a:r>
            <a:r>
              <a:rPr lang="en-US" dirty="0"/>
              <a:t>MacOS, </a:t>
            </a:r>
            <a:r>
              <a:rPr lang="ru-RU" dirty="0"/>
              <a:t>то ставить </a:t>
            </a:r>
            <a:r>
              <a:rPr lang="en-US" dirty="0" err="1"/>
              <a:t>linux</a:t>
            </a:r>
            <a:r>
              <a:rPr lang="en-US" dirty="0"/>
              <a:t> </a:t>
            </a:r>
            <a:r>
              <a:rPr lang="ru-RU" dirty="0"/>
              <a:t>не нужно</a:t>
            </a:r>
            <a:r>
              <a:rPr lang="en-US" dirty="0"/>
              <a:t>, </a:t>
            </a:r>
            <a:r>
              <a:rPr lang="ru-RU" dirty="0"/>
              <a:t>достаточно включить режим разработчика</a:t>
            </a:r>
          </a:p>
        </p:txBody>
      </p:sp>
      <p:pic>
        <p:nvPicPr>
          <p:cNvPr id="1026" name="Picture 2" descr="Ubuntu 20.04">
            <a:extLst>
              <a:ext uri="{FF2B5EF4-FFF2-40B4-BE49-F238E27FC236}">
                <a16:creationId xmlns:a16="http://schemas.microsoft.com/office/drawing/2014/main" id="{9351C943-C7EB-4D6C-B818-9F8FE5393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1290" y="2180891"/>
            <a:ext cx="2097808" cy="209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631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73F8D07-54EA-586C-6A7E-C0A2D0CC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118" y="504212"/>
            <a:ext cx="9646623" cy="1107502"/>
          </a:xfrm>
        </p:spPr>
        <p:txBody>
          <a:bodyPr>
            <a:normAutofit/>
          </a:bodyPr>
          <a:lstStyle/>
          <a:p>
            <a:r>
              <a:rPr lang="en-US" dirty="0"/>
              <a:t>Windows Subsystem for Linux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186CF8-30D2-1D45-0FE2-77B76BCB04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137" b="500"/>
          <a:stretch/>
        </p:blipFill>
        <p:spPr>
          <a:xfrm>
            <a:off x="1405118" y="2414217"/>
            <a:ext cx="5828195" cy="32837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177572-2E71-48FC-9BBD-303F690DA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260" y="1527961"/>
            <a:ext cx="3177622" cy="482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32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73F8D07-54EA-586C-6A7E-C0A2D0CC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314" y="497632"/>
            <a:ext cx="9013371" cy="1164869"/>
          </a:xfrm>
        </p:spPr>
        <p:txBody>
          <a:bodyPr/>
          <a:lstStyle/>
          <a:p>
            <a:r>
              <a:rPr lang="en-US" dirty="0"/>
              <a:t>Virtual Machine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DCBDA8-C70D-9DC9-6955-9D2D9708E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699" y="1931657"/>
            <a:ext cx="63246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40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73F8D07-54EA-586C-6A7E-C0A2D0CC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314" y="497632"/>
            <a:ext cx="9013371" cy="1164869"/>
          </a:xfrm>
        </p:spPr>
        <p:txBody>
          <a:bodyPr/>
          <a:lstStyle/>
          <a:p>
            <a:r>
              <a:rPr lang="en-US" dirty="0"/>
              <a:t>Ubuntu</a:t>
            </a:r>
            <a:r>
              <a:rPr lang="ru-RU" dirty="0"/>
              <a:t> </a:t>
            </a:r>
            <a:r>
              <a:rPr lang="en-US" dirty="0"/>
              <a:t>OS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9112C4-A4DE-C2DC-6EFB-D133D632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911" y="1919059"/>
            <a:ext cx="74961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76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B73BD34D-2022-4B0F-85B3-5F6F09B25973}"/>
              </a:ext>
            </a:extLst>
          </p:cNvPr>
          <p:cNvSpPr txBox="1">
            <a:spLocks/>
          </p:cNvSpPr>
          <p:nvPr/>
        </p:nvSpPr>
        <p:spPr>
          <a:xfrm>
            <a:off x="3077973" y="423142"/>
            <a:ext cx="6036053" cy="10292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Eios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B2DE317-B4B3-446A-BA69-496C988CA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393" y="1682724"/>
            <a:ext cx="4185138" cy="40543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F252F-458C-4247-8628-C93D1C08737F}"/>
              </a:ext>
            </a:extLst>
          </p:cNvPr>
          <p:cNvSpPr txBox="1"/>
          <p:nvPr/>
        </p:nvSpPr>
        <p:spPr>
          <a:xfrm>
            <a:off x="7022999" y="3233272"/>
            <a:ext cx="35588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Кодовое слово:</a:t>
            </a:r>
            <a:r>
              <a:rPr lang="en-US" sz="4000" dirty="0"/>
              <a:t> </a:t>
            </a:r>
          </a:p>
          <a:p>
            <a:pPr algn="ctr"/>
            <a:r>
              <a:rPr lang="ru-RU" sz="4000" b="1" dirty="0"/>
              <a:t>ИКС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BE6717-B4D6-4915-9EE4-5F7817491539}"/>
              </a:ext>
            </a:extLst>
          </p:cNvPr>
          <p:cNvSpPr txBox="1"/>
          <p:nvPr/>
        </p:nvSpPr>
        <p:spPr>
          <a:xfrm>
            <a:off x="2283802" y="5870702"/>
            <a:ext cx="4934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https://eios.sibsutis.ru/course/view.php?id=3912</a:t>
            </a:r>
          </a:p>
        </p:txBody>
      </p:sp>
    </p:spTree>
    <p:extLst>
      <p:ext uri="{BB962C8B-B14F-4D97-AF65-F5344CB8AC3E}">
        <p14:creationId xmlns:p14="http://schemas.microsoft.com/office/powerpoint/2010/main" val="3975478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B73BD34D-2022-4B0F-85B3-5F6F09B25973}"/>
              </a:ext>
            </a:extLst>
          </p:cNvPr>
          <p:cNvSpPr txBox="1">
            <a:spLocks/>
          </p:cNvSpPr>
          <p:nvPr/>
        </p:nvSpPr>
        <p:spPr>
          <a:xfrm>
            <a:off x="3077973" y="423142"/>
            <a:ext cx="6036053" cy="10292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Github</a:t>
            </a:r>
            <a:endParaRPr lang="ru-RU" dirty="0"/>
          </a:p>
        </p:txBody>
      </p:sp>
      <p:pic>
        <p:nvPicPr>
          <p:cNvPr id="6" name="Picture 2" descr="GitHub - Apps on Google Play">
            <a:extLst>
              <a:ext uri="{FF2B5EF4-FFF2-40B4-BE49-F238E27FC236}">
                <a16:creationId xmlns:a16="http://schemas.microsoft.com/office/drawing/2014/main" id="{7ABAA656-2585-4F17-AFD0-506FB26B4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237" y="1757218"/>
            <a:ext cx="3354355" cy="33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DC55BB-55E7-42C9-99E5-D146B3833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18" y="1757218"/>
            <a:ext cx="3543537" cy="35275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3A3525-D98B-41D4-B453-3D9442E4A712}"/>
              </a:ext>
            </a:extLst>
          </p:cNvPr>
          <p:cNvSpPr txBox="1"/>
          <p:nvPr/>
        </p:nvSpPr>
        <p:spPr>
          <a:xfrm>
            <a:off x="6034453" y="5372072"/>
            <a:ext cx="4542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https://github.com/kruffka/C-Programming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2A5481-3C0E-47CE-B6F1-BE358EF60B71}"/>
              </a:ext>
            </a:extLst>
          </p:cNvPr>
          <p:cNvSpPr txBox="1"/>
          <p:nvPr/>
        </p:nvSpPr>
        <p:spPr>
          <a:xfrm>
            <a:off x="660887" y="5979808"/>
            <a:ext cx="11221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Домашка</a:t>
            </a:r>
            <a:r>
              <a:rPr lang="ru-RU" sz="1800" dirty="0"/>
              <a:t>: зарегистрироваться на </a:t>
            </a:r>
            <a:r>
              <a:rPr lang="en-US" sz="1800" dirty="0"/>
              <a:t>github.com. </a:t>
            </a:r>
            <a:r>
              <a:rPr lang="ru-RU" sz="1800" dirty="0"/>
              <a:t>Желательно использовать </a:t>
            </a:r>
            <a:r>
              <a:rPr lang="en-US" dirty="0" err="1"/>
              <a:t>gmail</a:t>
            </a:r>
            <a:r>
              <a:rPr lang="en-US" dirty="0"/>
              <a:t>, </a:t>
            </a:r>
            <a:r>
              <a:rPr lang="ru-RU" dirty="0"/>
              <a:t>т.к. с другими могут возникнуть проблемы при регистрации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449512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347C07F-C496-45CF-A505-247F571AC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5259"/>
            <a:ext cx="9144000" cy="89750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Программирование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1641F1-1989-4BC7-BDD0-76B062DB5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631" y="4797476"/>
            <a:ext cx="3431564" cy="192810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034A93E-C1EC-45AB-A22C-DA1F336DF23A}"/>
              </a:ext>
            </a:extLst>
          </p:cNvPr>
          <p:cNvSpPr txBox="1"/>
          <p:nvPr/>
        </p:nvSpPr>
        <p:spPr>
          <a:xfrm>
            <a:off x="682579" y="1588928"/>
            <a:ext cx="1117895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Программа</a:t>
            </a:r>
            <a:r>
              <a:rPr lang="ru-RU" sz="2000" dirty="0"/>
              <a:t> - это просто набор инструкций, которые кто-то (или что-то) выполняет для получения некоторого результата. </a:t>
            </a:r>
          </a:p>
          <a:p>
            <a:r>
              <a:rPr lang="ru-RU" sz="2000" dirty="0"/>
              <a:t>Классический пример - рецепт, пусть будет рецепт </a:t>
            </a:r>
            <a:r>
              <a:rPr lang="ru-RU" sz="2000" dirty="0" err="1"/>
              <a:t>мильфея</a:t>
            </a:r>
            <a:r>
              <a:rPr lang="ru-RU" sz="2000" dirty="0"/>
              <a:t> (хрустящий десерт с малиной) записанный на бумаге. Сам рецепт написан на бумаге на языке </a:t>
            </a:r>
            <a:r>
              <a:rPr lang="ru-RU" sz="2000" b="1" dirty="0"/>
              <a:t>программирования</a:t>
            </a:r>
            <a:r>
              <a:rPr lang="ru-RU" sz="2000" dirty="0"/>
              <a:t>, который понимает исполнитель. Исполнителем в этом хаосе пусть будет некий Повар, который следует четко по инструкции для приготовления </a:t>
            </a:r>
            <a:r>
              <a:rPr lang="ru-RU" sz="2000" dirty="0" err="1"/>
              <a:t>мильфея</a:t>
            </a:r>
            <a:r>
              <a:rPr lang="ru-RU" sz="2000" dirty="0"/>
              <a:t>. И вот сам процесс написания рецепта для повара и есть </a:t>
            </a:r>
            <a:r>
              <a:rPr lang="ru-RU" sz="2000" b="1" dirty="0"/>
              <a:t>программирование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r>
              <a:rPr lang="ru-RU" sz="2000" dirty="0"/>
              <a:t>Если вернуться в реальный мир, то найдем программы повсюду:</a:t>
            </a:r>
          </a:p>
          <a:p>
            <a:r>
              <a:rPr lang="ru-RU" sz="2000" dirty="0"/>
              <a:t>Телефоны</a:t>
            </a:r>
            <a:r>
              <a:rPr lang="en-US" sz="2000" dirty="0"/>
              <a:t>, </a:t>
            </a:r>
            <a:r>
              <a:rPr lang="ru-RU" sz="2000" dirty="0"/>
              <a:t>ПК</a:t>
            </a:r>
            <a:r>
              <a:rPr lang="en-US" sz="2000" dirty="0"/>
              <a:t>, </a:t>
            </a:r>
            <a:r>
              <a:rPr lang="ru-RU" sz="2000" dirty="0"/>
              <a:t>умные чайники</a:t>
            </a:r>
            <a:r>
              <a:rPr lang="en-US" sz="2000" dirty="0"/>
              <a:t>, </a:t>
            </a:r>
            <a:r>
              <a:rPr lang="ru-RU" sz="2000" dirty="0"/>
              <a:t>стиралки</a:t>
            </a:r>
            <a:r>
              <a:rPr lang="en-US" sz="2000" dirty="0"/>
              <a:t>, </a:t>
            </a:r>
            <a:r>
              <a:rPr lang="ru-RU" sz="2000" dirty="0"/>
              <a:t>самолеты</a:t>
            </a:r>
            <a:r>
              <a:rPr lang="en-US" sz="2000" dirty="0"/>
              <a:t>, </a:t>
            </a:r>
            <a:r>
              <a:rPr lang="ru-RU" sz="2000" dirty="0"/>
              <a:t>машины</a:t>
            </a:r>
            <a:r>
              <a:rPr lang="en-US" sz="2000" dirty="0"/>
              <a:t>, </a:t>
            </a:r>
            <a:r>
              <a:rPr lang="ru-RU" sz="2000" dirty="0"/>
              <a:t>мессенджеры</a:t>
            </a:r>
            <a:r>
              <a:rPr lang="en-US" sz="2000" dirty="0"/>
              <a:t>, </a:t>
            </a:r>
            <a:r>
              <a:rPr lang="ru-RU" sz="2000" dirty="0"/>
              <a:t>браузеры</a:t>
            </a:r>
            <a:r>
              <a:rPr lang="en-US" sz="2000" dirty="0"/>
              <a:t>, </a:t>
            </a:r>
            <a:r>
              <a:rPr lang="ru-RU" sz="2000" dirty="0"/>
              <a:t>сайт</a:t>
            </a:r>
            <a:r>
              <a:rPr lang="en-US" sz="2000" dirty="0"/>
              <a:t>, </a:t>
            </a:r>
            <a:r>
              <a:rPr lang="ru-RU" sz="2000" dirty="0"/>
              <a:t>ИИ для генерации котиков..</a:t>
            </a:r>
          </a:p>
        </p:txBody>
      </p:sp>
    </p:spTree>
    <p:extLst>
      <p:ext uri="{BB962C8B-B14F-4D97-AF65-F5344CB8AC3E}">
        <p14:creationId xmlns:p14="http://schemas.microsoft.com/office/powerpoint/2010/main" val="664249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347C07F-C496-45CF-A505-247F571AC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5259"/>
            <a:ext cx="9144000" cy="897506"/>
          </a:xfrm>
        </p:spPr>
        <p:txBody>
          <a:bodyPr>
            <a:normAutofit fontScale="90000"/>
          </a:bodyPr>
          <a:lstStyle/>
          <a:p>
            <a:r>
              <a:rPr lang="ru-RU" dirty="0"/>
              <a:t>Язык программирования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E2CB14-C56F-4962-9721-BA4DD3855164}"/>
              </a:ext>
            </a:extLst>
          </p:cNvPr>
          <p:cNvSpPr txBox="1"/>
          <p:nvPr/>
        </p:nvSpPr>
        <p:spPr>
          <a:xfrm>
            <a:off x="907162" y="1340157"/>
            <a:ext cx="1081559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Язык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это заданный набор символов и правил, устанавливающих способы комбинации этих символов между собой для записи осмысленных текстов.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Язык программирования (ЯП)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 это формальный, человеко-машинный язык для записи компьютерных программ, который состоит из набора правил (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лексических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синтаксических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семантических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для создания инструкций, понятных компьютеру.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54B5367-E6FF-42F1-B3E1-F7A425D6B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133" y="5682398"/>
            <a:ext cx="730529" cy="821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C3B78F5A-A6B5-4F66-9B21-AAC68218C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460" y="5802146"/>
            <a:ext cx="790674" cy="558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50">
            <a:extLst>
              <a:ext uri="{FF2B5EF4-FFF2-40B4-BE49-F238E27FC236}">
                <a16:creationId xmlns:a16="http://schemas.microsoft.com/office/drawing/2014/main" id="{13CB4522-5676-470B-B423-697196DAE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255" y="5726972"/>
            <a:ext cx="790674" cy="86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52">
            <a:extLst>
              <a:ext uri="{FF2B5EF4-FFF2-40B4-BE49-F238E27FC236}">
                <a16:creationId xmlns:a16="http://schemas.microsoft.com/office/drawing/2014/main" id="{DE214D67-F326-4539-9B23-E2CFC79B2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023" y="5823841"/>
            <a:ext cx="583508" cy="58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4">
            <a:extLst>
              <a:ext uri="{FF2B5EF4-FFF2-40B4-BE49-F238E27FC236}">
                <a16:creationId xmlns:a16="http://schemas.microsoft.com/office/drawing/2014/main" id="{6D93CE46-6667-4F61-BD3E-7E0C56C16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91" y="5823841"/>
            <a:ext cx="721571" cy="72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6CBCEFF8-C23D-40FB-B1BE-32B6D4630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5" y="5250941"/>
            <a:ext cx="901496" cy="601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Java Logo PNG Vector (AI, PDF, SVG) Free Download">
            <a:extLst>
              <a:ext uri="{FF2B5EF4-FFF2-40B4-BE49-F238E27FC236}">
                <a16:creationId xmlns:a16="http://schemas.microsoft.com/office/drawing/2014/main" id="{4AA19CC9-8FC9-4733-9828-AB98CDB9C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040" y="5682398"/>
            <a:ext cx="1208678" cy="652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EC96F405-5F75-47FE-9937-6CB132686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1000" y="5784332"/>
            <a:ext cx="583507" cy="58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Язык программирования Swift: где используется, основы">
            <a:extLst>
              <a:ext uri="{FF2B5EF4-FFF2-40B4-BE49-F238E27FC236}">
                <a16:creationId xmlns:a16="http://schemas.microsoft.com/office/drawing/2014/main" id="{FBB8DEB1-A7AC-410E-8D0D-FF1CEB094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355" y="5741248"/>
            <a:ext cx="639425" cy="63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The Go Programming Language">
            <a:extLst>
              <a:ext uri="{FF2B5EF4-FFF2-40B4-BE49-F238E27FC236}">
                <a16:creationId xmlns:a16="http://schemas.microsoft.com/office/drawing/2014/main" id="{C51DDB23-4136-4FD8-BDB6-22F0C92BEF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1" t="27135" r="5843" b="24461"/>
          <a:stretch/>
        </p:blipFill>
        <p:spPr bwMode="auto">
          <a:xfrm>
            <a:off x="9776922" y="5794169"/>
            <a:ext cx="1269650" cy="59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>
            <a:extLst>
              <a:ext uri="{FF2B5EF4-FFF2-40B4-BE49-F238E27FC236}">
                <a16:creationId xmlns:a16="http://schemas.microsoft.com/office/drawing/2014/main" id="{D848E5C5-2E67-44F1-8BC0-31AC1C645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573" y="5786838"/>
            <a:ext cx="1174813" cy="54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984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347C07F-C496-45CF-A505-247F571AC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260" y="247871"/>
            <a:ext cx="9833479" cy="817878"/>
          </a:xfrm>
        </p:spPr>
        <p:txBody>
          <a:bodyPr>
            <a:normAutofit fontScale="90000"/>
          </a:bodyPr>
          <a:lstStyle/>
          <a:p>
            <a:r>
              <a:rPr lang="ru-RU" dirty="0"/>
              <a:t>Лексика</a:t>
            </a:r>
            <a:r>
              <a:rPr lang="en-US" dirty="0"/>
              <a:t>, </a:t>
            </a:r>
            <a:r>
              <a:rPr lang="ru-RU" dirty="0"/>
              <a:t>Семантика и Синтаксис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1A338B-3CC1-431A-A9B0-8E88BEABA7BC}"/>
              </a:ext>
            </a:extLst>
          </p:cNvPr>
          <p:cNvSpPr txBox="1"/>
          <p:nvPr/>
        </p:nvSpPr>
        <p:spPr>
          <a:xfrm>
            <a:off x="544172" y="1166842"/>
            <a:ext cx="111036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Лексика (</a:t>
            </a:r>
            <a:r>
              <a:rPr lang="ru-RU" b="1" dirty="0" err="1"/>
              <a:t>Lexicon</a:t>
            </a:r>
            <a:r>
              <a:rPr lang="ru-RU" b="1" dirty="0"/>
              <a:t>) </a:t>
            </a:r>
            <a:r>
              <a:rPr lang="ru-RU" dirty="0"/>
              <a:t>- относится к набору допустимых символов и токенов в языке программирования. </a:t>
            </a:r>
            <a:endParaRPr lang="en-US" dirty="0"/>
          </a:p>
          <a:p>
            <a:pPr lvl="1"/>
            <a:r>
              <a:rPr lang="ru-RU" dirty="0"/>
              <a:t>Отвечает на вопрос: Какие слова и символы можно использовать в предложении?..</a:t>
            </a:r>
            <a:endParaRPr lang="en-US" dirty="0"/>
          </a:p>
          <a:p>
            <a:pPr lvl="1"/>
            <a:r>
              <a:rPr lang="ru-RU" dirty="0"/>
              <a:t>Ключевые слова типа "</a:t>
            </a:r>
            <a:r>
              <a:rPr lang="ru-RU" dirty="0" err="1"/>
              <a:t>for</a:t>
            </a:r>
            <a:r>
              <a:rPr lang="ru-RU" dirty="0"/>
              <a:t>", "</a:t>
            </a:r>
            <a:r>
              <a:rPr lang="ru-RU" dirty="0" err="1"/>
              <a:t>if</a:t>
            </a:r>
            <a:r>
              <a:rPr lang="ru-RU" dirty="0"/>
              <a:t>", "</a:t>
            </a:r>
            <a:r>
              <a:rPr lang="ru-RU" dirty="0" err="1"/>
              <a:t>else</a:t>
            </a:r>
            <a:r>
              <a:rPr lang="ru-RU" dirty="0"/>
              <a:t>", "</a:t>
            </a:r>
            <a:r>
              <a:rPr lang="ru-RU" dirty="0" err="1"/>
              <a:t>while</a:t>
            </a:r>
            <a:r>
              <a:rPr lang="ru-RU" dirty="0"/>
              <a:t>"..</a:t>
            </a:r>
            <a:endParaRPr lang="en-US" dirty="0"/>
          </a:p>
          <a:p>
            <a:pPr lvl="1"/>
            <a:r>
              <a:rPr lang="ru-RU" dirty="0"/>
              <a:t>Идентификаторы - допустимые имена переменных.</a:t>
            </a:r>
            <a:endParaRPr lang="en-US" dirty="0"/>
          </a:p>
          <a:p>
            <a:pPr lvl="1"/>
            <a:r>
              <a:rPr lang="ru-RU" dirty="0"/>
              <a:t>Операторы - +, -, &amp;&amp;, |, ~ и т.д.</a:t>
            </a:r>
            <a:endParaRPr lang="en-US" dirty="0"/>
          </a:p>
          <a:p>
            <a:pPr lvl="1"/>
            <a:r>
              <a:rPr lang="ru-RU" dirty="0"/>
              <a:t>Разделители - символы, разделяющие токены, пример " ", ";" ","...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Семантика (</a:t>
            </a:r>
            <a:r>
              <a:rPr lang="ru-RU" b="1" dirty="0" err="1"/>
              <a:t>Semantics</a:t>
            </a:r>
            <a:r>
              <a:rPr lang="ru-RU" b="1" dirty="0"/>
              <a:t>) </a:t>
            </a:r>
            <a:r>
              <a:rPr lang="ru-RU" dirty="0"/>
              <a:t>- относится к значению и смыслу программных конструкций. </a:t>
            </a:r>
            <a:endParaRPr lang="en-US" dirty="0"/>
          </a:p>
          <a:p>
            <a:pPr lvl="1"/>
            <a:r>
              <a:rPr lang="ru-RU" dirty="0"/>
              <a:t>Отвечает на вопрос: Является ли написанное предложение корректным? Если да, то что оно делает?..</a:t>
            </a:r>
            <a:endParaRPr lang="en-US" dirty="0"/>
          </a:p>
          <a:p>
            <a:pPr lvl="1"/>
            <a:r>
              <a:rPr lang="ru-RU" dirty="0"/>
              <a:t>Как интерпретировать выражения, пример "x++" - прибавить к значению "x" единицу и записать результат в "x“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Синтаксис (</a:t>
            </a:r>
            <a:r>
              <a:rPr lang="ru-RU" b="1" dirty="0" err="1"/>
              <a:t>Syntax</a:t>
            </a:r>
            <a:r>
              <a:rPr lang="ru-RU" b="1" dirty="0"/>
              <a:t>) </a:t>
            </a:r>
            <a:r>
              <a:rPr lang="ru-RU" dirty="0"/>
              <a:t>- относится к правилам и структуре языка программирования. </a:t>
            </a:r>
            <a:endParaRPr lang="en-US" dirty="0"/>
          </a:p>
          <a:p>
            <a:pPr lvl="1"/>
            <a:r>
              <a:rPr lang="ru-RU" dirty="0"/>
              <a:t>Отвечает на вопрос: Как построить правильное предложение?..</a:t>
            </a:r>
          </a:p>
          <a:p>
            <a:pPr lvl="1"/>
            <a:r>
              <a:rPr lang="ru-RU" dirty="0"/>
              <a:t>Структура предложения: Как правильно написать цикл "</a:t>
            </a:r>
            <a:r>
              <a:rPr lang="ru-RU" dirty="0" err="1"/>
              <a:t>while</a:t>
            </a:r>
            <a:r>
              <a:rPr lang="ru-RU" dirty="0"/>
              <a:t>" или условие "</a:t>
            </a:r>
            <a:r>
              <a:rPr lang="ru-RU" dirty="0" err="1"/>
              <a:t>if-else</a:t>
            </a:r>
            <a:r>
              <a:rPr lang="ru-RU" dirty="0"/>
              <a:t>", куда ставить круглые скобки, а куда точку с запятой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F07951-857E-4401-821B-C66DB9D3F586}"/>
              </a:ext>
            </a:extLst>
          </p:cNvPr>
          <p:cNvSpPr txBox="1"/>
          <p:nvPr/>
        </p:nvSpPr>
        <p:spPr>
          <a:xfrm>
            <a:off x="544172" y="6197215"/>
            <a:ext cx="60949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Эти правила обычно описаны в стандарте ЯП</a:t>
            </a:r>
          </a:p>
        </p:txBody>
      </p:sp>
    </p:spTree>
    <p:extLst>
      <p:ext uri="{BB962C8B-B14F-4D97-AF65-F5344CB8AC3E}">
        <p14:creationId xmlns:p14="http://schemas.microsoft.com/office/powerpoint/2010/main" val="896899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347C07F-C496-45CF-A505-247F571AC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397" y="277332"/>
            <a:ext cx="10775206" cy="744274"/>
          </a:xfrm>
        </p:spPr>
        <p:txBody>
          <a:bodyPr>
            <a:normAutofit/>
          </a:bodyPr>
          <a:lstStyle/>
          <a:p>
            <a:r>
              <a:rPr lang="ru-RU" sz="4400" dirty="0"/>
              <a:t>Немного истории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A964AD-6AA4-4D2C-9852-99D7770FD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331" y="3712819"/>
            <a:ext cx="9123492" cy="23314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3CB4CD-8819-48B4-8BAB-74B2388EBD8F}"/>
              </a:ext>
            </a:extLst>
          </p:cNvPr>
          <p:cNvSpPr txBox="1"/>
          <p:nvPr/>
        </p:nvSpPr>
        <p:spPr>
          <a:xfrm>
            <a:off x="1283677" y="1641230"/>
            <a:ext cx="104254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Машины в прошлом веке понимали только 0 и 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сейчас тоже так)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50-х годах придумали ассемблер и мнемоники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Спустя годы появились первые языки Высокого Уровня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Fortran, LISP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т.д.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Си появился в 70-х годах. Создатель Деннис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Ритчи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717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347C07F-C496-45CF-A505-247F571AC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397" y="277332"/>
            <a:ext cx="10775206" cy="744274"/>
          </a:xfrm>
        </p:spPr>
        <p:txBody>
          <a:bodyPr>
            <a:normAutofit/>
          </a:bodyPr>
          <a:lstStyle/>
          <a:p>
            <a:r>
              <a:rPr lang="ru-RU" sz="4400" dirty="0"/>
              <a:t>Классификация языков программирования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5FEC70-553C-4C4A-A637-FC046A13593B}"/>
              </a:ext>
            </a:extLst>
          </p:cNvPr>
          <p:cNvSpPr txBox="1"/>
          <p:nvPr/>
        </p:nvSpPr>
        <p:spPr>
          <a:xfrm>
            <a:off x="3511719" y="1406289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Языки программирования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AB050-3883-4890-B089-3647A35CE28B}"/>
              </a:ext>
            </a:extLst>
          </p:cNvPr>
          <p:cNvSpPr txBox="1"/>
          <p:nvPr/>
        </p:nvSpPr>
        <p:spPr>
          <a:xfrm>
            <a:off x="1380768" y="2604523"/>
            <a:ext cx="2924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Машинные языки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C9723-1808-489C-B56B-D0FDE09BA419}"/>
              </a:ext>
            </a:extLst>
          </p:cNvPr>
          <p:cNvSpPr txBox="1"/>
          <p:nvPr/>
        </p:nvSpPr>
        <p:spPr>
          <a:xfrm>
            <a:off x="6096000" y="2604523"/>
            <a:ext cx="3783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Языки высокого уровня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692D17-FEC2-4774-B834-3AE1B2BF06D5}"/>
              </a:ext>
            </a:extLst>
          </p:cNvPr>
          <p:cNvSpPr txBox="1"/>
          <p:nvPr/>
        </p:nvSpPr>
        <p:spPr>
          <a:xfrm>
            <a:off x="4474082" y="4187440"/>
            <a:ext cx="1705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Процедурная </a:t>
            </a:r>
          </a:p>
          <a:p>
            <a:pPr algn="ctr"/>
            <a:r>
              <a:rPr lang="ru-RU" sz="2000" dirty="0"/>
              <a:t>парадигма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7014B4-B380-4640-A1AB-4578AB6ED052}"/>
              </a:ext>
            </a:extLst>
          </p:cNvPr>
          <p:cNvSpPr txBox="1"/>
          <p:nvPr/>
        </p:nvSpPr>
        <p:spPr>
          <a:xfrm>
            <a:off x="6351135" y="4187440"/>
            <a:ext cx="32736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Объектно-ориентированная</a:t>
            </a:r>
          </a:p>
          <a:p>
            <a:pPr algn="ctr"/>
            <a:r>
              <a:rPr lang="ru-RU" sz="2000" dirty="0"/>
              <a:t> парадигма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7F4D9E-1842-45FF-8A7B-DC5830A040EB}"/>
              </a:ext>
            </a:extLst>
          </p:cNvPr>
          <p:cNvSpPr txBox="1"/>
          <p:nvPr/>
        </p:nvSpPr>
        <p:spPr>
          <a:xfrm>
            <a:off x="9795925" y="4187440"/>
            <a:ext cx="20441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Функциональная</a:t>
            </a:r>
          </a:p>
          <a:p>
            <a:pPr algn="ctr"/>
            <a:r>
              <a:rPr lang="ru-RU" sz="2000" dirty="0"/>
              <a:t> парадигма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1E415508-E4C8-4CFD-8E7D-F80D700C8BB2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2842867" y="1929509"/>
            <a:ext cx="2780168" cy="6750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DDD2ED86-3C71-4A27-8959-F13D869DBA09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5623035" y="1929509"/>
            <a:ext cx="2364926" cy="6750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EF995387-91FD-4F36-8054-6359CBAB2235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5327040" y="3127743"/>
            <a:ext cx="2660921" cy="10596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FE0B9003-18F2-4640-93A4-92CA241E8C92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7987961" y="3127743"/>
            <a:ext cx="0" cy="10596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FB93E197-CE66-4F96-9C37-D8A7A71CE5B7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7987961" y="3127743"/>
            <a:ext cx="2830039" cy="10596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5EBEB18-C41F-41AB-8879-A2B96D8FA547}"/>
              </a:ext>
            </a:extLst>
          </p:cNvPr>
          <p:cNvSpPr txBox="1"/>
          <p:nvPr/>
        </p:nvSpPr>
        <p:spPr>
          <a:xfrm>
            <a:off x="1380768" y="3156450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Assembler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204102-6399-4E36-9E87-B79521E6F209}"/>
              </a:ext>
            </a:extLst>
          </p:cNvPr>
          <p:cNvSpPr txBox="1"/>
          <p:nvPr/>
        </p:nvSpPr>
        <p:spPr>
          <a:xfrm>
            <a:off x="4542209" y="5011879"/>
            <a:ext cx="11147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Pascal</a:t>
            </a:r>
            <a:endParaRPr lang="ru-RU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DA3365-B65C-4AFE-A4BB-804B54F3E5F1}"/>
              </a:ext>
            </a:extLst>
          </p:cNvPr>
          <p:cNvSpPr txBox="1"/>
          <p:nvPr/>
        </p:nvSpPr>
        <p:spPr>
          <a:xfrm>
            <a:off x="7349098" y="5011879"/>
            <a:ext cx="9092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C#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9701A0-64EB-4391-83C4-2EF6057F7230}"/>
              </a:ext>
            </a:extLst>
          </p:cNvPr>
          <p:cNvSpPr txBox="1"/>
          <p:nvPr/>
        </p:nvSpPr>
        <p:spPr>
          <a:xfrm>
            <a:off x="10363387" y="5011879"/>
            <a:ext cx="12135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Erlang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Haskell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A58271-DFA1-4094-8CC0-4485D2C70948}"/>
              </a:ext>
            </a:extLst>
          </p:cNvPr>
          <p:cNvSpPr txBox="1"/>
          <p:nvPr/>
        </p:nvSpPr>
        <p:spPr>
          <a:xfrm>
            <a:off x="180858" y="6293577"/>
            <a:ext cx="6661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Каждый ЯП и парадигма созданы для решения своих задач</a:t>
            </a:r>
          </a:p>
        </p:txBody>
      </p:sp>
    </p:spTree>
    <p:extLst>
      <p:ext uri="{BB962C8B-B14F-4D97-AF65-F5344CB8AC3E}">
        <p14:creationId xmlns:p14="http://schemas.microsoft.com/office/powerpoint/2010/main" val="143988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73F8D07-54EA-586C-6A7E-C0A2D0CC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314" y="181108"/>
            <a:ext cx="9013371" cy="1164869"/>
          </a:xfrm>
        </p:spPr>
        <p:txBody>
          <a:bodyPr/>
          <a:lstStyle/>
          <a:p>
            <a:r>
              <a:rPr lang="en-US" dirty="0"/>
              <a:t>Machine Code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1B72FA-143F-4EB2-BC96-671F3D1EA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125" y="1613986"/>
            <a:ext cx="8049748" cy="28960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E6C1E3-E90C-4096-90E9-436F9CEFF887}"/>
              </a:ext>
            </a:extLst>
          </p:cNvPr>
          <p:cNvSpPr txBox="1"/>
          <p:nvPr/>
        </p:nvSpPr>
        <p:spPr>
          <a:xfrm>
            <a:off x="2862994" y="4777999"/>
            <a:ext cx="6466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01001000 01100101 01101100 01101100 01101111 00101100 00100000 01110111 01101111 01110010 01101100 01100100</a:t>
            </a:r>
            <a:endParaRPr lang="en-US" dirty="0"/>
          </a:p>
          <a:p>
            <a:r>
              <a:rPr lang="ru-RU" dirty="0"/>
              <a:t>01001000 01100101 01101100 01101100 01101111 00101100 00100000 01110111 01101111 01110010 01101100 01100100</a:t>
            </a:r>
          </a:p>
        </p:txBody>
      </p:sp>
    </p:spTree>
    <p:extLst>
      <p:ext uri="{BB962C8B-B14F-4D97-AF65-F5344CB8AC3E}">
        <p14:creationId xmlns:p14="http://schemas.microsoft.com/office/powerpoint/2010/main" val="3763095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73F8D07-54EA-586C-6A7E-C0A2D0CC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314" y="168232"/>
            <a:ext cx="9013371" cy="1164869"/>
          </a:xfrm>
        </p:spPr>
        <p:txBody>
          <a:bodyPr/>
          <a:lstStyle/>
          <a:p>
            <a:r>
              <a:rPr lang="en-US" dirty="0"/>
              <a:t>Source code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CB05C-C565-4D84-1107-3E25A23F478E}"/>
              </a:ext>
            </a:extLst>
          </p:cNvPr>
          <p:cNvSpPr txBox="1"/>
          <p:nvPr/>
        </p:nvSpPr>
        <p:spPr>
          <a:xfrm>
            <a:off x="3055473" y="2108579"/>
            <a:ext cx="65457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&lt;stdio.h&gt;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main(void)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("hello, world!\n");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858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3E14806-7116-85B7-DBB5-294C36162AA6}"/>
              </a:ext>
            </a:extLst>
          </p:cNvPr>
          <p:cNvSpPr txBox="1"/>
          <p:nvPr/>
        </p:nvSpPr>
        <p:spPr>
          <a:xfrm>
            <a:off x="2912344" y="1407267"/>
            <a:ext cx="7075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Компиляция</a:t>
            </a:r>
            <a:r>
              <a:rPr lang="en-US" sz="3600" dirty="0"/>
              <a:t>/</a:t>
            </a:r>
            <a:r>
              <a:rPr lang="ru-RU" sz="3600" dirty="0"/>
              <a:t>Интерпретация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CD3D09E1-2BAF-1600-C64B-488B0BB68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718" y="4671675"/>
            <a:ext cx="964305" cy="108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0516FA21-220D-6D44-D126-BD395B54C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880" y="4671675"/>
            <a:ext cx="1133473" cy="80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58" name="Picture 50">
            <a:extLst>
              <a:ext uri="{FF2B5EF4-FFF2-40B4-BE49-F238E27FC236}">
                <a16:creationId xmlns:a16="http://schemas.microsoft.com/office/drawing/2014/main" id="{8173DD3C-DC0C-35F6-15EC-BF151A1E7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7379" y="5165701"/>
            <a:ext cx="1035673" cy="113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60" name="Picture 52">
            <a:extLst>
              <a:ext uri="{FF2B5EF4-FFF2-40B4-BE49-F238E27FC236}">
                <a16:creationId xmlns:a16="http://schemas.microsoft.com/office/drawing/2014/main" id="{E9AC9B6C-4955-3356-0C4C-B1EEC4836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760" y="3668568"/>
            <a:ext cx="900292" cy="90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62" name="Picture 54">
            <a:extLst>
              <a:ext uri="{FF2B5EF4-FFF2-40B4-BE49-F238E27FC236}">
                <a16:creationId xmlns:a16="http://schemas.microsoft.com/office/drawing/2014/main" id="{3652339A-76C1-6EF1-BC87-6CF60FA66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233" y="4771599"/>
            <a:ext cx="900293" cy="90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Заголовок 6">
            <a:extLst>
              <a:ext uri="{FF2B5EF4-FFF2-40B4-BE49-F238E27FC236}">
                <a16:creationId xmlns:a16="http://schemas.microsoft.com/office/drawing/2014/main" id="{6FF1B8E5-55AC-4A88-B188-E0993BDDB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641" y="250497"/>
            <a:ext cx="10775206" cy="744274"/>
          </a:xfrm>
        </p:spPr>
        <p:txBody>
          <a:bodyPr>
            <a:normAutofit/>
          </a:bodyPr>
          <a:lstStyle/>
          <a:p>
            <a:r>
              <a:rPr lang="ru-RU" sz="4400" b="1" dirty="0"/>
              <a:t>Трансляция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1B39F2C-9CD7-4103-B259-7986B45B4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84" y="5325775"/>
            <a:ext cx="999332" cy="110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hp – Бесплатные иконки: логотип">
            <a:extLst>
              <a:ext uri="{FF2B5EF4-FFF2-40B4-BE49-F238E27FC236}">
                <a16:creationId xmlns:a16="http://schemas.microsoft.com/office/drawing/2014/main" id="{DF9665E5-77D2-4349-B0AD-59B1D9464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824" y="5325775"/>
            <a:ext cx="1328953" cy="132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C88B4E-B259-4CB4-AA7E-EFA5CADFEB2F}"/>
              </a:ext>
            </a:extLst>
          </p:cNvPr>
          <p:cNvSpPr txBox="1"/>
          <p:nvPr/>
        </p:nvSpPr>
        <p:spPr>
          <a:xfrm>
            <a:off x="848638" y="2270189"/>
            <a:ext cx="412741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ru-RU" sz="2800" dirty="0"/>
              <a:t>Лексический анализ</a:t>
            </a:r>
          </a:p>
          <a:p>
            <a:pPr marL="342900" indent="-342900">
              <a:buAutoNum type="arabicParenR"/>
            </a:pPr>
            <a:r>
              <a:rPr lang="ru-RU" sz="2800" dirty="0"/>
              <a:t>Синтаксический анализ</a:t>
            </a:r>
          </a:p>
          <a:p>
            <a:pPr marL="342900" indent="-342900">
              <a:buAutoNum type="arabicParenR"/>
            </a:pPr>
            <a:r>
              <a:rPr lang="ru-RU" sz="2800" dirty="0"/>
              <a:t>Семантический анализ</a:t>
            </a:r>
          </a:p>
          <a:p>
            <a:pPr marL="342900" indent="-342900">
              <a:buAutoNum type="arabicParenR"/>
            </a:pPr>
            <a:r>
              <a:rPr lang="ru-RU" sz="2800" dirty="0"/>
              <a:t>Оптимизация</a:t>
            </a:r>
          </a:p>
          <a:p>
            <a:pPr marL="342900" indent="-342900">
              <a:buAutoNum type="arabicParenR"/>
            </a:pPr>
            <a:r>
              <a:rPr lang="ru-RU" sz="2800" dirty="0"/>
              <a:t>Генерация кода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4A2C26-6DF6-401D-BC85-53D29534FA05}"/>
              </a:ext>
            </a:extLst>
          </p:cNvPr>
          <p:cNvSpPr txBox="1"/>
          <p:nvPr/>
        </p:nvSpPr>
        <p:spPr>
          <a:xfrm>
            <a:off x="5584998" y="2254014"/>
            <a:ext cx="660700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ru-RU" sz="2800" dirty="0"/>
              <a:t>Прочитать инструкцию</a:t>
            </a:r>
          </a:p>
          <a:p>
            <a:pPr marL="342900" indent="-342900">
              <a:buAutoNum type="arabicParenR"/>
            </a:pPr>
            <a:r>
              <a:rPr lang="ru-RU" sz="2800" dirty="0"/>
              <a:t>Определить соответствующие действия</a:t>
            </a:r>
          </a:p>
          <a:p>
            <a:pPr marL="342900" indent="-342900">
              <a:buAutoNum type="arabicParenR"/>
            </a:pPr>
            <a:r>
              <a:rPr lang="ru-RU" sz="2800" dirty="0"/>
              <a:t>Выполнить соответствующие действия</a:t>
            </a:r>
          </a:p>
          <a:p>
            <a:pPr marL="342900" indent="-342900">
              <a:buAutoNum type="arabicParenR"/>
            </a:pPr>
            <a:r>
              <a:rPr lang="ru-RU" sz="2800" dirty="0"/>
              <a:t>Если не конец программы</a:t>
            </a:r>
            <a:r>
              <a:rPr lang="en-US" sz="2800" dirty="0"/>
              <a:t>, </a:t>
            </a:r>
            <a:br>
              <a:rPr lang="ru-RU" sz="2800" dirty="0"/>
            </a:br>
            <a:r>
              <a:rPr lang="ru-RU" sz="2800" dirty="0"/>
              <a:t>то выполнить п.1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22E7F6EF-C9E6-4D16-8BB1-2C8DE83BA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769" y="5934611"/>
            <a:ext cx="1384002" cy="92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118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73F8D07-54EA-586C-6A7E-C0A2D0CC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6841" y="864658"/>
            <a:ext cx="3391394" cy="73405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 language</a:t>
            </a:r>
            <a:endParaRPr lang="ru-RU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42B04A-1EDA-4E73-91EC-C7A6BAE0DCA2}"/>
              </a:ext>
            </a:extLst>
          </p:cNvPr>
          <p:cNvSpPr txBox="1"/>
          <p:nvPr/>
        </p:nvSpPr>
        <p:spPr>
          <a:xfrm>
            <a:off x="4153960" y="1998517"/>
            <a:ext cx="3884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Стандарт языка СИ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BC9E2-434D-4777-8092-13544458430D}"/>
              </a:ext>
            </a:extLst>
          </p:cNvPr>
          <p:cNvSpPr txBox="1"/>
          <p:nvPr/>
        </p:nvSpPr>
        <p:spPr>
          <a:xfrm>
            <a:off x="2864408" y="3346009"/>
            <a:ext cx="646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Реализация стандарта языка СИ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E06C33-C7E9-40EF-8A41-9AD06B6AF517}"/>
              </a:ext>
            </a:extLst>
          </p:cNvPr>
          <p:cNvSpPr txBox="1"/>
          <p:nvPr/>
        </p:nvSpPr>
        <p:spPr>
          <a:xfrm>
            <a:off x="7764340" y="4755709"/>
            <a:ext cx="13324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Clang</a:t>
            </a:r>
            <a:endParaRPr lang="ru-RU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5C283-787C-4616-9938-74614DAC9120}"/>
              </a:ext>
            </a:extLst>
          </p:cNvPr>
          <p:cNvSpPr txBox="1"/>
          <p:nvPr/>
        </p:nvSpPr>
        <p:spPr>
          <a:xfrm>
            <a:off x="2864408" y="4759173"/>
            <a:ext cx="10567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GCC</a:t>
            </a:r>
            <a:endParaRPr lang="ru-RU" sz="4000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E70369AF-CF15-4C1C-8433-9506A966BE86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3392758" y="3992340"/>
            <a:ext cx="2703240" cy="76683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5A8E297-1432-4E43-8F3B-EF661C9E033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095998" y="3992340"/>
            <a:ext cx="2334550" cy="76336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495166D-346B-4C9C-BC8C-9969EBFE5CE8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6095998" y="2644848"/>
            <a:ext cx="1" cy="70116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3D7BAF-1455-45FE-A5FF-DCE7DE429289}"/>
              </a:ext>
            </a:extLst>
          </p:cNvPr>
          <p:cNvSpPr txBox="1"/>
          <p:nvPr/>
        </p:nvSpPr>
        <p:spPr>
          <a:xfrm>
            <a:off x="516548" y="6049226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https://www.iso-9899.info/wiki/The_Standard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974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5C7FAF5-3B6E-2EDB-A95A-196DFECF58EE}"/>
              </a:ext>
            </a:extLst>
          </p:cNvPr>
          <p:cNvSpPr/>
          <p:nvPr/>
        </p:nvSpPr>
        <p:spPr>
          <a:xfrm>
            <a:off x="4125082" y="1802246"/>
            <a:ext cx="3780105" cy="3500513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39FFF-A69D-5E7F-1DD1-2D75CD9521F5}"/>
              </a:ext>
            </a:extLst>
          </p:cNvPr>
          <p:cNvSpPr txBox="1"/>
          <p:nvPr/>
        </p:nvSpPr>
        <p:spPr>
          <a:xfrm>
            <a:off x="620171" y="3110386"/>
            <a:ext cx="2726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Source code</a:t>
            </a:r>
            <a:endParaRPr lang="ru-RU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63548-B37A-B03B-0FC7-F77E63D1D74E}"/>
              </a:ext>
            </a:extLst>
          </p:cNvPr>
          <p:cNvSpPr txBox="1"/>
          <p:nvPr/>
        </p:nvSpPr>
        <p:spPr>
          <a:xfrm>
            <a:off x="8693159" y="3130724"/>
            <a:ext cx="3118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Machine code</a:t>
            </a:r>
            <a:endParaRPr lang="ru-RU" sz="4000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9D5BC41-8DF5-3F1A-AE17-EDD33CA53B27}"/>
              </a:ext>
            </a:extLst>
          </p:cNvPr>
          <p:cNvCxnSpPr>
            <a:cxnSpLocks/>
          </p:cNvCxnSpPr>
          <p:nvPr/>
        </p:nvCxnSpPr>
        <p:spPr>
          <a:xfrm>
            <a:off x="3346687" y="3518470"/>
            <a:ext cx="658880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CDA25800-E2D1-0064-D6BA-ABDA0579276C}"/>
              </a:ext>
            </a:extLst>
          </p:cNvPr>
          <p:cNvCxnSpPr>
            <a:cxnSpLocks/>
          </p:cNvCxnSpPr>
          <p:nvPr/>
        </p:nvCxnSpPr>
        <p:spPr>
          <a:xfrm>
            <a:off x="8092892" y="3492000"/>
            <a:ext cx="600267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E14806-7116-85B7-DBB5-294C36162AA6}"/>
              </a:ext>
            </a:extLst>
          </p:cNvPr>
          <p:cNvSpPr txBox="1"/>
          <p:nvPr/>
        </p:nvSpPr>
        <p:spPr>
          <a:xfrm>
            <a:off x="4596257" y="3132905"/>
            <a:ext cx="315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Compilation</a:t>
            </a:r>
            <a:endParaRPr lang="ru-RU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D26F06-E0BD-4F7C-83C8-3038532F387D}"/>
              </a:ext>
            </a:extLst>
          </p:cNvPr>
          <p:cNvSpPr txBox="1"/>
          <p:nvPr/>
        </p:nvSpPr>
        <p:spPr>
          <a:xfrm>
            <a:off x="4596257" y="487043"/>
            <a:ext cx="5102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Compilation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525386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Hello, C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95D36-FBF5-4D93-9FE2-BCF316366F3F}"/>
              </a:ext>
            </a:extLst>
          </p:cNvPr>
          <p:cNvSpPr txBox="1"/>
          <p:nvPr/>
        </p:nvSpPr>
        <p:spPr>
          <a:xfrm>
            <a:off x="962026" y="5939135"/>
            <a:ext cx="11229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Традиция у программистов на любом языке первая программа – это вывод на экран текста "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!".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037D5-B765-47B9-B524-E4CDB849B3A9}"/>
              </a:ext>
            </a:extLst>
          </p:cNvPr>
          <p:cNvSpPr txBox="1"/>
          <p:nvPr/>
        </p:nvSpPr>
        <p:spPr>
          <a:xfrm>
            <a:off x="3699365" y="2090172"/>
            <a:ext cx="62007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"hello, world!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179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Hello, errors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4B930-41D6-42B1-BDC2-BB474EB9C903}"/>
              </a:ext>
            </a:extLst>
          </p:cNvPr>
          <p:cNvSpPr txBox="1"/>
          <p:nvPr/>
        </p:nvSpPr>
        <p:spPr>
          <a:xfrm>
            <a:off x="2960442" y="3075057"/>
            <a:ext cx="62711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Пробуем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вместо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181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Hello, errors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4B930-41D6-42B1-BDC2-BB474EB9C903}"/>
              </a:ext>
            </a:extLst>
          </p:cNvPr>
          <p:cNvSpPr txBox="1"/>
          <p:nvPr/>
        </p:nvSpPr>
        <p:spPr>
          <a:xfrm>
            <a:off x="2384362" y="3075057"/>
            <a:ext cx="7423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Пробуем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вместо #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</a:p>
        </p:txBody>
      </p:sp>
    </p:spTree>
    <p:extLst>
      <p:ext uri="{BB962C8B-B14F-4D97-AF65-F5344CB8AC3E}">
        <p14:creationId xmlns:p14="http://schemas.microsoft.com/office/powerpoint/2010/main" val="163680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Variables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81C635-AE9D-4E72-B22F-08CF5D830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228" y="4037003"/>
            <a:ext cx="3845171" cy="26527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5BB871-CEEC-4FD8-B36C-83CACD8D9845}"/>
              </a:ext>
            </a:extLst>
          </p:cNvPr>
          <p:cNvSpPr txBox="1"/>
          <p:nvPr/>
        </p:nvSpPr>
        <p:spPr>
          <a:xfrm>
            <a:off x="677408" y="2070328"/>
            <a:ext cx="108371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Представим себе </a:t>
            </a:r>
            <a:r>
              <a:rPr lang="ru-RU" b="1" dirty="0"/>
              <a:t>коробку</a:t>
            </a:r>
            <a:r>
              <a:rPr lang="ru-RU" dirty="0"/>
              <a:t>, в которую можно класть яблоки. </a:t>
            </a:r>
          </a:p>
          <a:p>
            <a:r>
              <a:rPr lang="ru-RU" dirty="0"/>
              <a:t>Возьмем маркер и напишем на коробке - "коробка яблок". Можно взять эту "коробка яблок" и накидать в нее яблок (записать что-то в переменную), а потом взять и посмотреть сколько там сейчас всего яблок (прочитать из переменной).</a:t>
            </a:r>
          </a:p>
          <a:p>
            <a:br>
              <a:rPr lang="ru-RU" dirty="0"/>
            </a:br>
            <a:r>
              <a:rPr lang="ru-RU" dirty="0"/>
              <a:t>При этом коробка </a:t>
            </a:r>
            <a:r>
              <a:rPr lang="ru-RU" b="1" dirty="0"/>
              <a:t>не бесконечная</a:t>
            </a:r>
            <a:r>
              <a:rPr lang="ru-RU" dirty="0"/>
              <a:t>, в нее влезет определенное количество яблок. Можно создать коробку с гречкой, в нее яблоки складывать не будем, т.к. эти коробки предназначены для разных типов </a:t>
            </a:r>
          </a:p>
          <a:p>
            <a:r>
              <a:rPr lang="ru-RU" dirty="0"/>
              <a:t>продуктов</a:t>
            </a:r>
          </a:p>
        </p:txBody>
      </p:sp>
    </p:spTree>
    <p:extLst>
      <p:ext uri="{BB962C8B-B14F-4D97-AF65-F5344CB8AC3E}">
        <p14:creationId xmlns:p14="http://schemas.microsoft.com/office/powerpoint/2010/main" val="2999801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 types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A5D3C1-5AA9-4D8F-AABC-1CFB096E8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74" y="1447106"/>
            <a:ext cx="9727850" cy="4455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A8785E-68A6-441A-8A1C-ED3CE24783F5}"/>
              </a:ext>
            </a:extLst>
          </p:cNvPr>
          <p:cNvSpPr txBox="1"/>
          <p:nvPr/>
        </p:nvSpPr>
        <p:spPr>
          <a:xfrm>
            <a:off x="1140801" y="6245215"/>
            <a:ext cx="11265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r>
              <a:rPr lang="ru-RU" dirty="0"/>
              <a:t>Формат - подсказка какой </a:t>
            </a:r>
            <a:r>
              <a:rPr lang="ru-RU" b="1" dirty="0"/>
              <a:t>специальный символ</a:t>
            </a:r>
            <a:r>
              <a:rPr lang="ru-RU" dirty="0"/>
              <a:t> использовать для вывода через </a:t>
            </a:r>
            <a:r>
              <a:rPr lang="ru-RU" b="1" dirty="0" err="1"/>
              <a:t>printf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4261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 types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8EB8F-A7C8-4679-8FD2-A22971FA0B3A}"/>
              </a:ext>
            </a:extLst>
          </p:cNvPr>
          <p:cNvSpPr txBox="1"/>
          <p:nvPr/>
        </p:nvSpPr>
        <p:spPr>
          <a:xfrm>
            <a:off x="539260" y="2022230"/>
            <a:ext cx="111134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/>
              <a:t>char</a:t>
            </a:r>
            <a:r>
              <a:rPr lang="ru-RU" sz="2400" dirty="0"/>
              <a:t> - сокращение от </a:t>
            </a:r>
            <a:r>
              <a:rPr lang="ru-RU" sz="2400" dirty="0" err="1"/>
              <a:t>character</a:t>
            </a:r>
            <a:r>
              <a:rPr lang="ru-RU" sz="2400" dirty="0"/>
              <a:t> (символ), используется для символов (в целых числах)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/>
              <a:t>int</a:t>
            </a:r>
            <a:r>
              <a:rPr lang="ru-RU" sz="2400" dirty="0"/>
              <a:t> - сокращение от </a:t>
            </a:r>
            <a:r>
              <a:rPr lang="ru-RU" sz="2400" dirty="0" err="1"/>
              <a:t>integer</a:t>
            </a:r>
            <a:r>
              <a:rPr lang="ru-RU" sz="2400" dirty="0"/>
              <a:t> (целое), тип данных для хранения целых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/>
              <a:t>float</a:t>
            </a:r>
            <a:r>
              <a:rPr lang="ru-RU" sz="2400" dirty="0"/>
              <a:t> - что-то плавающее с англ. (значение с плавающей точкой), вещественные числа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/>
              <a:t>double</a:t>
            </a:r>
            <a:r>
              <a:rPr lang="ru-RU" sz="2400" dirty="0"/>
              <a:t> - как </a:t>
            </a:r>
            <a:r>
              <a:rPr lang="ru-RU" sz="2400" dirty="0" err="1"/>
              <a:t>float</a:t>
            </a:r>
            <a:r>
              <a:rPr lang="ru-RU" sz="2400" dirty="0"/>
              <a:t>, но с двойной точностью</a:t>
            </a:r>
          </a:p>
          <a:p>
            <a:endParaRPr lang="en-US" sz="2400" dirty="0"/>
          </a:p>
          <a:p>
            <a:r>
              <a:rPr lang="ru-RU" sz="2400" dirty="0"/>
              <a:t>Все типы данных, хранящие </a:t>
            </a:r>
            <a:r>
              <a:rPr lang="ru-RU" sz="2400" b="1" dirty="0"/>
              <a:t>ЦЕЛЫЕ</a:t>
            </a:r>
            <a:r>
              <a:rPr lang="ru-RU" sz="2400" dirty="0"/>
              <a:t> числа могут быть как знаковыми (</a:t>
            </a:r>
            <a:r>
              <a:rPr lang="ru-RU" sz="2400" b="1" dirty="0" err="1"/>
              <a:t>signed</a:t>
            </a:r>
            <a:r>
              <a:rPr lang="ru-RU" sz="2400" dirty="0"/>
              <a:t>) так и беззнаковыми (</a:t>
            </a:r>
            <a:r>
              <a:rPr lang="ru-RU" sz="2400" b="1" dirty="0" err="1"/>
              <a:t>unsigned</a:t>
            </a:r>
            <a:r>
              <a:rPr lang="ru-RU" sz="24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667389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Variable declaration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7D6E21-7FA9-451E-8A96-F509B8E31858}"/>
              </a:ext>
            </a:extLst>
          </p:cNvPr>
          <p:cNvSpPr txBox="1"/>
          <p:nvPr/>
        </p:nvSpPr>
        <p:spPr>
          <a:xfrm>
            <a:off x="3047267" y="2101361"/>
            <a:ext cx="609746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тип данных </a:t>
            </a:r>
            <a:r>
              <a:rPr lang="ru-RU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целые числа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- имя переменной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- оператор присвоения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5 - целая константа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- конец инструкции</a:t>
            </a:r>
            <a:endParaRPr lang="en-US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F48612-33A5-40A8-896D-B2C7C6F51775}"/>
              </a:ext>
            </a:extLst>
          </p:cNvPr>
          <p:cNvSpPr txBox="1"/>
          <p:nvPr/>
        </p:nvSpPr>
        <p:spPr>
          <a:xfrm>
            <a:off x="622160" y="6074852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Объявляем переменную 'a' типа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равной 5</a:t>
            </a:r>
          </a:p>
        </p:txBody>
      </p:sp>
    </p:spTree>
    <p:extLst>
      <p:ext uri="{BB962C8B-B14F-4D97-AF65-F5344CB8AC3E}">
        <p14:creationId xmlns:p14="http://schemas.microsoft.com/office/powerpoint/2010/main" val="1512199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6" name="Заголовок 3">
            <a:extLst>
              <a:ext uri="{FF2B5EF4-FFF2-40B4-BE49-F238E27FC236}">
                <a16:creationId xmlns:a16="http://schemas.microsoft.com/office/drawing/2014/main" id="{F7D56ED5-FD5A-4621-A328-C90297FC9D4A}"/>
              </a:ext>
            </a:extLst>
          </p:cNvPr>
          <p:cNvSpPr txBox="1">
            <a:spLocks/>
          </p:cNvSpPr>
          <p:nvPr/>
        </p:nvSpPr>
        <p:spPr>
          <a:xfrm>
            <a:off x="1741714" y="320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Variable declaration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70605-7430-42AC-9D71-D01102058D47}"/>
              </a:ext>
            </a:extLst>
          </p:cNvPr>
          <p:cNvSpPr txBox="1"/>
          <p:nvPr/>
        </p:nvSpPr>
        <p:spPr>
          <a:xfrm>
            <a:off x="5092525" y="2672501"/>
            <a:ext cx="20069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 = -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32B228-8B74-4C1A-B7C8-241D80088B2B}"/>
              </a:ext>
            </a:extLst>
          </p:cNvPr>
          <p:cNvSpPr txBox="1"/>
          <p:nvPr/>
        </p:nvSpPr>
        <p:spPr>
          <a:xfrm>
            <a:off x="1055442" y="4813608"/>
            <a:ext cx="103859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языке Си при объявлении переменной без присваивания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b;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не дает гарантий, что b по умолчанию будет равна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Значение может быть равно некоторому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мусору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большому случайному числу.</a:t>
            </a:r>
          </a:p>
        </p:txBody>
      </p:sp>
    </p:spTree>
    <p:extLst>
      <p:ext uri="{BB962C8B-B14F-4D97-AF65-F5344CB8AC3E}">
        <p14:creationId xmlns:p14="http://schemas.microsoft.com/office/powerpoint/2010/main" val="2818040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</a:t>
            </a:r>
            <a:r>
              <a:rPr lang="en-US" dirty="0" err="1"/>
              <a:t>onstant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25C347-3E7B-4E16-B817-6A1FFF6963A2}"/>
              </a:ext>
            </a:extLst>
          </p:cNvPr>
          <p:cNvSpPr txBox="1"/>
          <p:nvPr/>
        </p:nvSpPr>
        <p:spPr>
          <a:xfrm>
            <a:off x="1046285" y="1635095"/>
            <a:ext cx="1062110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Константа - значение, что нельзя изменить. Константы бывают разных типов данных и обычно их мы кладем в переменные.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просто целое число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123u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буковка 'u' или 'U' в конце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123L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буква 'l' или 'L'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123LU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или 'LU'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стоит точка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42.1f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есть буква 'f' или 'F'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122.88L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или точка и 'L'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'#'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символ решетки, все символы заключаются в 'одинарные' кавычки</a:t>
            </a:r>
          </a:p>
        </p:txBody>
      </p:sp>
    </p:spTree>
    <p:extLst>
      <p:ext uri="{BB962C8B-B14F-4D97-AF65-F5344CB8AC3E}">
        <p14:creationId xmlns:p14="http://schemas.microsoft.com/office/powerpoint/2010/main" val="2616414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</a:t>
            </a:r>
            <a:r>
              <a:rPr lang="en-US" dirty="0" err="1"/>
              <a:t>onstant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AC18E-A1CD-47C2-9400-8AC46F74BD68}"/>
              </a:ext>
            </a:extLst>
          </p:cNvPr>
          <p:cNvSpPr txBox="1"/>
          <p:nvPr/>
        </p:nvSpPr>
        <p:spPr>
          <a:xfrm>
            <a:off x="3749082" y="1997839"/>
            <a:ext cx="60974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 = -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 =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5.132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 =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649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Format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999C56-7C77-4E86-8D0C-5EBFEDE46116}"/>
              </a:ext>
            </a:extLst>
          </p:cNvPr>
          <p:cNvSpPr txBox="1"/>
          <p:nvPr/>
        </p:nvSpPr>
        <p:spPr>
          <a:xfrm>
            <a:off x="948103" y="2437454"/>
            <a:ext cx="105068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%</a:t>
            </a:r>
            <a:r>
              <a:rPr lang="en-US" sz="2800" dirty="0"/>
              <a:t>d - </a:t>
            </a:r>
            <a:r>
              <a:rPr lang="en-US" sz="2800" b="1" dirty="0"/>
              <a:t>d</a:t>
            </a:r>
            <a:r>
              <a:rPr lang="en-US" sz="2800" dirty="0"/>
              <a:t>ecimal, </a:t>
            </a:r>
            <a:r>
              <a:rPr lang="ru-RU" sz="2800" dirty="0"/>
              <a:t>целое со знаком в десятичной системе счисления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%</a:t>
            </a:r>
            <a:r>
              <a:rPr lang="en-US" sz="2800" dirty="0"/>
              <a:t>u - </a:t>
            </a:r>
            <a:r>
              <a:rPr lang="en-US" sz="2800" b="1" dirty="0"/>
              <a:t>u</a:t>
            </a:r>
            <a:r>
              <a:rPr lang="en-US" sz="2800" dirty="0"/>
              <a:t>nsigned decimal, </a:t>
            </a:r>
            <a:r>
              <a:rPr lang="ru-RU" sz="2800" dirty="0"/>
              <a:t>целое беззнаковое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%</a:t>
            </a:r>
            <a:r>
              <a:rPr lang="en-US" sz="2800" dirty="0"/>
              <a:t>c - </a:t>
            </a:r>
            <a:r>
              <a:rPr lang="en-US" sz="2800" b="1" dirty="0"/>
              <a:t>c</a:t>
            </a:r>
            <a:r>
              <a:rPr lang="en-US" sz="2800" dirty="0"/>
              <a:t>har, </a:t>
            </a:r>
            <a:r>
              <a:rPr lang="ru-RU" sz="2800" dirty="0"/>
              <a:t>символьное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%</a:t>
            </a:r>
            <a:r>
              <a:rPr lang="en-US" sz="2800" dirty="0" err="1"/>
              <a:t>hd</a:t>
            </a:r>
            <a:r>
              <a:rPr lang="en-US" sz="2800" dirty="0"/>
              <a:t> - s</a:t>
            </a:r>
            <a:r>
              <a:rPr lang="en-US" sz="2800" b="1" dirty="0"/>
              <a:t>h</a:t>
            </a:r>
            <a:r>
              <a:rPr lang="en-US" sz="2800" dirty="0"/>
              <a:t>ort </a:t>
            </a:r>
            <a:r>
              <a:rPr lang="en-US" sz="2800" b="1" dirty="0"/>
              <a:t>d</a:t>
            </a:r>
            <a:r>
              <a:rPr lang="en-US" sz="2800" dirty="0"/>
              <a:t>ecimal, </a:t>
            </a:r>
            <a:r>
              <a:rPr lang="ru-RU" sz="2800" dirty="0"/>
              <a:t>короткое десятичное (</a:t>
            </a:r>
            <a:r>
              <a:rPr lang="en-US" sz="2800" dirty="0" err="1"/>
              <a:t>hhd</a:t>
            </a:r>
            <a:r>
              <a:rPr lang="en-US" sz="2800" dirty="0"/>
              <a:t> = s</a:t>
            </a:r>
            <a:r>
              <a:rPr lang="en-US" sz="2800" b="1" dirty="0"/>
              <a:t>h</a:t>
            </a:r>
            <a:r>
              <a:rPr lang="en-US" sz="2800" dirty="0"/>
              <a:t>ort </a:t>
            </a:r>
            <a:r>
              <a:rPr lang="en-US" sz="2800" dirty="0" err="1"/>
              <a:t>s</a:t>
            </a:r>
            <a:r>
              <a:rPr lang="en-US" sz="2800" b="1" dirty="0" err="1"/>
              <a:t>h</a:t>
            </a:r>
            <a:r>
              <a:rPr lang="en-US" sz="2800" dirty="0" err="1"/>
              <a:t>ort</a:t>
            </a:r>
            <a:r>
              <a:rPr lang="en-US" sz="2800" dirty="0"/>
              <a:t> </a:t>
            </a:r>
            <a:r>
              <a:rPr lang="en-US" sz="2800" b="1" dirty="0"/>
              <a:t>d</a:t>
            </a:r>
            <a:r>
              <a:rPr lang="en-US" sz="2800" dirty="0"/>
              <a:t>ec, </a:t>
            </a:r>
            <a:r>
              <a:rPr lang="en-US" sz="2800" dirty="0" err="1"/>
              <a:t>hhu</a:t>
            </a:r>
            <a:r>
              <a:rPr lang="en-US" sz="2800" dirty="0"/>
              <a:t> = s</a:t>
            </a:r>
            <a:r>
              <a:rPr lang="en-US" sz="2800" b="1" dirty="0"/>
              <a:t>h</a:t>
            </a:r>
            <a:r>
              <a:rPr lang="en-US" sz="2800" dirty="0"/>
              <a:t>ort </a:t>
            </a:r>
            <a:r>
              <a:rPr lang="en-US" sz="2800" dirty="0" err="1"/>
              <a:t>s</a:t>
            </a:r>
            <a:r>
              <a:rPr lang="en-US" sz="2800" b="1" dirty="0" err="1"/>
              <a:t>h</a:t>
            </a:r>
            <a:r>
              <a:rPr lang="en-US" sz="2800" dirty="0" err="1"/>
              <a:t>ort</a:t>
            </a:r>
            <a:r>
              <a:rPr lang="en-US" sz="2800" dirty="0"/>
              <a:t> </a:t>
            </a:r>
            <a:r>
              <a:rPr lang="en-US" sz="2800" b="1" dirty="0"/>
              <a:t>u</a:t>
            </a:r>
            <a:r>
              <a:rPr lang="en-US" sz="2800" dirty="0"/>
              <a:t>nsigned)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%f - </a:t>
            </a:r>
            <a:r>
              <a:rPr lang="en-US" sz="2800" b="1" dirty="0"/>
              <a:t>f</a:t>
            </a:r>
            <a:r>
              <a:rPr lang="en-US" sz="2800" dirty="0"/>
              <a:t>loat, </a:t>
            </a:r>
            <a:r>
              <a:rPr lang="ru-RU" sz="2800" dirty="0"/>
              <a:t>вещественное</a:t>
            </a:r>
          </a:p>
        </p:txBody>
      </p:sp>
    </p:spTree>
    <p:extLst>
      <p:ext uri="{BB962C8B-B14F-4D97-AF65-F5344CB8AC3E}">
        <p14:creationId xmlns:p14="http://schemas.microsoft.com/office/powerpoint/2010/main" val="17901054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Var names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A32853-2023-4924-A64A-71C157768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314" y="1631339"/>
            <a:ext cx="8642000" cy="4083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4A0293-3319-4D27-A47D-58E0F910CDDF}"/>
              </a:ext>
            </a:extLst>
          </p:cNvPr>
          <p:cNvSpPr txBox="1"/>
          <p:nvPr/>
        </p:nvSpPr>
        <p:spPr>
          <a:xfrm>
            <a:off x="1527296" y="5900326"/>
            <a:ext cx="3607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Прошлогодний мем по стилю кода</a:t>
            </a:r>
          </a:p>
        </p:txBody>
      </p:sp>
    </p:spTree>
    <p:extLst>
      <p:ext uri="{BB962C8B-B14F-4D97-AF65-F5344CB8AC3E}">
        <p14:creationId xmlns:p14="http://schemas.microsoft.com/office/powerpoint/2010/main" val="4167895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Var names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B43EAF-CF67-4F48-AF81-23100BE57954}"/>
              </a:ext>
            </a:extLst>
          </p:cNvPr>
          <p:cNvSpPr txBox="1"/>
          <p:nvPr/>
        </p:nvSpPr>
        <p:spPr>
          <a:xfrm>
            <a:off x="1369399" y="2738708"/>
            <a:ext cx="37301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400" dirty="0" err="1"/>
              <a:t>Кринж</a:t>
            </a:r>
            <a:endParaRPr lang="ru-RU" sz="2400" dirty="0"/>
          </a:p>
          <a:p>
            <a:endParaRPr lang="ru-RU" sz="24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420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 =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299792458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6A8F1B-09D7-4AA2-A067-1B44C0AAAE8B}"/>
              </a:ext>
            </a:extLst>
          </p:cNvPr>
          <p:cNvSpPr txBox="1"/>
          <p:nvPr/>
        </p:nvSpPr>
        <p:spPr>
          <a:xfrm>
            <a:off x="5853478" y="2738708"/>
            <a:ext cx="61656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База </a:t>
            </a:r>
          </a:p>
          <a:p>
            <a:endParaRPr lang="ru-RU" sz="24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toyPrice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speed_of_light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299792458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4485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Looong</a:t>
            </a:r>
            <a:r>
              <a:rPr lang="en-US" dirty="0"/>
              <a:t> </a:t>
            </a:r>
            <a:r>
              <a:rPr lang="en-US" dirty="0" err="1"/>
              <a:t>looong</a:t>
            </a:r>
            <a:r>
              <a:rPr lang="en-US" dirty="0"/>
              <a:t> name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F5CB99-BE29-4CC6-A906-57726BF77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704" y="2243502"/>
            <a:ext cx="7794381" cy="38971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29CDFE-C19D-466F-8CFD-32778F252AB6}"/>
              </a:ext>
            </a:extLst>
          </p:cNvPr>
          <p:cNvSpPr txBox="1"/>
          <p:nvPr/>
        </p:nvSpPr>
        <p:spPr>
          <a:xfrm>
            <a:off x="4309329" y="1749642"/>
            <a:ext cx="3299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Умейте вовремя остановиться</a:t>
            </a:r>
          </a:p>
        </p:txBody>
      </p:sp>
    </p:spTree>
    <p:extLst>
      <p:ext uri="{BB962C8B-B14F-4D97-AF65-F5344CB8AC3E}">
        <p14:creationId xmlns:p14="http://schemas.microsoft.com/office/powerpoint/2010/main" val="3474225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Overflow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9F1E2-954B-4FE0-85EE-F4C1242D472F}"/>
              </a:ext>
            </a:extLst>
          </p:cNvPr>
          <p:cNvSpPr txBox="1"/>
          <p:nvPr/>
        </p:nvSpPr>
        <p:spPr>
          <a:xfrm>
            <a:off x="2239840" y="3013501"/>
            <a:ext cx="84691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money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2147483648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"double of money is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money *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E1F9A-9B44-4954-B2FF-E6B8938B6163}"/>
              </a:ext>
            </a:extLst>
          </p:cNvPr>
          <p:cNvSpPr txBox="1"/>
          <p:nvPr/>
        </p:nvSpPr>
        <p:spPr>
          <a:xfrm>
            <a:off x="6579943" y="6142540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https://ru.wikipedia.org/wiki/</a:t>
            </a:r>
            <a:r>
              <a:rPr lang="ru-RU" b="0" i="0" u="none" strike="noStrike" dirty="0"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Проблема_2038_года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009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2298274" y="378372"/>
            <a:ext cx="7595452" cy="10697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Negative numbers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0D6B0E-2565-4C08-9911-5AB313FD3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A1FC82-4DAC-45A9-AE68-17EC2FF5FDC6}"/>
              </a:ext>
            </a:extLst>
          </p:cNvPr>
          <p:cNvSpPr txBox="1"/>
          <p:nvPr/>
        </p:nvSpPr>
        <p:spPr>
          <a:xfrm>
            <a:off x="1951629" y="1670602"/>
            <a:ext cx="1752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Прямой код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D6AA11-5CD1-4EA3-80D5-CDEA7D0E126F}"/>
              </a:ext>
            </a:extLst>
          </p:cNvPr>
          <p:cNvSpPr txBox="1"/>
          <p:nvPr/>
        </p:nvSpPr>
        <p:spPr>
          <a:xfrm>
            <a:off x="6613913" y="1582018"/>
            <a:ext cx="30523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Дополнительный код </a:t>
            </a:r>
          </a:p>
          <a:p>
            <a:r>
              <a:rPr lang="ru-RU" sz="2400" dirty="0"/>
              <a:t>(дополнение до двух)</a:t>
            </a: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8F4DF56F-8CC2-47FE-BFD4-61D8A7C3DA36}"/>
              </a:ext>
            </a:extLst>
          </p:cNvPr>
          <p:cNvGraphicFramePr>
            <a:graphicFrameLocks noGrp="1"/>
          </p:cNvGraphicFramePr>
          <p:nvPr/>
        </p:nvGraphicFramePr>
        <p:xfrm>
          <a:off x="974528" y="2738581"/>
          <a:ext cx="14957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53">
                  <a:extLst>
                    <a:ext uri="{9D8B030D-6E8A-4147-A177-3AD203B41FA5}">
                      <a16:colId xmlns:a16="http://schemas.microsoft.com/office/drawing/2014/main" val="2041692866"/>
                    </a:ext>
                  </a:extLst>
                </a:gridCol>
                <a:gridCol w="1280463">
                  <a:extLst>
                    <a:ext uri="{9D8B030D-6E8A-4147-A177-3AD203B41FA5}">
                      <a16:colId xmlns:a16="http://schemas.microsoft.com/office/drawing/2014/main" val="2961963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90809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6FA0DC1-7D03-4482-913A-F5FBAD96C1E6}"/>
              </a:ext>
            </a:extLst>
          </p:cNvPr>
          <p:cNvSpPr txBox="1"/>
          <p:nvPr/>
        </p:nvSpPr>
        <p:spPr>
          <a:xfrm>
            <a:off x="668739" y="2416335"/>
            <a:ext cx="2190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31   30                    0</a:t>
            </a:r>
            <a:endParaRPr lang="ru-RU" dirty="0"/>
          </a:p>
        </p:txBody>
      </p:sp>
      <p:graphicFrame>
        <p:nvGraphicFramePr>
          <p:cNvPr id="18" name="Таблица 10">
            <a:extLst>
              <a:ext uri="{FF2B5EF4-FFF2-40B4-BE49-F238E27FC236}">
                <a16:creationId xmlns:a16="http://schemas.microsoft.com/office/drawing/2014/main" id="{04518407-F77F-4112-B80D-2D8801AD1824}"/>
              </a:ext>
            </a:extLst>
          </p:cNvPr>
          <p:cNvGraphicFramePr>
            <a:graphicFrameLocks noGrp="1"/>
          </p:cNvGraphicFramePr>
          <p:nvPr/>
        </p:nvGraphicFramePr>
        <p:xfrm>
          <a:off x="7039687" y="2736769"/>
          <a:ext cx="14957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53">
                  <a:extLst>
                    <a:ext uri="{9D8B030D-6E8A-4147-A177-3AD203B41FA5}">
                      <a16:colId xmlns:a16="http://schemas.microsoft.com/office/drawing/2014/main" val="2041692866"/>
                    </a:ext>
                  </a:extLst>
                </a:gridCol>
                <a:gridCol w="1280463">
                  <a:extLst>
                    <a:ext uri="{9D8B030D-6E8A-4147-A177-3AD203B41FA5}">
                      <a16:colId xmlns:a16="http://schemas.microsoft.com/office/drawing/2014/main" val="2961963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90809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6C03D2E-B081-4480-9CFB-08C854AA96B8}"/>
              </a:ext>
            </a:extLst>
          </p:cNvPr>
          <p:cNvSpPr txBox="1"/>
          <p:nvPr/>
        </p:nvSpPr>
        <p:spPr>
          <a:xfrm>
            <a:off x="6733898" y="2414523"/>
            <a:ext cx="2190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31   30                    0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FC0A54-E4A8-4C67-B35C-2EEF4441099C}"/>
              </a:ext>
            </a:extLst>
          </p:cNvPr>
          <p:cNvSpPr txBox="1"/>
          <p:nvPr/>
        </p:nvSpPr>
        <p:spPr>
          <a:xfrm>
            <a:off x="668739" y="3639340"/>
            <a:ext cx="525515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 = 00000101</a:t>
            </a:r>
          </a:p>
          <a:p>
            <a:r>
              <a:rPr lang="en-US" dirty="0"/>
              <a:t>-5 = 10000101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+ </a:t>
            </a:r>
            <a:r>
              <a:rPr lang="ru-RU" dirty="0"/>
              <a:t>Прост в вычислении</a:t>
            </a:r>
          </a:p>
          <a:p>
            <a:r>
              <a:rPr lang="ru-RU" dirty="0"/>
              <a:t>+ Количество «+» чисел равно количеству «-»</a:t>
            </a:r>
            <a:r>
              <a:rPr lang="en-US" dirty="0"/>
              <a:t> </a:t>
            </a:r>
            <a:r>
              <a:rPr lang="ru-RU" dirty="0"/>
              <a:t>чисел</a:t>
            </a:r>
          </a:p>
          <a:p>
            <a:endParaRPr lang="ru-RU" dirty="0"/>
          </a:p>
          <a:p>
            <a:r>
              <a:rPr lang="ru-RU" dirty="0"/>
              <a:t>- Два нуля (-0 и +0)</a:t>
            </a:r>
          </a:p>
          <a:p>
            <a:r>
              <a:rPr lang="ru-RU" dirty="0"/>
              <a:t>- Требует реализации операции вычитания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3DA6E3-E624-4B6D-82CC-7EDE46AB9AE7}"/>
              </a:ext>
            </a:extLst>
          </p:cNvPr>
          <p:cNvSpPr txBox="1"/>
          <p:nvPr/>
        </p:nvSpPr>
        <p:spPr>
          <a:xfrm>
            <a:off x="6783064" y="4546801"/>
            <a:ext cx="35046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 = 00000101</a:t>
            </a:r>
          </a:p>
          <a:p>
            <a:r>
              <a:rPr lang="ru-RU" dirty="0"/>
              <a:t>-5 -</a:t>
            </a:r>
            <a:r>
              <a:rPr lang="en-US" dirty="0"/>
              <a:t>&gt;</a:t>
            </a:r>
          </a:p>
          <a:p>
            <a:pPr marL="800100" lvl="1" indent="-342900">
              <a:buAutoNum type="arabicPeriod"/>
            </a:pPr>
            <a:r>
              <a:rPr lang="ru-RU" dirty="0"/>
              <a:t>Прямой код</a:t>
            </a:r>
            <a:r>
              <a:rPr lang="en-US" dirty="0"/>
              <a:t>       00000101</a:t>
            </a:r>
            <a:endParaRPr lang="ru-RU" dirty="0"/>
          </a:p>
          <a:p>
            <a:pPr marL="800100" lvl="1" indent="-342900">
              <a:buAutoNum type="arabicPeriod"/>
            </a:pPr>
            <a:r>
              <a:rPr lang="ru-RU" dirty="0"/>
              <a:t>Обратный код</a:t>
            </a:r>
            <a:r>
              <a:rPr lang="en-US" dirty="0"/>
              <a:t>   11111010</a:t>
            </a:r>
            <a:endParaRPr lang="ru-RU" dirty="0"/>
          </a:p>
          <a:p>
            <a:pPr marL="800100" lvl="1" indent="-342900">
              <a:buAutoNum type="arabicPeriod"/>
            </a:pPr>
            <a:r>
              <a:rPr lang="ru-RU" dirty="0"/>
              <a:t>Прибавляем 1</a:t>
            </a:r>
            <a:r>
              <a:rPr lang="en-US" dirty="0"/>
              <a:t>   11111011</a:t>
            </a:r>
            <a:endParaRPr lang="ru-RU" dirty="0"/>
          </a:p>
          <a:p>
            <a:pPr marL="800100" lvl="1" indent="-342900">
              <a:buAutoNum type="arabicPeriod"/>
            </a:pPr>
            <a:r>
              <a:rPr lang="ru-RU" dirty="0"/>
              <a:t>Единица в </a:t>
            </a:r>
            <a:r>
              <a:rPr lang="en-US" dirty="0"/>
              <a:t>s        11111011</a:t>
            </a:r>
            <a:endParaRPr lang="ru-RU" dirty="0"/>
          </a:p>
        </p:txBody>
      </p:sp>
      <p:pic>
        <p:nvPicPr>
          <p:cNvPr id="22" name="Picture 5">
            <a:extLst>
              <a:ext uri="{FF2B5EF4-FFF2-40B4-BE49-F238E27FC236}">
                <a16:creationId xmlns:a16="http://schemas.microsoft.com/office/drawing/2014/main" id="{E770F863-376D-40C0-94F3-3F5B93432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315" y="2448715"/>
            <a:ext cx="21907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>
            <a:extLst>
              <a:ext uri="{FF2B5EF4-FFF2-40B4-BE49-F238E27FC236}">
                <a16:creationId xmlns:a16="http://schemas.microsoft.com/office/drawing/2014/main" id="{E4CB795B-2E13-4423-8CFD-A45A30564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432" y="2414523"/>
            <a:ext cx="2011792" cy="259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779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2298274" y="378372"/>
            <a:ext cx="7595452" cy="10697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Negative numbers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0D6B0E-2565-4C08-9911-5AB313FD3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6CB7E9-EC03-4529-A6EB-AFAFC63A33AB}"/>
              </a:ext>
            </a:extLst>
          </p:cNvPr>
          <p:cNvSpPr txBox="1"/>
          <p:nvPr/>
        </p:nvSpPr>
        <p:spPr>
          <a:xfrm>
            <a:off x="1274885" y="2101362"/>
            <a:ext cx="100408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Самый старший бит в знаковой переменной отвечает за знак! '1' - число отрицательное, '0' - число положительное. Если переменная </a:t>
            </a:r>
            <a:r>
              <a:rPr lang="ru-RU" sz="2400" dirty="0" err="1"/>
              <a:t>unsigned</a:t>
            </a:r>
            <a:r>
              <a:rPr lang="ru-RU" sz="2400" dirty="0"/>
              <a:t>, то старший бит не используется для знака, отсюда допустимый диапазон больше на 1 бит.</a:t>
            </a:r>
          </a:p>
          <a:p>
            <a:r>
              <a:rPr lang="ru-RU" sz="2400" dirty="0"/>
              <a:t>Например для </a:t>
            </a:r>
            <a:r>
              <a:rPr lang="ru-RU" sz="2400" dirty="0" err="1"/>
              <a:t>char</a:t>
            </a:r>
            <a:r>
              <a:rPr lang="ru-RU" sz="2400" dirty="0"/>
              <a:t> мы получаем не -128..127, а 0..255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BFE364-C444-4E6F-BDF3-F3AEB422BD8A}"/>
              </a:ext>
            </a:extLst>
          </p:cNvPr>
          <p:cNvSpPr txBox="1"/>
          <p:nvPr/>
        </p:nvSpPr>
        <p:spPr>
          <a:xfrm>
            <a:off x="1274885" y="5284150"/>
            <a:ext cx="6097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Какой диапазон чисел будет для </a:t>
            </a:r>
            <a:r>
              <a:rPr lang="en-US" sz="2000" dirty="0"/>
              <a:t>signed</a:t>
            </a:r>
            <a:r>
              <a:rPr lang="ru-RU" sz="2000" dirty="0"/>
              <a:t> </a:t>
            </a:r>
            <a:r>
              <a:rPr lang="ru-RU" sz="2000" dirty="0" err="1"/>
              <a:t>int</a:t>
            </a:r>
            <a:r>
              <a:rPr lang="ru-RU" sz="2000" dirty="0"/>
              <a:t>?</a:t>
            </a:r>
          </a:p>
        </p:txBody>
      </p:sp>
      <p:graphicFrame>
        <p:nvGraphicFramePr>
          <p:cNvPr id="24" name="Таблица 10">
            <a:extLst>
              <a:ext uri="{FF2B5EF4-FFF2-40B4-BE49-F238E27FC236}">
                <a16:creationId xmlns:a16="http://schemas.microsoft.com/office/drawing/2014/main" id="{146383AE-395A-45A5-B1F1-A9A5CB7F7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940080"/>
              </p:ext>
            </p:extLst>
          </p:nvPr>
        </p:nvGraphicFramePr>
        <p:xfrm>
          <a:off x="9650547" y="4040354"/>
          <a:ext cx="14957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53">
                  <a:extLst>
                    <a:ext uri="{9D8B030D-6E8A-4147-A177-3AD203B41FA5}">
                      <a16:colId xmlns:a16="http://schemas.microsoft.com/office/drawing/2014/main" val="2041692866"/>
                    </a:ext>
                  </a:extLst>
                </a:gridCol>
                <a:gridCol w="1280463">
                  <a:extLst>
                    <a:ext uri="{9D8B030D-6E8A-4147-A177-3AD203B41FA5}">
                      <a16:colId xmlns:a16="http://schemas.microsoft.com/office/drawing/2014/main" val="2961963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908097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DD217D57-63AD-4A64-8447-36FE55AA8B1A}"/>
              </a:ext>
            </a:extLst>
          </p:cNvPr>
          <p:cNvSpPr txBox="1"/>
          <p:nvPr/>
        </p:nvSpPr>
        <p:spPr>
          <a:xfrm>
            <a:off x="9344758" y="3718108"/>
            <a:ext cx="2190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7   6                    0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49254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ASCII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6D7F0B-61B0-4F50-9A6E-B2D48BE63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684" y="1478861"/>
            <a:ext cx="9794631" cy="460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25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IEEE-754</a:t>
            </a:r>
            <a:endParaRPr lang="ru-RU" dirty="0"/>
          </a:p>
        </p:txBody>
      </p:sp>
      <p:graphicFrame>
        <p:nvGraphicFramePr>
          <p:cNvPr id="7" name="Таблица 10">
            <a:extLst>
              <a:ext uri="{FF2B5EF4-FFF2-40B4-BE49-F238E27FC236}">
                <a16:creationId xmlns:a16="http://schemas.microsoft.com/office/drawing/2014/main" id="{E890849C-373B-414E-91F7-6C3BAD2C4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56083"/>
              </p:ext>
            </p:extLst>
          </p:nvPr>
        </p:nvGraphicFramePr>
        <p:xfrm>
          <a:off x="6117349" y="5169955"/>
          <a:ext cx="43399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363">
                  <a:extLst>
                    <a:ext uri="{9D8B030D-6E8A-4147-A177-3AD203B41FA5}">
                      <a16:colId xmlns:a16="http://schemas.microsoft.com/office/drawing/2014/main" val="2041692866"/>
                    </a:ext>
                  </a:extLst>
                </a:gridCol>
                <a:gridCol w="1718839">
                  <a:extLst>
                    <a:ext uri="{9D8B030D-6E8A-4147-A177-3AD203B41FA5}">
                      <a16:colId xmlns:a16="http://schemas.microsoft.com/office/drawing/2014/main" val="2961963788"/>
                    </a:ext>
                  </a:extLst>
                </a:gridCol>
                <a:gridCol w="2224787">
                  <a:extLst>
                    <a:ext uri="{9D8B030D-6E8A-4147-A177-3AD203B41FA5}">
                      <a16:colId xmlns:a16="http://schemas.microsoft.com/office/drawing/2014/main" val="1118673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9080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068C06D-49E3-42DC-9105-CB99CE671E41}"/>
              </a:ext>
            </a:extLst>
          </p:cNvPr>
          <p:cNvSpPr txBox="1"/>
          <p:nvPr/>
        </p:nvSpPr>
        <p:spPr>
          <a:xfrm>
            <a:off x="5878513" y="4847709"/>
            <a:ext cx="4797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31   30                          23 22                                     0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143D4D-68D7-42F8-94FC-370DA64ABD4B}"/>
                  </a:ext>
                </a:extLst>
              </p:cNvPr>
              <p:cNvSpPr txBox="1"/>
              <p:nvPr/>
            </p:nvSpPr>
            <p:spPr>
              <a:xfrm>
                <a:off x="1998528" y="1791624"/>
                <a:ext cx="5775684" cy="410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s – </a:t>
                </a:r>
                <a:r>
                  <a:rPr lang="ru-RU" sz="2000" dirty="0"/>
                  <a:t>знак</a:t>
                </a:r>
                <a:r>
                  <a:rPr lang="en-US" sz="2000" dirty="0"/>
                  <a:t> (0 </a:t>
                </a:r>
                <a:r>
                  <a:rPr lang="ru-RU" sz="2000" dirty="0"/>
                  <a:t>положительное число</a:t>
                </a:r>
                <a:r>
                  <a:rPr lang="en-US" sz="2000" dirty="0"/>
                  <a:t>, 1 </a:t>
                </a:r>
                <a:r>
                  <a:rPr lang="ru-RU" sz="2000" dirty="0"/>
                  <a:t>отрицательное)</a:t>
                </a:r>
              </a:p>
              <a:p>
                <a:r>
                  <a:rPr lang="en-US" sz="2000" dirty="0"/>
                  <a:t>m – </a:t>
                </a:r>
                <a:r>
                  <a:rPr lang="ru-RU" sz="2000" dirty="0"/>
                  <a:t>мантисса</a:t>
                </a:r>
              </a:p>
              <a:p>
                <a:r>
                  <a:rPr lang="en-US" sz="2000" dirty="0"/>
                  <a:t>b – </a:t>
                </a:r>
                <a:r>
                  <a:rPr lang="ru-RU" sz="2000" dirty="0"/>
                  <a:t>основание</a:t>
                </a:r>
              </a:p>
              <a:p>
                <a:r>
                  <a:rPr lang="en-US" sz="2000" dirty="0"/>
                  <a:t>e – </a:t>
                </a:r>
                <a:r>
                  <a:rPr lang="ru-RU" sz="2000" dirty="0"/>
                  <a:t>экспонента</a:t>
                </a:r>
              </a:p>
              <a:p>
                <a:endParaRPr lang="ru-RU" sz="2000" dirty="0"/>
              </a:p>
              <a:p>
                <a:r>
                  <a:rPr lang="ru-RU" sz="2000" dirty="0"/>
                  <a:t>12</a:t>
                </a:r>
                <a:r>
                  <a:rPr lang="en-US" sz="2000" dirty="0"/>
                  <a:t>2</a:t>
                </a:r>
                <a:r>
                  <a:rPr lang="ru-RU" sz="2000" dirty="0"/>
                  <a:t>.88 =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  <m:sup>
                        <m:r>
                          <a:rPr lang="ru-RU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12288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ru-RU" sz="20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ru-RU" sz="2000" dirty="0"/>
              </a:p>
              <a:p>
                <a:r>
                  <a:rPr lang="en-US" sz="2000" dirty="0"/>
                  <a:t>s = 0</a:t>
                </a:r>
              </a:p>
              <a:p>
                <a:r>
                  <a:rPr lang="en-US" sz="2000" dirty="0"/>
                  <a:t>m = 12288</a:t>
                </a:r>
                <a:endParaRPr lang="ru-RU" sz="2000" dirty="0"/>
              </a:p>
              <a:p>
                <a:r>
                  <a:rPr lang="en-US" sz="2000" dirty="0"/>
                  <a:t>b = 10</a:t>
                </a:r>
              </a:p>
              <a:p>
                <a:r>
                  <a:rPr lang="en-US" sz="2000" dirty="0"/>
                  <a:t>e = -2</a:t>
                </a:r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143D4D-68D7-42F8-94FC-370DA64AB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528" y="1791624"/>
                <a:ext cx="5775684" cy="4100418"/>
              </a:xfrm>
              <a:prstGeom prst="rect">
                <a:avLst/>
              </a:prstGeom>
              <a:blipFill>
                <a:blip r:embed="rId3"/>
                <a:stretch>
                  <a:fillRect l="-1162" t="-892" r="-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31FD4B-9B6B-42A6-8B7A-9177B3435919}"/>
              </a:ext>
            </a:extLst>
          </p:cNvPr>
          <p:cNvSpPr txBox="1"/>
          <p:nvPr/>
        </p:nvSpPr>
        <p:spPr>
          <a:xfrm>
            <a:off x="7954841" y="6220722"/>
            <a:ext cx="3985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effectLst/>
                <a:latin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https://0.30000000000000004.com/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69497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62786C2-6B94-4A5C-96B6-22DAE3987298}"/>
              </a:ext>
            </a:extLst>
          </p:cNvPr>
          <p:cNvSpPr txBox="1"/>
          <p:nvPr/>
        </p:nvSpPr>
        <p:spPr>
          <a:xfrm>
            <a:off x="3246009" y="3198167"/>
            <a:ext cx="5699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https://0.30000000000000004.com/</a:t>
            </a:r>
            <a:endParaRPr lang="ru-RU" sz="2400" dirty="0"/>
          </a:p>
        </p:txBody>
      </p:sp>
      <p:sp>
        <p:nvSpPr>
          <p:cNvPr id="13" name="Заголовок 3">
            <a:extLst>
              <a:ext uri="{FF2B5EF4-FFF2-40B4-BE49-F238E27FC236}">
                <a16:creationId xmlns:a16="http://schemas.microsoft.com/office/drawing/2014/main" id="{EB5E227A-39C0-412F-B3FB-E7C8BE2905C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0.2 + 0.1 != 0.3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90171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Operators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144529D-878D-4A07-B19E-3FA241AD1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228520"/>
              </p:ext>
            </p:extLst>
          </p:nvPr>
        </p:nvGraphicFramePr>
        <p:xfrm>
          <a:off x="1589315" y="1397977"/>
          <a:ext cx="9013370" cy="509169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285649">
                  <a:extLst>
                    <a:ext uri="{9D8B030D-6E8A-4147-A177-3AD203B41FA5}">
                      <a16:colId xmlns:a16="http://schemas.microsoft.com/office/drawing/2014/main" val="284487438"/>
                    </a:ext>
                  </a:extLst>
                </a:gridCol>
                <a:gridCol w="1610882">
                  <a:extLst>
                    <a:ext uri="{9D8B030D-6E8A-4147-A177-3AD203B41FA5}">
                      <a16:colId xmlns:a16="http://schemas.microsoft.com/office/drawing/2014/main" val="2796634176"/>
                    </a:ext>
                  </a:extLst>
                </a:gridCol>
                <a:gridCol w="1744314">
                  <a:extLst>
                    <a:ext uri="{9D8B030D-6E8A-4147-A177-3AD203B41FA5}">
                      <a16:colId xmlns:a16="http://schemas.microsoft.com/office/drawing/2014/main" val="1343240721"/>
                    </a:ext>
                  </a:extLst>
                </a:gridCol>
                <a:gridCol w="3372525">
                  <a:extLst>
                    <a:ext uri="{9D8B030D-6E8A-4147-A177-3AD203B41FA5}">
                      <a16:colId xmlns:a16="http://schemas.microsoft.com/office/drawing/2014/main" val="2722715245"/>
                    </a:ext>
                  </a:extLst>
                </a:gridCol>
              </a:tblGrid>
              <a:tr h="333045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Операция (выражение)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Оператор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Синтаксис выражения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3853113625"/>
                  </a:ext>
                </a:extLst>
              </a:tr>
              <a:tr h="437661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Присваивание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=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= b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1203188634"/>
                  </a:ext>
                </a:extLst>
              </a:tr>
              <a:tr h="437661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Сложение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+ b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1899429345"/>
                  </a:ext>
                </a:extLst>
              </a:tr>
              <a:tr h="371367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Вычитание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– b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2840398460"/>
                  </a:ext>
                </a:extLst>
              </a:tr>
              <a:tr h="348064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Унарный плюс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+a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270290120"/>
                  </a:ext>
                </a:extLst>
              </a:tr>
              <a:tr h="348064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Унарный минус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-a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20506478"/>
                  </a:ext>
                </a:extLst>
              </a:tr>
              <a:tr h="437661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Умножение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*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* b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3837276327"/>
                  </a:ext>
                </a:extLst>
              </a:tr>
              <a:tr h="437661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Деление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/ b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2061736276"/>
                  </a:ext>
                </a:extLst>
              </a:tr>
              <a:tr h="60833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Операция модуль (остаток от деления целых чисел)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%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% b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3644954014"/>
                  </a:ext>
                </a:extLst>
              </a:tr>
              <a:tr h="333045">
                <a:tc rowSpan="2"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Инкремент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префиксный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++</a:t>
                      </a: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++a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3610685316"/>
                  </a:ext>
                </a:extLst>
              </a:tr>
              <a:tr h="33304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суфиксный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++</a:t>
                      </a: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a++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81788796"/>
                  </a:ext>
                </a:extLst>
              </a:tr>
              <a:tr h="333045">
                <a:tc rowSpan="2"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Декремент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префиксный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--a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3426761160"/>
                  </a:ext>
                </a:extLst>
              </a:tr>
              <a:tr h="33304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суфиксный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a--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2374643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3572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3DA25C-8F93-41DF-91B3-85F2D0FE2F1E}"/>
              </a:ext>
            </a:extLst>
          </p:cNvPr>
          <p:cNvSpPr txBox="1">
            <a:spLocks/>
          </p:cNvSpPr>
          <p:nvPr/>
        </p:nvSpPr>
        <p:spPr>
          <a:xfrm>
            <a:off x="1589314" y="1682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Assignment</a:t>
            </a: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1648C68-F047-4B90-88C2-32888A3B2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896731"/>
              </p:ext>
            </p:extLst>
          </p:nvPr>
        </p:nvGraphicFramePr>
        <p:xfrm>
          <a:off x="1002324" y="1582616"/>
          <a:ext cx="9917722" cy="471267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746587">
                  <a:extLst>
                    <a:ext uri="{9D8B030D-6E8A-4147-A177-3AD203B41FA5}">
                      <a16:colId xmlns:a16="http://schemas.microsoft.com/office/drawing/2014/main" val="284487438"/>
                    </a:ext>
                  </a:extLst>
                </a:gridCol>
                <a:gridCol w="1411190">
                  <a:extLst>
                    <a:ext uri="{9D8B030D-6E8A-4147-A177-3AD203B41FA5}">
                      <a16:colId xmlns:a16="http://schemas.microsoft.com/office/drawing/2014/main" val="1343240721"/>
                    </a:ext>
                  </a:extLst>
                </a:gridCol>
                <a:gridCol w="2229485">
                  <a:extLst>
                    <a:ext uri="{9D8B030D-6E8A-4147-A177-3AD203B41FA5}">
                      <a16:colId xmlns:a16="http://schemas.microsoft.com/office/drawing/2014/main" val="2722715245"/>
                    </a:ext>
                  </a:extLst>
                </a:gridCol>
                <a:gridCol w="2530460">
                  <a:extLst>
                    <a:ext uri="{9D8B030D-6E8A-4147-A177-3AD203B41FA5}">
                      <a16:colId xmlns:a16="http://schemas.microsoft.com/office/drawing/2014/main" val="2529484183"/>
                    </a:ext>
                  </a:extLst>
                </a:gridCol>
              </a:tblGrid>
              <a:tr h="835181"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Операция (выражение)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Оператор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Синтаксис выражения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3853113625"/>
                  </a:ext>
                </a:extLst>
              </a:tr>
              <a:tr h="690194"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Сложение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+= b</a:t>
                      </a: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= a + b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1899429345"/>
                  </a:ext>
                </a:extLst>
              </a:tr>
              <a:tr h="585645"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Вычитание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–= b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= a - b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2840398460"/>
                  </a:ext>
                </a:extLst>
              </a:tr>
              <a:tr h="690194"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Умножение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*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*= b</a:t>
                      </a: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= a * b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3837276327"/>
                  </a:ext>
                </a:extLst>
              </a:tr>
              <a:tr h="690194"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Деление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/= b</a:t>
                      </a: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= a / b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2061736276"/>
                  </a:ext>
                </a:extLst>
              </a:tr>
              <a:tr h="122127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Операция модуль (остаток от деления целых чисел)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%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%= b</a:t>
                      </a:r>
                    </a:p>
                  </a:txBody>
                  <a:tcPr marL="22383" marR="22383" marT="22383" marB="22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= a % b</a:t>
                      </a:r>
                    </a:p>
                  </a:txBody>
                  <a:tcPr marL="22383" marR="22383" marT="22383" marB="22383"/>
                </a:tc>
                <a:extLst>
                  <a:ext uri="{0D108BD9-81ED-4DB2-BD59-A6C34878D82A}">
                    <a16:rowId xmlns:a16="http://schemas.microsoft.com/office/drawing/2014/main" val="3644954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0189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5C7FAF5-3B6E-2EDB-A95A-196DFECF58EE}"/>
              </a:ext>
            </a:extLst>
          </p:cNvPr>
          <p:cNvSpPr/>
          <p:nvPr/>
        </p:nvSpPr>
        <p:spPr>
          <a:xfrm>
            <a:off x="798394" y="1658203"/>
            <a:ext cx="10461010" cy="1644551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14806-7116-85B7-DBB5-294C36162AA6}"/>
              </a:ext>
            </a:extLst>
          </p:cNvPr>
          <p:cNvSpPr txBox="1"/>
          <p:nvPr/>
        </p:nvSpPr>
        <p:spPr>
          <a:xfrm>
            <a:off x="3993756" y="415797"/>
            <a:ext cx="5102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Compilation steps</a:t>
            </a:r>
            <a:endParaRPr lang="ru-RU" sz="40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5B8B8A2-C229-9C9F-3A2A-DAF738B12D0F}"/>
              </a:ext>
            </a:extLst>
          </p:cNvPr>
          <p:cNvSpPr/>
          <p:nvPr/>
        </p:nvSpPr>
        <p:spPr>
          <a:xfrm>
            <a:off x="980361" y="1924333"/>
            <a:ext cx="2100587" cy="1105468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2016BFF3-32C0-28DC-0831-00AF371C6D90}"/>
              </a:ext>
            </a:extLst>
          </p:cNvPr>
          <p:cNvCxnSpPr>
            <a:cxnSpLocks/>
          </p:cNvCxnSpPr>
          <p:nvPr/>
        </p:nvCxnSpPr>
        <p:spPr>
          <a:xfrm>
            <a:off x="344331" y="2453476"/>
            <a:ext cx="323461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CF00E53D-5634-9C02-477C-76996AF54395}"/>
              </a:ext>
            </a:extLst>
          </p:cNvPr>
          <p:cNvCxnSpPr>
            <a:cxnSpLocks/>
          </p:cNvCxnSpPr>
          <p:nvPr/>
        </p:nvCxnSpPr>
        <p:spPr>
          <a:xfrm>
            <a:off x="3193602" y="2458715"/>
            <a:ext cx="323461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8A9A3ECE-CBD1-7D9E-5027-D1DA67954D0E}"/>
              </a:ext>
            </a:extLst>
          </p:cNvPr>
          <p:cNvCxnSpPr>
            <a:cxnSpLocks/>
          </p:cNvCxnSpPr>
          <p:nvPr/>
        </p:nvCxnSpPr>
        <p:spPr>
          <a:xfrm>
            <a:off x="5973008" y="2437158"/>
            <a:ext cx="323461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431DC5C9-62F6-1C4F-7238-0796B770D5AE}"/>
              </a:ext>
            </a:extLst>
          </p:cNvPr>
          <p:cNvCxnSpPr>
            <a:cxnSpLocks/>
          </p:cNvCxnSpPr>
          <p:nvPr/>
        </p:nvCxnSpPr>
        <p:spPr>
          <a:xfrm>
            <a:off x="8717556" y="2453476"/>
            <a:ext cx="323461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ED0FD444-DB33-B722-D683-90E8D7E92AC8}"/>
              </a:ext>
            </a:extLst>
          </p:cNvPr>
          <p:cNvCxnSpPr>
            <a:cxnSpLocks/>
          </p:cNvCxnSpPr>
          <p:nvPr/>
        </p:nvCxnSpPr>
        <p:spPr>
          <a:xfrm>
            <a:off x="11441509" y="2444407"/>
            <a:ext cx="323461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2D7B64D-A08F-B30D-5222-33F98C39F4F7}"/>
              </a:ext>
            </a:extLst>
          </p:cNvPr>
          <p:cNvSpPr/>
          <p:nvPr/>
        </p:nvSpPr>
        <p:spPr>
          <a:xfrm>
            <a:off x="3671340" y="1924335"/>
            <a:ext cx="2137985" cy="1105468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EEAC00B-CD29-4C62-2E0D-1DF8F49B8907}"/>
              </a:ext>
            </a:extLst>
          </p:cNvPr>
          <p:cNvSpPr/>
          <p:nvPr/>
        </p:nvSpPr>
        <p:spPr>
          <a:xfrm>
            <a:off x="6480171" y="1924335"/>
            <a:ext cx="2137985" cy="1105468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11E9881-4410-848C-17F6-932BD655719E}"/>
              </a:ext>
            </a:extLst>
          </p:cNvPr>
          <p:cNvSpPr/>
          <p:nvPr/>
        </p:nvSpPr>
        <p:spPr>
          <a:xfrm>
            <a:off x="9155852" y="1924332"/>
            <a:ext cx="1879931" cy="1105469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4ED92F-2E6E-F88E-4CE1-EE3AA67298AF}"/>
              </a:ext>
            </a:extLst>
          </p:cNvPr>
          <p:cNvSpPr txBox="1"/>
          <p:nvPr/>
        </p:nvSpPr>
        <p:spPr>
          <a:xfrm>
            <a:off x="1248414" y="2252492"/>
            <a:ext cx="156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Preprocessing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252750-ACB0-DA50-80DD-CDAD0D253458}"/>
              </a:ext>
            </a:extLst>
          </p:cNvPr>
          <p:cNvSpPr txBox="1"/>
          <p:nvPr/>
        </p:nvSpPr>
        <p:spPr>
          <a:xfrm>
            <a:off x="4047173" y="2252492"/>
            <a:ext cx="138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Compilation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43F73B-F619-83B8-BFB0-4A39879DE54A}"/>
              </a:ext>
            </a:extLst>
          </p:cNvPr>
          <p:cNvSpPr txBox="1"/>
          <p:nvPr/>
        </p:nvSpPr>
        <p:spPr>
          <a:xfrm>
            <a:off x="6927284" y="2252492"/>
            <a:ext cx="124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Assembler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696CE9-90BF-9375-E646-7EE1C09F5845}"/>
              </a:ext>
            </a:extLst>
          </p:cNvPr>
          <p:cNvSpPr txBox="1"/>
          <p:nvPr/>
        </p:nvSpPr>
        <p:spPr>
          <a:xfrm>
            <a:off x="9661493" y="2252492"/>
            <a:ext cx="868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Linker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04362-8D87-406D-8364-C81DB37A3D0E}"/>
              </a:ext>
            </a:extLst>
          </p:cNvPr>
          <p:cNvSpPr txBox="1"/>
          <p:nvPr/>
        </p:nvSpPr>
        <p:spPr>
          <a:xfrm>
            <a:off x="1029458" y="4081708"/>
            <a:ext cx="582967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1) </a:t>
            </a:r>
            <a:r>
              <a:rPr lang="ru-RU" sz="2000" dirty="0"/>
              <a:t>Обработка препроцессором</a:t>
            </a:r>
            <a:endParaRPr lang="en-US" sz="2000" dirty="0"/>
          </a:p>
          <a:p>
            <a:r>
              <a:rPr lang="en-US" sz="2000" dirty="0"/>
              <a:t>2)</a:t>
            </a:r>
            <a:r>
              <a:rPr lang="ru-RU" sz="2000" dirty="0"/>
              <a:t> Трансляция программы из языка СИ в Ассемблер</a:t>
            </a:r>
            <a:endParaRPr lang="en-US" sz="2000" dirty="0"/>
          </a:p>
          <a:p>
            <a:r>
              <a:rPr lang="en-US" sz="2000" dirty="0"/>
              <a:t>3)</a:t>
            </a:r>
            <a:r>
              <a:rPr lang="ru-RU" sz="2000" dirty="0"/>
              <a:t> Трансляция из Ассемблера в объектный модуль</a:t>
            </a:r>
            <a:endParaRPr lang="en-US" sz="2000" dirty="0"/>
          </a:p>
          <a:p>
            <a:r>
              <a:rPr lang="en-US" sz="2000" dirty="0"/>
              <a:t>4)</a:t>
            </a:r>
            <a:r>
              <a:rPr lang="ru-RU" sz="2000" dirty="0"/>
              <a:t> Объектный модуль в исполняемую программу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8C4E59-478E-41F6-AAF3-38133EB0DE30}"/>
              </a:ext>
            </a:extLst>
          </p:cNvPr>
          <p:cNvSpPr txBox="1"/>
          <p:nvPr/>
        </p:nvSpPr>
        <p:spPr>
          <a:xfrm>
            <a:off x="7549163" y="4081707"/>
            <a:ext cx="28980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1) </a:t>
            </a:r>
            <a:r>
              <a:rPr lang="it-IT" sz="2000" dirty="0"/>
              <a:t>gcc -E hello.c -o hello.i</a:t>
            </a:r>
            <a:endParaRPr lang="en-US" sz="2000" dirty="0"/>
          </a:p>
          <a:p>
            <a:r>
              <a:rPr lang="en-US" sz="2000" dirty="0"/>
              <a:t>2)</a:t>
            </a:r>
            <a:r>
              <a:rPr lang="ru-RU" sz="2000" dirty="0"/>
              <a:t> </a:t>
            </a:r>
            <a:r>
              <a:rPr lang="en-US" sz="2000" dirty="0" err="1"/>
              <a:t>gcc</a:t>
            </a:r>
            <a:r>
              <a:rPr lang="en-US" sz="2000" dirty="0"/>
              <a:t> -S </a:t>
            </a:r>
            <a:r>
              <a:rPr lang="en-US" sz="2000" dirty="0" err="1"/>
              <a:t>hello.i</a:t>
            </a:r>
            <a:r>
              <a:rPr lang="en-US" sz="2000" dirty="0"/>
              <a:t> -o </a:t>
            </a:r>
            <a:r>
              <a:rPr lang="en-US" sz="2000" dirty="0" err="1"/>
              <a:t>hello.s</a:t>
            </a:r>
            <a:endParaRPr lang="en-US" sz="2000" dirty="0"/>
          </a:p>
          <a:p>
            <a:r>
              <a:rPr lang="en-US" sz="2000" dirty="0"/>
              <a:t>3)</a:t>
            </a:r>
            <a:r>
              <a:rPr lang="ru-RU" sz="2000" dirty="0"/>
              <a:t> </a:t>
            </a:r>
            <a:r>
              <a:rPr lang="en-US" sz="2000" dirty="0" err="1"/>
              <a:t>gcc</a:t>
            </a:r>
            <a:r>
              <a:rPr lang="en-US" sz="2000" dirty="0"/>
              <a:t> -c </a:t>
            </a:r>
            <a:r>
              <a:rPr lang="en-US" sz="2000" dirty="0" err="1"/>
              <a:t>hello.s</a:t>
            </a:r>
            <a:r>
              <a:rPr lang="en-US" sz="2000" dirty="0"/>
              <a:t> -o </a:t>
            </a:r>
            <a:r>
              <a:rPr lang="en-US" sz="2000" dirty="0" err="1"/>
              <a:t>hello.o</a:t>
            </a:r>
            <a:endParaRPr lang="en-US" sz="2000" dirty="0"/>
          </a:p>
          <a:p>
            <a:r>
              <a:rPr lang="en-US" sz="2000" dirty="0"/>
              <a:t>4)</a:t>
            </a:r>
            <a:r>
              <a:rPr lang="ru-RU" sz="2000" dirty="0"/>
              <a:t> </a:t>
            </a:r>
            <a:r>
              <a:rPr lang="it-IT" sz="2000" dirty="0"/>
              <a:t>gcc hello.o -o hello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071954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7C4DEFFF-3E27-47FE-9F94-4F1B7232296A}"/>
              </a:ext>
            </a:extLst>
          </p:cNvPr>
          <p:cNvSpPr txBox="1"/>
          <p:nvPr/>
        </p:nvSpPr>
        <p:spPr>
          <a:xfrm>
            <a:off x="3993756" y="415797"/>
            <a:ext cx="5102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Список литературы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D3071E-3288-4B9E-8029-523DD26C3FA5}"/>
              </a:ext>
            </a:extLst>
          </p:cNvPr>
          <p:cNvSpPr txBox="1"/>
          <p:nvPr/>
        </p:nvSpPr>
        <p:spPr>
          <a:xfrm>
            <a:off x="709611" y="2292423"/>
            <a:ext cx="1116879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«</a:t>
            </a:r>
            <a:r>
              <a:rPr lang="ru-RU" sz="2800" b="1" dirty="0"/>
              <a:t>Язык программирования Си</a:t>
            </a:r>
            <a:r>
              <a:rPr lang="ru-RU" sz="2800" dirty="0"/>
              <a:t>» (англ. The C </a:t>
            </a:r>
            <a:r>
              <a:rPr lang="ru-RU" sz="2800" dirty="0" err="1"/>
              <a:t>Programming</a:t>
            </a:r>
            <a:r>
              <a:rPr lang="ru-RU" sz="2800" dirty="0"/>
              <a:t> Language) — книга Брайана </a:t>
            </a:r>
            <a:r>
              <a:rPr lang="ru-RU" sz="2800" dirty="0" err="1"/>
              <a:t>Кернигана</a:t>
            </a:r>
            <a:r>
              <a:rPr lang="ru-RU" sz="2800" dirty="0"/>
              <a:t> и Денниса </a:t>
            </a:r>
            <a:r>
              <a:rPr lang="ru-RU" sz="2800" dirty="0" err="1"/>
              <a:t>Ритчи</a:t>
            </a:r>
            <a:r>
              <a:rPr lang="ru-RU" sz="2800" dirty="0"/>
              <a:t>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[Стандарт языка Си](https://www.iso-9899.info/wiki/The_Standard)     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Гарвардский курс CS50 (Computer Science) любого года абсолютно бесплатно в </a:t>
            </a:r>
            <a:r>
              <a:rPr lang="ru-RU" sz="2800" dirty="0" err="1"/>
              <a:t>ютубе</a:t>
            </a:r>
            <a:r>
              <a:rPr lang="ru-RU" sz="2800" dirty="0"/>
              <a:t> каждый год, есть даже на русском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Курсы молодого бойца Си от МФТИ </a:t>
            </a:r>
          </a:p>
        </p:txBody>
      </p:sp>
    </p:spTree>
    <p:extLst>
      <p:ext uri="{BB962C8B-B14F-4D97-AF65-F5344CB8AC3E}">
        <p14:creationId xmlns:p14="http://schemas.microsoft.com/office/powerpoint/2010/main" val="9360635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D6DDCA-2435-48E9-A804-41423F9D4BC5}"/>
              </a:ext>
            </a:extLst>
          </p:cNvPr>
          <p:cNvSpPr txBox="1"/>
          <p:nvPr/>
        </p:nvSpPr>
        <p:spPr>
          <a:xfrm>
            <a:off x="2007697" y="1112630"/>
            <a:ext cx="778290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Команды в терминале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mkdir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my_dir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Создать каталог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my_dir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ls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Просмотреть список файлов в текущем каталоге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pwd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Вывести имя текущей директории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cd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my_dir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Перейти в каталог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my_dir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cd ..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Подняться на каталог "выше" (вернуться назад)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nano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hello.c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открыть файл в текст. редакторе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nano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rm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file_name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удалить файл с именем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file_name</a:t>
            </a: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man command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Мануал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Описание команды)</a:t>
            </a: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Команды в текст. редакторе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nano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CTRL+O (^O)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save program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CTRL+X (^X)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exit program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Компиляция и запуск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hello.c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-o hello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./hello</a:t>
            </a:r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1BFFD37-09C8-4240-9340-90A1E2B4F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657" y="206852"/>
            <a:ext cx="7313070" cy="905778"/>
          </a:xfrm>
        </p:spPr>
        <p:txBody>
          <a:bodyPr>
            <a:noAutofit/>
          </a:bodyPr>
          <a:lstStyle/>
          <a:p>
            <a:r>
              <a:rPr lang="en-US" sz="4800" dirty="0"/>
              <a:t>List of commands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3517490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1712</TotalTime>
  <Words>4846</Words>
  <Application>Microsoft Office PowerPoint</Application>
  <PresentationFormat>Широкоэкранный</PresentationFormat>
  <Paragraphs>533</Paragraphs>
  <Slides>45</Slides>
  <Notes>45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Consolas</vt:lpstr>
      <vt:lpstr>Helvetica Neue</vt:lpstr>
      <vt:lpstr>Times New Roman</vt:lpstr>
      <vt:lpstr>Office Theme</vt:lpstr>
      <vt:lpstr>Programming  0_hello_world</vt:lpstr>
      <vt:lpstr>Ты кто?</vt:lpstr>
      <vt:lpstr>Немного о курсе</vt:lpstr>
      <vt:lpstr>Когда и кто приходит? (практики)</vt:lpstr>
      <vt:lpstr>Linux для ноутбуков</vt:lpstr>
      <vt:lpstr>Windows Subsystem for Linux</vt:lpstr>
      <vt:lpstr>Virtual Machine</vt:lpstr>
      <vt:lpstr>Ubuntu OS</vt:lpstr>
      <vt:lpstr>Презентация PowerPoint</vt:lpstr>
      <vt:lpstr>Презентация PowerPoint</vt:lpstr>
      <vt:lpstr>Программирование</vt:lpstr>
      <vt:lpstr>Язык программирования</vt:lpstr>
      <vt:lpstr>Лексика, Семантика и Синтаксис</vt:lpstr>
      <vt:lpstr>Немного истории</vt:lpstr>
      <vt:lpstr>Классификация языков программирования</vt:lpstr>
      <vt:lpstr>Machine Code</vt:lpstr>
      <vt:lpstr>Source code</vt:lpstr>
      <vt:lpstr>Трансляция</vt:lpstr>
      <vt:lpstr>C language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List of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285</cp:revision>
  <dcterms:created xsi:type="dcterms:W3CDTF">2019-12-17T14:15:21Z</dcterms:created>
  <dcterms:modified xsi:type="dcterms:W3CDTF">2025-09-02T07:48:17Z</dcterms:modified>
</cp:coreProperties>
</file>