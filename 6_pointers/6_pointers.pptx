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</p:sldMasterIdLst>
  <p:notesMasterIdLst>
    <p:notesMasterId r:id="rId58"/>
  </p:notesMasterIdLst>
  <p:sldIdLst>
    <p:sldId id="256" r:id="rId2"/>
    <p:sldId id="312" r:id="rId3"/>
    <p:sldId id="313" r:id="rId4"/>
    <p:sldId id="305" r:id="rId5"/>
    <p:sldId id="314" r:id="rId6"/>
    <p:sldId id="317" r:id="rId7"/>
    <p:sldId id="318" r:id="rId8"/>
    <p:sldId id="319" r:id="rId9"/>
    <p:sldId id="320" r:id="rId10"/>
    <p:sldId id="321" r:id="rId11"/>
    <p:sldId id="322" r:id="rId12"/>
    <p:sldId id="324" r:id="rId13"/>
    <p:sldId id="325" r:id="rId14"/>
    <p:sldId id="326" r:id="rId15"/>
    <p:sldId id="327" r:id="rId16"/>
    <p:sldId id="328" r:id="rId17"/>
    <p:sldId id="329" r:id="rId18"/>
    <p:sldId id="323" r:id="rId19"/>
    <p:sldId id="307" r:id="rId21"/>
    <p:sldId id="330" r:id="rId22"/>
    <p:sldId id="331" r:id="rId23"/>
    <p:sldId id="309" r:id="rId24"/>
    <p:sldId id="332" r:id="rId25"/>
    <p:sldId id="311" r:id="rId26"/>
    <p:sldId id="333" r:id="rId27"/>
    <p:sldId id="334" r:id="rId28"/>
    <p:sldId id="337" r:id="rId29"/>
    <p:sldId id="338" r:id="rId30"/>
    <p:sldId id="339" r:id="rId31"/>
    <p:sldId id="351" r:id="rId32"/>
    <p:sldId id="335" r:id="rId33"/>
    <p:sldId id="352" r:id="rId34"/>
    <p:sldId id="342" r:id="rId35"/>
    <p:sldId id="336" r:id="rId36"/>
    <p:sldId id="343" r:id="rId37"/>
    <p:sldId id="340" r:id="rId38"/>
    <p:sldId id="353" r:id="rId39"/>
    <p:sldId id="355" r:id="rId40"/>
    <p:sldId id="356" r:id="rId41"/>
    <p:sldId id="354" r:id="rId42"/>
    <p:sldId id="357" r:id="rId43"/>
    <p:sldId id="344" r:id="rId45"/>
    <p:sldId id="346" r:id="rId48"/>
    <p:sldId id="349" r:id="rId49"/>
    <p:sldId id="348" r:id="rId51"/>
    <p:sldId id="361" r:id="rId52"/>
    <p:sldId id="350" r:id="rId53"/>
    <p:sldId id="362" r:id="rId54"/>
    <p:sldId id="363" r:id="rId55"/>
    <p:sldId id="364" r:id="rId56"/>
    <p:sldId id="290" r:id="rId5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1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30" autoAdjust="0"/>
  </p:normalViewPr>
  <p:slideViewPr>
    <p:cSldViewPr snapToGrid="0">
      <p:cViewPr varScale="1">
        <p:scale>
          <a:sx n="91" d="100"/>
          <a:sy n="91" d="100"/>
        </p:scale>
        <p:origin x="114" y="14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5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9" Type="http://schemas.openxmlformats.org/officeDocument/2006/relationships/commentAuthors" Target="commentAuthors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894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999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985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034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063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72529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395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344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994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120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541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0460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921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602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541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514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3965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7602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58917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3093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8734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0816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288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5806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1773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37780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0651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8464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2346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9662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9985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5397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7069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4599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8319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426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9184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5313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1067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2631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71432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75961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258573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4798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39898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839159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6030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31878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0490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15.10.2025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521262"/>
            <a:ext cx="9144000" cy="2387600"/>
          </a:xfrm>
        </p:spPr>
        <p:txBody>
          <a:bodyPr/>
          <a:lstStyle/>
          <a:p>
            <a:r>
              <a:rPr lang="en-US" dirty="0"/>
              <a:t>C Programming</a:t>
            </a:r>
            <a:br>
              <a:rPr lang="en-US" dirty="0"/>
            </a:br>
            <a:r>
              <a:rPr lang="en-US" sz="3200" dirty="0"/>
              <a:t>6_pointers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137FDC3-FAB5-4E68-A01A-233513F6E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511820"/>
              </p:ext>
            </p:extLst>
          </p:nvPr>
        </p:nvGraphicFramePr>
        <p:xfrm>
          <a:off x="2698050" y="3105834"/>
          <a:ext cx="8323570" cy="64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344">
                  <a:extLst>
                    <a:ext uri="{9D8B030D-6E8A-4147-A177-3AD203B41FA5}">
                      <a16:colId xmlns:a16="http://schemas.microsoft.com/office/drawing/2014/main" val="3129897342"/>
                    </a:ext>
                  </a:extLst>
                </a:gridCol>
                <a:gridCol w="924344">
                  <a:extLst>
                    <a:ext uri="{9D8B030D-6E8A-4147-A177-3AD203B41FA5}">
                      <a16:colId xmlns:a16="http://schemas.microsoft.com/office/drawing/2014/main" val="305722592"/>
                    </a:ext>
                  </a:extLst>
                </a:gridCol>
                <a:gridCol w="924344">
                  <a:extLst>
                    <a:ext uri="{9D8B030D-6E8A-4147-A177-3AD203B41FA5}">
                      <a16:colId xmlns:a16="http://schemas.microsoft.com/office/drawing/2014/main" val="2435003322"/>
                    </a:ext>
                  </a:extLst>
                </a:gridCol>
                <a:gridCol w="924344">
                  <a:extLst>
                    <a:ext uri="{9D8B030D-6E8A-4147-A177-3AD203B41FA5}">
                      <a16:colId xmlns:a16="http://schemas.microsoft.com/office/drawing/2014/main" val="3168708848"/>
                    </a:ext>
                  </a:extLst>
                </a:gridCol>
                <a:gridCol w="922850">
                  <a:extLst>
                    <a:ext uri="{9D8B030D-6E8A-4147-A177-3AD203B41FA5}">
                      <a16:colId xmlns:a16="http://schemas.microsoft.com/office/drawing/2014/main" val="1140372714"/>
                    </a:ext>
                  </a:extLst>
                </a:gridCol>
                <a:gridCol w="925836">
                  <a:extLst>
                    <a:ext uri="{9D8B030D-6E8A-4147-A177-3AD203B41FA5}">
                      <a16:colId xmlns:a16="http://schemas.microsoft.com/office/drawing/2014/main" val="1482045052"/>
                    </a:ext>
                  </a:extLst>
                </a:gridCol>
                <a:gridCol w="925836">
                  <a:extLst>
                    <a:ext uri="{9D8B030D-6E8A-4147-A177-3AD203B41FA5}">
                      <a16:colId xmlns:a16="http://schemas.microsoft.com/office/drawing/2014/main" val="4084887146"/>
                    </a:ext>
                  </a:extLst>
                </a:gridCol>
                <a:gridCol w="925836">
                  <a:extLst>
                    <a:ext uri="{9D8B030D-6E8A-4147-A177-3AD203B41FA5}">
                      <a16:colId xmlns:a16="http://schemas.microsoft.com/office/drawing/2014/main" val="2736492979"/>
                    </a:ext>
                  </a:extLst>
                </a:gridCol>
                <a:gridCol w="925836">
                  <a:extLst>
                    <a:ext uri="{9D8B030D-6E8A-4147-A177-3AD203B41FA5}">
                      <a16:colId xmlns:a16="http://schemas.microsoft.com/office/drawing/2014/main" val="2526699384"/>
                    </a:ext>
                  </a:extLst>
                </a:gridCol>
              </a:tblGrid>
              <a:tr h="646331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'a'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670FF3B-89CE-4C7D-80B5-6B28F3E19D1C}"/>
              </a:ext>
            </a:extLst>
          </p:cNvPr>
          <p:cNvSpPr txBox="1"/>
          <p:nvPr/>
        </p:nvSpPr>
        <p:spPr>
          <a:xfrm>
            <a:off x="2519183" y="3828308"/>
            <a:ext cx="9296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0               200   204   208            400          4294967296                        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7EE30E-4854-4D3F-BDC9-2AC0CF44C91F}"/>
              </a:ext>
            </a:extLst>
          </p:cNvPr>
          <p:cNvSpPr txBox="1"/>
          <p:nvPr/>
        </p:nvSpPr>
        <p:spPr>
          <a:xfrm>
            <a:off x="1173433" y="3091247"/>
            <a:ext cx="1292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8F2AE0-A11C-4FF6-AC07-483533F8E624}"/>
              </a:ext>
            </a:extLst>
          </p:cNvPr>
          <p:cNvSpPr txBox="1"/>
          <p:nvPr/>
        </p:nvSpPr>
        <p:spPr>
          <a:xfrm>
            <a:off x="718958" y="3752165"/>
            <a:ext cx="1800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7B2F62B-9CC7-4597-A6B7-0CFA67229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748" y="2241444"/>
            <a:ext cx="2847079" cy="9632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1B2EF0-0D89-435D-B432-1B0027C3BEF0}"/>
              </a:ext>
            </a:extLst>
          </p:cNvPr>
          <p:cNvSpPr txBox="1"/>
          <p:nvPr/>
        </p:nvSpPr>
        <p:spPr>
          <a:xfrm>
            <a:off x="2230110" y="855142"/>
            <a:ext cx="63282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77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43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20D2C2-566A-49B8-84AE-8946E156C7C3}"/>
              </a:ext>
            </a:extLst>
          </p:cNvPr>
          <p:cNvSpPr txBox="1"/>
          <p:nvPr/>
        </p:nvSpPr>
        <p:spPr>
          <a:xfrm>
            <a:off x="221685" y="5231813"/>
            <a:ext cx="117486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Память похожа на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оооочень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длинный массив байт, где индексы этого массива - есть адреса (строка с Address), а значения массива - значения, что хранятся в памяти (строка Value)</a:t>
            </a:r>
          </a:p>
        </p:txBody>
      </p:sp>
    </p:spTree>
    <p:extLst>
      <p:ext uri="{BB962C8B-B14F-4D97-AF65-F5344CB8AC3E}">
        <p14:creationId xmlns:p14="http://schemas.microsoft.com/office/powerpoint/2010/main" val="145209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E45FE1D-1652-4323-894E-7F01CA6EF450}"/>
              </a:ext>
            </a:extLst>
          </p:cNvPr>
          <p:cNvSpPr txBox="1"/>
          <p:nvPr/>
        </p:nvSpPr>
        <p:spPr>
          <a:xfrm>
            <a:off x="1623038" y="2782669"/>
            <a:ext cx="89459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fr-FR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fr-F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&amp;</a:t>
            </a:r>
            <a:r>
              <a:rPr lang="fr-FR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fr-F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&amp;</a:t>
            </a:r>
            <a:r>
              <a:rPr lang="fr-FR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fr-F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  <a:endParaRPr lang="fr-FR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2F2A85-AE3A-42D5-9C0F-AF61C0DCED14}"/>
              </a:ext>
            </a:extLst>
          </p:cNvPr>
          <p:cNvSpPr txBox="1"/>
          <p:nvPr/>
        </p:nvSpPr>
        <p:spPr>
          <a:xfrm>
            <a:off x="431871" y="6232451"/>
            <a:ext cx="38491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Кстати</a:t>
            </a:r>
            <a:r>
              <a:rPr lang="en-US" sz="2400" dirty="0"/>
              <a:t>, scores == &amp;scores[0]</a:t>
            </a:r>
            <a:endParaRPr lang="ru-R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9DAC2A-B330-4B53-8F66-74B84FC43AE6}"/>
              </a:ext>
            </a:extLst>
          </p:cNvPr>
          <p:cNvSpPr txBox="1"/>
          <p:nvPr/>
        </p:nvSpPr>
        <p:spPr>
          <a:xfrm>
            <a:off x="1286308" y="4113104"/>
            <a:ext cx="105337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 - номер в памяти с нуля, обозначающийся целым числом. `&amp;` - операция взятия адреса переменной</a:t>
            </a:r>
          </a:p>
        </p:txBody>
      </p:sp>
    </p:spTree>
    <p:extLst>
      <p:ext uri="{BB962C8B-B14F-4D97-AF65-F5344CB8AC3E}">
        <p14:creationId xmlns:p14="http://schemas.microsoft.com/office/powerpoint/2010/main" val="1219733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0E32F1A-44F2-4C9D-87C9-4883A346F903}"/>
              </a:ext>
            </a:extLst>
          </p:cNvPr>
          <p:cNvSpPr txBox="1"/>
          <p:nvPr/>
        </p:nvSpPr>
        <p:spPr>
          <a:xfrm>
            <a:off x="1716906" y="1982450"/>
            <a:ext cx="931118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/>
              <a:t>Указатель (</a:t>
            </a:r>
            <a:r>
              <a:rPr lang="ru-RU" sz="4400" b="1" dirty="0" err="1"/>
              <a:t>pointer</a:t>
            </a:r>
            <a:r>
              <a:rPr lang="ru-RU" sz="4400" b="1" dirty="0"/>
              <a:t>) </a:t>
            </a:r>
            <a:r>
              <a:rPr lang="ru-RU" sz="4400" dirty="0"/>
              <a:t>- это переменная, которая хранит адрес ячейки памяти.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53846A-1608-4DA5-9827-E068F73E1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967" y="3805679"/>
            <a:ext cx="2966484" cy="29664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EEB529-F519-4423-A1A0-4CC3EA3E3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845" y="3981813"/>
            <a:ext cx="2966485" cy="279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37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8007C07-7358-4263-977B-CF1D4F9E6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077746"/>
              </p:ext>
            </p:extLst>
          </p:nvPr>
        </p:nvGraphicFramePr>
        <p:xfrm>
          <a:off x="1656782" y="4063320"/>
          <a:ext cx="851782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637">
                  <a:extLst>
                    <a:ext uri="{9D8B030D-6E8A-4147-A177-3AD203B41FA5}">
                      <a16:colId xmlns:a16="http://schemas.microsoft.com/office/drawing/2014/main" val="3159855452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2949569941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453511632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2948704378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2526699384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743615699"/>
                    </a:ext>
                  </a:extLst>
                </a:gridCol>
              </a:tblGrid>
              <a:tr h="463897"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-27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E0DDD37-BAD8-4994-B8B5-8BF9F78693AD}"/>
              </a:ext>
            </a:extLst>
          </p:cNvPr>
          <p:cNvSpPr txBox="1"/>
          <p:nvPr/>
        </p:nvSpPr>
        <p:spPr>
          <a:xfrm>
            <a:off x="2546917" y="5069160"/>
            <a:ext cx="76276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200                     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216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73E8F-2D9C-4F9E-826C-CDA5D00FBCB5}"/>
              </a:ext>
            </a:extLst>
          </p:cNvPr>
          <p:cNvSpPr txBox="1"/>
          <p:nvPr/>
        </p:nvSpPr>
        <p:spPr>
          <a:xfrm>
            <a:off x="3657600" y="3231188"/>
            <a:ext cx="53527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     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FB0A7F-9AA7-48BB-8879-DF843B988BD8}"/>
              </a:ext>
            </a:extLst>
          </p:cNvPr>
          <p:cNvSpPr txBox="1"/>
          <p:nvPr/>
        </p:nvSpPr>
        <p:spPr>
          <a:xfrm>
            <a:off x="3047114" y="1471242"/>
            <a:ext cx="60977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65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4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93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8007C07-7358-4263-977B-CF1D4F9E6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270098"/>
              </p:ext>
            </p:extLst>
          </p:nvPr>
        </p:nvGraphicFramePr>
        <p:xfrm>
          <a:off x="1656782" y="4063320"/>
          <a:ext cx="851782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637">
                  <a:extLst>
                    <a:ext uri="{9D8B030D-6E8A-4147-A177-3AD203B41FA5}">
                      <a16:colId xmlns:a16="http://schemas.microsoft.com/office/drawing/2014/main" val="3159855452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2949569941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453511632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2948704378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2526699384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743615699"/>
                    </a:ext>
                  </a:extLst>
                </a:gridCol>
              </a:tblGrid>
              <a:tr h="463897"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E0DDD37-BAD8-4994-B8B5-8BF9F78693AD}"/>
              </a:ext>
            </a:extLst>
          </p:cNvPr>
          <p:cNvSpPr txBox="1"/>
          <p:nvPr/>
        </p:nvSpPr>
        <p:spPr>
          <a:xfrm>
            <a:off x="2546917" y="5069160"/>
            <a:ext cx="76276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200                     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216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73E8F-2D9C-4F9E-826C-CDA5D00FBCB5}"/>
              </a:ext>
            </a:extLst>
          </p:cNvPr>
          <p:cNvSpPr txBox="1"/>
          <p:nvPr/>
        </p:nvSpPr>
        <p:spPr>
          <a:xfrm>
            <a:off x="3657600" y="3231188"/>
            <a:ext cx="53527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     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FB0A7F-9AA7-48BB-8879-DF843B988BD8}"/>
              </a:ext>
            </a:extLst>
          </p:cNvPr>
          <p:cNvSpPr txBox="1"/>
          <p:nvPr/>
        </p:nvSpPr>
        <p:spPr>
          <a:xfrm>
            <a:off x="3047114" y="1292196"/>
            <a:ext cx="60977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65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4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4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&amp;a;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37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8007C07-7358-4263-977B-CF1D4F9E6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555791"/>
              </p:ext>
            </p:extLst>
          </p:nvPr>
        </p:nvGraphicFramePr>
        <p:xfrm>
          <a:off x="1656782" y="4063320"/>
          <a:ext cx="851782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637">
                  <a:extLst>
                    <a:ext uri="{9D8B030D-6E8A-4147-A177-3AD203B41FA5}">
                      <a16:colId xmlns:a16="http://schemas.microsoft.com/office/drawing/2014/main" val="3159855452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2949569941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453511632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2948704378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2526699384"/>
                    </a:ext>
                  </a:extLst>
                </a:gridCol>
                <a:gridCol w="1419637">
                  <a:extLst>
                    <a:ext uri="{9D8B030D-6E8A-4147-A177-3AD203B41FA5}">
                      <a16:colId xmlns:a16="http://schemas.microsoft.com/office/drawing/2014/main" val="743615699"/>
                    </a:ext>
                  </a:extLst>
                </a:gridCol>
              </a:tblGrid>
              <a:tr h="463897"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ru-RU" sz="6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E0DDD37-BAD8-4994-B8B5-8BF9F78693AD}"/>
              </a:ext>
            </a:extLst>
          </p:cNvPr>
          <p:cNvSpPr txBox="1"/>
          <p:nvPr/>
        </p:nvSpPr>
        <p:spPr>
          <a:xfrm>
            <a:off x="2546917" y="5069160"/>
            <a:ext cx="76276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200                     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216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73E8F-2D9C-4F9E-826C-CDA5D00FBCB5}"/>
              </a:ext>
            </a:extLst>
          </p:cNvPr>
          <p:cNvSpPr txBox="1"/>
          <p:nvPr/>
        </p:nvSpPr>
        <p:spPr>
          <a:xfrm>
            <a:off x="3657600" y="3231188"/>
            <a:ext cx="53527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     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FB0A7F-9AA7-48BB-8879-DF843B988BD8}"/>
              </a:ext>
            </a:extLst>
          </p:cNvPr>
          <p:cNvSpPr txBox="1"/>
          <p:nvPr/>
        </p:nvSpPr>
        <p:spPr>
          <a:xfrm>
            <a:off x="3047114" y="734423"/>
            <a:ext cx="60977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65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4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4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&amp;a;</a:t>
            </a:r>
          </a:p>
          <a:p>
            <a:r>
              <a:rPr lang="en-US" sz="40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US" sz="4000" dirty="0" err="1">
                <a:solidFill>
                  <a:srgbClr val="D4D4D4"/>
                </a:solidFill>
                <a:latin typeface="Consolas" panose="020B0609020204030204" pitchFamily="49" charset="0"/>
              </a:rPr>
              <a:t>ptr</a:t>
            </a:r>
            <a:r>
              <a:rPr lang="en-US" sz="4000" dirty="0">
                <a:solidFill>
                  <a:srgbClr val="D4D4D4"/>
                </a:solidFill>
                <a:latin typeface="Consolas" panose="020B0609020204030204" pitchFamily="49" charset="0"/>
              </a:rPr>
              <a:t> = 67;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531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54C1C71-7AFE-4BE2-83F5-F699253EB6DE}"/>
              </a:ext>
            </a:extLst>
          </p:cNvPr>
          <p:cNvSpPr txBox="1"/>
          <p:nvPr/>
        </p:nvSpPr>
        <p:spPr>
          <a:xfrm>
            <a:off x="1039090" y="733289"/>
            <a:ext cx="107961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Разыменовыванием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dereference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называется переход по адресу, что хранится в переменной-указателе для считывания или записи значения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указанному адресу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A0AF1C-D66C-46A8-B964-C8B41865E339}"/>
              </a:ext>
            </a:extLst>
          </p:cNvPr>
          <p:cNvSpPr txBox="1"/>
          <p:nvPr/>
        </p:nvSpPr>
        <p:spPr>
          <a:xfrm>
            <a:off x="1039090" y="2691245"/>
            <a:ext cx="109104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Здесь не путаем `*` когда объявляем и когда разыменовываем переменную, это разные вещи:               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- `*` здесь значит, что мы объявляем указатель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5; - `*` здесь означает операцию разыменовывания            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56019F-50FB-46C0-A445-A9FBE28409C1}"/>
              </a:ext>
            </a:extLst>
          </p:cNvPr>
          <p:cNvSpPr txBox="1"/>
          <p:nvPr/>
        </p:nvSpPr>
        <p:spPr>
          <a:xfrm>
            <a:off x="1039090" y="4649201"/>
            <a:ext cx="98479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объявлении указателя есть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ДВА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варианта где поставить звездочку: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94678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E940EB53-6EF1-4217-A7A4-AB105377D6FC}"/>
              </a:ext>
            </a:extLst>
          </p:cNvPr>
          <p:cNvSpPr txBox="1"/>
          <p:nvPr/>
        </p:nvSpPr>
        <p:spPr>
          <a:xfrm>
            <a:off x="1689273" y="1831789"/>
            <a:ext cx="88134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Ошибка!</a:t>
            </a:r>
          </a:p>
          <a:p>
            <a:endParaRPr lang="ru-RU" sz="24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r>
              <a:rPr lang="ru-RU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Указатель на пустоту</a:t>
            </a:r>
          </a:p>
          <a:p>
            <a:endParaRPr lang="ru-RU" sz="24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*)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*)</a:t>
            </a:r>
            <a:r>
              <a:rPr lang="ru-R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*)  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2E571A-78D9-433F-B52F-8FB6CE1F0A75}"/>
              </a:ext>
            </a:extLst>
          </p:cNvPr>
          <p:cNvSpPr txBox="1"/>
          <p:nvPr/>
        </p:nvSpPr>
        <p:spPr>
          <a:xfrm>
            <a:off x="849295" y="4458965"/>
            <a:ext cx="109851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32-разрядных систем размер указателя будет 4 байта, для 64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байт.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Заголовок 3">
            <a:extLst>
              <a:ext uri="{FF2B5EF4-FFF2-40B4-BE49-F238E27FC236}">
                <a16:creationId xmlns:a16="http://schemas.microsoft.com/office/drawing/2014/main" id="{BFC5DE54-0005-4D93-BAAF-7E6882E9E419}"/>
              </a:ext>
            </a:extLst>
          </p:cNvPr>
          <p:cNvSpPr txBox="1">
            <a:spLocks/>
          </p:cNvSpPr>
          <p:nvPr/>
        </p:nvSpPr>
        <p:spPr>
          <a:xfrm>
            <a:off x="1589314" y="118676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Void pointers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5414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E6191C-942B-493D-BBD3-80B4AD3D6A65}"/>
              </a:ext>
            </a:extLst>
          </p:cNvPr>
          <p:cNvSpPr txBox="1"/>
          <p:nvPr/>
        </p:nvSpPr>
        <p:spPr>
          <a:xfrm>
            <a:off x="1146454" y="2264122"/>
            <a:ext cx="53785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&amp;a;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sz="3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ошибка</a:t>
            </a:r>
            <a:r>
              <a:rPr lang="en-US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!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35C51-1A4B-45DC-8549-D998A0A48C53}"/>
              </a:ext>
            </a:extLst>
          </p:cNvPr>
          <p:cNvSpPr txBox="1"/>
          <p:nvPr/>
        </p:nvSpPr>
        <p:spPr>
          <a:xfrm>
            <a:off x="6032151" y="3878079"/>
            <a:ext cx="578010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&amp;a;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 = *((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*)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7D200D-3FE4-4832-958A-A6E1E24D5C97}"/>
              </a:ext>
            </a:extLst>
          </p:cNvPr>
          <p:cNvSpPr txBox="1"/>
          <p:nvPr/>
        </p:nvSpPr>
        <p:spPr>
          <a:xfrm>
            <a:off x="1146454" y="1063794"/>
            <a:ext cx="1014988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указатель нельзя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разыменовать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явно не преобразовать его на указатель другого типа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268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FBC107C4-DD0A-4873-96AC-42838CA8EEE5}"/>
              </a:ext>
            </a:extLst>
          </p:cNvPr>
          <p:cNvSpPr txBox="1">
            <a:spLocks/>
          </p:cNvSpPr>
          <p:nvPr/>
        </p:nvSpPr>
        <p:spPr>
          <a:xfrm>
            <a:off x="1589314" y="118676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NULL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03557-F2CF-4F77-ABD4-C60C0C337372}"/>
              </a:ext>
            </a:extLst>
          </p:cNvPr>
          <p:cNvSpPr txBox="1"/>
          <p:nvPr/>
        </p:nvSpPr>
        <p:spPr>
          <a:xfrm>
            <a:off x="912200" y="1617756"/>
            <a:ext cx="108958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указателей есть свой 0 - NULL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- это адрес на нулевую ячейку к памяти. Всем программам к ней доступ закрыт и при попытке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разыменовать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получим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segfault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1F1491-4386-4270-8BA0-21C4BC1D87E3}"/>
              </a:ext>
            </a:extLst>
          </p:cNvPr>
          <p:cNvSpPr txBox="1"/>
          <p:nvPr/>
        </p:nvSpPr>
        <p:spPr>
          <a:xfrm>
            <a:off x="2006843" y="3570241"/>
            <a:ext cx="849556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ru-RU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инициализирован?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Что-то выполняем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774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7F00999A-C7FE-4384-B3A8-E759EF3E92E6}"/>
              </a:ext>
            </a:extLst>
          </p:cNvPr>
          <p:cNvSpPr txBox="1"/>
          <p:nvPr/>
        </p:nvSpPr>
        <p:spPr>
          <a:xfrm>
            <a:off x="4481513" y="3075057"/>
            <a:ext cx="32289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u-RU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a, b;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962A6C-1EEB-4337-AA5D-4B47A4D785AD}"/>
              </a:ext>
            </a:extLst>
          </p:cNvPr>
          <p:cNvSpPr txBox="1"/>
          <p:nvPr/>
        </p:nvSpPr>
        <p:spPr>
          <a:xfrm>
            <a:off x="3048733" y="861617"/>
            <a:ext cx="67898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здесь объявлено?</a:t>
            </a:r>
          </a:p>
        </p:txBody>
      </p:sp>
    </p:spTree>
    <p:extLst>
      <p:ext uri="{BB962C8B-B14F-4D97-AF65-F5344CB8AC3E}">
        <p14:creationId xmlns:p14="http://schemas.microsoft.com/office/powerpoint/2010/main" val="3839894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5C2417E-E755-4855-9E48-A68001849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25" y="1461485"/>
            <a:ext cx="4620721" cy="462072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FE553A-D8C6-483E-8449-BA6AEED7D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60" y="1531824"/>
            <a:ext cx="5003026" cy="4705971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2C5CA2A-FF03-4AC5-9112-FBE0D4DB55E8}"/>
              </a:ext>
            </a:extLst>
          </p:cNvPr>
          <p:cNvSpPr txBox="1">
            <a:spLocks/>
          </p:cNvSpPr>
          <p:nvPr/>
        </p:nvSpPr>
        <p:spPr>
          <a:xfrm>
            <a:off x="1589314" y="118676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Указатель на указатель на </a:t>
            </a:r>
            <a:r>
              <a:rPr lang="en-US" dirty="0"/>
              <a:t>..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3216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CD82BE-D574-422F-AAF1-F4E15BD353FA}"/>
              </a:ext>
            </a:extLst>
          </p:cNvPr>
          <p:cNvSpPr txBox="1"/>
          <p:nvPr/>
        </p:nvSpPr>
        <p:spPr>
          <a:xfrm>
            <a:off x="1606793" y="1391543"/>
            <a:ext cx="91432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ru-RU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*ptr1;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 **ptr2; // указатель на указатель на char 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ru-RU" sz="2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/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6D14AB-EAD0-42EC-9E0D-46F3FE6C5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681" y="4081463"/>
            <a:ext cx="7312638" cy="225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45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CD82BE-D574-422F-AAF1-F4E15BD353FA}"/>
              </a:ext>
            </a:extLst>
          </p:cNvPr>
          <p:cNvSpPr txBox="1"/>
          <p:nvPr/>
        </p:nvSpPr>
        <p:spPr>
          <a:xfrm>
            <a:off x="1606793" y="1391543"/>
            <a:ext cx="914326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ru-RU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*ptr1;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 **ptr2; // указатель на указатель на char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ru-RU" sz="2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/>
            </a:r>
            <a:endParaRPr lang="en-US" sz="28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en-US" sz="28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ptr1 = &amp;a;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D93342-73B3-44D4-AC4F-B26BE5583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969" y="4063135"/>
            <a:ext cx="7144062" cy="231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42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CD82BE-D574-422F-AAF1-F4E15BD353FA}"/>
              </a:ext>
            </a:extLst>
          </p:cNvPr>
          <p:cNvSpPr txBox="1"/>
          <p:nvPr/>
        </p:nvSpPr>
        <p:spPr>
          <a:xfrm>
            <a:off x="1606793" y="1391543"/>
            <a:ext cx="91432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ru-RU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*ptr1;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 **ptr2; // указатель на указатель на char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ru-RU" sz="2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/>
            </a:r>
            <a:endParaRPr lang="en-US" sz="28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en-US" sz="28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ptr1 = &amp;a;</a:t>
            </a: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ptr2 = &amp;ptr1;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2E3A5C-08F1-4552-87A9-4BC1EE8BC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50" y="3962369"/>
            <a:ext cx="7653751" cy="255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26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CD82BE-D574-422F-AAF1-F4E15BD353FA}"/>
              </a:ext>
            </a:extLst>
          </p:cNvPr>
          <p:cNvSpPr txBox="1"/>
          <p:nvPr/>
        </p:nvSpPr>
        <p:spPr>
          <a:xfrm>
            <a:off x="1896939" y="1699273"/>
            <a:ext cx="914326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"ptr2 =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ptr2);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// 250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"*ptr2 =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// 200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"**ptr2 =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%c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**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// A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"&amp;</a:t>
            </a:r>
            <a:r>
              <a:rPr lang="en-US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// 216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2E3A5C-08F1-4552-87A9-4BC1EE8BC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124" y="3962369"/>
            <a:ext cx="7653751" cy="255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944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495DF4-1047-45D7-BEFF-78F7CD85B7C8}"/>
              </a:ext>
            </a:extLst>
          </p:cNvPr>
          <p:cNvSpPr txBox="1"/>
          <p:nvPr/>
        </p:nvSpPr>
        <p:spPr>
          <a:xfrm>
            <a:off x="3331735" y="2028616"/>
            <a:ext cx="552853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4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4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4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&amp;a;</a:t>
            </a:r>
            <a:br>
              <a:rPr lang="en-US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4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*&amp;*&amp;*&amp;*</a:t>
            </a:r>
            <a:r>
              <a:rPr lang="en-US" sz="4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4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400" dirty="0">
                <a:solidFill>
                  <a:srgbClr val="D4D4D4"/>
                </a:solidFill>
                <a:latin typeface="Consolas" panose="020B0609020204030204" pitchFamily="49" charset="0"/>
              </a:rPr>
              <a:t>= ?</a:t>
            </a:r>
            <a:endParaRPr lang="en-US" sz="4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965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252396"/>
            <a:ext cx="9013371" cy="888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Pointer </a:t>
            </a:r>
            <a:r>
              <a:rPr lang="en-US" sz="5400" dirty="0" err="1"/>
              <a:t>arithmetics</a:t>
            </a:r>
            <a:endParaRPr lang="ru-RU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C15E9-6C05-432A-8A96-35F5AA3173A4}"/>
              </a:ext>
            </a:extLst>
          </p:cNvPr>
          <p:cNvSpPr txBox="1"/>
          <p:nvPr/>
        </p:nvSpPr>
        <p:spPr>
          <a:xfrm>
            <a:off x="1263357" y="1670195"/>
            <a:ext cx="38010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&amp;a;</a:t>
            </a:r>
          </a:p>
          <a:p>
            <a:endParaRPr lang="en-US" sz="3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sz="3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*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3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sz="3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en-US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93818BD-C5B2-4710-B1A0-B34C58D7C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442" y="1253706"/>
            <a:ext cx="5029201" cy="167194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D90AF77-2058-4AAD-9FEC-76488E33C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396" y="3143804"/>
            <a:ext cx="4823291" cy="157709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76982D8-CB84-48A9-8AC2-2B8E6D8C2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396" y="4799094"/>
            <a:ext cx="5029201" cy="16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87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0CBD5FE-5806-4110-A4EA-2D3EAA03B488}"/>
              </a:ext>
            </a:extLst>
          </p:cNvPr>
          <p:cNvSpPr txBox="1"/>
          <p:nvPr/>
        </p:nvSpPr>
        <p:spPr>
          <a:xfrm>
            <a:off x="992065" y="1659285"/>
            <a:ext cx="1020787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3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3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lang="en-US" sz="3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			</a:t>
            </a:r>
            <a:r>
              <a:rPr lang="ru-RU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 = ?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3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*(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ru-RU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ru-RU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 = ?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3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3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 			</a:t>
            </a:r>
            <a:r>
              <a:rPr lang="ru-RU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 = ?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3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ld</a:t>
            </a:r>
            <a:r>
              <a:rPr lang="en-US" sz="3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3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- 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 = ?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524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893B27-18AE-492A-8246-B486CB2C401E}"/>
              </a:ext>
            </a:extLst>
          </p:cNvPr>
          <p:cNvSpPr txBox="1"/>
          <p:nvPr/>
        </p:nvSpPr>
        <p:spPr>
          <a:xfrm>
            <a:off x="487973" y="582067"/>
            <a:ext cx="1121605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{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},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},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matrix;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**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                  // = ?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*(*(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      // = ? 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(*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              // = ?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*(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+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          // = ?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ld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*)(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- (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*)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= ?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163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Endianness (</a:t>
            </a:r>
            <a:r>
              <a:rPr lang="ru-RU" dirty="0"/>
              <a:t>порядок байт)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7F108E-AF20-43B0-9DBA-4518ABB584F5}"/>
              </a:ext>
            </a:extLst>
          </p:cNvPr>
          <p:cNvSpPr txBox="1"/>
          <p:nvPr/>
        </p:nvSpPr>
        <p:spPr>
          <a:xfrm>
            <a:off x="759541" y="3752165"/>
            <a:ext cx="3791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 = 0x12345678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A00E37F7-DC1A-4D3B-BB6D-76E736807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9424"/>
              </p:ext>
            </p:extLst>
          </p:nvPr>
        </p:nvGraphicFramePr>
        <p:xfrm>
          <a:off x="6927047" y="2692131"/>
          <a:ext cx="4120092" cy="775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023">
                  <a:extLst>
                    <a:ext uri="{9D8B030D-6E8A-4147-A177-3AD203B41FA5}">
                      <a16:colId xmlns:a16="http://schemas.microsoft.com/office/drawing/2014/main" val="952900806"/>
                    </a:ext>
                  </a:extLst>
                </a:gridCol>
                <a:gridCol w="1030023">
                  <a:extLst>
                    <a:ext uri="{9D8B030D-6E8A-4147-A177-3AD203B41FA5}">
                      <a16:colId xmlns:a16="http://schemas.microsoft.com/office/drawing/2014/main" val="2949569941"/>
                    </a:ext>
                  </a:extLst>
                </a:gridCol>
                <a:gridCol w="1030023">
                  <a:extLst>
                    <a:ext uri="{9D8B030D-6E8A-4147-A177-3AD203B41FA5}">
                      <a16:colId xmlns:a16="http://schemas.microsoft.com/office/drawing/2014/main" val="453511632"/>
                    </a:ext>
                  </a:extLst>
                </a:gridCol>
                <a:gridCol w="1030023">
                  <a:extLst>
                    <a:ext uri="{9D8B030D-6E8A-4147-A177-3AD203B41FA5}">
                      <a16:colId xmlns:a16="http://schemas.microsoft.com/office/drawing/2014/main" val="2948704378"/>
                    </a:ext>
                  </a:extLst>
                </a:gridCol>
              </a:tblGrid>
              <a:tr h="775515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0x12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0x34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0x56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0x78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E995206-E9B7-45A0-B3BF-A928B9A5545F}"/>
              </a:ext>
            </a:extLst>
          </p:cNvPr>
          <p:cNvSpPr txBox="1"/>
          <p:nvPr/>
        </p:nvSpPr>
        <p:spPr>
          <a:xfrm>
            <a:off x="8440113" y="1796935"/>
            <a:ext cx="26917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Big-endian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63E450-22C1-4079-9EF1-C9A949B0D1B5}"/>
              </a:ext>
            </a:extLst>
          </p:cNvPr>
          <p:cNvSpPr txBox="1"/>
          <p:nvPr/>
        </p:nvSpPr>
        <p:spPr>
          <a:xfrm>
            <a:off x="6890651" y="3429000"/>
            <a:ext cx="3993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100   101   102   103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3F5B8739-7891-4BAB-8D29-1C78DE469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860923"/>
              </p:ext>
            </p:extLst>
          </p:nvPr>
        </p:nvGraphicFramePr>
        <p:xfrm>
          <a:off x="6982127" y="5096283"/>
          <a:ext cx="4120092" cy="775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023">
                  <a:extLst>
                    <a:ext uri="{9D8B030D-6E8A-4147-A177-3AD203B41FA5}">
                      <a16:colId xmlns:a16="http://schemas.microsoft.com/office/drawing/2014/main" val="952900806"/>
                    </a:ext>
                  </a:extLst>
                </a:gridCol>
                <a:gridCol w="1030023">
                  <a:extLst>
                    <a:ext uri="{9D8B030D-6E8A-4147-A177-3AD203B41FA5}">
                      <a16:colId xmlns:a16="http://schemas.microsoft.com/office/drawing/2014/main" val="2949569941"/>
                    </a:ext>
                  </a:extLst>
                </a:gridCol>
                <a:gridCol w="1030023">
                  <a:extLst>
                    <a:ext uri="{9D8B030D-6E8A-4147-A177-3AD203B41FA5}">
                      <a16:colId xmlns:a16="http://schemas.microsoft.com/office/drawing/2014/main" val="453511632"/>
                    </a:ext>
                  </a:extLst>
                </a:gridCol>
                <a:gridCol w="1030023">
                  <a:extLst>
                    <a:ext uri="{9D8B030D-6E8A-4147-A177-3AD203B41FA5}">
                      <a16:colId xmlns:a16="http://schemas.microsoft.com/office/drawing/2014/main" val="2948704378"/>
                    </a:ext>
                  </a:extLst>
                </a:gridCol>
              </a:tblGrid>
              <a:tr h="775515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0x78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0x56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0x34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0x12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EBF8C87-D5CD-4771-B38A-18052183B18B}"/>
              </a:ext>
            </a:extLst>
          </p:cNvPr>
          <p:cNvSpPr txBox="1"/>
          <p:nvPr/>
        </p:nvSpPr>
        <p:spPr>
          <a:xfrm>
            <a:off x="8032951" y="4291625"/>
            <a:ext cx="3098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Little-endian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AF4D5E-B4F5-4E49-90A2-94D42ADA48F2}"/>
              </a:ext>
            </a:extLst>
          </p:cNvPr>
          <p:cNvSpPr txBox="1"/>
          <p:nvPr/>
        </p:nvSpPr>
        <p:spPr>
          <a:xfrm>
            <a:off x="7045472" y="5830115"/>
            <a:ext cx="3993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100   101   102   103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Стрелка: вправо 17">
            <a:extLst>
              <a:ext uri="{FF2B5EF4-FFF2-40B4-BE49-F238E27FC236}">
                <a16:creationId xmlns:a16="http://schemas.microsoft.com/office/drawing/2014/main" id="{B14A4A9E-DEBA-40A0-AE50-2326E760CE1D}"/>
              </a:ext>
            </a:extLst>
          </p:cNvPr>
          <p:cNvSpPr/>
          <p:nvPr/>
        </p:nvSpPr>
        <p:spPr>
          <a:xfrm rot="20722418">
            <a:off x="4694405" y="3211181"/>
            <a:ext cx="2117377" cy="673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Стрелка: вправо 26">
            <a:extLst>
              <a:ext uri="{FF2B5EF4-FFF2-40B4-BE49-F238E27FC236}">
                <a16:creationId xmlns:a16="http://schemas.microsoft.com/office/drawing/2014/main" id="{16B42C01-DBEC-40BA-A025-8C0D6D28D39E}"/>
              </a:ext>
            </a:extLst>
          </p:cNvPr>
          <p:cNvSpPr/>
          <p:nvPr/>
        </p:nvSpPr>
        <p:spPr>
          <a:xfrm rot="908761">
            <a:off x="4697769" y="4349819"/>
            <a:ext cx="2133175" cy="6591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1BBB1D-F293-4E8E-A82B-B4801BA93616}"/>
              </a:ext>
            </a:extLst>
          </p:cNvPr>
          <p:cNvSpPr txBox="1"/>
          <p:nvPr/>
        </p:nvSpPr>
        <p:spPr>
          <a:xfrm>
            <a:off x="680850" y="1597859"/>
            <a:ext cx="611976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Endian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(обратный порядок): Сначала старший байт, число слева направо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Little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Endian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(прямой порядок): Сначала младший байт, число справа налево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C42C62-02DA-4003-8E8B-DD34CF1308B1}"/>
              </a:ext>
            </a:extLst>
          </p:cNvPr>
          <p:cNvSpPr txBox="1"/>
          <p:nvPr/>
        </p:nvSpPr>
        <p:spPr>
          <a:xfrm>
            <a:off x="692003" y="5170201"/>
            <a:ext cx="60974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современных ПК с архитектурой x86 (Intel, AMD) вы увидите </a:t>
            </a:r>
            <a:r>
              <a:rPr lang="ru-RU" dirty="0" err="1"/>
              <a:t>little-endian</a:t>
            </a:r>
            <a:r>
              <a:rPr lang="ru-RU" dirty="0"/>
              <a:t> (прямой порядок байт)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Сетевые протоколы строились на </a:t>
            </a:r>
            <a:r>
              <a:rPr lang="ru-RU" dirty="0" err="1"/>
              <a:t>big</a:t>
            </a:r>
            <a:r>
              <a:rPr lang="ru-RU" dirty="0"/>
              <a:t> </a:t>
            </a:r>
            <a:r>
              <a:rPr lang="ru-RU" dirty="0" err="1"/>
              <a:t>endian</a:t>
            </a:r>
            <a:r>
              <a:rPr lang="ru-RU" dirty="0"/>
              <a:t>, называется это сетевым порядком байт</a:t>
            </a:r>
          </a:p>
        </p:txBody>
      </p:sp>
    </p:spTree>
    <p:extLst>
      <p:ext uri="{BB962C8B-B14F-4D97-AF65-F5344CB8AC3E}">
        <p14:creationId xmlns:p14="http://schemas.microsoft.com/office/powerpoint/2010/main" val="146615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BE915140-7625-4E2E-8504-CBE0FA5251D0}"/>
              </a:ext>
            </a:extLst>
          </p:cNvPr>
          <p:cNvSpPr txBox="1"/>
          <p:nvPr/>
        </p:nvSpPr>
        <p:spPr>
          <a:xfrm>
            <a:off x="2078831" y="3884761"/>
            <a:ext cx="83900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Endianness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может возникнуть когда: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Обмениваетесь данными между двумя системами с разным порядком байт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Передача данных по сети (TCP/IP)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файлами (PNG, JPEG)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чтении памяти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434DBAB-5E6F-448B-A2E1-D6BEA452B4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50" t="27436" r="7853" b="19486"/>
          <a:stretch/>
        </p:blipFill>
        <p:spPr>
          <a:xfrm>
            <a:off x="2078831" y="562137"/>
            <a:ext cx="8034337" cy="310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86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40EA9DD-4DA5-4269-839B-7A23BF758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745361"/>
              </p:ext>
            </p:extLst>
          </p:nvPr>
        </p:nvGraphicFramePr>
        <p:xfrm>
          <a:off x="350238" y="5031448"/>
          <a:ext cx="11841768" cy="646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814">
                  <a:extLst>
                    <a:ext uri="{9D8B030D-6E8A-4147-A177-3AD203B41FA5}">
                      <a16:colId xmlns:a16="http://schemas.microsoft.com/office/drawing/2014/main" val="2949569941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453511632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2948704378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2526699384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743615699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497774477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868585826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1888956304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1519038638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2054179035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3830705623"/>
                    </a:ext>
                  </a:extLst>
                </a:gridCol>
                <a:gridCol w="986814">
                  <a:extLst>
                    <a:ext uri="{9D8B030D-6E8A-4147-A177-3AD203B41FA5}">
                      <a16:colId xmlns:a16="http://schemas.microsoft.com/office/drawing/2014/main" val="2612488739"/>
                    </a:ext>
                  </a:extLst>
                </a:gridCol>
              </a:tblGrid>
              <a:tr h="646331">
                <a:tc>
                  <a:txBody>
                    <a:bodyPr/>
                    <a:lstStyle/>
                    <a:p>
                      <a:pPr algn="ctr"/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EE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4502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01DA174-F7E7-4B91-BD3C-EC51B7F5F9BA}"/>
              </a:ext>
            </a:extLst>
          </p:cNvPr>
          <p:cNvSpPr txBox="1"/>
          <p:nvPr/>
        </p:nvSpPr>
        <p:spPr>
          <a:xfrm>
            <a:off x="1384928" y="5677779"/>
            <a:ext cx="10528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200   201    202    203  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    …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220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                         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677BC2-5869-45FF-AD73-B33692F9DA1D}"/>
              </a:ext>
            </a:extLst>
          </p:cNvPr>
          <p:cNvSpPr txBox="1"/>
          <p:nvPr/>
        </p:nvSpPr>
        <p:spPr>
          <a:xfrm>
            <a:off x="1450631" y="869629"/>
            <a:ext cx="868058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0xC0FFEE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*)&amp;a;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для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little-endian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"first byte of a =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hhx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0xEE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"second byte of a =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hhx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0xFF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FB975D-799B-4BF9-BC74-8E9761BCF228}"/>
              </a:ext>
            </a:extLst>
          </p:cNvPr>
          <p:cNvSpPr txBox="1"/>
          <p:nvPr/>
        </p:nvSpPr>
        <p:spPr>
          <a:xfrm>
            <a:off x="3195788" y="4086194"/>
            <a:ext cx="4132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ru-RU" sz="2400" dirty="0"/>
          </a:p>
        </p:txBody>
      </p:sp>
      <p:sp>
        <p:nvSpPr>
          <p:cNvPr id="10" name="Левая фигурная скобка 9">
            <a:extLst>
              <a:ext uri="{FF2B5EF4-FFF2-40B4-BE49-F238E27FC236}">
                <a16:creationId xmlns:a16="http://schemas.microsoft.com/office/drawing/2014/main" id="{F8B48F77-E884-4D07-8F4C-7524A23BFC2B}"/>
              </a:ext>
            </a:extLst>
          </p:cNvPr>
          <p:cNvSpPr/>
          <p:nvPr/>
        </p:nvSpPr>
        <p:spPr>
          <a:xfrm rot="5400000">
            <a:off x="3135626" y="2860780"/>
            <a:ext cx="412620" cy="3914019"/>
          </a:xfrm>
          <a:prstGeom prst="leftBrace">
            <a:avLst>
              <a:gd name="adj1" fmla="val 96566"/>
              <a:gd name="adj2" fmla="val 50211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Левая фигурная скобка 10">
            <a:extLst>
              <a:ext uri="{FF2B5EF4-FFF2-40B4-BE49-F238E27FC236}">
                <a16:creationId xmlns:a16="http://schemas.microsoft.com/office/drawing/2014/main" id="{10463488-7DED-4380-8C8E-359FC39AD95A}"/>
              </a:ext>
            </a:extLst>
          </p:cNvPr>
          <p:cNvSpPr/>
          <p:nvPr/>
        </p:nvSpPr>
        <p:spPr>
          <a:xfrm rot="5400000">
            <a:off x="9051569" y="2837744"/>
            <a:ext cx="412620" cy="3947446"/>
          </a:xfrm>
          <a:prstGeom prst="leftBrace">
            <a:avLst>
              <a:gd name="adj1" fmla="val 96566"/>
              <a:gd name="adj2" fmla="val 50211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D43AF3-E596-4F49-908E-DC48E1C5C069}"/>
              </a:ext>
            </a:extLst>
          </p:cNvPr>
          <p:cNvSpPr txBox="1"/>
          <p:nvPr/>
        </p:nvSpPr>
        <p:spPr>
          <a:xfrm>
            <a:off x="8976486" y="3916617"/>
            <a:ext cx="835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292760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3">
            <a:extLst>
              <a:ext uri="{FF2B5EF4-FFF2-40B4-BE49-F238E27FC236}">
                <a16:creationId xmlns:a16="http://schemas.microsoft.com/office/drawing/2014/main" id="{0C776D11-EEA0-4889-862A-323547785F5C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Dynamic array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51C12D-8486-4DC8-80EE-A579253240C4}"/>
              </a:ext>
            </a:extLst>
          </p:cNvPr>
          <p:cNvSpPr txBox="1"/>
          <p:nvPr/>
        </p:nvSpPr>
        <p:spPr>
          <a:xfrm>
            <a:off x="1061670" y="1905506"/>
            <a:ext cx="102100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Динамические массивы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массивы, размер которых можно менять по ходу выполнения программы.                      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для работы с динамическими массивами (&lt;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&gt;):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9B92D4-21F1-42BE-992C-A0D20BDC7464}"/>
              </a:ext>
            </a:extLst>
          </p:cNvPr>
          <p:cNvSpPr txBox="1"/>
          <p:nvPr/>
        </p:nvSpPr>
        <p:spPr>
          <a:xfrm>
            <a:off x="5008867" y="3719036"/>
            <a:ext cx="231567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malloc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calloc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realloc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9070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3A3572DA-B1DF-424B-9E13-5CE3F3268FE4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malloc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0729EB-72EB-4537-AD65-8852C55034D1}"/>
              </a:ext>
            </a:extLst>
          </p:cNvPr>
          <p:cNvSpPr txBox="1"/>
          <p:nvPr/>
        </p:nvSpPr>
        <p:spPr>
          <a:xfrm>
            <a:off x="837100" y="1567029"/>
            <a:ext cx="1092700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 err="1"/>
              <a:t>malloc</a:t>
            </a:r>
            <a:r>
              <a:rPr lang="ru-RU" sz="2800" dirty="0"/>
              <a:t> - </a:t>
            </a:r>
            <a:r>
              <a:rPr lang="ru-RU" sz="2800" b="1" dirty="0"/>
              <a:t>M</a:t>
            </a:r>
            <a:r>
              <a:rPr lang="ru-RU" sz="2800" dirty="0"/>
              <a:t>emory </a:t>
            </a:r>
            <a:r>
              <a:rPr lang="ru-RU" sz="2800" b="1" dirty="0" err="1"/>
              <a:t>Alloc</a:t>
            </a:r>
            <a:r>
              <a:rPr lang="ru-RU" sz="2800" dirty="0"/>
              <a:t> - </a:t>
            </a:r>
            <a:r>
              <a:rPr lang="ru-RU" sz="2800" b="1" dirty="0"/>
              <a:t>выделяет динамическую память</a:t>
            </a:r>
            <a:r>
              <a:rPr lang="ru-RU" sz="2800" dirty="0"/>
              <a:t> для хранения данных. Имеет 1 </a:t>
            </a:r>
            <a:r>
              <a:rPr lang="ru-RU" sz="2800" b="1" dirty="0"/>
              <a:t>аргумент - количество байт, которое необходимо выделить</a:t>
            </a:r>
            <a:r>
              <a:rPr lang="ru-RU" sz="2800" dirty="0"/>
              <a:t>. </a:t>
            </a:r>
            <a:r>
              <a:rPr lang="ru-RU" sz="2800" b="1" dirty="0"/>
              <a:t>Возвращает адрес на выделенную память в случае успеха, </a:t>
            </a:r>
            <a:r>
              <a:rPr lang="ru-RU" sz="2800" dirty="0"/>
              <a:t>в случае неудачи (кончилась память, например) - </a:t>
            </a:r>
            <a:r>
              <a:rPr lang="ru-RU" sz="2800" b="1" dirty="0"/>
              <a:t>возвращает NULL</a:t>
            </a:r>
            <a:r>
              <a:rPr lang="ru-RU" sz="2800" dirty="0"/>
              <a:t>.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3D010-354D-47C1-B7B9-99833BEFDCBE}"/>
              </a:ext>
            </a:extLst>
          </p:cNvPr>
          <p:cNvSpPr txBox="1"/>
          <p:nvPr/>
        </p:nvSpPr>
        <p:spPr>
          <a:xfrm>
            <a:off x="2388209" y="4030952"/>
            <a:ext cx="74155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 malloc!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638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3A3572DA-B1DF-424B-9E13-5CE3F3268FE4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malloc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3D010-354D-47C1-B7B9-99833BEFDCBE}"/>
              </a:ext>
            </a:extLst>
          </p:cNvPr>
          <p:cNvSpPr txBox="1"/>
          <p:nvPr/>
        </p:nvSpPr>
        <p:spPr>
          <a:xfrm>
            <a:off x="2388209" y="1503517"/>
            <a:ext cx="74155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endParaRPr lang="en-US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 malloc!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8CE29E-175F-419F-A2AF-6AB5687D1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68" y="4260625"/>
            <a:ext cx="11637459" cy="197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2503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3A3572DA-B1DF-424B-9E13-5CE3F3268FE4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malloc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3D010-354D-47C1-B7B9-99833BEFDCBE}"/>
              </a:ext>
            </a:extLst>
          </p:cNvPr>
          <p:cNvSpPr txBox="1"/>
          <p:nvPr/>
        </p:nvSpPr>
        <p:spPr>
          <a:xfrm>
            <a:off x="2232267" y="2129404"/>
            <a:ext cx="7727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v-SE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v-SE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 </a:t>
            </a:r>
            <a:r>
              <a:rPr lang="ru-RU" sz="2400" dirty="0">
                <a:solidFill>
                  <a:srgbClr val="6A9955"/>
                </a:solidFill>
                <a:latin typeface="Consolas" panose="020B0609020204030204" pitchFamily="49" charset="0"/>
              </a:rPr>
              <a:t>или 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*arr = 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*(arr + 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*(arr + 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sv-SE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sv-SE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sv-SE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E6A363-DC42-4B9D-A59A-5C5B6C28D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87" y="3780120"/>
            <a:ext cx="11908423" cy="172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53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3A3572DA-B1DF-424B-9E13-5CE3F3268FE4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free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3D010-354D-47C1-B7B9-99833BEFDCBE}"/>
              </a:ext>
            </a:extLst>
          </p:cNvPr>
          <p:cNvSpPr txBox="1"/>
          <p:nvPr/>
        </p:nvSpPr>
        <p:spPr>
          <a:xfrm>
            <a:off x="5082272" y="1509586"/>
            <a:ext cx="2027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9874BC-5B97-48CE-ACEC-19BB9C117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32" y="1991416"/>
            <a:ext cx="11699332" cy="16285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6924CE-D263-45B3-B528-06E8FC2291AE}"/>
              </a:ext>
            </a:extLst>
          </p:cNvPr>
          <p:cNvSpPr txBox="1"/>
          <p:nvPr/>
        </p:nvSpPr>
        <p:spPr>
          <a:xfrm>
            <a:off x="719956" y="4089149"/>
            <a:ext cx="107520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попытке залезть в освобожденную память мы можем увидеть разные случайные числа от других программ, указатель на такую память называют "висячим указателем"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dangling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В этом указателе остался адрес на память, которая уже не связана с нашей программой либо эта память достанется нам позже и при работе с этим указателем мы поймаем лишь непредсказуемое поведение и "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гейзенбаги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(см. 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гугле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7425597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3A3572DA-B1DF-424B-9E13-5CE3F3268FE4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free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3D010-354D-47C1-B7B9-99833BEFDCBE}"/>
              </a:ext>
            </a:extLst>
          </p:cNvPr>
          <p:cNvSpPr txBox="1"/>
          <p:nvPr/>
        </p:nvSpPr>
        <p:spPr>
          <a:xfrm>
            <a:off x="5082272" y="1509586"/>
            <a:ext cx="2027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DAC57E-8898-4D3C-8385-B1DDC68DB592}"/>
              </a:ext>
            </a:extLst>
          </p:cNvPr>
          <p:cNvSpPr txBox="1"/>
          <p:nvPr/>
        </p:nvSpPr>
        <p:spPr>
          <a:xfrm>
            <a:off x="4982671" y="2050358"/>
            <a:ext cx="2226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A8429A7-5BBD-4F94-A923-0AB6FBFDB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74" y="2614726"/>
            <a:ext cx="11873244" cy="16285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36D03D-2C43-45CB-BC16-6C7D608419B1}"/>
              </a:ext>
            </a:extLst>
          </p:cNvPr>
          <p:cNvSpPr txBox="1"/>
          <p:nvPr/>
        </p:nvSpPr>
        <p:spPr>
          <a:xfrm>
            <a:off x="740457" y="4657924"/>
            <a:ext cx="105581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повторной попытке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разыменовать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указатель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гарантированно получим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mentaion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fault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а такое очень легко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пофиксить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отладчиком</a:t>
            </a:r>
          </a:p>
        </p:txBody>
      </p:sp>
    </p:spTree>
    <p:extLst>
      <p:ext uri="{BB962C8B-B14F-4D97-AF65-F5344CB8AC3E}">
        <p14:creationId xmlns:p14="http://schemas.microsoft.com/office/powerpoint/2010/main" val="394425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3C84CA1F-38CE-41A9-9CBA-9DDC6E0A741A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Memory leak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7DFC0-B573-4D85-8245-7D6BC3474D86}"/>
              </a:ext>
            </a:extLst>
          </p:cNvPr>
          <p:cNvSpPr txBox="1"/>
          <p:nvPr/>
        </p:nvSpPr>
        <p:spPr>
          <a:xfrm>
            <a:off x="1131640" y="1500641"/>
            <a:ext cx="99287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Утечка памяти </a:t>
            </a:r>
            <a:r>
              <a:rPr lang="ru-RU" sz="2800" dirty="0"/>
              <a:t>- ситуация, когда программа выделяет память и не освобождает, например: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3BC92-E6BA-4444-B95C-5479A4E3069C}"/>
              </a:ext>
            </a:extLst>
          </p:cNvPr>
          <p:cNvSpPr txBox="1"/>
          <p:nvPr/>
        </p:nvSpPr>
        <p:spPr>
          <a:xfrm>
            <a:off x="3047265" y="2998991"/>
            <a:ext cx="60974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ru-RU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ru-RU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3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ru-RU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ru-RU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ru-RU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ru-RU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ru-RU" sz="3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ru-RU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20000</a:t>
            </a:r>
            <a:r>
              <a:rPr lang="ru-RU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FD44D0-E9B7-454A-B8EC-05DD23D3AD18}"/>
              </a:ext>
            </a:extLst>
          </p:cNvPr>
          <p:cNvSpPr txBox="1"/>
          <p:nvPr/>
        </p:nvSpPr>
        <p:spPr>
          <a:xfrm>
            <a:off x="921434" y="4633024"/>
            <a:ext cx="107203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случае если ваша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завершилась, а вы не сделали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то,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 подчистит всю память за вас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Однако если ваша программа работает долго в цикле и в ней постоянно выделяется память и не освобождается..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языке Си нет сборщика мусора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242779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3A3572DA-B1DF-424B-9E13-5CE3F3268FE4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double free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922D15-5E86-4901-A944-45A08A90D754}"/>
              </a:ext>
            </a:extLst>
          </p:cNvPr>
          <p:cNvSpPr txBox="1"/>
          <p:nvPr/>
        </p:nvSpPr>
        <p:spPr>
          <a:xfrm>
            <a:off x="3047998" y="228811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3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401EB-7EE9-43EC-AA6D-ECFD583382C7}"/>
              </a:ext>
            </a:extLst>
          </p:cNvPr>
          <p:cNvSpPr txBox="1"/>
          <p:nvPr/>
        </p:nvSpPr>
        <p:spPr>
          <a:xfrm>
            <a:off x="940674" y="5099979"/>
            <a:ext cx="103106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попытке освободить память дважды, наша программа вылетит с ошибкой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5334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3A3572DA-B1DF-424B-9E13-5CE3F3268FE4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calloc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73F39-391C-4243-8F8C-B67506D27C31}"/>
              </a:ext>
            </a:extLst>
          </p:cNvPr>
          <p:cNvSpPr txBox="1"/>
          <p:nvPr/>
        </p:nvSpPr>
        <p:spPr>
          <a:xfrm>
            <a:off x="2428321" y="4112539"/>
            <a:ext cx="7335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*)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calloc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или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(int *)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calloc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(1, 3 *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8EBB20-52BE-4B02-B1D1-984FE2D583BE}"/>
              </a:ext>
            </a:extLst>
          </p:cNvPr>
          <p:cNvSpPr txBox="1"/>
          <p:nvPr/>
        </p:nvSpPr>
        <p:spPr>
          <a:xfrm>
            <a:off x="1465562" y="2052963"/>
            <a:ext cx="92608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calloc</a:t>
            </a:r>
            <a:r>
              <a:rPr lang="en-US" sz="2800" b="1" dirty="0"/>
              <a:t> </a:t>
            </a:r>
            <a:r>
              <a:rPr lang="ru-RU" sz="2800" dirty="0"/>
              <a:t>делает тоже самое что и </a:t>
            </a:r>
            <a:r>
              <a:rPr lang="en-US" sz="2800" b="1" dirty="0"/>
              <a:t>malloc</a:t>
            </a:r>
            <a:r>
              <a:rPr lang="en-US" sz="2800" dirty="0"/>
              <a:t>, </a:t>
            </a:r>
            <a:r>
              <a:rPr lang="ru-RU" sz="2800" dirty="0"/>
              <a:t>но инициализирует данные нулями. Первый аргумент - количество элементов</a:t>
            </a:r>
            <a:r>
              <a:rPr lang="en-US" sz="2800" dirty="0"/>
              <a:t>, </a:t>
            </a:r>
            <a:r>
              <a:rPr lang="ru-RU" sz="2800" dirty="0"/>
              <a:t>второй количество байт для каждого элемента</a:t>
            </a:r>
          </a:p>
        </p:txBody>
      </p:sp>
    </p:spTree>
    <p:extLst>
      <p:ext uri="{BB962C8B-B14F-4D97-AF65-F5344CB8AC3E}">
        <p14:creationId xmlns:p14="http://schemas.microsoft.com/office/powerpoint/2010/main" val="22732135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3FB992-1580-47AF-B1CB-B7E126E1257B}"/>
              </a:ext>
            </a:extLst>
          </p:cNvPr>
          <p:cNvSpPr txBox="1"/>
          <p:nvPr/>
        </p:nvSpPr>
        <p:spPr>
          <a:xfrm>
            <a:off x="2816331" y="3126092"/>
            <a:ext cx="655933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3 элемента по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(int)</a:t>
            </a:r>
            <a:endParaRPr lang="en-US" sz="20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    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начиная с адреса </a:t>
            </a:r>
            <a:r>
              <a:rPr lang="en-US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установить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12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нулей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memset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D19B40-56AD-4768-A84D-47F15369A581}"/>
              </a:ext>
            </a:extLst>
          </p:cNvPr>
          <p:cNvSpPr txBox="1"/>
          <p:nvPr/>
        </p:nvSpPr>
        <p:spPr>
          <a:xfrm>
            <a:off x="1132010" y="2072322"/>
            <a:ext cx="103067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С помощью </a:t>
            </a:r>
            <a:r>
              <a:rPr lang="en-US" sz="2800" dirty="0"/>
              <a:t>malloc </a:t>
            </a:r>
            <a:r>
              <a:rPr lang="ru-RU" sz="2800" dirty="0"/>
              <a:t>и </a:t>
            </a:r>
            <a:r>
              <a:rPr lang="en-US" sz="2800" dirty="0" err="1"/>
              <a:t>memset</a:t>
            </a:r>
            <a:r>
              <a:rPr lang="en-US" sz="2800" dirty="0"/>
              <a:t> </a:t>
            </a:r>
            <a:r>
              <a:rPr lang="ru-RU" sz="2800" dirty="0"/>
              <a:t>можно добиться эффекта </a:t>
            </a:r>
            <a:r>
              <a:rPr lang="en-US" sz="2800" dirty="0" err="1"/>
              <a:t>calloc</a:t>
            </a:r>
            <a:endParaRPr lang="ru-R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EE585-DEFB-4E20-817F-1BF948890EE5}"/>
              </a:ext>
            </a:extLst>
          </p:cNvPr>
          <p:cNvSpPr txBox="1"/>
          <p:nvPr/>
        </p:nvSpPr>
        <p:spPr>
          <a:xfrm>
            <a:off x="898630" y="5776224"/>
            <a:ext cx="10394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*c</a:t>
            </a:r>
            <a:r>
              <a:rPr lang="ru-RU" dirty="0" err="1"/>
              <a:t>alloc</a:t>
            </a:r>
            <a:r>
              <a:rPr lang="ru-RU" dirty="0"/>
              <a:t> работает чуточку медленнее чем </a:t>
            </a:r>
            <a:r>
              <a:rPr lang="ru-RU" dirty="0" err="1"/>
              <a:t>malloc</a:t>
            </a:r>
            <a:r>
              <a:rPr lang="ru-RU" dirty="0"/>
              <a:t>, т.к. он </a:t>
            </a:r>
            <a:r>
              <a:rPr lang="ru-RU" dirty="0" err="1"/>
              <a:t>зануляет</a:t>
            </a:r>
            <a:r>
              <a:rPr lang="ru-RU" dirty="0"/>
              <a:t> память, однако он в любом случае будет быстрее чем </a:t>
            </a:r>
            <a:r>
              <a:rPr lang="ru-RU" dirty="0" err="1"/>
              <a:t>malloc</a:t>
            </a:r>
            <a:r>
              <a:rPr lang="ru-RU" dirty="0"/>
              <a:t> + </a:t>
            </a:r>
            <a:r>
              <a:rPr lang="ru-RU" dirty="0" err="1"/>
              <a:t>memset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28943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3A3572DA-B1DF-424B-9E13-5CE3F3268FE4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realloc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8EBB20-52BE-4B02-B1D1-984FE2D583BE}"/>
              </a:ext>
            </a:extLst>
          </p:cNvPr>
          <p:cNvSpPr txBox="1"/>
          <p:nvPr/>
        </p:nvSpPr>
        <p:spPr>
          <a:xfrm>
            <a:off x="1134391" y="4584438"/>
            <a:ext cx="101754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realloc</a:t>
            </a:r>
            <a:r>
              <a:rPr lang="en-US" sz="2400" b="1" dirty="0"/>
              <a:t> </a:t>
            </a:r>
            <a:r>
              <a:rPr lang="ru-RU" sz="2400" dirty="0"/>
              <a:t>позволяет </a:t>
            </a:r>
            <a:r>
              <a:rPr lang="ru-RU" sz="2400" dirty="0" err="1"/>
              <a:t>перевыделять</a:t>
            </a:r>
            <a:r>
              <a:rPr lang="ru-RU" sz="2400" dirty="0"/>
              <a:t> память, сохраняя при этом оригинальные значения в выделенной памяти. 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*</a:t>
            </a:r>
            <a:r>
              <a:rPr lang="ru-RU" sz="2400" dirty="0"/>
              <a:t>Если </a:t>
            </a:r>
            <a:r>
              <a:rPr lang="en-US" sz="2400" dirty="0" err="1"/>
              <a:t>realloc</a:t>
            </a:r>
            <a:r>
              <a:rPr lang="en-US" sz="2400" dirty="0"/>
              <a:t> </a:t>
            </a:r>
            <a:r>
              <a:rPr lang="ru-RU" sz="2400" dirty="0"/>
              <a:t>не сможет </a:t>
            </a:r>
            <a:r>
              <a:rPr lang="ru-RU" sz="2400" dirty="0" err="1"/>
              <a:t>перевыделить</a:t>
            </a:r>
            <a:r>
              <a:rPr lang="en-US" sz="2400" dirty="0"/>
              <a:t>, </a:t>
            </a:r>
            <a:r>
              <a:rPr lang="ru-RU" sz="2400" dirty="0"/>
              <a:t>то вернет </a:t>
            </a:r>
            <a:r>
              <a:rPr lang="en-US" sz="2400" dirty="0"/>
              <a:t>NULL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5AAB6-4EF2-444B-961A-8481480291DC}"/>
              </a:ext>
            </a:extLst>
          </p:cNvPr>
          <p:cNvSpPr txBox="1"/>
          <p:nvPr/>
        </p:nvSpPr>
        <p:spPr>
          <a:xfrm>
            <a:off x="1953534" y="1889981"/>
            <a:ext cx="82849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*str =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(N * 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(str ==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уменьшим массив до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байт</a:t>
            </a:r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 =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realloc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(str, M * </a:t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*str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080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07AD31-C8A9-43E3-B0D3-78CBDF15C54B}"/>
              </a:ext>
            </a:extLst>
          </p:cNvPr>
          <p:cNvSpPr txBox="1"/>
          <p:nvPr/>
        </p:nvSpPr>
        <p:spPr>
          <a:xfrm>
            <a:off x="935420" y="585356"/>
            <a:ext cx="106469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если мы хотим создать динамическую матрицу? Или 3-мерный дин. массив? 4-мерный и т.д.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так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но..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CF53E-2D14-4971-BDF5-FC009D3F16D2}"/>
              </a:ext>
            </a:extLst>
          </p:cNvPr>
          <p:cNvSpPr txBox="1"/>
          <p:nvPr/>
        </p:nvSpPr>
        <p:spPr>
          <a:xfrm>
            <a:off x="1734207" y="2817223"/>
            <a:ext cx="904940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3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nn-NO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nn-NO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nn-NO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nn-NO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nn-NO" sz="3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nn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[N];</a:t>
            </a:r>
            <a:endParaRPr lang="nn-NO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3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nn-NO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i &lt; N; i++) {</a:t>
            </a:r>
            <a:endParaRPr lang="nn-NO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n-NO" sz="3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nn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 = </a:t>
            </a:r>
            <a:r>
              <a:rPr lang="nn-NO" sz="3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calloc</a:t>
            </a:r>
            <a:r>
              <a:rPr lang="nn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(N, </a:t>
            </a:r>
            <a:r>
              <a:rPr lang="nn-NO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nn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3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nn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[i]));</a:t>
            </a:r>
            <a:endParaRPr lang="nn-NO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nn-NO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4704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FC6484-BC90-487F-BC2E-3D1BB26D701A}"/>
              </a:ext>
            </a:extLst>
          </p:cNvPr>
          <p:cNvSpPr txBox="1"/>
          <p:nvPr/>
        </p:nvSpPr>
        <p:spPr>
          <a:xfrm>
            <a:off x="1613337" y="1366897"/>
            <a:ext cx="89653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N </a:t>
            </a:r>
            <a:r>
              <a:rPr lang="en-US" sz="3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32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**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3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(N * </a:t>
            </a:r>
            <a:r>
              <a:rPr lang="en-US" sz="3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3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3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sz="3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/* error */</a:t>
            </a:r>
            <a:r>
              <a:rPr lang="en-US" sz="3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  <a:endParaRPr lang="en-US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17EBB1-A781-458B-B9A7-7006D8844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39" y="4141076"/>
            <a:ext cx="12085661" cy="188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12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DBD811-AEA3-4179-832B-0A615BCC712A}"/>
              </a:ext>
            </a:extLst>
          </p:cNvPr>
          <p:cNvSpPr txBox="1"/>
          <p:nvPr/>
        </p:nvSpPr>
        <p:spPr>
          <a:xfrm>
            <a:off x="2144109" y="1128567"/>
            <a:ext cx="89232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arr[i] = malloc(N * sizeof(**arr));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en-US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/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/* error */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j &lt; N;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][j] =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'A', 'B'..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942E63-57C4-450A-B399-4E4FD3BE1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65" y="4093943"/>
            <a:ext cx="12056035" cy="231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227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4BD585-834F-43C1-A1EF-8B00022F3A5A}"/>
              </a:ext>
            </a:extLst>
          </p:cNvPr>
          <p:cNvSpPr txBox="1"/>
          <p:nvPr/>
        </p:nvSpPr>
        <p:spPr>
          <a:xfrm>
            <a:off x="3418489" y="1659285"/>
            <a:ext cx="535502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'X'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ru-RU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или </a:t>
            </a:r>
            <a:endParaRPr lang="ru-RU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'X'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*(*(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8857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6146C4-5559-4D4A-AD22-E3342441AC3F}"/>
              </a:ext>
            </a:extLst>
          </p:cNvPr>
          <p:cNvSpPr txBox="1"/>
          <p:nvPr/>
        </p:nvSpPr>
        <p:spPr>
          <a:xfrm>
            <a:off x="1933903" y="797510"/>
            <a:ext cx="832419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**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N; 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j &lt; N; 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%c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][j]);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ru-RU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print_array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8926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2BF26B-43AD-44A6-864B-74750933209E}"/>
              </a:ext>
            </a:extLst>
          </p:cNvPr>
          <p:cNvSpPr txBox="1"/>
          <p:nvPr/>
        </p:nvSpPr>
        <p:spPr>
          <a:xfrm>
            <a:off x="2969172" y="1173228"/>
            <a:ext cx="625365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nn-NO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i &lt; N; i++) {</a:t>
            </a:r>
            <a:endParaRPr lang="nn-NO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n-NO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[i]);</a:t>
            </a:r>
            <a:endParaRPr lang="nn-NO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nn-NO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[i] = </a:t>
            </a:r>
            <a:r>
              <a:rPr lang="nn-NO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nn-NO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nn-NO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6E8A73-0CDF-49F2-98A1-59BDEADD0DCE}"/>
              </a:ext>
            </a:extLst>
          </p:cNvPr>
          <p:cNvSpPr txBox="1"/>
          <p:nvPr/>
        </p:nvSpPr>
        <p:spPr>
          <a:xfrm>
            <a:off x="325820" y="4696821"/>
            <a:ext cx="1135117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освобождения пройдемся в обратном порядке (относительно выделения памяти)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освобождаем сначала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[i], а потом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не наоборот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10391204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3558FFA0-A448-42D5-B49F-F1C8E2A0820F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Variable scope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551209-FADE-4DCE-9308-C19407DE61DD}"/>
              </a:ext>
            </a:extLst>
          </p:cNvPr>
          <p:cNvSpPr txBox="1"/>
          <p:nvPr/>
        </p:nvSpPr>
        <p:spPr>
          <a:xfrm>
            <a:off x="3214357" y="1595336"/>
            <a:ext cx="49434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3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    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BCF74-146E-4A98-9189-9D5DF52A4979}"/>
              </a:ext>
            </a:extLst>
          </p:cNvPr>
          <p:cNvSpPr txBox="1"/>
          <p:nvPr/>
        </p:nvSpPr>
        <p:spPr>
          <a:xfrm>
            <a:off x="7478107" y="1755736"/>
            <a:ext cx="38583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Глобальная область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7EE40-9977-4BA2-B26F-565EF63EAD67}"/>
              </a:ext>
            </a:extLst>
          </p:cNvPr>
          <p:cNvSpPr txBox="1"/>
          <p:nvPr/>
        </p:nvSpPr>
        <p:spPr>
          <a:xfrm>
            <a:off x="225968" y="4653234"/>
            <a:ext cx="119660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Здесь </a:t>
            </a:r>
            <a:r>
              <a:rPr lang="ru-RU" sz="2800" b="1" dirty="0"/>
              <a:t>a - глобальная переменная</a:t>
            </a:r>
            <a:r>
              <a:rPr lang="ru-RU" sz="2800" dirty="0"/>
              <a:t>, т.к. она объявлена за всеми в функциями (не входит ни в одно из тел функций), это значит, что переменная a будет видна всем функциям. Существует глобальная переменная всю жизнь программы. </a:t>
            </a:r>
          </a:p>
        </p:txBody>
      </p:sp>
    </p:spTree>
    <p:extLst>
      <p:ext uri="{BB962C8B-B14F-4D97-AF65-F5344CB8AC3E}">
        <p14:creationId xmlns:p14="http://schemas.microsoft.com/office/powerpoint/2010/main" val="8657447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551209-FADE-4DCE-9308-C19407DE61DD}"/>
              </a:ext>
            </a:extLst>
          </p:cNvPr>
          <p:cNvSpPr txBox="1"/>
          <p:nvPr/>
        </p:nvSpPr>
        <p:spPr>
          <a:xfrm>
            <a:off x="3036277" y="428178"/>
            <a:ext cx="611944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"global a =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a);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"main a =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a);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2606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3558FFA0-A448-42D5-B49F-F1C8E2A0820F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Stack vs Heap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F72A6F-AC07-44F0-B178-A40E5E1D51E4}"/>
              </a:ext>
            </a:extLst>
          </p:cNvPr>
          <p:cNvSpPr txBox="1"/>
          <p:nvPr/>
        </p:nvSpPr>
        <p:spPr>
          <a:xfrm>
            <a:off x="930164" y="1335682"/>
            <a:ext cx="1033167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(стек)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это быстрая и упорядоченная область памяти, работающая по принципу LIFO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First Out, последний пришел - первый ушел).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как стол, на котором лежит стопка книг, для доступа к нужной книге сначала достанем все книги сверху. Если книг положить очень много на стек - то они свалятся со стола, называется это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overflow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(переполнение стека), такое можно сделать создав массив больше размера стека, либо сделав бесконечную рекурсию...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(куча)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это большая и гибкая область памяти, где можно выделять блоки произвольного размера вручную. Управление памятью лежит на программисте (или в некоторых ЯП сборщике мусора, на англ.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garbage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как гараж, места много, но все валяется хрен знает где, поэтому найдем что ищем не так быстро</a:t>
            </a:r>
          </a:p>
        </p:txBody>
      </p:sp>
    </p:spTree>
    <p:extLst>
      <p:ext uri="{BB962C8B-B14F-4D97-AF65-F5344CB8AC3E}">
        <p14:creationId xmlns:p14="http://schemas.microsoft.com/office/powerpoint/2010/main" val="35668108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4B30CA4E-80BC-4063-988B-E6939AF5066E}"/>
              </a:ext>
            </a:extLst>
          </p:cNvPr>
          <p:cNvSpPr txBox="1"/>
          <p:nvPr/>
        </p:nvSpPr>
        <p:spPr>
          <a:xfrm>
            <a:off x="394138" y="1095521"/>
            <a:ext cx="114930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памяти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абстракция, с помощью которой описывается взаимодействие программы с памятью.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26B0FE-6C55-43EF-A082-F57DFFCD524D}"/>
              </a:ext>
            </a:extLst>
          </p:cNvPr>
          <p:cNvSpPr txBox="1"/>
          <p:nvPr/>
        </p:nvSpPr>
        <p:spPr>
          <a:xfrm>
            <a:off x="8208579" y="3153103"/>
            <a:ext cx="423566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</a:rPr>
              <a:t>+----------------------+  0xffffffff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|         Stack        |  |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|          |           |  |  </a:t>
            </a:r>
            <a:r>
              <a:rPr lang="ru-RU" sz="1400" b="0" dirty="0">
                <a:effectLst/>
                <a:latin typeface="Consolas" panose="020B0609020204030204" pitchFamily="49" charset="0"/>
              </a:rPr>
              <a:t>Рост стека</a:t>
            </a:r>
          </a:p>
          <a:p>
            <a:r>
              <a:rPr lang="ru-RU" sz="1400" b="0" dirty="0">
                <a:effectLst/>
                <a:latin typeface="Consolas" panose="020B0609020204030204" pitchFamily="49" charset="0"/>
              </a:rPr>
              <a:t>|          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v           |  |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+----------------------+  |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|          ^           |  |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|          |           |  |  </a:t>
            </a:r>
            <a:r>
              <a:rPr lang="ru-RU" sz="1400" b="0" dirty="0">
                <a:effectLst/>
                <a:latin typeface="Consolas" panose="020B0609020204030204" pitchFamily="49" charset="0"/>
              </a:rPr>
              <a:t>Рост кучи</a:t>
            </a:r>
          </a:p>
          <a:p>
            <a:r>
              <a:rPr lang="ru-RU" sz="1400" b="0" dirty="0">
                <a:effectLst/>
                <a:latin typeface="Consolas" panose="020B0609020204030204" pitchFamily="49" charset="0"/>
              </a:rPr>
              <a:t>|         </a:t>
            </a:r>
            <a:r>
              <a:rPr lang="en-US" sz="1400" b="0" dirty="0">
                <a:effectLst/>
                <a:latin typeface="Consolas" panose="020B0609020204030204" pitchFamily="49" charset="0"/>
              </a:rPr>
              <a:t>Heap         |  |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+----------------------+  |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|         BSS          |  |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+----------------------+  |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|         Data         |  |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+----------------------+  |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|         Text         |  |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|                      |  |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</a:rPr>
              <a:t>+----------------------+  0x000000000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CB8DEC-E4D0-4A16-B85F-5CC2489661DC}"/>
              </a:ext>
            </a:extLst>
          </p:cNvPr>
          <p:cNvSpPr txBox="1"/>
          <p:nvPr/>
        </p:nvSpPr>
        <p:spPr>
          <a:xfrm>
            <a:off x="394138" y="1703199"/>
            <a:ext cx="781444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Любую программу на языке Си в памяти можно представить так следующих секций: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- Код программы (текст), здесь все наши функции с кодом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- Данные, здесь хранятся все переменные явно проинициализированные чем-либо кроме 0          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 (Block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Started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Symbol) - все глобальные переменные, что инициализированы 0 или не инициализированы ничем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Heap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секция кучи, вся динамически выделенная память через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malloc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calloc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realloc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секция стека, все локальные переменные, вызовы функций (при вызове функции создается кадр функции для возможности вернуться в вызываемое место)</a:t>
            </a:r>
          </a:p>
        </p:txBody>
      </p:sp>
      <p:sp>
        <p:nvSpPr>
          <p:cNvPr id="72" name="Заголовок 2">
            <a:extLst>
              <a:ext uri="{FF2B5EF4-FFF2-40B4-BE49-F238E27FC236}">
                <a16:creationId xmlns:a16="http://schemas.microsoft.com/office/drawing/2014/main" id="{F7491EA6-8DD3-4876-B530-23771861E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8154" y="41493"/>
            <a:ext cx="8528958" cy="927688"/>
          </a:xfrm>
        </p:spPr>
        <p:txBody>
          <a:bodyPr>
            <a:normAutofit/>
          </a:bodyPr>
          <a:lstStyle/>
          <a:p>
            <a:r>
              <a:rPr lang="ru-RU" sz="5400" dirty="0"/>
              <a:t>Модель памяти языка Си</a:t>
            </a:r>
          </a:p>
        </p:txBody>
      </p:sp>
    </p:spTree>
    <p:extLst>
      <p:ext uri="{BB962C8B-B14F-4D97-AF65-F5344CB8AC3E}">
        <p14:creationId xmlns:p14="http://schemas.microsoft.com/office/powerpoint/2010/main" val="30513682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1FC5C63-E1B0-4E7D-9C66-20ED5FB8C879}"/>
              </a:ext>
            </a:extLst>
          </p:cNvPr>
          <p:cNvSpPr txBox="1"/>
          <p:nvPr/>
        </p:nvSpPr>
        <p:spPr>
          <a:xfrm>
            <a:off x="5618830" y="297337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5" name="Заголовок 2">
            <a:extLst>
              <a:ext uri="{FF2B5EF4-FFF2-40B4-BE49-F238E27FC236}">
                <a16:creationId xmlns:a16="http://schemas.microsoft.com/office/drawing/2014/main" id="{E36F20D8-5ABB-4E84-B533-D3853E7A6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8154" y="41493"/>
            <a:ext cx="8528958" cy="927688"/>
          </a:xfrm>
        </p:spPr>
        <p:txBody>
          <a:bodyPr>
            <a:normAutofit/>
          </a:bodyPr>
          <a:lstStyle/>
          <a:p>
            <a:r>
              <a:rPr lang="ru-RU" sz="5400" dirty="0"/>
              <a:t>Модель памяти языка Си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7558519-78E1-4A87-8EA3-0A3C83DD839F}"/>
              </a:ext>
            </a:extLst>
          </p:cNvPr>
          <p:cNvSpPr/>
          <p:nvPr/>
        </p:nvSpPr>
        <p:spPr>
          <a:xfrm>
            <a:off x="977949" y="1516974"/>
            <a:ext cx="6794033" cy="451740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stdlib.h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=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b =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c =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d =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hd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%p</a:t>
            </a:r>
            <a:r>
              <a:rPr lang="en-US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 	   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AA7579F-2685-419F-8474-13E02F4372F3}"/>
              </a:ext>
            </a:extLst>
          </p:cNvPr>
          <p:cNvSpPr/>
          <p:nvPr/>
        </p:nvSpPr>
        <p:spPr>
          <a:xfrm>
            <a:off x="8494066" y="1501684"/>
            <a:ext cx="2535036" cy="452898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ED89C8-31B7-4C51-A489-9682F7E47E04}"/>
              </a:ext>
            </a:extLst>
          </p:cNvPr>
          <p:cNvSpPr txBox="1"/>
          <p:nvPr/>
        </p:nvSpPr>
        <p:spPr>
          <a:xfrm>
            <a:off x="3380552" y="1106156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model.c</a:t>
            </a:r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1B53FD-DA3E-4161-BA07-4FCBEE8B7900}"/>
              </a:ext>
            </a:extLst>
          </p:cNvPr>
          <p:cNvSpPr txBox="1"/>
          <p:nvPr/>
        </p:nvSpPr>
        <p:spPr>
          <a:xfrm>
            <a:off x="7970466" y="1136985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0xFFFFFFFF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58CEA9-7617-480F-9F60-40D2CB6DEA65}"/>
              </a:ext>
            </a:extLst>
          </p:cNvPr>
          <p:cNvSpPr txBox="1"/>
          <p:nvPr/>
        </p:nvSpPr>
        <p:spPr>
          <a:xfrm>
            <a:off x="7970466" y="607196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0x00000000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B47582A-76FA-4CDB-8226-93464F330D80}"/>
              </a:ext>
            </a:extLst>
          </p:cNvPr>
          <p:cNvSpPr/>
          <p:nvPr/>
        </p:nvSpPr>
        <p:spPr>
          <a:xfrm>
            <a:off x="8490631" y="4852626"/>
            <a:ext cx="2535036" cy="42783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  <a:endParaRPr lang="ru-RU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F051D06-838E-4AA2-8B39-C56239B4955F}"/>
              </a:ext>
            </a:extLst>
          </p:cNvPr>
          <p:cNvSpPr/>
          <p:nvPr/>
        </p:nvSpPr>
        <p:spPr>
          <a:xfrm>
            <a:off x="8490631" y="4390886"/>
            <a:ext cx="2535036" cy="41872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782321A-8EA5-4277-8E9C-6DEC8A2BC890}"/>
              </a:ext>
            </a:extLst>
          </p:cNvPr>
          <p:cNvSpPr/>
          <p:nvPr/>
        </p:nvSpPr>
        <p:spPr>
          <a:xfrm>
            <a:off x="8490631" y="3933940"/>
            <a:ext cx="2535036" cy="40482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BSS</a:t>
            </a:r>
            <a:endParaRPr lang="ru-RU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9BA9716C-B3CE-411A-A3E1-F61BACFF2BF5}"/>
              </a:ext>
            </a:extLst>
          </p:cNvPr>
          <p:cNvSpPr/>
          <p:nvPr/>
        </p:nvSpPr>
        <p:spPr>
          <a:xfrm>
            <a:off x="8490631" y="3412363"/>
            <a:ext cx="2535036" cy="47084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Heap</a:t>
            </a:r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4973C76-03BF-4AC5-81F2-A7B955863E8C}"/>
              </a:ext>
            </a:extLst>
          </p:cNvPr>
          <p:cNvSpPr/>
          <p:nvPr/>
        </p:nvSpPr>
        <p:spPr>
          <a:xfrm>
            <a:off x="8498270" y="1740148"/>
            <a:ext cx="2535036" cy="55926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</a:t>
            </a:r>
            <a:endParaRPr lang="ru-RU" dirty="0"/>
          </a:p>
        </p:txBody>
      </p: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54A94649-ECB1-4B83-B548-E11B8CAA2DD2}"/>
              </a:ext>
            </a:extLst>
          </p:cNvPr>
          <p:cNvCxnSpPr>
            <a:cxnSpLocks/>
          </p:cNvCxnSpPr>
          <p:nvPr/>
        </p:nvCxnSpPr>
        <p:spPr>
          <a:xfrm flipH="1">
            <a:off x="9754329" y="2309762"/>
            <a:ext cx="3820" cy="435907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126D54A5-F2E1-4580-9D15-FFD424D12E01}"/>
              </a:ext>
            </a:extLst>
          </p:cNvPr>
          <p:cNvCxnSpPr>
            <a:cxnSpLocks/>
          </p:cNvCxnSpPr>
          <p:nvPr/>
        </p:nvCxnSpPr>
        <p:spPr>
          <a:xfrm>
            <a:off x="9754329" y="2941515"/>
            <a:ext cx="386" cy="429551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13203EC3-73D8-40D9-B84F-8208BD28C52B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2267207" y="3024106"/>
            <a:ext cx="6223424" cy="1576144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24D3CB9F-1C5F-40BC-89A0-424369BDBA9D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1746096" y="2745669"/>
            <a:ext cx="6744535" cy="1390684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B54A1238-DB95-43CA-8401-46FE0C8964C1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2621280" y="2019779"/>
            <a:ext cx="5876990" cy="162222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BD3401FB-C372-4421-9FCE-D7C94D9B70E3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2957611" y="2019779"/>
            <a:ext cx="5540659" cy="1857645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AB5D18C5-6519-433A-A41E-10A1B455377F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2617076" y="2019779"/>
            <a:ext cx="5881194" cy="227769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E6648D5E-0F00-4C58-8BAC-E77C0E8567AE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3380552" y="3647787"/>
            <a:ext cx="5110079" cy="977133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53D2FEDF-C04F-4036-860D-86FAF5F85513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7771982" y="4809614"/>
            <a:ext cx="718649" cy="2569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9054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420A6A-4A02-45CB-A89C-2359522966B0}"/>
              </a:ext>
            </a:extLst>
          </p:cNvPr>
          <p:cNvSpPr txBox="1"/>
          <p:nvPr/>
        </p:nvSpPr>
        <p:spPr>
          <a:xfrm>
            <a:off x="830317" y="1012954"/>
            <a:ext cx="1053136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Допустим у нас есть память и программа А и Б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Что если программа А захочет залезть в память программы Б? Она это возьмет и сделает без проблем, т.е. выйдет так, что любая программа способна положить всю операционную систему (ОС - тоже программа) в случае неправильной работы с памятью           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Что если оперативная память у нас на 8 ГБ, программа А занимает 6 ГБ памяти, а программа Б 3 ГБ памяти? А если еще и запустить программу С? Придется ждать пока программа А завершится, чтобы программа Б влезла </a:t>
            </a:r>
          </a:p>
        </p:txBody>
      </p:sp>
    </p:spTree>
    <p:extLst>
      <p:ext uri="{BB962C8B-B14F-4D97-AF65-F5344CB8AC3E}">
        <p14:creationId xmlns:p14="http://schemas.microsoft.com/office/powerpoint/2010/main" val="26119930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70BEAC32-2F57-4EF0-B8A9-A6181822C248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Virtual and Physical memory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F3E4C-1497-4F44-BC54-E764D363E4E3}"/>
              </a:ext>
            </a:extLst>
          </p:cNvPr>
          <p:cNvSpPr txBox="1"/>
          <p:nvPr/>
        </p:nvSpPr>
        <p:spPr>
          <a:xfrm>
            <a:off x="441433" y="1419885"/>
            <a:ext cx="114983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Виртуальная память как и физическая разбиваются на блоки фиксированного размера - </a:t>
            </a:r>
            <a:r>
              <a:rPr lang="ru-RU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</a:t>
            </a:r>
            <a:r>
              <a:rPr lang="ru-RU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(обычно 4КБ). Когда программа пытается получить доступ к своей виртуальной памяти, </a:t>
            </a:r>
            <a:r>
              <a:rPr lang="ru-RU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 и процессор и чип MMU (Memory Management Unit) переводят виртуальный в физический адрес</a:t>
            </a:r>
            <a:r>
              <a:rPr lang="ru-RU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Когда </a:t>
            </a:r>
            <a:r>
              <a:rPr lang="ru-RU" sz="24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процу</a:t>
            </a:r>
            <a:r>
              <a:rPr lang="ru-RU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говорят прочитай значение целого числа по некоторому адресу, то он лезет в MMU для перевода этого адреса в физический и далее получив адрес читает что надо из оперативки.               </a:t>
            </a:r>
            <a:endParaRPr lang="en-US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B2F4390-173A-4A69-B7B6-2F2158FA9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862" y="3792140"/>
            <a:ext cx="6078276" cy="22881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14D450D-7F2D-474A-A598-695E93F5E40A}"/>
              </a:ext>
            </a:extLst>
          </p:cNvPr>
          <p:cNvSpPr txBox="1"/>
          <p:nvPr/>
        </p:nvSpPr>
        <p:spPr>
          <a:xfrm>
            <a:off x="2911364" y="6144244"/>
            <a:ext cx="7220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https://cpu.land/the-translator-in-your-computer#memory-is-fake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41684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70BEAC32-2F57-4EF0-B8A9-A6181822C248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Virtual and Physical memory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72E6C-EA64-46AB-847F-ADC929B08F82}"/>
              </a:ext>
            </a:extLst>
          </p:cNvPr>
          <p:cNvSpPr txBox="1"/>
          <p:nvPr/>
        </p:nvSpPr>
        <p:spPr>
          <a:xfrm>
            <a:off x="667407" y="1412310"/>
            <a:ext cx="1085718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всем страницам обязательно быть в оперативной памяти, некоторые неиспользуемые можно временно сгрузить на более медленные хранилища (SSD или HDD) в специальный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подчкачки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-раздел). Так, например, можно открыть Google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в нем кучу-кучу вкладок, рано или поздно эти вкладки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сьедят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всю оперативку и начнут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сгружатся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жесткий диск, а если мы попробуем открыть старую вкладку, то она подкачается с HDD в оперативку и произойдет это не очень быстро. Таким образом мы можем запустить программ больше чем влезет в оперативную память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F79E3A7-E4A5-48F4-8DFB-38FF4C2EB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592" y="3313407"/>
            <a:ext cx="5507232" cy="354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851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70BEAC32-2F57-4EF0-B8A9-A6181822C248}"/>
              </a:ext>
            </a:extLst>
          </p:cNvPr>
          <p:cNvSpPr txBox="1">
            <a:spLocks/>
          </p:cNvSpPr>
          <p:nvPr/>
        </p:nvSpPr>
        <p:spPr>
          <a:xfrm>
            <a:off x="1589314" y="6571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Virtual and Physical memory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72E6C-EA64-46AB-847F-ADC929B08F82}"/>
              </a:ext>
            </a:extLst>
          </p:cNvPr>
          <p:cNvSpPr txBox="1"/>
          <p:nvPr/>
        </p:nvSpPr>
        <p:spPr>
          <a:xfrm>
            <a:off x="804041" y="1412310"/>
            <a:ext cx="108571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виртуальной памятью у каждой программы есть свое адресное пространство, так как у каждой программы свое отображение виртуальных на физические адреса и при попытке залезть в виртуальные адреса, что не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размаплены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физически мы получим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fault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57B187-A25F-44C5-B325-E56A79F9E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155" y="2609704"/>
            <a:ext cx="5287688" cy="35343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BC236B-DE65-4580-B539-337605F5DD1C}"/>
              </a:ext>
            </a:extLst>
          </p:cNvPr>
          <p:cNvSpPr txBox="1"/>
          <p:nvPr/>
        </p:nvSpPr>
        <p:spPr>
          <a:xfrm>
            <a:off x="2165131" y="6247416"/>
            <a:ext cx="8511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https://tproger.ru/articles/kak-rabotaet-virtualnaya-pamyat-v-operacionnyh-sistemah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84433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813CAB2-2AD3-CBC2-8DE8-2FF5AB76B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4708" y="732353"/>
            <a:ext cx="2503404" cy="927688"/>
          </a:xfrm>
        </p:spPr>
        <p:txBody>
          <a:bodyPr/>
          <a:lstStyle/>
          <a:p>
            <a:r>
              <a:rPr lang="en-US" dirty="0" err="1"/>
              <a:t>Github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3105916" y="1798093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A00CC5-DBBE-4494-A2EC-6CA07C6372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551" y="2459365"/>
            <a:ext cx="3498480" cy="34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2659</TotalTime>
  <Words>3420</Words>
  <Application>Microsoft Office PowerPoint</Application>
  <PresentationFormat>Широкоэкранный</PresentationFormat>
  <Paragraphs>475</Paragraphs>
  <Slides>56</Slides>
  <Notes>56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2" baseType="lpstr">
      <vt:lpstr>Arial</vt:lpstr>
      <vt:lpstr>Calibri</vt:lpstr>
      <vt:lpstr>Calibri Light</vt:lpstr>
      <vt:lpstr>Consolas</vt:lpstr>
      <vt:lpstr>Times New Roman</vt:lpstr>
      <vt:lpstr>Office Theme</vt:lpstr>
      <vt:lpstr>C Programming 6_pointers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Модель памяти языка Си</vt:lpstr>
      <vt:lpstr>Модель памяти языка Си</vt:lpstr>
      <vt:lpstr>Презентация PowerPoint</vt:lpstr>
      <vt:lpstr>Презентация PowerPoint</vt:lpstr>
      <vt:lpstr>Презентация PowerPoint</vt:lpstr>
      <vt:lpstr>Презентация PowerPoint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669</cp:revision>
  <dcterms:created xsi:type="dcterms:W3CDTF">2019-12-17T14:15:21Z</dcterms:created>
  <dcterms:modified xsi:type="dcterms:W3CDTF">2025-10-14T20:55:32Z</dcterms:modified>
</cp:coreProperties>
</file>