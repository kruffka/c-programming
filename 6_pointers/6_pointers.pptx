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bookmarkIdSeed="2">
  <p:sldMasterIdLst>
    <p:sldMasterId id="2147483660" r:id="rId1"/>
  </p:sldMasterIdLst>
  <p:notesMasterIdLst>
    <p:notesMasterId r:id="rId45"/>
  </p:notesMasterIdLst>
  <p:sldIdLst>
    <p:sldId id="256" r:id="rId2"/>
    <p:sldId id="312" r:id="rId3"/>
    <p:sldId id="313" r:id="rId4"/>
    <p:sldId id="305" r:id="rId5"/>
    <p:sldId id="314" r:id="rId6"/>
    <p:sldId id="317" r:id="rId7"/>
    <p:sldId id="318" r:id="rId8"/>
    <p:sldId id="319" r:id="rId9"/>
    <p:sldId id="320" r:id="rId10"/>
    <p:sldId id="321" r:id="rId11"/>
    <p:sldId id="322" r:id="rId12"/>
    <p:sldId id="324" r:id="rId13"/>
    <p:sldId id="325" r:id="rId14"/>
    <p:sldId id="326" r:id="rId15"/>
    <p:sldId id="327" r:id="rId16"/>
    <p:sldId id="328" r:id="rId17"/>
    <p:sldId id="329" r:id="rId18"/>
    <p:sldId id="323" r:id="rId19"/>
    <p:sldId id="306" r:id="rId20"/>
    <p:sldId id="307" r:id="rId21"/>
    <p:sldId id="330" r:id="rId22"/>
    <p:sldId id="331" r:id="rId23"/>
    <p:sldId id="309" r:id="rId24"/>
    <p:sldId id="332" r:id="rId25"/>
    <p:sldId id="311" r:id="rId26"/>
    <p:sldId id="333" r:id="rId27"/>
    <p:sldId id="334" r:id="rId28"/>
    <p:sldId id="337" r:id="rId29"/>
    <p:sldId id="338" r:id="rId30"/>
    <p:sldId id="339" r:id="rId31"/>
    <p:sldId id="335" r:id="rId32"/>
    <p:sldId id="342" r:id="rId33"/>
    <p:sldId id="336" r:id="rId34"/>
    <p:sldId id="343" r:id="rId35"/>
    <p:sldId id="340" r:id="rId36"/>
    <p:sldId id="341" r:id="rId37"/>
    <p:sldId id="344" r:id="rId38"/>
    <p:sldId id="345" r:id="rId39"/>
    <p:sldId id="346" r:id="rId40"/>
    <p:sldId id="348" r:id="rId41"/>
    <p:sldId id="349" r:id="rId42"/>
    <p:sldId id="350" r:id="rId43"/>
    <p:sldId id="290" r:id="rId44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ndrey Veyler" initials="AV" lastIdx="1" clrIdx="0">
    <p:extLst>
      <p:ext uri="{19B8F6BF-5375-455C-9EA6-DF929625EA0E}">
        <p15:presenceInfo xmlns:p15="http://schemas.microsoft.com/office/powerpoint/2012/main" userId="3d9934d1e83c21f3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Стиль из темы 1 - акцент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Стиль из темы 1 - акцент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2D5ABB26-0587-4C30-8999-92F81FD0307C}" styleName="Нет стиля, нет сетки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16D9F66E-5EB9-4882-86FB-DCBF35E3C3E4}" styleName="Средний стиль 4 — акцент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D7AC3CCA-C797-4891-BE02-D94E43425B78}" styleName="Средний стиль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Средний стиль 2 — акцент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3" autoAdjust="0"/>
    <p:restoredTop sz="94630" autoAdjust="0"/>
  </p:normalViewPr>
  <p:slideViewPr>
    <p:cSldViewPr snapToGrid="0">
      <p:cViewPr varScale="1">
        <p:scale>
          <a:sx n="109" d="100"/>
          <a:sy n="109" d="100"/>
        </p:scale>
        <p:origin x="126" y="107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commentAuthors" Target="commentAuthor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EF5437-F444-4613-A039-4AD69D91C86A}" type="datetimeFigureOut">
              <a:rPr lang="ru-RU" smtClean="0"/>
              <a:t>10.10.2025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07EAB29-8E86-49C7-96F5-7C9D7207610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658860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298563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3389410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8399936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1498569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6703471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2006360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2725299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6039502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3634445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8799492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7312047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1254179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8704603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9592193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060210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025418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1351424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8039651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550427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7376020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589170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3930937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9887344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2408163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702888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158062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4917734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5377800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6106513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30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91846499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31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5196621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32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20539792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33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23706995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34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9245993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35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6683195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36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90437696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37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871432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38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95432177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39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1759616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40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9479898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41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92585734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42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68391597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43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185604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10.10.2025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047831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10.10.2025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965025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10.10.2025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812112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10.10.2025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994042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10.10.2025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008887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10.10.2025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820535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10.10.2025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890321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10.10.2025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062958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10.10.2025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200880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10.10.2025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360957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10.10.2025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009998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8BF7D01-7D49-4F37-AA30-F04C65571A4A}" type="datetimeFigureOut">
              <a:rPr lang="ru-RU" smtClean="0"/>
              <a:t>10.10.2025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5179066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521262"/>
            <a:ext cx="9144000" cy="2387600"/>
          </a:xfrm>
        </p:spPr>
        <p:txBody>
          <a:bodyPr/>
          <a:lstStyle/>
          <a:p>
            <a:r>
              <a:rPr lang="en-US" dirty="0"/>
              <a:t>C Programming</a:t>
            </a:r>
            <a:br>
              <a:rPr lang="en-US" dirty="0"/>
            </a:br>
            <a:r>
              <a:rPr lang="en-US" sz="3200" dirty="0"/>
              <a:t>6_pointers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6787621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Таблица 5">
            <a:extLst>
              <a:ext uri="{FF2B5EF4-FFF2-40B4-BE49-F238E27FC236}">
                <a16:creationId xmlns:a16="http://schemas.microsoft.com/office/drawing/2014/main" id="{2137FDC3-FAB5-4E68-A01A-233513F6E1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6511820"/>
              </p:ext>
            </p:extLst>
          </p:nvPr>
        </p:nvGraphicFramePr>
        <p:xfrm>
          <a:off x="2698050" y="3105834"/>
          <a:ext cx="8323570" cy="64633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4344">
                  <a:extLst>
                    <a:ext uri="{9D8B030D-6E8A-4147-A177-3AD203B41FA5}">
                      <a16:colId xmlns:a16="http://schemas.microsoft.com/office/drawing/2014/main" val="3129897342"/>
                    </a:ext>
                  </a:extLst>
                </a:gridCol>
                <a:gridCol w="924344">
                  <a:extLst>
                    <a:ext uri="{9D8B030D-6E8A-4147-A177-3AD203B41FA5}">
                      <a16:colId xmlns:a16="http://schemas.microsoft.com/office/drawing/2014/main" val="305722592"/>
                    </a:ext>
                  </a:extLst>
                </a:gridCol>
                <a:gridCol w="924344">
                  <a:extLst>
                    <a:ext uri="{9D8B030D-6E8A-4147-A177-3AD203B41FA5}">
                      <a16:colId xmlns:a16="http://schemas.microsoft.com/office/drawing/2014/main" val="2435003322"/>
                    </a:ext>
                  </a:extLst>
                </a:gridCol>
                <a:gridCol w="924344">
                  <a:extLst>
                    <a:ext uri="{9D8B030D-6E8A-4147-A177-3AD203B41FA5}">
                      <a16:colId xmlns:a16="http://schemas.microsoft.com/office/drawing/2014/main" val="3168708848"/>
                    </a:ext>
                  </a:extLst>
                </a:gridCol>
                <a:gridCol w="922850">
                  <a:extLst>
                    <a:ext uri="{9D8B030D-6E8A-4147-A177-3AD203B41FA5}">
                      <a16:colId xmlns:a16="http://schemas.microsoft.com/office/drawing/2014/main" val="1140372714"/>
                    </a:ext>
                  </a:extLst>
                </a:gridCol>
                <a:gridCol w="925836">
                  <a:extLst>
                    <a:ext uri="{9D8B030D-6E8A-4147-A177-3AD203B41FA5}">
                      <a16:colId xmlns:a16="http://schemas.microsoft.com/office/drawing/2014/main" val="1482045052"/>
                    </a:ext>
                  </a:extLst>
                </a:gridCol>
                <a:gridCol w="925836">
                  <a:extLst>
                    <a:ext uri="{9D8B030D-6E8A-4147-A177-3AD203B41FA5}">
                      <a16:colId xmlns:a16="http://schemas.microsoft.com/office/drawing/2014/main" val="4084887146"/>
                    </a:ext>
                  </a:extLst>
                </a:gridCol>
                <a:gridCol w="925836">
                  <a:extLst>
                    <a:ext uri="{9D8B030D-6E8A-4147-A177-3AD203B41FA5}">
                      <a16:colId xmlns:a16="http://schemas.microsoft.com/office/drawing/2014/main" val="2736492979"/>
                    </a:ext>
                  </a:extLst>
                </a:gridCol>
                <a:gridCol w="925836">
                  <a:extLst>
                    <a:ext uri="{9D8B030D-6E8A-4147-A177-3AD203B41FA5}">
                      <a16:colId xmlns:a16="http://schemas.microsoft.com/office/drawing/2014/main" val="2526699384"/>
                    </a:ext>
                  </a:extLst>
                </a:gridCol>
              </a:tblGrid>
              <a:tr h="646331">
                <a:tc>
                  <a:txBody>
                    <a:bodyPr/>
                    <a:lstStyle/>
                    <a:p>
                      <a:pPr algn="ctr"/>
                      <a:r>
                        <a:rPr lang="en-US" sz="3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…</a:t>
                      </a:r>
                      <a:endParaRPr lang="ru-RU" sz="3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…</a:t>
                      </a:r>
                      <a:endParaRPr lang="ru-RU" sz="3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77</a:t>
                      </a:r>
                      <a:endParaRPr lang="ru-RU" sz="3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43</a:t>
                      </a:r>
                      <a:endParaRPr lang="ru-RU" sz="3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100</a:t>
                      </a:r>
                      <a:endParaRPr lang="ru-RU" sz="3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…</a:t>
                      </a:r>
                      <a:endParaRPr lang="ru-RU" sz="3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'a'</a:t>
                      </a:r>
                      <a:endParaRPr lang="ru-RU" sz="3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…</a:t>
                      </a:r>
                      <a:endParaRPr lang="ru-RU" sz="3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…</a:t>
                      </a:r>
                      <a:endParaRPr lang="ru-RU" sz="3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5450242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5670FF3B-89CE-4C7D-80B5-6B28F3E19D1C}"/>
              </a:ext>
            </a:extLst>
          </p:cNvPr>
          <p:cNvSpPr txBox="1"/>
          <p:nvPr/>
        </p:nvSpPr>
        <p:spPr>
          <a:xfrm>
            <a:off x="2519183" y="3828308"/>
            <a:ext cx="929649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0               200   204   208            400          4294967296                         </a:t>
            </a:r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C7EE30E-4854-4D3F-BDC9-2AC0CF44C91F}"/>
              </a:ext>
            </a:extLst>
          </p:cNvPr>
          <p:cNvSpPr txBox="1"/>
          <p:nvPr/>
        </p:nvSpPr>
        <p:spPr>
          <a:xfrm>
            <a:off x="1173433" y="3091247"/>
            <a:ext cx="129253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Value</a:t>
            </a:r>
            <a:endParaRPr lang="ru-RU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48F2AE0-A11C-4FF6-AC07-483533F8E624}"/>
              </a:ext>
            </a:extLst>
          </p:cNvPr>
          <p:cNvSpPr txBox="1"/>
          <p:nvPr/>
        </p:nvSpPr>
        <p:spPr>
          <a:xfrm>
            <a:off x="718958" y="3752165"/>
            <a:ext cx="180022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Address</a:t>
            </a:r>
            <a:endParaRPr lang="ru-RU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C7B2F62B-9CC7-4597-A6B7-0CFA672297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4748" y="2241444"/>
            <a:ext cx="2847079" cy="96325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E1B2EF0-0D89-435D-B432-1B0027C3BEF0}"/>
              </a:ext>
            </a:extLst>
          </p:cNvPr>
          <p:cNvSpPr txBox="1"/>
          <p:nvPr/>
        </p:nvSpPr>
        <p:spPr>
          <a:xfrm>
            <a:off x="2230110" y="855142"/>
            <a:ext cx="6328279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scores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 = {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77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43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};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'a'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020D2C2-566A-49B8-84AE-8946E156C7C3}"/>
              </a:ext>
            </a:extLst>
          </p:cNvPr>
          <p:cNvSpPr txBox="1"/>
          <p:nvPr/>
        </p:nvSpPr>
        <p:spPr>
          <a:xfrm>
            <a:off x="221685" y="5231813"/>
            <a:ext cx="1174863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Память похожа на </a:t>
            </a: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оооочень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длинный массив байт, где индексы этого массива - есть адреса (строка с Address), а значения массива - значения, что хранятся в памяти (строка Value)</a:t>
            </a:r>
          </a:p>
        </p:txBody>
      </p:sp>
    </p:spTree>
    <p:extLst>
      <p:ext uri="{BB962C8B-B14F-4D97-AF65-F5344CB8AC3E}">
        <p14:creationId xmlns:p14="http://schemas.microsoft.com/office/powerpoint/2010/main" val="14520947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FE45FE1D-1652-4323-894E-7F01CA6EF450}"/>
              </a:ext>
            </a:extLst>
          </p:cNvPr>
          <p:cNvSpPr txBox="1"/>
          <p:nvPr/>
        </p:nvSpPr>
        <p:spPr>
          <a:xfrm>
            <a:off x="1623038" y="2782669"/>
            <a:ext cx="894592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fr-FR" sz="3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scores</a:t>
            </a:r>
            <a:r>
              <a:rPr lang="fr-FR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fr-FR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fr-FR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], &amp;</a:t>
            </a:r>
            <a:r>
              <a:rPr lang="fr-FR" sz="3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scores</a:t>
            </a:r>
            <a:r>
              <a:rPr lang="fr-FR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fr-FR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fr-FR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], &amp;</a:t>
            </a:r>
            <a:r>
              <a:rPr lang="fr-FR" sz="3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scores</a:t>
            </a:r>
            <a:r>
              <a:rPr lang="fr-FR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fr-FR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fr-FR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</a:t>
            </a:r>
            <a:endParaRPr lang="fr-FR" sz="3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B2F2A85-AE3A-42D5-9C0F-AF61C0DCED14}"/>
              </a:ext>
            </a:extLst>
          </p:cNvPr>
          <p:cNvSpPr txBox="1"/>
          <p:nvPr/>
        </p:nvSpPr>
        <p:spPr>
          <a:xfrm>
            <a:off x="431871" y="6232451"/>
            <a:ext cx="384918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dirty="0"/>
              <a:t>Кстати</a:t>
            </a:r>
            <a:r>
              <a:rPr lang="en-US" sz="2400" dirty="0"/>
              <a:t>, scores == &amp;scores[0]</a:t>
            </a:r>
            <a:endParaRPr lang="ru-RU" sz="24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C9DAC2A-B330-4B53-8F66-74B84FC43AE6}"/>
              </a:ext>
            </a:extLst>
          </p:cNvPr>
          <p:cNvSpPr txBox="1"/>
          <p:nvPr/>
        </p:nvSpPr>
        <p:spPr>
          <a:xfrm>
            <a:off x="1286308" y="4113104"/>
            <a:ext cx="10533784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Адрес - номер в памяти с нуля, обозначающийся целым числом. `&amp;` - операция взятия адреса переменной</a:t>
            </a:r>
          </a:p>
        </p:txBody>
      </p:sp>
    </p:spTree>
    <p:extLst>
      <p:ext uri="{BB962C8B-B14F-4D97-AF65-F5344CB8AC3E}">
        <p14:creationId xmlns:p14="http://schemas.microsoft.com/office/powerpoint/2010/main" val="12197333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F0E32F1A-44F2-4C9D-87C9-4883A346F903}"/>
              </a:ext>
            </a:extLst>
          </p:cNvPr>
          <p:cNvSpPr txBox="1"/>
          <p:nvPr/>
        </p:nvSpPr>
        <p:spPr>
          <a:xfrm>
            <a:off x="1716906" y="1982450"/>
            <a:ext cx="9311181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400" b="1" dirty="0"/>
              <a:t>Указатель (</a:t>
            </a:r>
            <a:r>
              <a:rPr lang="ru-RU" sz="4400" b="1" dirty="0" err="1"/>
              <a:t>pointer</a:t>
            </a:r>
            <a:r>
              <a:rPr lang="ru-RU" sz="4400" b="1" dirty="0"/>
              <a:t>) </a:t>
            </a:r>
            <a:r>
              <a:rPr lang="ru-RU" sz="4400" dirty="0"/>
              <a:t>- это переменная, которая хранит адрес ячейки памяти.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E153846A-1608-4DA5-9827-E068F73E1C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2967" y="3805679"/>
            <a:ext cx="2966484" cy="2966484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C4EEB529-F519-4423-A1A0-4CC3EA3E3C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31845" y="3981813"/>
            <a:ext cx="2966485" cy="2790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36373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Таблица 9">
            <a:extLst>
              <a:ext uri="{FF2B5EF4-FFF2-40B4-BE49-F238E27FC236}">
                <a16:creationId xmlns:a16="http://schemas.microsoft.com/office/drawing/2014/main" id="{58007C07-7358-4263-977B-CF1D4F9E6D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3077746"/>
              </p:ext>
            </p:extLst>
          </p:nvPr>
        </p:nvGraphicFramePr>
        <p:xfrm>
          <a:off x="1656782" y="4063320"/>
          <a:ext cx="8517822" cy="100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9637">
                  <a:extLst>
                    <a:ext uri="{9D8B030D-6E8A-4147-A177-3AD203B41FA5}">
                      <a16:colId xmlns:a16="http://schemas.microsoft.com/office/drawing/2014/main" val="3159855452"/>
                    </a:ext>
                  </a:extLst>
                </a:gridCol>
                <a:gridCol w="1419637">
                  <a:extLst>
                    <a:ext uri="{9D8B030D-6E8A-4147-A177-3AD203B41FA5}">
                      <a16:colId xmlns:a16="http://schemas.microsoft.com/office/drawing/2014/main" val="2949569941"/>
                    </a:ext>
                  </a:extLst>
                </a:gridCol>
                <a:gridCol w="1419637">
                  <a:extLst>
                    <a:ext uri="{9D8B030D-6E8A-4147-A177-3AD203B41FA5}">
                      <a16:colId xmlns:a16="http://schemas.microsoft.com/office/drawing/2014/main" val="453511632"/>
                    </a:ext>
                  </a:extLst>
                </a:gridCol>
                <a:gridCol w="1419637">
                  <a:extLst>
                    <a:ext uri="{9D8B030D-6E8A-4147-A177-3AD203B41FA5}">
                      <a16:colId xmlns:a16="http://schemas.microsoft.com/office/drawing/2014/main" val="2948704378"/>
                    </a:ext>
                  </a:extLst>
                </a:gridCol>
                <a:gridCol w="1419637">
                  <a:extLst>
                    <a:ext uri="{9D8B030D-6E8A-4147-A177-3AD203B41FA5}">
                      <a16:colId xmlns:a16="http://schemas.microsoft.com/office/drawing/2014/main" val="2526699384"/>
                    </a:ext>
                  </a:extLst>
                </a:gridCol>
                <a:gridCol w="1419637">
                  <a:extLst>
                    <a:ext uri="{9D8B030D-6E8A-4147-A177-3AD203B41FA5}">
                      <a16:colId xmlns:a16="http://schemas.microsoft.com/office/drawing/2014/main" val="743615699"/>
                    </a:ext>
                  </a:extLst>
                </a:gridCol>
              </a:tblGrid>
              <a:tr h="463897">
                <a:tc>
                  <a:txBody>
                    <a:bodyPr/>
                    <a:lstStyle/>
                    <a:p>
                      <a:pPr algn="ctr"/>
                      <a:r>
                        <a:rPr lang="en-US" sz="6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…</a:t>
                      </a:r>
                      <a:endParaRPr lang="ru-RU" sz="6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6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65</a:t>
                      </a:r>
                      <a:endParaRPr lang="ru-RU" sz="6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6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…</a:t>
                      </a:r>
                      <a:endParaRPr lang="ru-RU" sz="6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6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…</a:t>
                      </a:r>
                      <a:endParaRPr lang="ru-RU" sz="6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6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-27</a:t>
                      </a:r>
                      <a:endParaRPr lang="ru-RU" sz="6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6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…</a:t>
                      </a:r>
                      <a:endParaRPr lang="ru-RU" sz="6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5450242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4E0DDD37-BAD8-4994-B8B5-8BF9F78693AD}"/>
              </a:ext>
            </a:extLst>
          </p:cNvPr>
          <p:cNvSpPr txBox="1"/>
          <p:nvPr/>
        </p:nvSpPr>
        <p:spPr>
          <a:xfrm>
            <a:off x="2546917" y="5069160"/>
            <a:ext cx="7627687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200                      </a:t>
            </a:r>
            <a:r>
              <a:rPr lang="ru-RU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216</a:t>
            </a:r>
            <a:endParaRPr lang="ru-RU" sz="4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E473E8F-2D9C-4F9E-826C-CDA5D00FBCB5}"/>
              </a:ext>
            </a:extLst>
          </p:cNvPr>
          <p:cNvSpPr txBox="1"/>
          <p:nvPr/>
        </p:nvSpPr>
        <p:spPr>
          <a:xfrm>
            <a:off x="3657600" y="3231188"/>
            <a:ext cx="5352738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       </a:t>
            </a:r>
            <a:r>
              <a:rPr lang="ru-RU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</a:t>
            </a:r>
            <a:r>
              <a:rPr lang="ru-RU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</a:t>
            </a:r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</a:t>
            </a:r>
            <a:r>
              <a:rPr lang="en-US" sz="4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ptr</a:t>
            </a:r>
            <a:endParaRPr lang="ru-RU" sz="4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6FB0A7F-9AA7-48BB-8879-DF843B988BD8}"/>
              </a:ext>
            </a:extLst>
          </p:cNvPr>
          <p:cNvSpPr txBox="1"/>
          <p:nvPr/>
        </p:nvSpPr>
        <p:spPr>
          <a:xfrm>
            <a:off x="3047114" y="1471242"/>
            <a:ext cx="6097772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4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a = </a:t>
            </a:r>
            <a:r>
              <a:rPr lang="en-US" sz="4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'A'</a:t>
            </a:r>
            <a:r>
              <a:rPr lang="en-US" sz="4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4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65</a:t>
            </a:r>
            <a:endParaRPr lang="en-US" sz="4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4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4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sz="40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en-US" sz="4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sz="4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419332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Таблица 9">
            <a:extLst>
              <a:ext uri="{FF2B5EF4-FFF2-40B4-BE49-F238E27FC236}">
                <a16:creationId xmlns:a16="http://schemas.microsoft.com/office/drawing/2014/main" id="{58007C07-7358-4263-977B-CF1D4F9E6D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4270098"/>
              </p:ext>
            </p:extLst>
          </p:nvPr>
        </p:nvGraphicFramePr>
        <p:xfrm>
          <a:off x="1656782" y="4063320"/>
          <a:ext cx="8517822" cy="100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9637">
                  <a:extLst>
                    <a:ext uri="{9D8B030D-6E8A-4147-A177-3AD203B41FA5}">
                      <a16:colId xmlns:a16="http://schemas.microsoft.com/office/drawing/2014/main" val="3159855452"/>
                    </a:ext>
                  </a:extLst>
                </a:gridCol>
                <a:gridCol w="1419637">
                  <a:extLst>
                    <a:ext uri="{9D8B030D-6E8A-4147-A177-3AD203B41FA5}">
                      <a16:colId xmlns:a16="http://schemas.microsoft.com/office/drawing/2014/main" val="2949569941"/>
                    </a:ext>
                  </a:extLst>
                </a:gridCol>
                <a:gridCol w="1419637">
                  <a:extLst>
                    <a:ext uri="{9D8B030D-6E8A-4147-A177-3AD203B41FA5}">
                      <a16:colId xmlns:a16="http://schemas.microsoft.com/office/drawing/2014/main" val="453511632"/>
                    </a:ext>
                  </a:extLst>
                </a:gridCol>
                <a:gridCol w="1419637">
                  <a:extLst>
                    <a:ext uri="{9D8B030D-6E8A-4147-A177-3AD203B41FA5}">
                      <a16:colId xmlns:a16="http://schemas.microsoft.com/office/drawing/2014/main" val="2948704378"/>
                    </a:ext>
                  </a:extLst>
                </a:gridCol>
                <a:gridCol w="1419637">
                  <a:extLst>
                    <a:ext uri="{9D8B030D-6E8A-4147-A177-3AD203B41FA5}">
                      <a16:colId xmlns:a16="http://schemas.microsoft.com/office/drawing/2014/main" val="2526699384"/>
                    </a:ext>
                  </a:extLst>
                </a:gridCol>
                <a:gridCol w="1419637">
                  <a:extLst>
                    <a:ext uri="{9D8B030D-6E8A-4147-A177-3AD203B41FA5}">
                      <a16:colId xmlns:a16="http://schemas.microsoft.com/office/drawing/2014/main" val="743615699"/>
                    </a:ext>
                  </a:extLst>
                </a:gridCol>
              </a:tblGrid>
              <a:tr h="463897">
                <a:tc>
                  <a:txBody>
                    <a:bodyPr/>
                    <a:lstStyle/>
                    <a:p>
                      <a:pPr algn="ctr"/>
                      <a:r>
                        <a:rPr lang="en-US" sz="6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…</a:t>
                      </a:r>
                      <a:endParaRPr lang="ru-RU" sz="6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6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65</a:t>
                      </a:r>
                      <a:endParaRPr lang="ru-RU" sz="6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6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…</a:t>
                      </a:r>
                      <a:endParaRPr lang="ru-RU" sz="6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6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…</a:t>
                      </a:r>
                      <a:endParaRPr lang="ru-RU" sz="6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6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200</a:t>
                      </a:r>
                      <a:endParaRPr lang="ru-RU" sz="6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6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…</a:t>
                      </a:r>
                      <a:endParaRPr lang="ru-RU" sz="6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5450242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4E0DDD37-BAD8-4994-B8B5-8BF9F78693AD}"/>
              </a:ext>
            </a:extLst>
          </p:cNvPr>
          <p:cNvSpPr txBox="1"/>
          <p:nvPr/>
        </p:nvSpPr>
        <p:spPr>
          <a:xfrm>
            <a:off x="2546917" y="5069160"/>
            <a:ext cx="7627687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200                      </a:t>
            </a:r>
            <a:r>
              <a:rPr lang="ru-RU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216</a:t>
            </a:r>
            <a:endParaRPr lang="ru-RU" sz="4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E473E8F-2D9C-4F9E-826C-CDA5D00FBCB5}"/>
              </a:ext>
            </a:extLst>
          </p:cNvPr>
          <p:cNvSpPr txBox="1"/>
          <p:nvPr/>
        </p:nvSpPr>
        <p:spPr>
          <a:xfrm>
            <a:off x="3657600" y="3231188"/>
            <a:ext cx="5352738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       </a:t>
            </a:r>
            <a:r>
              <a:rPr lang="ru-RU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</a:t>
            </a:r>
            <a:r>
              <a:rPr lang="ru-RU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</a:t>
            </a:r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</a:t>
            </a:r>
            <a:r>
              <a:rPr lang="en-US" sz="4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ptr</a:t>
            </a:r>
            <a:endParaRPr lang="ru-RU" sz="4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6FB0A7F-9AA7-48BB-8879-DF843B988BD8}"/>
              </a:ext>
            </a:extLst>
          </p:cNvPr>
          <p:cNvSpPr txBox="1"/>
          <p:nvPr/>
        </p:nvSpPr>
        <p:spPr>
          <a:xfrm>
            <a:off x="3047114" y="1292196"/>
            <a:ext cx="6097772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4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a = </a:t>
            </a:r>
            <a:r>
              <a:rPr lang="en-US" sz="4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'A'</a:t>
            </a:r>
            <a:r>
              <a:rPr lang="en-US" sz="4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4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65</a:t>
            </a:r>
            <a:endParaRPr lang="en-US" sz="4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4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4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sz="40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en-US" sz="4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40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en-US" sz="4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&amp;a;</a:t>
            </a:r>
            <a:endParaRPr lang="en-US" sz="4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223765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Таблица 9">
            <a:extLst>
              <a:ext uri="{FF2B5EF4-FFF2-40B4-BE49-F238E27FC236}">
                <a16:creationId xmlns:a16="http://schemas.microsoft.com/office/drawing/2014/main" id="{58007C07-7358-4263-977B-CF1D4F9E6D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4555791"/>
              </p:ext>
            </p:extLst>
          </p:nvPr>
        </p:nvGraphicFramePr>
        <p:xfrm>
          <a:off x="1656782" y="4063320"/>
          <a:ext cx="8517822" cy="100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9637">
                  <a:extLst>
                    <a:ext uri="{9D8B030D-6E8A-4147-A177-3AD203B41FA5}">
                      <a16:colId xmlns:a16="http://schemas.microsoft.com/office/drawing/2014/main" val="3159855452"/>
                    </a:ext>
                  </a:extLst>
                </a:gridCol>
                <a:gridCol w="1419637">
                  <a:extLst>
                    <a:ext uri="{9D8B030D-6E8A-4147-A177-3AD203B41FA5}">
                      <a16:colId xmlns:a16="http://schemas.microsoft.com/office/drawing/2014/main" val="2949569941"/>
                    </a:ext>
                  </a:extLst>
                </a:gridCol>
                <a:gridCol w="1419637">
                  <a:extLst>
                    <a:ext uri="{9D8B030D-6E8A-4147-A177-3AD203B41FA5}">
                      <a16:colId xmlns:a16="http://schemas.microsoft.com/office/drawing/2014/main" val="453511632"/>
                    </a:ext>
                  </a:extLst>
                </a:gridCol>
                <a:gridCol w="1419637">
                  <a:extLst>
                    <a:ext uri="{9D8B030D-6E8A-4147-A177-3AD203B41FA5}">
                      <a16:colId xmlns:a16="http://schemas.microsoft.com/office/drawing/2014/main" val="2948704378"/>
                    </a:ext>
                  </a:extLst>
                </a:gridCol>
                <a:gridCol w="1419637">
                  <a:extLst>
                    <a:ext uri="{9D8B030D-6E8A-4147-A177-3AD203B41FA5}">
                      <a16:colId xmlns:a16="http://schemas.microsoft.com/office/drawing/2014/main" val="2526699384"/>
                    </a:ext>
                  </a:extLst>
                </a:gridCol>
                <a:gridCol w="1419637">
                  <a:extLst>
                    <a:ext uri="{9D8B030D-6E8A-4147-A177-3AD203B41FA5}">
                      <a16:colId xmlns:a16="http://schemas.microsoft.com/office/drawing/2014/main" val="743615699"/>
                    </a:ext>
                  </a:extLst>
                </a:gridCol>
              </a:tblGrid>
              <a:tr h="463897">
                <a:tc>
                  <a:txBody>
                    <a:bodyPr/>
                    <a:lstStyle/>
                    <a:p>
                      <a:pPr algn="ctr"/>
                      <a:r>
                        <a:rPr lang="en-US" sz="6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…</a:t>
                      </a:r>
                      <a:endParaRPr lang="ru-RU" sz="6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6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67</a:t>
                      </a:r>
                      <a:endParaRPr lang="ru-RU" sz="6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6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…</a:t>
                      </a:r>
                      <a:endParaRPr lang="ru-RU" sz="6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6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…</a:t>
                      </a:r>
                      <a:endParaRPr lang="ru-RU" sz="6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6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200</a:t>
                      </a:r>
                      <a:endParaRPr lang="ru-RU" sz="6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6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…</a:t>
                      </a:r>
                      <a:endParaRPr lang="ru-RU" sz="6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5450242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4E0DDD37-BAD8-4994-B8B5-8BF9F78693AD}"/>
              </a:ext>
            </a:extLst>
          </p:cNvPr>
          <p:cNvSpPr txBox="1"/>
          <p:nvPr/>
        </p:nvSpPr>
        <p:spPr>
          <a:xfrm>
            <a:off x="2546917" y="5069160"/>
            <a:ext cx="7627687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200                      </a:t>
            </a:r>
            <a:r>
              <a:rPr lang="ru-RU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216</a:t>
            </a:r>
            <a:endParaRPr lang="ru-RU" sz="4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E473E8F-2D9C-4F9E-826C-CDA5D00FBCB5}"/>
              </a:ext>
            </a:extLst>
          </p:cNvPr>
          <p:cNvSpPr txBox="1"/>
          <p:nvPr/>
        </p:nvSpPr>
        <p:spPr>
          <a:xfrm>
            <a:off x="3657600" y="3231188"/>
            <a:ext cx="5352738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       </a:t>
            </a:r>
            <a:r>
              <a:rPr lang="ru-RU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</a:t>
            </a:r>
            <a:r>
              <a:rPr lang="ru-RU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</a:t>
            </a:r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</a:t>
            </a:r>
            <a:r>
              <a:rPr lang="en-US" sz="4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ptr</a:t>
            </a:r>
            <a:endParaRPr lang="ru-RU" sz="4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6FB0A7F-9AA7-48BB-8879-DF843B988BD8}"/>
              </a:ext>
            </a:extLst>
          </p:cNvPr>
          <p:cNvSpPr txBox="1"/>
          <p:nvPr/>
        </p:nvSpPr>
        <p:spPr>
          <a:xfrm>
            <a:off x="3047114" y="734423"/>
            <a:ext cx="6097772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4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a = </a:t>
            </a:r>
            <a:r>
              <a:rPr lang="en-US" sz="4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'A'</a:t>
            </a:r>
            <a:r>
              <a:rPr lang="en-US" sz="4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4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65</a:t>
            </a:r>
            <a:endParaRPr lang="en-US" sz="4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4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4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sz="40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en-US" sz="4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40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en-US" sz="4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&amp;a;</a:t>
            </a:r>
          </a:p>
          <a:p>
            <a:r>
              <a:rPr lang="en-US" sz="4000" dirty="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en-US" sz="4000" dirty="0" err="1">
                <a:solidFill>
                  <a:srgbClr val="D4D4D4"/>
                </a:solidFill>
                <a:latin typeface="Consolas" panose="020B0609020204030204" pitchFamily="49" charset="0"/>
              </a:rPr>
              <a:t>ptr</a:t>
            </a:r>
            <a:r>
              <a:rPr lang="en-US" sz="4000" dirty="0">
                <a:solidFill>
                  <a:srgbClr val="D4D4D4"/>
                </a:solidFill>
                <a:latin typeface="Consolas" panose="020B0609020204030204" pitchFamily="49" charset="0"/>
              </a:rPr>
              <a:t> = 67;</a:t>
            </a:r>
            <a:endParaRPr lang="en-US" sz="4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595317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254C1C71-7AFE-4BE2-83F5-F699253EB6DE}"/>
              </a:ext>
            </a:extLst>
          </p:cNvPr>
          <p:cNvSpPr txBox="1"/>
          <p:nvPr/>
        </p:nvSpPr>
        <p:spPr>
          <a:xfrm>
            <a:off x="1039090" y="733289"/>
            <a:ext cx="10796155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Разыменовыванием</a:t>
            </a:r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ru-RU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dereference</a:t>
            </a:r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- называется переход по адресу, что хранится в переменной-указателе для считывания или записи значения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 указанному адресу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5A0AF1C-D66C-46A8-B964-C8B41865E339}"/>
              </a:ext>
            </a:extLst>
          </p:cNvPr>
          <p:cNvSpPr txBox="1"/>
          <p:nvPr/>
        </p:nvSpPr>
        <p:spPr>
          <a:xfrm>
            <a:off x="1039090" y="2691245"/>
            <a:ext cx="10910455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Здесь не путаем `*` когда объявляем и когда разыменовываем переменную, это разные вещи:                     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int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*</a:t>
            </a: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ptr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; - `*` здесь значит, что мы объявляем указатель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*</a:t>
            </a: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ptr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5; - `*` здесь означает операцию разыменовывания              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856019F-50FB-46C0-A445-A9FBE28409C1}"/>
              </a:ext>
            </a:extLst>
          </p:cNvPr>
          <p:cNvSpPr txBox="1"/>
          <p:nvPr/>
        </p:nvSpPr>
        <p:spPr>
          <a:xfrm>
            <a:off x="1039090" y="4649201"/>
            <a:ext cx="9847985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 объявлении указателя есть </a:t>
            </a:r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ТОЛЬКО ДВА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варианта где поставить звездочку:               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int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*</a:t>
            </a: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ptr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;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int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* </a:t>
            </a: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ptr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24946786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Box 23">
            <a:extLst>
              <a:ext uri="{FF2B5EF4-FFF2-40B4-BE49-F238E27FC236}">
                <a16:creationId xmlns:a16="http://schemas.microsoft.com/office/drawing/2014/main" id="{E940EB53-6EF1-4217-A7A4-AB105377D6FC}"/>
              </a:ext>
            </a:extLst>
          </p:cNvPr>
          <p:cNvSpPr txBox="1"/>
          <p:nvPr/>
        </p:nvSpPr>
        <p:spPr>
          <a:xfrm>
            <a:off x="1689273" y="1831789"/>
            <a:ext cx="8813451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b = </a:t>
            </a:r>
            <a:r>
              <a:rPr lang="en-US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2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2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Ошибка!</a:t>
            </a:r>
          </a:p>
          <a:p>
            <a:endParaRPr lang="ru-RU" sz="2400" dirty="0">
              <a:solidFill>
                <a:srgbClr val="6A9955"/>
              </a:solidFill>
              <a:latin typeface="Consolas" panose="020B0609020204030204" pitchFamily="49" charset="0"/>
            </a:endParaRPr>
          </a:p>
          <a:p>
            <a:r>
              <a:rPr lang="ru-RU" sz="24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ru-RU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ru-RU" sz="24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ru-RU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2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Указатель на пустоту</a:t>
            </a:r>
          </a:p>
          <a:p>
            <a:endParaRPr lang="ru-RU" sz="2400" dirty="0">
              <a:solidFill>
                <a:srgbClr val="6A9955"/>
              </a:solidFill>
              <a:latin typeface="Consolas" panose="020B0609020204030204" pitchFamily="49" charset="0"/>
            </a:endParaRPr>
          </a:p>
          <a:p>
            <a:r>
              <a:rPr lang="en-US" sz="24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*)</a:t>
            </a:r>
            <a:r>
              <a:rPr lang="ru-RU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== </a:t>
            </a:r>
            <a:r>
              <a:rPr lang="en-US" sz="24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*)</a:t>
            </a:r>
            <a:r>
              <a:rPr lang="ru-RU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== </a:t>
            </a:r>
            <a:r>
              <a:rPr lang="en-US" sz="24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*)  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32E571A-78D9-433F-B52F-8FB6CE1F0A75}"/>
              </a:ext>
            </a:extLst>
          </p:cNvPr>
          <p:cNvSpPr txBox="1"/>
          <p:nvPr/>
        </p:nvSpPr>
        <p:spPr>
          <a:xfrm>
            <a:off x="849295" y="4458965"/>
            <a:ext cx="10985151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Для 32-разрядных систем размер указателя будет 4 байта, для 64 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8 байт. 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Заголовок 3">
            <a:extLst>
              <a:ext uri="{FF2B5EF4-FFF2-40B4-BE49-F238E27FC236}">
                <a16:creationId xmlns:a16="http://schemas.microsoft.com/office/drawing/2014/main" id="{BFC5DE54-0005-4D93-BAAF-7E6882E9E419}"/>
              </a:ext>
            </a:extLst>
          </p:cNvPr>
          <p:cNvSpPr txBox="1">
            <a:spLocks/>
          </p:cNvSpPr>
          <p:nvPr/>
        </p:nvSpPr>
        <p:spPr>
          <a:xfrm>
            <a:off x="1589314" y="118676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Void pointers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8854140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BE6191C-942B-493D-BBD3-80B4AD3D6A65}"/>
              </a:ext>
            </a:extLst>
          </p:cNvPr>
          <p:cNvSpPr txBox="1"/>
          <p:nvPr/>
        </p:nvSpPr>
        <p:spPr>
          <a:xfrm>
            <a:off x="1146454" y="2264122"/>
            <a:ext cx="5378589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a = </a:t>
            </a:r>
            <a:r>
              <a:rPr lang="en-US" sz="3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sz="3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3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sz="3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&amp;a;</a:t>
            </a:r>
            <a:endParaRPr lang="en-US" sz="3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3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3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3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en-US" sz="32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ошибка</a:t>
            </a:r>
            <a:r>
              <a:rPr lang="en-US" sz="3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!</a:t>
            </a:r>
            <a:endParaRPr lang="en-US" sz="3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EE35C51-1A4B-45DC-8549-D998A0A48C53}"/>
              </a:ext>
            </a:extLst>
          </p:cNvPr>
          <p:cNvSpPr txBox="1"/>
          <p:nvPr/>
        </p:nvSpPr>
        <p:spPr>
          <a:xfrm>
            <a:off x="6032151" y="3878079"/>
            <a:ext cx="5780105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a = </a:t>
            </a:r>
            <a:r>
              <a:rPr lang="en-US" sz="3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sz="3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3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sz="3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&amp;a;</a:t>
            </a:r>
            <a:endParaRPr lang="en-US" sz="3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sz="3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3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b = *((</a:t>
            </a:r>
            <a:r>
              <a:rPr lang="en-US" sz="3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*)</a:t>
            </a:r>
            <a:r>
              <a:rPr lang="en-US" sz="3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sz="3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A7D200D-3FE4-4832-958A-A6E1E24D5C97}"/>
              </a:ext>
            </a:extLst>
          </p:cNvPr>
          <p:cNvSpPr txBox="1"/>
          <p:nvPr/>
        </p:nvSpPr>
        <p:spPr>
          <a:xfrm>
            <a:off x="1146454" y="1063794"/>
            <a:ext cx="10149882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void 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указатель нельзя 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разыменовать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если явно не преобразовать его на указатель другого типа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82687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3">
            <a:extLst>
              <a:ext uri="{FF2B5EF4-FFF2-40B4-BE49-F238E27FC236}">
                <a16:creationId xmlns:a16="http://schemas.microsoft.com/office/drawing/2014/main" id="{FBC107C4-DD0A-4873-96AC-42838CA8EEE5}"/>
              </a:ext>
            </a:extLst>
          </p:cNvPr>
          <p:cNvSpPr txBox="1">
            <a:spLocks/>
          </p:cNvSpPr>
          <p:nvPr/>
        </p:nvSpPr>
        <p:spPr>
          <a:xfrm>
            <a:off x="1589314" y="118676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NULL</a:t>
            </a:r>
            <a:endParaRPr lang="ru-RU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403557-F2CF-4F77-ABD4-C60C0C337372}"/>
              </a:ext>
            </a:extLst>
          </p:cNvPr>
          <p:cNvSpPr txBox="1"/>
          <p:nvPr/>
        </p:nvSpPr>
        <p:spPr>
          <a:xfrm>
            <a:off x="912200" y="1617756"/>
            <a:ext cx="10895868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Для указателей есть свой 0 - NULL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NULL - это адрес на нулевую ячейку к памяти. Всем программам к ней доступ закрыт и при попытке 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разыменовать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NULL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получим 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segfault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21F1491-4386-4270-8BA0-21C4BC1D87E3}"/>
              </a:ext>
            </a:extLst>
          </p:cNvPr>
          <p:cNvSpPr txBox="1"/>
          <p:nvPr/>
        </p:nvSpPr>
        <p:spPr>
          <a:xfrm>
            <a:off x="2006843" y="3570241"/>
            <a:ext cx="8495567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ru-RU" sz="28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ru-RU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ru-RU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ru-RU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endParaRPr lang="ru-RU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..</a:t>
            </a:r>
            <a:endParaRPr lang="ru-RU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2800" b="0" dirty="0" err="1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ru-RU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ru-RU" sz="28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ru-RU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!= </a:t>
            </a:r>
            <a:r>
              <a:rPr lang="ru-RU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ru-RU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{</a:t>
            </a:r>
            <a:r>
              <a:rPr lang="ru-RU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28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ru-RU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инициализирован?</a:t>
            </a:r>
            <a:endParaRPr lang="ru-RU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ru-RU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Что-то выполняем</a:t>
            </a:r>
            <a:endParaRPr lang="ru-RU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  <a:endParaRPr lang="ru-RU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967747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7F00999A-C7FE-4384-B3A8-E759EF3E92E6}"/>
              </a:ext>
            </a:extLst>
          </p:cNvPr>
          <p:cNvSpPr txBox="1"/>
          <p:nvPr/>
        </p:nvSpPr>
        <p:spPr>
          <a:xfrm>
            <a:off x="4481513" y="3075057"/>
            <a:ext cx="3228974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4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ru-RU" sz="4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4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a, b;</a:t>
            </a:r>
            <a:endParaRPr lang="en-US" sz="4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1962A6C-1EEB-4337-AA5D-4B47A4D785AD}"/>
              </a:ext>
            </a:extLst>
          </p:cNvPr>
          <p:cNvSpPr txBox="1"/>
          <p:nvPr/>
        </p:nvSpPr>
        <p:spPr>
          <a:xfrm>
            <a:off x="3048733" y="861617"/>
            <a:ext cx="678986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Что здесь объявлено?</a:t>
            </a:r>
          </a:p>
        </p:txBody>
      </p:sp>
    </p:spTree>
    <p:extLst>
      <p:ext uri="{BB962C8B-B14F-4D97-AF65-F5344CB8AC3E}">
        <p14:creationId xmlns:p14="http://schemas.microsoft.com/office/powerpoint/2010/main" val="38398943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55C2417E-E755-4855-9E48-A680018490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7925" y="1461485"/>
            <a:ext cx="4620721" cy="4620721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3FE553A-D8C6-483E-8449-BA6AEED7D7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8460" y="1531824"/>
            <a:ext cx="5003026" cy="4705971"/>
          </a:xfrm>
          <a:prstGeom prst="rect">
            <a:avLst/>
          </a:prstGeom>
        </p:spPr>
      </p:pic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E2C5CA2A-FF03-4AC5-9112-FBE0D4DB55E8}"/>
              </a:ext>
            </a:extLst>
          </p:cNvPr>
          <p:cNvSpPr txBox="1">
            <a:spLocks/>
          </p:cNvSpPr>
          <p:nvPr/>
        </p:nvSpPr>
        <p:spPr>
          <a:xfrm>
            <a:off x="1589314" y="118676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2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/>
              <a:t>Указатель на указатель на </a:t>
            </a:r>
            <a:r>
              <a:rPr lang="en-US" dirty="0"/>
              <a:t>..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7321631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CD82BE-D574-422F-AAF1-F4E15BD353FA}"/>
              </a:ext>
            </a:extLst>
          </p:cNvPr>
          <p:cNvSpPr txBox="1"/>
          <p:nvPr/>
        </p:nvSpPr>
        <p:spPr>
          <a:xfrm>
            <a:off x="1606793" y="1391543"/>
            <a:ext cx="9143267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ru-RU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a = </a:t>
            </a:r>
            <a:r>
              <a:rPr lang="ru-RU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'A'</a:t>
            </a:r>
            <a:r>
              <a:rPr lang="ru-RU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endParaRPr lang="ru-RU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28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ru-RU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*ptr1;</a:t>
            </a:r>
            <a:endParaRPr lang="ru-RU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28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ru-RU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**ptr2;</a:t>
            </a:r>
            <a:r>
              <a:rPr lang="ru-RU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указатель на указатель на </a:t>
            </a:r>
            <a:r>
              <a:rPr lang="ru-RU" sz="28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</a:t>
            </a:r>
            <a:endParaRPr lang="ru-RU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836D14AB-EAD0-42EC-9E0D-46F3FE6C54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9681" y="4081463"/>
            <a:ext cx="7312638" cy="22596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69450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CD82BE-D574-422F-AAF1-F4E15BD353FA}"/>
              </a:ext>
            </a:extLst>
          </p:cNvPr>
          <p:cNvSpPr txBox="1"/>
          <p:nvPr/>
        </p:nvSpPr>
        <p:spPr>
          <a:xfrm>
            <a:off x="1606793" y="1391543"/>
            <a:ext cx="9143267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ru-RU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a = </a:t>
            </a:r>
            <a:r>
              <a:rPr lang="ru-RU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'A'</a:t>
            </a:r>
            <a:r>
              <a:rPr lang="ru-RU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endParaRPr lang="ru-RU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28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ru-RU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*ptr1;</a:t>
            </a:r>
            <a:endParaRPr lang="ru-RU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28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ru-RU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**ptr2;</a:t>
            </a:r>
            <a:r>
              <a:rPr lang="ru-RU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указатель на указатель на </a:t>
            </a:r>
            <a:r>
              <a:rPr lang="ru-RU" sz="28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int</a:t>
            </a:r>
            <a:endParaRPr lang="en-US" sz="2800" b="0" dirty="0">
              <a:solidFill>
                <a:srgbClr val="6A9955"/>
              </a:solidFill>
              <a:effectLst/>
              <a:latin typeface="Consolas" panose="020B0609020204030204" pitchFamily="49" charset="0"/>
            </a:endParaRPr>
          </a:p>
          <a:p>
            <a:endParaRPr lang="en-US" sz="2800" dirty="0">
              <a:solidFill>
                <a:srgbClr val="6A9955"/>
              </a:solidFill>
              <a:latin typeface="Consolas" panose="020B0609020204030204" pitchFamily="49" charset="0"/>
            </a:endParaRPr>
          </a:p>
          <a:p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ptr1 = &amp;a;</a:t>
            </a:r>
            <a:r>
              <a:rPr lang="ru-RU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</a:t>
            </a:r>
            <a:endParaRPr lang="ru-RU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8D93342-73B3-44D4-AC4F-B26BE5583A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23969" y="4063135"/>
            <a:ext cx="7144062" cy="23160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4426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CD82BE-D574-422F-AAF1-F4E15BD353FA}"/>
              </a:ext>
            </a:extLst>
          </p:cNvPr>
          <p:cNvSpPr txBox="1"/>
          <p:nvPr/>
        </p:nvSpPr>
        <p:spPr>
          <a:xfrm>
            <a:off x="1606793" y="1391543"/>
            <a:ext cx="9143267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ru-RU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a = </a:t>
            </a:r>
            <a:r>
              <a:rPr lang="ru-RU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'A'</a:t>
            </a:r>
            <a:r>
              <a:rPr lang="ru-RU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endParaRPr lang="ru-RU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28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ru-RU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*ptr1;</a:t>
            </a:r>
            <a:endParaRPr lang="ru-RU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28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ru-RU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**ptr2;</a:t>
            </a:r>
            <a:r>
              <a:rPr lang="ru-RU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указатель на указатель на </a:t>
            </a:r>
            <a:r>
              <a:rPr lang="ru-RU" sz="28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int</a:t>
            </a:r>
            <a:endParaRPr lang="en-US" sz="2800" b="0" dirty="0">
              <a:solidFill>
                <a:srgbClr val="6A9955"/>
              </a:solidFill>
              <a:effectLst/>
              <a:latin typeface="Consolas" panose="020B0609020204030204" pitchFamily="49" charset="0"/>
            </a:endParaRPr>
          </a:p>
          <a:p>
            <a:endParaRPr lang="en-US" sz="2800" dirty="0">
              <a:solidFill>
                <a:srgbClr val="6A9955"/>
              </a:solidFill>
              <a:latin typeface="Consolas" panose="020B0609020204030204" pitchFamily="49" charset="0"/>
            </a:endParaRPr>
          </a:p>
          <a:p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ptr1 = &amp;a;</a:t>
            </a:r>
          </a:p>
          <a:p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ptr2 = &amp;ptr1;</a:t>
            </a:r>
            <a:r>
              <a:rPr lang="ru-RU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</a:t>
            </a:r>
            <a:endParaRPr lang="ru-RU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402E3A5C-08F1-4552-87A9-4BC1EE8BC1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51550" y="3962369"/>
            <a:ext cx="7653751" cy="25574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572686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CD82BE-D574-422F-AAF1-F4E15BD353FA}"/>
              </a:ext>
            </a:extLst>
          </p:cNvPr>
          <p:cNvSpPr txBox="1"/>
          <p:nvPr/>
        </p:nvSpPr>
        <p:spPr>
          <a:xfrm>
            <a:off x="1896939" y="1699273"/>
            <a:ext cx="9143267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"ptr2 = 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%p</a:t>
            </a:r>
            <a:r>
              <a:rPr lang="en-US" sz="28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ptr2);</a:t>
            </a:r>
            <a:r>
              <a:rPr lang="en-US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      // 250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8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"*ptr2 = 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%p</a:t>
            </a:r>
            <a:r>
              <a:rPr lang="en-US" sz="28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*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ptr2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    // 200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8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"**ptr2 = 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%c</a:t>
            </a:r>
            <a:r>
              <a:rPr lang="en-US" sz="28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**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ptr2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  // A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8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"&amp;</a:t>
            </a:r>
            <a:r>
              <a:rPr lang="en-US" sz="28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en-US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%p</a:t>
            </a:r>
            <a:r>
              <a:rPr lang="en-US" sz="28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&amp;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ptr2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     // 216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402E3A5C-08F1-4552-87A9-4BC1EE8BC1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69124" y="3962369"/>
            <a:ext cx="7653751" cy="25574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094407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EE495DF4-1047-45D7-BEFF-78F7CD85B7C8}"/>
              </a:ext>
            </a:extLst>
          </p:cNvPr>
          <p:cNvSpPr txBox="1"/>
          <p:nvPr/>
        </p:nvSpPr>
        <p:spPr>
          <a:xfrm>
            <a:off x="3331735" y="2028616"/>
            <a:ext cx="5528530" cy="280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4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a = </a:t>
            </a:r>
            <a:r>
              <a:rPr lang="en-US" sz="4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123</a:t>
            </a:r>
            <a:r>
              <a:rPr lang="en-US" sz="4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sz="4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4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4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sz="44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en-US" sz="4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&amp;a;</a:t>
            </a:r>
            <a:br>
              <a:rPr lang="en-US" sz="4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endParaRPr lang="en-US" sz="4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4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*&amp;*&amp;*&amp;*</a:t>
            </a:r>
            <a:r>
              <a:rPr lang="en-US" sz="44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en-US" sz="4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4400" dirty="0">
                <a:solidFill>
                  <a:srgbClr val="D4D4D4"/>
                </a:solidFill>
                <a:latin typeface="Consolas" panose="020B0609020204030204" pitchFamily="49" charset="0"/>
              </a:rPr>
              <a:t>= ?</a:t>
            </a:r>
            <a:endParaRPr lang="en-US" sz="4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489659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1589314" y="213916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Pointers to pointers</a:t>
            </a:r>
            <a:endParaRPr lang="ru-RU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ED84A1A-4C2B-4E32-8A3E-77A972B6355E}"/>
              </a:ext>
            </a:extLst>
          </p:cNvPr>
          <p:cNvSpPr txBox="1"/>
          <p:nvPr/>
        </p:nvSpPr>
        <p:spPr>
          <a:xfrm>
            <a:off x="986058" y="4205583"/>
            <a:ext cx="5928449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2400" dirty="0">
              <a:solidFill>
                <a:prstClr val="white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400" dirty="0">
                <a:solidFill>
                  <a:prstClr val="whit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ptr2 = &amp;ptr1;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printf("ptr2 = %p\n", ptr2);           // 250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printf("*ptr2 = %p\n", *ptr2);       // 200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printf("**ptr2 = %c\n", **ptr2);   // A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printf("&amp;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ptr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%p\n", &amp;ptr2);      // 216</a:t>
            </a:r>
          </a:p>
        </p:txBody>
      </p:sp>
      <p:graphicFrame>
        <p:nvGraphicFramePr>
          <p:cNvPr id="10" name="Таблица 9">
            <a:extLst>
              <a:ext uri="{FF2B5EF4-FFF2-40B4-BE49-F238E27FC236}">
                <a16:creationId xmlns:a16="http://schemas.microsoft.com/office/drawing/2014/main" id="{58007C07-7358-4263-977B-CF1D4F9E6D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5778686"/>
              </p:ext>
            </p:extLst>
          </p:nvPr>
        </p:nvGraphicFramePr>
        <p:xfrm>
          <a:off x="6537790" y="1924893"/>
          <a:ext cx="3900756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0126">
                  <a:extLst>
                    <a:ext uri="{9D8B030D-6E8A-4147-A177-3AD203B41FA5}">
                      <a16:colId xmlns:a16="http://schemas.microsoft.com/office/drawing/2014/main" val="952900806"/>
                    </a:ext>
                  </a:extLst>
                </a:gridCol>
                <a:gridCol w="650126">
                  <a:extLst>
                    <a:ext uri="{9D8B030D-6E8A-4147-A177-3AD203B41FA5}">
                      <a16:colId xmlns:a16="http://schemas.microsoft.com/office/drawing/2014/main" val="2949569941"/>
                    </a:ext>
                  </a:extLst>
                </a:gridCol>
                <a:gridCol w="650126">
                  <a:extLst>
                    <a:ext uri="{9D8B030D-6E8A-4147-A177-3AD203B41FA5}">
                      <a16:colId xmlns:a16="http://schemas.microsoft.com/office/drawing/2014/main" val="453511632"/>
                    </a:ext>
                  </a:extLst>
                </a:gridCol>
                <a:gridCol w="650126">
                  <a:extLst>
                    <a:ext uri="{9D8B030D-6E8A-4147-A177-3AD203B41FA5}">
                      <a16:colId xmlns:a16="http://schemas.microsoft.com/office/drawing/2014/main" val="2948704378"/>
                    </a:ext>
                  </a:extLst>
                </a:gridCol>
                <a:gridCol w="650126">
                  <a:extLst>
                    <a:ext uri="{9D8B030D-6E8A-4147-A177-3AD203B41FA5}">
                      <a16:colId xmlns:a16="http://schemas.microsoft.com/office/drawing/2014/main" val="2526699384"/>
                    </a:ext>
                  </a:extLst>
                </a:gridCol>
                <a:gridCol w="650126">
                  <a:extLst>
                    <a:ext uri="{9D8B030D-6E8A-4147-A177-3AD203B41FA5}">
                      <a16:colId xmlns:a16="http://schemas.microsoft.com/office/drawing/2014/main" val="74361569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</a:t>
                      </a:r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45</a:t>
                      </a:r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-27</a:t>
                      </a:r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5450242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4E0DDD37-BAD8-4994-B8B5-8BF9F78693AD}"/>
              </a:ext>
            </a:extLst>
          </p:cNvPr>
          <p:cNvSpPr txBox="1"/>
          <p:nvPr/>
        </p:nvSpPr>
        <p:spPr>
          <a:xfrm>
            <a:off x="6202893" y="2292836"/>
            <a:ext cx="461335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200        216-224    250-258</a:t>
            </a:r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E473E8F-2D9C-4F9E-826C-CDA5D00FBCB5}"/>
              </a:ext>
            </a:extLst>
          </p:cNvPr>
          <p:cNvSpPr txBox="1"/>
          <p:nvPr/>
        </p:nvSpPr>
        <p:spPr>
          <a:xfrm>
            <a:off x="6438217" y="1402759"/>
            <a:ext cx="446677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a           ptr2        ptr1</a:t>
            </a:r>
            <a:endParaRPr lang="ru-R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D337F4D-F03A-4F3D-B3F9-D3058A5E22B0}"/>
              </a:ext>
            </a:extLst>
          </p:cNvPr>
          <p:cNvSpPr txBox="1"/>
          <p:nvPr/>
        </p:nvSpPr>
        <p:spPr>
          <a:xfrm>
            <a:off x="986058" y="1664369"/>
            <a:ext cx="2273157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char a = 'A';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char *ptr1;</a:t>
            </a:r>
          </a:p>
          <a:p>
            <a:pPr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char **ptr2;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ptr1 = &amp;a;</a:t>
            </a:r>
          </a:p>
        </p:txBody>
      </p:sp>
      <p:graphicFrame>
        <p:nvGraphicFramePr>
          <p:cNvPr id="23" name="Таблица 22">
            <a:extLst>
              <a:ext uri="{FF2B5EF4-FFF2-40B4-BE49-F238E27FC236}">
                <a16:creationId xmlns:a16="http://schemas.microsoft.com/office/drawing/2014/main" id="{1DFCB5CD-84FA-481B-8938-1329F780AD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89738442"/>
              </p:ext>
            </p:extLst>
          </p:nvPr>
        </p:nvGraphicFramePr>
        <p:xfrm>
          <a:off x="6537790" y="3372981"/>
          <a:ext cx="3900756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0126">
                  <a:extLst>
                    <a:ext uri="{9D8B030D-6E8A-4147-A177-3AD203B41FA5}">
                      <a16:colId xmlns:a16="http://schemas.microsoft.com/office/drawing/2014/main" val="952900806"/>
                    </a:ext>
                  </a:extLst>
                </a:gridCol>
                <a:gridCol w="650126">
                  <a:extLst>
                    <a:ext uri="{9D8B030D-6E8A-4147-A177-3AD203B41FA5}">
                      <a16:colId xmlns:a16="http://schemas.microsoft.com/office/drawing/2014/main" val="2949569941"/>
                    </a:ext>
                  </a:extLst>
                </a:gridCol>
                <a:gridCol w="650126">
                  <a:extLst>
                    <a:ext uri="{9D8B030D-6E8A-4147-A177-3AD203B41FA5}">
                      <a16:colId xmlns:a16="http://schemas.microsoft.com/office/drawing/2014/main" val="453511632"/>
                    </a:ext>
                  </a:extLst>
                </a:gridCol>
                <a:gridCol w="650126">
                  <a:extLst>
                    <a:ext uri="{9D8B030D-6E8A-4147-A177-3AD203B41FA5}">
                      <a16:colId xmlns:a16="http://schemas.microsoft.com/office/drawing/2014/main" val="2948704378"/>
                    </a:ext>
                  </a:extLst>
                </a:gridCol>
                <a:gridCol w="650126">
                  <a:extLst>
                    <a:ext uri="{9D8B030D-6E8A-4147-A177-3AD203B41FA5}">
                      <a16:colId xmlns:a16="http://schemas.microsoft.com/office/drawing/2014/main" val="2526699384"/>
                    </a:ext>
                  </a:extLst>
                </a:gridCol>
                <a:gridCol w="650126">
                  <a:extLst>
                    <a:ext uri="{9D8B030D-6E8A-4147-A177-3AD203B41FA5}">
                      <a16:colId xmlns:a16="http://schemas.microsoft.com/office/drawing/2014/main" val="74361569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</a:t>
                      </a:r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45</a:t>
                      </a:r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200</a:t>
                      </a:r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5450242"/>
                  </a:ext>
                </a:extLst>
              </a:tr>
            </a:tbl>
          </a:graphicData>
        </a:graphic>
      </p:graphicFrame>
      <p:sp>
        <p:nvSpPr>
          <p:cNvPr id="24" name="TextBox 23">
            <a:extLst>
              <a:ext uri="{FF2B5EF4-FFF2-40B4-BE49-F238E27FC236}">
                <a16:creationId xmlns:a16="http://schemas.microsoft.com/office/drawing/2014/main" id="{70FF30FC-59CD-41AF-9E4D-FA159B84F7F4}"/>
              </a:ext>
            </a:extLst>
          </p:cNvPr>
          <p:cNvSpPr txBox="1"/>
          <p:nvPr/>
        </p:nvSpPr>
        <p:spPr>
          <a:xfrm>
            <a:off x="6247117" y="3738968"/>
            <a:ext cx="461335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200        216-224    250-258</a:t>
            </a:r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D722EA8-D173-4FBB-95A8-AE7D21D4DA8E}"/>
              </a:ext>
            </a:extLst>
          </p:cNvPr>
          <p:cNvSpPr txBox="1"/>
          <p:nvPr/>
        </p:nvSpPr>
        <p:spPr>
          <a:xfrm>
            <a:off x="6438217" y="2848348"/>
            <a:ext cx="446677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a           ptr2        ptr1</a:t>
            </a:r>
            <a:endParaRPr lang="ru-R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6" name="Таблица 25">
            <a:extLst>
              <a:ext uri="{FF2B5EF4-FFF2-40B4-BE49-F238E27FC236}">
                <a16:creationId xmlns:a16="http://schemas.microsoft.com/office/drawing/2014/main" id="{668B9133-D8E7-43C5-A38C-67AB50AD66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95832655"/>
              </p:ext>
            </p:extLst>
          </p:nvPr>
        </p:nvGraphicFramePr>
        <p:xfrm>
          <a:off x="6537790" y="4943009"/>
          <a:ext cx="3900756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0126">
                  <a:extLst>
                    <a:ext uri="{9D8B030D-6E8A-4147-A177-3AD203B41FA5}">
                      <a16:colId xmlns:a16="http://schemas.microsoft.com/office/drawing/2014/main" val="952900806"/>
                    </a:ext>
                  </a:extLst>
                </a:gridCol>
                <a:gridCol w="650126">
                  <a:extLst>
                    <a:ext uri="{9D8B030D-6E8A-4147-A177-3AD203B41FA5}">
                      <a16:colId xmlns:a16="http://schemas.microsoft.com/office/drawing/2014/main" val="2949569941"/>
                    </a:ext>
                  </a:extLst>
                </a:gridCol>
                <a:gridCol w="650126">
                  <a:extLst>
                    <a:ext uri="{9D8B030D-6E8A-4147-A177-3AD203B41FA5}">
                      <a16:colId xmlns:a16="http://schemas.microsoft.com/office/drawing/2014/main" val="453511632"/>
                    </a:ext>
                  </a:extLst>
                </a:gridCol>
                <a:gridCol w="650126">
                  <a:extLst>
                    <a:ext uri="{9D8B030D-6E8A-4147-A177-3AD203B41FA5}">
                      <a16:colId xmlns:a16="http://schemas.microsoft.com/office/drawing/2014/main" val="2948704378"/>
                    </a:ext>
                  </a:extLst>
                </a:gridCol>
                <a:gridCol w="650126">
                  <a:extLst>
                    <a:ext uri="{9D8B030D-6E8A-4147-A177-3AD203B41FA5}">
                      <a16:colId xmlns:a16="http://schemas.microsoft.com/office/drawing/2014/main" val="2526699384"/>
                    </a:ext>
                  </a:extLst>
                </a:gridCol>
                <a:gridCol w="650126">
                  <a:extLst>
                    <a:ext uri="{9D8B030D-6E8A-4147-A177-3AD203B41FA5}">
                      <a16:colId xmlns:a16="http://schemas.microsoft.com/office/drawing/2014/main" val="74361569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</a:t>
                      </a:r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250</a:t>
                      </a:r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200</a:t>
                      </a:r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5450242"/>
                  </a:ext>
                </a:extLst>
              </a:tr>
            </a:tbl>
          </a:graphicData>
        </a:graphic>
      </p:graphicFrame>
      <p:sp>
        <p:nvSpPr>
          <p:cNvPr id="27" name="TextBox 26">
            <a:extLst>
              <a:ext uri="{FF2B5EF4-FFF2-40B4-BE49-F238E27FC236}">
                <a16:creationId xmlns:a16="http://schemas.microsoft.com/office/drawing/2014/main" id="{2596AFC3-C8A2-48D9-9EF4-CB73D39F6505}"/>
              </a:ext>
            </a:extLst>
          </p:cNvPr>
          <p:cNvSpPr txBox="1"/>
          <p:nvPr/>
        </p:nvSpPr>
        <p:spPr>
          <a:xfrm>
            <a:off x="6247117" y="5309866"/>
            <a:ext cx="461335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200        216-224    250-258</a:t>
            </a:r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065D908-6DC6-4121-93B4-C7B3317CB79F}"/>
              </a:ext>
            </a:extLst>
          </p:cNvPr>
          <p:cNvSpPr txBox="1"/>
          <p:nvPr/>
        </p:nvSpPr>
        <p:spPr>
          <a:xfrm>
            <a:off x="6393694" y="4419789"/>
            <a:ext cx="446677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a           ptr2        ptr1</a:t>
            </a:r>
            <a:endParaRPr lang="ru-R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0358965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1589314" y="252396"/>
            <a:ext cx="9013371" cy="88875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400" dirty="0"/>
              <a:t>Pointer </a:t>
            </a:r>
            <a:r>
              <a:rPr lang="en-US" sz="5400" dirty="0" err="1"/>
              <a:t>arithmetics</a:t>
            </a:r>
            <a:endParaRPr lang="ru-RU" sz="5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0AC15E9-6C05-432A-8A96-35F5AA3173A4}"/>
              </a:ext>
            </a:extLst>
          </p:cNvPr>
          <p:cNvSpPr txBox="1"/>
          <p:nvPr/>
        </p:nvSpPr>
        <p:spPr>
          <a:xfrm>
            <a:off x="1263357" y="1670195"/>
            <a:ext cx="3801041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a = </a:t>
            </a:r>
            <a:r>
              <a:rPr lang="en-US" sz="3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 </a:t>
            </a:r>
            <a:endParaRPr lang="en-US" sz="3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3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sz="3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&amp;a;</a:t>
            </a:r>
          </a:p>
          <a:p>
            <a:endParaRPr lang="en-US" sz="320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endParaRPr lang="en-US" sz="320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3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*</a:t>
            </a:r>
            <a:r>
              <a:rPr lang="en-US" sz="3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sz="3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sz="3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endParaRPr lang="en-US" sz="320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endParaRPr lang="en-US" sz="320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endParaRPr lang="en-US" sz="32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3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3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sz="3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sz="3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393818BD-C5B2-4710-B1A0-B34C58D7C8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9442" y="1253706"/>
            <a:ext cx="5029201" cy="1671942"/>
          </a:xfrm>
          <a:prstGeom prst="rect">
            <a:avLst/>
          </a:prstGeom>
        </p:spPr>
      </p:pic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9D90AF77-2058-4AAD-9FEC-76488E33C2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02396" y="3143804"/>
            <a:ext cx="4823291" cy="1577098"/>
          </a:xfrm>
          <a:prstGeom prst="rect">
            <a:avLst/>
          </a:prstGeom>
        </p:spPr>
      </p:pic>
      <p:pic>
        <p:nvPicPr>
          <p:cNvPr id="25" name="Рисунок 24">
            <a:extLst>
              <a:ext uri="{FF2B5EF4-FFF2-40B4-BE49-F238E27FC236}">
                <a16:creationId xmlns:a16="http://schemas.microsoft.com/office/drawing/2014/main" id="{A76982D8-CB84-48A9-8AC2-2B8E6D8C213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02396" y="4799094"/>
            <a:ext cx="5029201" cy="1610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058782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D0CBD5FE-5806-4110-A4EA-2D3EAA03B488}"/>
              </a:ext>
            </a:extLst>
          </p:cNvPr>
          <p:cNvSpPr txBox="1"/>
          <p:nvPr/>
        </p:nvSpPr>
        <p:spPr>
          <a:xfrm>
            <a:off x="992065" y="1659285"/>
            <a:ext cx="10207870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3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sz="3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[]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{</a:t>
            </a:r>
            <a:r>
              <a:rPr lang="en-US" sz="3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3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3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30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3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40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3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50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3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60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3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70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};</a:t>
            </a:r>
            <a:endParaRPr lang="en-US" sz="3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3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sz="3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3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sz="3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sz="3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3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3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3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en-US" sz="32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3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*</a:t>
            </a:r>
            <a:r>
              <a:rPr lang="en-US" sz="3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 			</a:t>
            </a:r>
            <a:r>
              <a:rPr lang="ru-RU" sz="3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sz="3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 = ?</a:t>
            </a:r>
            <a:endParaRPr lang="en-US" sz="3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3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3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3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en-US" sz="32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3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*(</a:t>
            </a:r>
            <a:r>
              <a:rPr lang="en-US" sz="3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sz="3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));</a:t>
            </a:r>
            <a:r>
              <a:rPr lang="ru-RU" sz="3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3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		</a:t>
            </a:r>
            <a:r>
              <a:rPr lang="ru-RU" sz="3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sz="3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 = ?</a:t>
            </a:r>
            <a:endParaRPr lang="en-US" sz="3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3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3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3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en-US" sz="32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3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3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3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]); 			</a:t>
            </a:r>
            <a:r>
              <a:rPr lang="ru-RU" sz="3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sz="3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 = ?</a:t>
            </a:r>
            <a:endParaRPr lang="en-US" sz="3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3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3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3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</a:t>
            </a:r>
            <a:r>
              <a:rPr lang="en-US" sz="3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ld</a:t>
            </a:r>
            <a:r>
              <a:rPr lang="en-US" sz="32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3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(</a:t>
            </a:r>
            <a:r>
              <a:rPr lang="en-US" sz="3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sz="3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- </a:t>
            </a:r>
            <a:r>
              <a:rPr lang="en-US" sz="3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ru-RU" sz="3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sz="3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 = ?</a:t>
            </a:r>
            <a:endParaRPr lang="en-US" sz="3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2852431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A893B27-18AE-492A-8246-B486CB2C401E}"/>
              </a:ext>
            </a:extLst>
          </p:cNvPr>
          <p:cNvSpPr txBox="1"/>
          <p:nvPr/>
        </p:nvSpPr>
        <p:spPr>
          <a:xfrm>
            <a:off x="487973" y="582067"/>
            <a:ext cx="11216054" cy="56938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matrix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 = {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{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},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{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6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8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},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{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9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};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(*</a:t>
            </a:r>
            <a:r>
              <a:rPr lang="en-US" sz="28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)[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 = matrix;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8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en-US" sz="28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**</a:t>
            </a:r>
            <a:r>
              <a:rPr lang="en-US" sz="2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                           // = ?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8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en-US" sz="28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*(*(</a:t>
            </a:r>
            <a:r>
              <a:rPr lang="en-US" sz="28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+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));</a:t>
            </a:r>
            <a:r>
              <a:rPr lang="en-US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               // = ? 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8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en-US" sz="28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(*</a:t>
            </a:r>
            <a:r>
              <a:rPr lang="en-US" sz="28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)[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]);</a:t>
            </a:r>
            <a:r>
              <a:rPr lang="en-US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                       // = ?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8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en-US" sz="28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*(</a:t>
            </a:r>
            <a:r>
              <a:rPr lang="en-US" sz="2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 +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));</a:t>
            </a:r>
            <a:r>
              <a:rPr lang="en-US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                   // = ?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8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</a:t>
            </a:r>
            <a:r>
              <a:rPr lang="en-US" sz="2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ld</a:t>
            </a:r>
            <a:r>
              <a:rPr lang="en-US" sz="28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(</a:t>
            </a: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*)(</a:t>
            </a:r>
            <a:r>
              <a:rPr lang="en-US" sz="28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- (</a:t>
            </a: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*)</a:t>
            </a:r>
            <a:r>
              <a:rPr lang="en-US" sz="2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= ?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6816385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1589314" y="65710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Endianness (</a:t>
            </a:r>
            <a:r>
              <a:rPr lang="ru-RU" dirty="0"/>
              <a:t>порядок байт)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A7F108E-AF20-43B0-9DBA-4518ABB584F5}"/>
              </a:ext>
            </a:extLst>
          </p:cNvPr>
          <p:cNvSpPr txBox="1"/>
          <p:nvPr/>
        </p:nvSpPr>
        <p:spPr>
          <a:xfrm>
            <a:off x="759541" y="3752165"/>
            <a:ext cx="37914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 a = 0x12345678</a:t>
            </a:r>
            <a:endParaRPr lang="ru-RU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0" name="Таблица 19">
            <a:extLst>
              <a:ext uri="{FF2B5EF4-FFF2-40B4-BE49-F238E27FC236}">
                <a16:creationId xmlns:a16="http://schemas.microsoft.com/office/drawing/2014/main" id="{A00E37F7-DC1A-4D3B-BB6D-76E736807C2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39424"/>
              </p:ext>
            </p:extLst>
          </p:nvPr>
        </p:nvGraphicFramePr>
        <p:xfrm>
          <a:off x="6927047" y="2692131"/>
          <a:ext cx="4120092" cy="7755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30023">
                  <a:extLst>
                    <a:ext uri="{9D8B030D-6E8A-4147-A177-3AD203B41FA5}">
                      <a16:colId xmlns:a16="http://schemas.microsoft.com/office/drawing/2014/main" val="952900806"/>
                    </a:ext>
                  </a:extLst>
                </a:gridCol>
                <a:gridCol w="1030023">
                  <a:extLst>
                    <a:ext uri="{9D8B030D-6E8A-4147-A177-3AD203B41FA5}">
                      <a16:colId xmlns:a16="http://schemas.microsoft.com/office/drawing/2014/main" val="2949569941"/>
                    </a:ext>
                  </a:extLst>
                </a:gridCol>
                <a:gridCol w="1030023">
                  <a:extLst>
                    <a:ext uri="{9D8B030D-6E8A-4147-A177-3AD203B41FA5}">
                      <a16:colId xmlns:a16="http://schemas.microsoft.com/office/drawing/2014/main" val="453511632"/>
                    </a:ext>
                  </a:extLst>
                </a:gridCol>
                <a:gridCol w="1030023">
                  <a:extLst>
                    <a:ext uri="{9D8B030D-6E8A-4147-A177-3AD203B41FA5}">
                      <a16:colId xmlns:a16="http://schemas.microsoft.com/office/drawing/2014/main" val="2948704378"/>
                    </a:ext>
                  </a:extLst>
                </a:gridCol>
              </a:tblGrid>
              <a:tr h="775515">
                <a:tc>
                  <a:txBody>
                    <a:bodyPr/>
                    <a:lstStyle/>
                    <a:p>
                      <a:pPr algn="ctr"/>
                      <a:r>
                        <a:rPr lang="en-US" sz="3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0x12</a:t>
                      </a:r>
                      <a:endParaRPr lang="ru-RU" sz="3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0x34</a:t>
                      </a:r>
                      <a:endParaRPr lang="ru-RU" sz="3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0x56</a:t>
                      </a:r>
                      <a:endParaRPr lang="ru-RU" sz="3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0x78</a:t>
                      </a:r>
                      <a:endParaRPr lang="ru-RU" sz="3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5450242"/>
                  </a:ext>
                </a:extLst>
              </a:tr>
            </a:tbl>
          </a:graphicData>
        </a:graphic>
      </p:graphicFrame>
      <p:sp>
        <p:nvSpPr>
          <p:cNvPr id="17" name="TextBox 16">
            <a:extLst>
              <a:ext uri="{FF2B5EF4-FFF2-40B4-BE49-F238E27FC236}">
                <a16:creationId xmlns:a16="http://schemas.microsoft.com/office/drawing/2014/main" id="{5E995206-E9B7-45A0-B3BF-A928B9A5545F}"/>
              </a:ext>
            </a:extLst>
          </p:cNvPr>
          <p:cNvSpPr txBox="1"/>
          <p:nvPr/>
        </p:nvSpPr>
        <p:spPr>
          <a:xfrm>
            <a:off x="8440113" y="1796935"/>
            <a:ext cx="2691763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Big-endian</a:t>
            </a:r>
            <a:endParaRPr lang="ru-RU" sz="4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263E450-22C1-4079-9EF1-C9A949B0D1B5}"/>
              </a:ext>
            </a:extLst>
          </p:cNvPr>
          <p:cNvSpPr txBox="1"/>
          <p:nvPr/>
        </p:nvSpPr>
        <p:spPr>
          <a:xfrm>
            <a:off x="6890651" y="3429000"/>
            <a:ext cx="39934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100   101   102   103</a:t>
            </a:r>
            <a:endParaRPr lang="ru-RU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3" name="Таблица 22">
            <a:extLst>
              <a:ext uri="{FF2B5EF4-FFF2-40B4-BE49-F238E27FC236}">
                <a16:creationId xmlns:a16="http://schemas.microsoft.com/office/drawing/2014/main" id="{3F5B8739-7891-4BAB-8D29-1C78DE4695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06860923"/>
              </p:ext>
            </p:extLst>
          </p:nvPr>
        </p:nvGraphicFramePr>
        <p:xfrm>
          <a:off x="6982127" y="5096283"/>
          <a:ext cx="4120092" cy="7755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30023">
                  <a:extLst>
                    <a:ext uri="{9D8B030D-6E8A-4147-A177-3AD203B41FA5}">
                      <a16:colId xmlns:a16="http://schemas.microsoft.com/office/drawing/2014/main" val="952900806"/>
                    </a:ext>
                  </a:extLst>
                </a:gridCol>
                <a:gridCol w="1030023">
                  <a:extLst>
                    <a:ext uri="{9D8B030D-6E8A-4147-A177-3AD203B41FA5}">
                      <a16:colId xmlns:a16="http://schemas.microsoft.com/office/drawing/2014/main" val="2949569941"/>
                    </a:ext>
                  </a:extLst>
                </a:gridCol>
                <a:gridCol w="1030023">
                  <a:extLst>
                    <a:ext uri="{9D8B030D-6E8A-4147-A177-3AD203B41FA5}">
                      <a16:colId xmlns:a16="http://schemas.microsoft.com/office/drawing/2014/main" val="453511632"/>
                    </a:ext>
                  </a:extLst>
                </a:gridCol>
                <a:gridCol w="1030023">
                  <a:extLst>
                    <a:ext uri="{9D8B030D-6E8A-4147-A177-3AD203B41FA5}">
                      <a16:colId xmlns:a16="http://schemas.microsoft.com/office/drawing/2014/main" val="2948704378"/>
                    </a:ext>
                  </a:extLst>
                </a:gridCol>
              </a:tblGrid>
              <a:tr h="775515">
                <a:tc>
                  <a:txBody>
                    <a:bodyPr/>
                    <a:lstStyle/>
                    <a:p>
                      <a:pPr algn="ctr"/>
                      <a:r>
                        <a:rPr lang="en-US" sz="3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0x78</a:t>
                      </a:r>
                      <a:endParaRPr lang="ru-RU" sz="3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0x56</a:t>
                      </a:r>
                      <a:endParaRPr lang="ru-RU" sz="3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0x34</a:t>
                      </a:r>
                      <a:endParaRPr lang="ru-RU" sz="3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0x12</a:t>
                      </a:r>
                      <a:endParaRPr lang="ru-RU" sz="3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5450242"/>
                  </a:ext>
                </a:extLst>
              </a:tr>
            </a:tbl>
          </a:graphicData>
        </a:graphic>
      </p:graphicFrame>
      <p:sp>
        <p:nvSpPr>
          <p:cNvPr id="24" name="TextBox 23">
            <a:extLst>
              <a:ext uri="{FF2B5EF4-FFF2-40B4-BE49-F238E27FC236}">
                <a16:creationId xmlns:a16="http://schemas.microsoft.com/office/drawing/2014/main" id="{DEBF8C87-D5CD-4771-B38A-18052183B18B}"/>
              </a:ext>
            </a:extLst>
          </p:cNvPr>
          <p:cNvSpPr txBox="1"/>
          <p:nvPr/>
        </p:nvSpPr>
        <p:spPr>
          <a:xfrm>
            <a:off x="8032951" y="4291625"/>
            <a:ext cx="309892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Little-endian</a:t>
            </a:r>
            <a:endParaRPr lang="ru-RU" sz="4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FAF4D5E-B4F5-4E49-90A2-94D42ADA48F2}"/>
              </a:ext>
            </a:extLst>
          </p:cNvPr>
          <p:cNvSpPr txBox="1"/>
          <p:nvPr/>
        </p:nvSpPr>
        <p:spPr>
          <a:xfrm>
            <a:off x="7045472" y="5830115"/>
            <a:ext cx="39934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100   101   102   103</a:t>
            </a:r>
            <a:endParaRPr lang="ru-RU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Стрелка: вправо 17">
            <a:extLst>
              <a:ext uri="{FF2B5EF4-FFF2-40B4-BE49-F238E27FC236}">
                <a16:creationId xmlns:a16="http://schemas.microsoft.com/office/drawing/2014/main" id="{B14A4A9E-DEBA-40A0-AE50-2326E760CE1D}"/>
              </a:ext>
            </a:extLst>
          </p:cNvPr>
          <p:cNvSpPr/>
          <p:nvPr/>
        </p:nvSpPr>
        <p:spPr>
          <a:xfrm rot="20722418">
            <a:off x="4694405" y="3211181"/>
            <a:ext cx="2117377" cy="673600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7" name="Стрелка: вправо 26">
            <a:extLst>
              <a:ext uri="{FF2B5EF4-FFF2-40B4-BE49-F238E27FC236}">
                <a16:creationId xmlns:a16="http://schemas.microsoft.com/office/drawing/2014/main" id="{16B42C01-DBEC-40BA-A025-8C0D6D28D39E}"/>
              </a:ext>
            </a:extLst>
          </p:cNvPr>
          <p:cNvSpPr/>
          <p:nvPr/>
        </p:nvSpPr>
        <p:spPr>
          <a:xfrm rot="908761">
            <a:off x="4697769" y="4349819"/>
            <a:ext cx="2133175" cy="659148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F1BBB1D-F293-4E8E-A82B-B4801BA93616}"/>
              </a:ext>
            </a:extLst>
          </p:cNvPr>
          <p:cNvSpPr txBox="1"/>
          <p:nvPr/>
        </p:nvSpPr>
        <p:spPr>
          <a:xfrm>
            <a:off x="680850" y="1597859"/>
            <a:ext cx="6119769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Big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Endian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(обратный порядок): Сначала старший байт, число слева направо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Little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Endian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(прямой порядок): Сначала младший байт, число справа налево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6C42C62-02DA-4003-8E8B-DD34CF1308B1}"/>
              </a:ext>
            </a:extLst>
          </p:cNvPr>
          <p:cNvSpPr txBox="1"/>
          <p:nvPr/>
        </p:nvSpPr>
        <p:spPr>
          <a:xfrm>
            <a:off x="692003" y="5170201"/>
            <a:ext cx="609746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В современных ПК с архитектурой x86 (Intel, AMD) вы увидите </a:t>
            </a:r>
            <a:r>
              <a:rPr lang="ru-RU" dirty="0" err="1"/>
              <a:t>little-endian</a:t>
            </a:r>
            <a:r>
              <a:rPr lang="ru-RU" dirty="0"/>
              <a:t> (прямой порядок байт)           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Сетевые протоколы строились на </a:t>
            </a:r>
            <a:r>
              <a:rPr lang="ru-RU" dirty="0" err="1"/>
              <a:t>big</a:t>
            </a:r>
            <a:r>
              <a:rPr lang="ru-RU" dirty="0"/>
              <a:t> </a:t>
            </a:r>
            <a:r>
              <a:rPr lang="ru-RU" dirty="0" err="1"/>
              <a:t>endian</a:t>
            </a:r>
            <a:r>
              <a:rPr lang="ru-RU" dirty="0"/>
              <a:t>, называется это сетевым порядком байт</a:t>
            </a:r>
          </a:p>
        </p:txBody>
      </p:sp>
    </p:spTree>
    <p:extLst>
      <p:ext uri="{BB962C8B-B14F-4D97-AF65-F5344CB8AC3E}">
        <p14:creationId xmlns:p14="http://schemas.microsoft.com/office/powerpoint/2010/main" val="14661577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Box 27">
            <a:extLst>
              <a:ext uri="{FF2B5EF4-FFF2-40B4-BE49-F238E27FC236}">
                <a16:creationId xmlns:a16="http://schemas.microsoft.com/office/drawing/2014/main" id="{BE915140-7625-4E2E-8504-CBE0FA5251D0}"/>
              </a:ext>
            </a:extLst>
          </p:cNvPr>
          <p:cNvSpPr txBox="1"/>
          <p:nvPr/>
        </p:nvSpPr>
        <p:spPr>
          <a:xfrm>
            <a:off x="2078831" y="3884761"/>
            <a:ext cx="8390060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Endianness 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проблема может возникнуть когда: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Обмениваетесь данными между двумя системами с разным порядком байт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Передача данных по сети (TCP/IP)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Работа с файлами (PNG, JPEG)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 чтении памяти</a:t>
            </a: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2434DBAB-5E6F-448B-A2E1-D6BEA452B40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6250" t="27436" r="7853" b="19486"/>
          <a:stretch/>
        </p:blipFill>
        <p:spPr>
          <a:xfrm>
            <a:off x="2078831" y="562137"/>
            <a:ext cx="8034337" cy="3102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128620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Таблица 2">
            <a:extLst>
              <a:ext uri="{FF2B5EF4-FFF2-40B4-BE49-F238E27FC236}">
                <a16:creationId xmlns:a16="http://schemas.microsoft.com/office/drawing/2014/main" id="{440EA9DD-4DA5-4269-839B-7A23BF7583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88745361"/>
              </p:ext>
            </p:extLst>
          </p:nvPr>
        </p:nvGraphicFramePr>
        <p:xfrm>
          <a:off x="350238" y="5031448"/>
          <a:ext cx="11841768" cy="64633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6814">
                  <a:extLst>
                    <a:ext uri="{9D8B030D-6E8A-4147-A177-3AD203B41FA5}">
                      <a16:colId xmlns:a16="http://schemas.microsoft.com/office/drawing/2014/main" val="2949569941"/>
                    </a:ext>
                  </a:extLst>
                </a:gridCol>
                <a:gridCol w="986814">
                  <a:extLst>
                    <a:ext uri="{9D8B030D-6E8A-4147-A177-3AD203B41FA5}">
                      <a16:colId xmlns:a16="http://schemas.microsoft.com/office/drawing/2014/main" val="453511632"/>
                    </a:ext>
                  </a:extLst>
                </a:gridCol>
                <a:gridCol w="986814">
                  <a:extLst>
                    <a:ext uri="{9D8B030D-6E8A-4147-A177-3AD203B41FA5}">
                      <a16:colId xmlns:a16="http://schemas.microsoft.com/office/drawing/2014/main" val="2948704378"/>
                    </a:ext>
                  </a:extLst>
                </a:gridCol>
                <a:gridCol w="986814">
                  <a:extLst>
                    <a:ext uri="{9D8B030D-6E8A-4147-A177-3AD203B41FA5}">
                      <a16:colId xmlns:a16="http://schemas.microsoft.com/office/drawing/2014/main" val="2526699384"/>
                    </a:ext>
                  </a:extLst>
                </a:gridCol>
                <a:gridCol w="986814">
                  <a:extLst>
                    <a:ext uri="{9D8B030D-6E8A-4147-A177-3AD203B41FA5}">
                      <a16:colId xmlns:a16="http://schemas.microsoft.com/office/drawing/2014/main" val="743615699"/>
                    </a:ext>
                  </a:extLst>
                </a:gridCol>
                <a:gridCol w="986814">
                  <a:extLst>
                    <a:ext uri="{9D8B030D-6E8A-4147-A177-3AD203B41FA5}">
                      <a16:colId xmlns:a16="http://schemas.microsoft.com/office/drawing/2014/main" val="497774477"/>
                    </a:ext>
                  </a:extLst>
                </a:gridCol>
                <a:gridCol w="986814">
                  <a:extLst>
                    <a:ext uri="{9D8B030D-6E8A-4147-A177-3AD203B41FA5}">
                      <a16:colId xmlns:a16="http://schemas.microsoft.com/office/drawing/2014/main" val="868585826"/>
                    </a:ext>
                  </a:extLst>
                </a:gridCol>
                <a:gridCol w="986814">
                  <a:extLst>
                    <a:ext uri="{9D8B030D-6E8A-4147-A177-3AD203B41FA5}">
                      <a16:colId xmlns:a16="http://schemas.microsoft.com/office/drawing/2014/main" val="1888956304"/>
                    </a:ext>
                  </a:extLst>
                </a:gridCol>
                <a:gridCol w="986814">
                  <a:extLst>
                    <a:ext uri="{9D8B030D-6E8A-4147-A177-3AD203B41FA5}">
                      <a16:colId xmlns:a16="http://schemas.microsoft.com/office/drawing/2014/main" val="1519038638"/>
                    </a:ext>
                  </a:extLst>
                </a:gridCol>
                <a:gridCol w="986814">
                  <a:extLst>
                    <a:ext uri="{9D8B030D-6E8A-4147-A177-3AD203B41FA5}">
                      <a16:colId xmlns:a16="http://schemas.microsoft.com/office/drawing/2014/main" val="2054179035"/>
                    </a:ext>
                  </a:extLst>
                </a:gridCol>
                <a:gridCol w="986814">
                  <a:extLst>
                    <a:ext uri="{9D8B030D-6E8A-4147-A177-3AD203B41FA5}">
                      <a16:colId xmlns:a16="http://schemas.microsoft.com/office/drawing/2014/main" val="3830705623"/>
                    </a:ext>
                  </a:extLst>
                </a:gridCol>
                <a:gridCol w="986814">
                  <a:extLst>
                    <a:ext uri="{9D8B030D-6E8A-4147-A177-3AD203B41FA5}">
                      <a16:colId xmlns:a16="http://schemas.microsoft.com/office/drawing/2014/main" val="2612488739"/>
                    </a:ext>
                  </a:extLst>
                </a:gridCol>
              </a:tblGrid>
              <a:tr h="646331">
                <a:tc>
                  <a:txBody>
                    <a:bodyPr/>
                    <a:lstStyle/>
                    <a:p>
                      <a:pPr algn="ctr"/>
                      <a:endParaRPr lang="ru-RU" sz="3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EE</a:t>
                      </a:r>
                      <a:endParaRPr lang="ru-RU" sz="3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FF</a:t>
                      </a:r>
                      <a:endParaRPr lang="ru-RU" sz="3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C0</a:t>
                      </a:r>
                      <a:endParaRPr lang="ru-RU" sz="3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00</a:t>
                      </a:r>
                      <a:endParaRPr lang="ru-RU" sz="3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3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3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3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200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3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ru-RU" sz="3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ru-RU" sz="3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3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545024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801DA174-F7E7-4B91-BD3C-EC51B7F5F9BA}"/>
              </a:ext>
            </a:extLst>
          </p:cNvPr>
          <p:cNvSpPr txBox="1"/>
          <p:nvPr/>
        </p:nvSpPr>
        <p:spPr>
          <a:xfrm>
            <a:off x="1384928" y="5677779"/>
            <a:ext cx="105286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200   201    202    203   </a:t>
            </a:r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     …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220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                           …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3677BC2-5869-45FF-AD73-B33692F9DA1D}"/>
              </a:ext>
            </a:extLst>
          </p:cNvPr>
          <p:cNvSpPr txBox="1"/>
          <p:nvPr/>
        </p:nvSpPr>
        <p:spPr>
          <a:xfrm>
            <a:off x="1450631" y="869629"/>
            <a:ext cx="8680581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a = </a:t>
            </a:r>
            <a:r>
              <a:rPr lang="en-US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0xC0FFEE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sz="24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(</a:t>
            </a:r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*)&amp;a;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2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2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для </a:t>
            </a:r>
            <a:r>
              <a:rPr lang="en-US" sz="2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little-endian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"first byte of a = </a:t>
            </a:r>
            <a:r>
              <a:rPr lang="en-US" sz="2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</a:t>
            </a:r>
            <a:r>
              <a:rPr lang="en-US" sz="2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hhx</a:t>
            </a:r>
            <a:r>
              <a:rPr lang="en-US" sz="24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*</a:t>
            </a:r>
            <a:r>
              <a:rPr lang="en-US" sz="2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sz="2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0xEE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++;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"second byte of a = </a:t>
            </a:r>
            <a:r>
              <a:rPr lang="en-US" sz="2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</a:t>
            </a:r>
            <a:r>
              <a:rPr lang="en-US" sz="2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hhx</a:t>
            </a:r>
            <a:r>
              <a:rPr lang="en-US" sz="24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*</a:t>
            </a:r>
            <a:r>
              <a:rPr lang="en-US" sz="2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sz="2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0xFF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++;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6FB975D-799B-4BF9-BC74-8E9761BCF228}"/>
              </a:ext>
            </a:extLst>
          </p:cNvPr>
          <p:cNvSpPr txBox="1"/>
          <p:nvPr/>
        </p:nvSpPr>
        <p:spPr>
          <a:xfrm>
            <a:off x="3195788" y="4086194"/>
            <a:ext cx="41324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endParaRPr lang="ru-RU" sz="2400" dirty="0"/>
          </a:p>
        </p:txBody>
      </p:sp>
      <p:sp>
        <p:nvSpPr>
          <p:cNvPr id="10" name="Левая фигурная скобка 9">
            <a:extLst>
              <a:ext uri="{FF2B5EF4-FFF2-40B4-BE49-F238E27FC236}">
                <a16:creationId xmlns:a16="http://schemas.microsoft.com/office/drawing/2014/main" id="{F8B48F77-E884-4D07-8F4C-7524A23BFC2B}"/>
              </a:ext>
            </a:extLst>
          </p:cNvPr>
          <p:cNvSpPr/>
          <p:nvPr/>
        </p:nvSpPr>
        <p:spPr>
          <a:xfrm rot="5400000">
            <a:off x="3135626" y="2860780"/>
            <a:ext cx="412620" cy="3914019"/>
          </a:xfrm>
          <a:prstGeom prst="leftBrace">
            <a:avLst>
              <a:gd name="adj1" fmla="val 96566"/>
              <a:gd name="adj2" fmla="val 50211"/>
            </a:avLst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Левая фигурная скобка 10">
            <a:extLst>
              <a:ext uri="{FF2B5EF4-FFF2-40B4-BE49-F238E27FC236}">
                <a16:creationId xmlns:a16="http://schemas.microsoft.com/office/drawing/2014/main" id="{10463488-7DED-4380-8C8E-359FC39AD95A}"/>
              </a:ext>
            </a:extLst>
          </p:cNvPr>
          <p:cNvSpPr/>
          <p:nvPr/>
        </p:nvSpPr>
        <p:spPr>
          <a:xfrm rot="5400000">
            <a:off x="9051569" y="2837744"/>
            <a:ext cx="412620" cy="3947446"/>
          </a:xfrm>
          <a:prstGeom prst="leftBrace">
            <a:avLst>
              <a:gd name="adj1" fmla="val 96566"/>
              <a:gd name="adj2" fmla="val 50211"/>
            </a:avLst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0D43AF3-E596-4F49-908E-DC48E1C5C069}"/>
              </a:ext>
            </a:extLst>
          </p:cNvPr>
          <p:cNvSpPr txBox="1"/>
          <p:nvPr/>
        </p:nvSpPr>
        <p:spPr>
          <a:xfrm>
            <a:off x="8976486" y="3916617"/>
            <a:ext cx="83596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ptr</a:t>
            </a:r>
            <a:endParaRPr lang="ru-RU" sz="2800" dirty="0"/>
          </a:p>
        </p:txBody>
      </p:sp>
    </p:spTree>
    <p:extLst>
      <p:ext uri="{BB962C8B-B14F-4D97-AF65-F5344CB8AC3E}">
        <p14:creationId xmlns:p14="http://schemas.microsoft.com/office/powerpoint/2010/main" val="329276010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Заголовок 3">
            <a:extLst>
              <a:ext uri="{FF2B5EF4-FFF2-40B4-BE49-F238E27FC236}">
                <a16:creationId xmlns:a16="http://schemas.microsoft.com/office/drawing/2014/main" id="{0C776D11-EEA0-4889-862A-323547785F5C}"/>
              </a:ext>
            </a:extLst>
          </p:cNvPr>
          <p:cNvSpPr txBox="1">
            <a:spLocks/>
          </p:cNvSpPr>
          <p:nvPr/>
        </p:nvSpPr>
        <p:spPr>
          <a:xfrm>
            <a:off x="1589314" y="65710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Dynamic array</a:t>
            </a:r>
            <a:endParaRPr lang="ru-RU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651C12D-8486-4DC8-80EE-A579253240C4}"/>
              </a:ext>
            </a:extLst>
          </p:cNvPr>
          <p:cNvSpPr txBox="1"/>
          <p:nvPr/>
        </p:nvSpPr>
        <p:spPr>
          <a:xfrm>
            <a:off x="1061670" y="1905506"/>
            <a:ext cx="10210068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Динамические массивы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массивы, размер которых можно менять по ходу выполнения программы.                        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Функции для работы с динамическими массивами (&lt;</a:t>
            </a: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stdlib.h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&gt;):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69B92D4-21F1-42BE-992C-A0D20BDC7464}"/>
              </a:ext>
            </a:extLst>
          </p:cNvPr>
          <p:cNvSpPr txBox="1"/>
          <p:nvPr/>
        </p:nvSpPr>
        <p:spPr>
          <a:xfrm>
            <a:off x="5008867" y="3719036"/>
            <a:ext cx="2315674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malloc</a:t>
            </a:r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calloc</a:t>
            </a:r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realloc</a:t>
            </a:r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free</a:t>
            </a:r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8907095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3">
            <a:extLst>
              <a:ext uri="{FF2B5EF4-FFF2-40B4-BE49-F238E27FC236}">
                <a16:creationId xmlns:a16="http://schemas.microsoft.com/office/drawing/2014/main" id="{3A3572DA-B1DF-424B-9E13-5CE3F3268FE4}"/>
              </a:ext>
            </a:extLst>
          </p:cNvPr>
          <p:cNvSpPr txBox="1">
            <a:spLocks/>
          </p:cNvSpPr>
          <p:nvPr/>
        </p:nvSpPr>
        <p:spPr>
          <a:xfrm>
            <a:off x="1589314" y="65710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malloc</a:t>
            </a:r>
            <a:endParaRPr lang="ru-R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80729EB-72EB-4537-AD65-8852C55034D1}"/>
              </a:ext>
            </a:extLst>
          </p:cNvPr>
          <p:cNvSpPr txBox="1"/>
          <p:nvPr/>
        </p:nvSpPr>
        <p:spPr>
          <a:xfrm>
            <a:off x="837100" y="1567029"/>
            <a:ext cx="10927007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 err="1"/>
              <a:t>malloc</a:t>
            </a:r>
            <a:r>
              <a:rPr lang="ru-RU" sz="2800" dirty="0"/>
              <a:t> - </a:t>
            </a:r>
            <a:r>
              <a:rPr lang="ru-RU" sz="2800" b="1" dirty="0"/>
              <a:t>M</a:t>
            </a:r>
            <a:r>
              <a:rPr lang="ru-RU" sz="2800" dirty="0"/>
              <a:t>emory </a:t>
            </a:r>
            <a:r>
              <a:rPr lang="ru-RU" sz="2800" b="1" dirty="0" err="1"/>
              <a:t>Alloc</a:t>
            </a:r>
            <a:r>
              <a:rPr lang="ru-RU" sz="2800" dirty="0"/>
              <a:t> - </a:t>
            </a:r>
            <a:r>
              <a:rPr lang="ru-RU" sz="2800" b="1" dirty="0"/>
              <a:t>выделяет динамическую память</a:t>
            </a:r>
            <a:r>
              <a:rPr lang="ru-RU" sz="2800" dirty="0"/>
              <a:t> для хранения данных. Имеет 1 </a:t>
            </a:r>
            <a:r>
              <a:rPr lang="ru-RU" sz="2800" b="1" dirty="0"/>
              <a:t>аргумент - количество байт, которое необходимо выделить</a:t>
            </a:r>
            <a:r>
              <a:rPr lang="ru-RU" sz="2800" dirty="0"/>
              <a:t>. </a:t>
            </a:r>
            <a:r>
              <a:rPr lang="ru-RU" sz="2800" b="1" dirty="0"/>
              <a:t>Возвращает адрес на выделенную память в случае успеха, </a:t>
            </a:r>
            <a:r>
              <a:rPr lang="ru-RU" sz="2800" dirty="0"/>
              <a:t>в случае неудачи (кончилась память, например) - </a:t>
            </a:r>
            <a:r>
              <a:rPr lang="ru-RU" sz="2800" b="1" dirty="0"/>
              <a:t>возвращает NULL</a:t>
            </a:r>
            <a:r>
              <a:rPr lang="ru-RU" sz="2800" dirty="0"/>
              <a:t>.      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C13D010-354D-47C1-B7B9-99833BEFDCBE}"/>
              </a:ext>
            </a:extLst>
          </p:cNvPr>
          <p:cNvSpPr txBox="1"/>
          <p:nvPr/>
        </p:nvSpPr>
        <p:spPr>
          <a:xfrm>
            <a:off x="2388209" y="4167586"/>
            <a:ext cx="7415579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sz="24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(</a:t>
            </a:r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*)</a:t>
            </a:r>
            <a:r>
              <a:rPr lang="en-US" sz="2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malloc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24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endParaRPr lang="en-US" sz="240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24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== </a:t>
            </a:r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{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4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"Error malloc!</a:t>
            </a:r>
            <a:r>
              <a:rPr lang="en-US" sz="24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-</a:t>
            </a:r>
            <a:r>
              <a:rPr lang="en-US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 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1063871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3">
            <a:extLst>
              <a:ext uri="{FF2B5EF4-FFF2-40B4-BE49-F238E27FC236}">
                <a16:creationId xmlns:a16="http://schemas.microsoft.com/office/drawing/2014/main" id="{3A3572DA-B1DF-424B-9E13-5CE3F3268FE4}"/>
              </a:ext>
            </a:extLst>
          </p:cNvPr>
          <p:cNvSpPr txBox="1">
            <a:spLocks/>
          </p:cNvSpPr>
          <p:nvPr/>
        </p:nvSpPr>
        <p:spPr>
          <a:xfrm>
            <a:off x="1589314" y="65710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malloc</a:t>
            </a:r>
            <a:endParaRPr lang="ru-RU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C13D010-354D-47C1-B7B9-99833BEFDCBE}"/>
              </a:ext>
            </a:extLst>
          </p:cNvPr>
          <p:cNvSpPr txBox="1"/>
          <p:nvPr/>
        </p:nvSpPr>
        <p:spPr>
          <a:xfrm>
            <a:off x="2388209" y="1503517"/>
            <a:ext cx="7415579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sz="24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(</a:t>
            </a:r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*)</a:t>
            </a:r>
            <a:r>
              <a:rPr lang="en-US" sz="2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malloc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24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endParaRPr lang="en-US" sz="240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24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== </a:t>
            </a:r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{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4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"Error malloc!</a:t>
            </a:r>
            <a:r>
              <a:rPr lang="en-US" sz="24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-</a:t>
            </a:r>
            <a:r>
              <a:rPr lang="en-US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 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B58CE29E-175F-419F-A2AF-6AB5687D19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7268" y="4260625"/>
            <a:ext cx="11637459" cy="19733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225033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3">
            <a:extLst>
              <a:ext uri="{FF2B5EF4-FFF2-40B4-BE49-F238E27FC236}">
                <a16:creationId xmlns:a16="http://schemas.microsoft.com/office/drawing/2014/main" id="{3A3572DA-B1DF-424B-9E13-5CE3F3268FE4}"/>
              </a:ext>
            </a:extLst>
          </p:cNvPr>
          <p:cNvSpPr txBox="1">
            <a:spLocks/>
          </p:cNvSpPr>
          <p:nvPr/>
        </p:nvSpPr>
        <p:spPr>
          <a:xfrm>
            <a:off x="1589314" y="65710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malloc</a:t>
            </a:r>
            <a:endParaRPr lang="ru-RU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C13D010-354D-47C1-B7B9-99833BEFDCBE}"/>
              </a:ext>
            </a:extLst>
          </p:cNvPr>
          <p:cNvSpPr txBox="1"/>
          <p:nvPr/>
        </p:nvSpPr>
        <p:spPr>
          <a:xfrm>
            <a:off x="2709310" y="2444294"/>
            <a:ext cx="67733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sv-SE" sz="2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sv-SE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sv-SE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sv-SE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sv-SE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123</a:t>
            </a:r>
            <a:r>
              <a:rPr lang="sv-SE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sv-SE" sz="2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sv-SE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sv-SE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sv-SE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sv-SE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sv-SE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sv-SE" sz="2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sv-SE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sv-SE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sv-SE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sv-SE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sv-SE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endParaRPr lang="sv-SE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49E6A363-DC42-4B9D-A59A-5C5B6C28D1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787" y="3780120"/>
            <a:ext cx="11908423" cy="1722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925350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3">
            <a:extLst>
              <a:ext uri="{FF2B5EF4-FFF2-40B4-BE49-F238E27FC236}">
                <a16:creationId xmlns:a16="http://schemas.microsoft.com/office/drawing/2014/main" id="{3A3572DA-B1DF-424B-9E13-5CE3F3268FE4}"/>
              </a:ext>
            </a:extLst>
          </p:cNvPr>
          <p:cNvSpPr txBox="1">
            <a:spLocks/>
          </p:cNvSpPr>
          <p:nvPr/>
        </p:nvSpPr>
        <p:spPr>
          <a:xfrm>
            <a:off x="1589314" y="65710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free</a:t>
            </a:r>
            <a:endParaRPr lang="ru-RU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C13D010-354D-47C1-B7B9-99833BEFDCBE}"/>
              </a:ext>
            </a:extLst>
          </p:cNvPr>
          <p:cNvSpPr txBox="1"/>
          <p:nvPr/>
        </p:nvSpPr>
        <p:spPr>
          <a:xfrm>
            <a:off x="5082272" y="1509586"/>
            <a:ext cx="202745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free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959874BC-5B97-48CE-ACEC-19BB9C117F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332" y="1991416"/>
            <a:ext cx="11699332" cy="162854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8DAC57E-8898-4D3C-8385-B1DDC68DB592}"/>
              </a:ext>
            </a:extLst>
          </p:cNvPr>
          <p:cNvSpPr txBox="1"/>
          <p:nvPr/>
        </p:nvSpPr>
        <p:spPr>
          <a:xfrm>
            <a:off x="4982672" y="4079603"/>
            <a:ext cx="222665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BA8429A7-5BBD-4F94-A923-0AB6FBFDB3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375" y="4534140"/>
            <a:ext cx="11873244" cy="16285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255979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3">
            <a:extLst>
              <a:ext uri="{FF2B5EF4-FFF2-40B4-BE49-F238E27FC236}">
                <a16:creationId xmlns:a16="http://schemas.microsoft.com/office/drawing/2014/main" id="{3C84CA1F-38CE-41A9-9CBA-9DDC6E0A741A}"/>
              </a:ext>
            </a:extLst>
          </p:cNvPr>
          <p:cNvSpPr txBox="1">
            <a:spLocks/>
          </p:cNvSpPr>
          <p:nvPr/>
        </p:nvSpPr>
        <p:spPr>
          <a:xfrm>
            <a:off x="1589314" y="65710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Memory leak</a:t>
            </a:r>
            <a:endParaRPr lang="ru-R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DC7DFC0-B573-4D85-8245-7D6BC3474D86}"/>
              </a:ext>
            </a:extLst>
          </p:cNvPr>
          <p:cNvSpPr txBox="1"/>
          <p:nvPr/>
        </p:nvSpPr>
        <p:spPr>
          <a:xfrm>
            <a:off x="1131641" y="1364958"/>
            <a:ext cx="9928713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b="1" dirty="0"/>
              <a:t>Утечка памяти </a:t>
            </a:r>
            <a:r>
              <a:rPr lang="ru-RU" sz="3200" dirty="0"/>
              <a:t>- ситуация, когда программа выделяет память и не освобождает, например: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F23BC92-E6BA-4444-B95C-5479A4E3069C}"/>
              </a:ext>
            </a:extLst>
          </p:cNvPr>
          <p:cNvSpPr txBox="1"/>
          <p:nvPr/>
        </p:nvSpPr>
        <p:spPr>
          <a:xfrm>
            <a:off x="3047265" y="2646894"/>
            <a:ext cx="6097464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ru-RU" sz="3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ru-RU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ru-RU" sz="3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malloc</a:t>
            </a:r>
            <a:r>
              <a:rPr lang="ru-RU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ru-RU" sz="3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10000</a:t>
            </a:r>
            <a:r>
              <a:rPr lang="ru-RU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ru-RU" sz="3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r>
              <a:rPr lang="ru-RU" sz="3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ru-RU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ru-RU" sz="3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malloc</a:t>
            </a:r>
            <a:r>
              <a:rPr lang="ru-RU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ru-RU" sz="3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20000</a:t>
            </a:r>
            <a:r>
              <a:rPr lang="ru-RU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ru-RU" sz="3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</a:t>
            </a:r>
            <a:endParaRPr lang="ru-RU" sz="3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AFD44D0-E9B7-454A-B8EC-05DD23D3AD18}"/>
              </a:ext>
            </a:extLst>
          </p:cNvPr>
          <p:cNvSpPr txBox="1"/>
          <p:nvPr/>
        </p:nvSpPr>
        <p:spPr>
          <a:xfrm>
            <a:off x="1131641" y="3928830"/>
            <a:ext cx="10720389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 случае если ваша 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програма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завершилась, а вы не сделали 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free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то, </a:t>
            </a:r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ОС подчистит всю память за вас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Однако если ваша программа работает долго в цикле и в ней постоянно выделяется память и не освобождается.. </a:t>
            </a:r>
          </a:p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 языке Си нет сборщика мусора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24277951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3">
            <a:extLst>
              <a:ext uri="{FF2B5EF4-FFF2-40B4-BE49-F238E27FC236}">
                <a16:creationId xmlns:a16="http://schemas.microsoft.com/office/drawing/2014/main" id="{3A3572DA-B1DF-424B-9E13-5CE3F3268FE4}"/>
              </a:ext>
            </a:extLst>
          </p:cNvPr>
          <p:cNvSpPr txBox="1">
            <a:spLocks/>
          </p:cNvSpPr>
          <p:nvPr/>
        </p:nvSpPr>
        <p:spPr>
          <a:xfrm>
            <a:off x="1589314" y="65710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 err="1"/>
              <a:t>calloc</a:t>
            </a:r>
            <a:endParaRPr lang="ru-R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D573F39-391C-4243-8F8C-B67506D27C31}"/>
              </a:ext>
            </a:extLst>
          </p:cNvPr>
          <p:cNvSpPr txBox="1"/>
          <p:nvPr/>
        </p:nvSpPr>
        <p:spPr>
          <a:xfrm>
            <a:off x="2428321" y="4112539"/>
            <a:ext cx="733535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sz="24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(</a:t>
            </a:r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*)</a:t>
            </a:r>
            <a:r>
              <a:rPr lang="en-US" sz="24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calloc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4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));</a:t>
            </a:r>
            <a:r>
              <a:rPr lang="en-US" sz="2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r>
              <a:rPr lang="en-US" sz="2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sz="24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или</a:t>
            </a:r>
            <a:r>
              <a:rPr lang="en-US" sz="2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(int *)</a:t>
            </a:r>
            <a:r>
              <a:rPr lang="en-US" sz="24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calloc</a:t>
            </a:r>
            <a:r>
              <a:rPr lang="en-US" sz="2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(1, 3 * </a:t>
            </a:r>
            <a:r>
              <a:rPr lang="en-US" sz="24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2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(int));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18EBB20-52BE-4B02-B1D1-984FE2D583BE}"/>
              </a:ext>
            </a:extLst>
          </p:cNvPr>
          <p:cNvSpPr txBox="1"/>
          <p:nvPr/>
        </p:nvSpPr>
        <p:spPr>
          <a:xfrm>
            <a:off x="1465562" y="2052963"/>
            <a:ext cx="9260867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dirty="0" err="1"/>
              <a:t>calloc</a:t>
            </a:r>
            <a:r>
              <a:rPr lang="en-US" sz="2800" b="1" dirty="0"/>
              <a:t> </a:t>
            </a:r>
            <a:r>
              <a:rPr lang="ru-RU" sz="2800" dirty="0"/>
              <a:t>делает тоже самое что и </a:t>
            </a:r>
            <a:r>
              <a:rPr lang="en-US" sz="2800" b="1" dirty="0"/>
              <a:t>malloc</a:t>
            </a:r>
            <a:r>
              <a:rPr lang="en-US" sz="2800" dirty="0"/>
              <a:t>, </a:t>
            </a:r>
            <a:r>
              <a:rPr lang="ru-RU" sz="2800" dirty="0"/>
              <a:t>но инициализирует данные нулями. Первый аргумент – количество элементов</a:t>
            </a:r>
            <a:r>
              <a:rPr lang="en-US" sz="2800" dirty="0"/>
              <a:t>, </a:t>
            </a:r>
            <a:r>
              <a:rPr lang="ru-RU" sz="2800" dirty="0"/>
              <a:t>второй количество байт для каждого элемента</a:t>
            </a:r>
          </a:p>
        </p:txBody>
      </p:sp>
    </p:spTree>
    <p:extLst>
      <p:ext uri="{BB962C8B-B14F-4D97-AF65-F5344CB8AC3E}">
        <p14:creationId xmlns:p14="http://schemas.microsoft.com/office/powerpoint/2010/main" val="227321356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73FB992-1580-47AF-B1CB-B7E126E1257B}"/>
              </a:ext>
            </a:extLst>
          </p:cNvPr>
          <p:cNvSpPr txBox="1"/>
          <p:nvPr/>
        </p:nvSpPr>
        <p:spPr>
          <a:xfrm>
            <a:off x="2816331" y="3126092"/>
            <a:ext cx="6559337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3 элемента по </a:t>
            </a:r>
            <a:r>
              <a:rPr lang="en-US" sz="20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(int)</a:t>
            </a:r>
            <a:endParaRPr lang="en-US" sz="2000" b="0" dirty="0">
              <a:solidFill>
                <a:srgbClr val="569CD6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sz="20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(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*)</a:t>
            </a:r>
            <a:r>
              <a:rPr lang="en-US" sz="20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malloc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* </a:t>
            </a:r>
            <a:r>
              <a:rPr lang="en-US" sz="20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));    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endParaRPr lang="en-US" sz="20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начиная с адреса </a:t>
            </a:r>
            <a:r>
              <a:rPr lang="en-US" sz="20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установить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12 </a:t>
            </a:r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нулей</a:t>
            </a:r>
            <a:endParaRPr lang="ru-RU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memset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0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* </a:t>
            </a:r>
            <a:r>
              <a:rPr lang="en-US" sz="20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));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CD19B40-56AD-4768-A84D-47F15369A581}"/>
              </a:ext>
            </a:extLst>
          </p:cNvPr>
          <p:cNvSpPr txBox="1"/>
          <p:nvPr/>
        </p:nvSpPr>
        <p:spPr>
          <a:xfrm>
            <a:off x="1132010" y="2072322"/>
            <a:ext cx="1030678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/>
              <a:t>С помощью </a:t>
            </a:r>
            <a:r>
              <a:rPr lang="en-US" sz="2800" dirty="0"/>
              <a:t>malloc </a:t>
            </a:r>
            <a:r>
              <a:rPr lang="ru-RU" sz="2800" dirty="0"/>
              <a:t>и </a:t>
            </a:r>
            <a:r>
              <a:rPr lang="en-US" sz="2800" dirty="0" err="1"/>
              <a:t>memset</a:t>
            </a:r>
            <a:r>
              <a:rPr lang="en-US" sz="2800" dirty="0"/>
              <a:t> </a:t>
            </a:r>
            <a:r>
              <a:rPr lang="ru-RU" sz="2800" dirty="0"/>
              <a:t>можно добиться эффекта </a:t>
            </a:r>
            <a:r>
              <a:rPr lang="en-US" sz="2800" dirty="0" err="1"/>
              <a:t>calloc</a:t>
            </a:r>
            <a:endParaRPr lang="ru-RU" sz="2800" dirty="0"/>
          </a:p>
        </p:txBody>
      </p:sp>
    </p:spTree>
    <p:extLst>
      <p:ext uri="{BB962C8B-B14F-4D97-AF65-F5344CB8AC3E}">
        <p14:creationId xmlns:p14="http://schemas.microsoft.com/office/powerpoint/2010/main" val="408289439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3">
            <a:extLst>
              <a:ext uri="{FF2B5EF4-FFF2-40B4-BE49-F238E27FC236}">
                <a16:creationId xmlns:a16="http://schemas.microsoft.com/office/drawing/2014/main" id="{3A3572DA-B1DF-424B-9E13-5CE3F3268FE4}"/>
              </a:ext>
            </a:extLst>
          </p:cNvPr>
          <p:cNvSpPr txBox="1">
            <a:spLocks/>
          </p:cNvSpPr>
          <p:nvPr/>
        </p:nvSpPr>
        <p:spPr>
          <a:xfrm>
            <a:off x="1589314" y="65710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 err="1"/>
              <a:t>realloc</a:t>
            </a:r>
            <a:endParaRPr lang="ru-RU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18EBB20-52BE-4B02-B1D1-984FE2D583BE}"/>
              </a:ext>
            </a:extLst>
          </p:cNvPr>
          <p:cNvSpPr txBox="1"/>
          <p:nvPr/>
        </p:nvSpPr>
        <p:spPr>
          <a:xfrm>
            <a:off x="1008267" y="4857707"/>
            <a:ext cx="1017545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 err="1"/>
              <a:t>realloc</a:t>
            </a:r>
            <a:r>
              <a:rPr lang="en-US" sz="2400" b="1" dirty="0"/>
              <a:t> </a:t>
            </a:r>
            <a:r>
              <a:rPr lang="ru-RU" sz="2400" dirty="0"/>
              <a:t>позволяет </a:t>
            </a:r>
            <a:r>
              <a:rPr lang="ru-RU" sz="2400" dirty="0" err="1"/>
              <a:t>перевыделять</a:t>
            </a:r>
            <a:r>
              <a:rPr lang="ru-RU" sz="2400" dirty="0"/>
              <a:t> память, сохраняя при этом оригинальные значения в выделенной памяти.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6F5AAB6-4EF2-444B-961A-8481480291DC}"/>
              </a:ext>
            </a:extLst>
          </p:cNvPr>
          <p:cNvSpPr txBox="1"/>
          <p:nvPr/>
        </p:nvSpPr>
        <p:spPr>
          <a:xfrm>
            <a:off x="1953534" y="1889981"/>
            <a:ext cx="8284921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*str = (</a:t>
            </a:r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*)</a:t>
            </a:r>
            <a:r>
              <a:rPr lang="en-US" sz="2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malloc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(N * </a:t>
            </a:r>
            <a:r>
              <a:rPr lang="en-US" sz="24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));</a:t>
            </a:r>
            <a:r>
              <a:rPr lang="en-US" sz="2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</a:t>
            </a:r>
            <a:endParaRPr lang="ru-RU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(str == </a:t>
            </a:r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2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-</a:t>
            </a:r>
            <a:r>
              <a:rPr lang="en-US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..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2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уменьшим массив до </a:t>
            </a:r>
            <a:r>
              <a:rPr lang="en-US" sz="2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M </a:t>
            </a:r>
            <a:r>
              <a:rPr lang="ru-RU" sz="2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байт</a:t>
            </a:r>
            <a:br>
              <a:rPr lang="en-US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str = </a:t>
            </a:r>
            <a:r>
              <a:rPr lang="en-US" sz="24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realloc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(str, M * </a:t>
            </a:r>
            <a:r>
              <a:rPr lang="en-US" sz="24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));</a:t>
            </a:r>
            <a:r>
              <a:rPr lang="en-US" sz="2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r>
              <a:rPr lang="en-US" sz="2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(str == </a:t>
            </a:r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2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-</a:t>
            </a:r>
            <a:r>
              <a:rPr lang="en-US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380801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564205A8-3C58-4396-A09F-17A1A12E58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4607" y="866408"/>
            <a:ext cx="11342785" cy="51251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847040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3">
            <a:extLst>
              <a:ext uri="{FF2B5EF4-FFF2-40B4-BE49-F238E27FC236}">
                <a16:creationId xmlns:a16="http://schemas.microsoft.com/office/drawing/2014/main" id="{3558FFA0-A448-42D5-B49F-F1C8E2A0820F}"/>
              </a:ext>
            </a:extLst>
          </p:cNvPr>
          <p:cNvSpPr txBox="1">
            <a:spLocks/>
          </p:cNvSpPr>
          <p:nvPr/>
        </p:nvSpPr>
        <p:spPr>
          <a:xfrm>
            <a:off x="1589314" y="65710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Variable scope</a:t>
            </a:r>
            <a:endParaRPr lang="ru-RU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0551209-FADE-4DCE-9308-C19407DE61DD}"/>
              </a:ext>
            </a:extLst>
          </p:cNvPr>
          <p:cNvSpPr txBox="1"/>
          <p:nvPr/>
        </p:nvSpPr>
        <p:spPr>
          <a:xfrm>
            <a:off x="3624261" y="2310090"/>
            <a:ext cx="4943475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a;</a:t>
            </a:r>
            <a:endParaRPr lang="en-US" sz="3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sz="3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3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36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func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3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{</a:t>
            </a:r>
            <a:endParaRPr lang="en-US" sz="3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3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3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b;</a:t>
            </a:r>
            <a:endParaRPr lang="en-US" sz="3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36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..    </a:t>
            </a:r>
            <a:endParaRPr lang="en-US" sz="3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sz="3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0BCF74-146E-4A98-9189-9D5DF52A4979}"/>
              </a:ext>
            </a:extLst>
          </p:cNvPr>
          <p:cNvSpPr txBox="1"/>
          <p:nvPr/>
        </p:nvSpPr>
        <p:spPr>
          <a:xfrm>
            <a:off x="4166838" y="1587851"/>
            <a:ext cx="385831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/>
              <a:t>Глобальная область</a:t>
            </a:r>
          </a:p>
        </p:txBody>
      </p:sp>
    </p:spTree>
    <p:extLst>
      <p:ext uri="{BB962C8B-B14F-4D97-AF65-F5344CB8AC3E}">
        <p14:creationId xmlns:p14="http://schemas.microsoft.com/office/powerpoint/2010/main" val="246891640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3">
            <a:extLst>
              <a:ext uri="{FF2B5EF4-FFF2-40B4-BE49-F238E27FC236}">
                <a16:creationId xmlns:a16="http://schemas.microsoft.com/office/drawing/2014/main" id="{3558FFA0-A448-42D5-B49F-F1C8E2A0820F}"/>
              </a:ext>
            </a:extLst>
          </p:cNvPr>
          <p:cNvSpPr txBox="1">
            <a:spLocks/>
          </p:cNvSpPr>
          <p:nvPr/>
        </p:nvSpPr>
        <p:spPr>
          <a:xfrm>
            <a:off x="1589314" y="65710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Variable scope</a:t>
            </a:r>
            <a:endParaRPr lang="ru-RU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0551209-FADE-4DCE-9308-C19407DE61DD}"/>
              </a:ext>
            </a:extLst>
          </p:cNvPr>
          <p:cNvSpPr txBox="1"/>
          <p:nvPr/>
        </p:nvSpPr>
        <p:spPr>
          <a:xfrm>
            <a:off x="3624261" y="2310090"/>
            <a:ext cx="4943475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a;</a:t>
            </a:r>
            <a:endParaRPr lang="en-US" sz="3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sz="3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3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36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func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3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{</a:t>
            </a:r>
            <a:endParaRPr lang="en-US" sz="3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3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3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b;</a:t>
            </a:r>
            <a:endParaRPr lang="en-US" sz="3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36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..    </a:t>
            </a:r>
            <a:endParaRPr lang="en-US" sz="3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sz="3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0BCF74-146E-4A98-9189-9D5DF52A4979}"/>
              </a:ext>
            </a:extLst>
          </p:cNvPr>
          <p:cNvSpPr txBox="1"/>
          <p:nvPr/>
        </p:nvSpPr>
        <p:spPr>
          <a:xfrm>
            <a:off x="4166838" y="1587851"/>
            <a:ext cx="385831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/>
              <a:t>Глобальная область</a:t>
            </a:r>
          </a:p>
        </p:txBody>
      </p:sp>
    </p:spTree>
    <p:extLst>
      <p:ext uri="{BB962C8B-B14F-4D97-AF65-F5344CB8AC3E}">
        <p14:creationId xmlns:p14="http://schemas.microsoft.com/office/powerpoint/2010/main" val="86574477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3">
            <a:extLst>
              <a:ext uri="{FF2B5EF4-FFF2-40B4-BE49-F238E27FC236}">
                <a16:creationId xmlns:a16="http://schemas.microsoft.com/office/drawing/2014/main" id="{3558FFA0-A448-42D5-B49F-F1C8E2A0820F}"/>
              </a:ext>
            </a:extLst>
          </p:cNvPr>
          <p:cNvSpPr txBox="1">
            <a:spLocks/>
          </p:cNvSpPr>
          <p:nvPr/>
        </p:nvSpPr>
        <p:spPr>
          <a:xfrm>
            <a:off x="1589314" y="65710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Variable scope</a:t>
            </a:r>
            <a:endParaRPr lang="ru-RU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0551209-FADE-4DCE-9308-C19407DE61DD}"/>
              </a:ext>
            </a:extLst>
          </p:cNvPr>
          <p:cNvSpPr txBox="1"/>
          <p:nvPr/>
        </p:nvSpPr>
        <p:spPr>
          <a:xfrm>
            <a:off x="3624261" y="2310090"/>
            <a:ext cx="4943475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36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func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3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3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{</a:t>
            </a:r>
            <a:endParaRPr lang="en-US" sz="3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36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..</a:t>
            </a:r>
            <a:endParaRPr lang="en-US" sz="3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{</a:t>
            </a:r>
            <a:endParaRPr lang="en-US" sz="3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3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b;</a:t>
            </a:r>
            <a:endParaRPr lang="en-US" sz="3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}</a:t>
            </a:r>
            <a:endParaRPr lang="en-US" sz="3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36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..</a:t>
            </a:r>
            <a:endParaRPr lang="en-US" sz="3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sz="3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0BCF74-146E-4A98-9189-9D5DF52A4979}"/>
              </a:ext>
            </a:extLst>
          </p:cNvPr>
          <p:cNvSpPr txBox="1"/>
          <p:nvPr/>
        </p:nvSpPr>
        <p:spPr>
          <a:xfrm>
            <a:off x="5550517" y="1614228"/>
            <a:ext cx="109096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/>
              <a:t>Блок</a:t>
            </a:r>
          </a:p>
        </p:txBody>
      </p:sp>
    </p:spTree>
    <p:extLst>
      <p:ext uri="{BB962C8B-B14F-4D97-AF65-F5344CB8AC3E}">
        <p14:creationId xmlns:p14="http://schemas.microsoft.com/office/powerpoint/2010/main" val="386060125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0551209-FADE-4DCE-9308-C19407DE61DD}"/>
              </a:ext>
            </a:extLst>
          </p:cNvPr>
          <p:cNvSpPr txBox="1"/>
          <p:nvPr/>
        </p:nvSpPr>
        <p:spPr>
          <a:xfrm>
            <a:off x="3036277" y="428178"/>
            <a:ext cx="6119445" cy="60016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24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stdio.h</a:t>
            </a: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a = </a:t>
            </a:r>
            <a:r>
              <a:rPr lang="en-US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15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func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{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4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"global a = </a:t>
            </a:r>
            <a:r>
              <a:rPr lang="en-US" sz="2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en-US" sz="24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a);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{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a = </a:t>
            </a:r>
            <a:r>
              <a:rPr lang="en-US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{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</a:t>
            </a:r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a = </a:t>
            </a:r>
            <a:r>
              <a:rPr lang="en-US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}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4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"main a = </a:t>
            </a:r>
            <a:r>
              <a:rPr lang="en-US" sz="2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en-US" sz="24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a);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4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func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();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8226067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3">
            <a:extLst>
              <a:ext uri="{FF2B5EF4-FFF2-40B4-BE49-F238E27FC236}">
                <a16:creationId xmlns:a16="http://schemas.microsoft.com/office/drawing/2014/main" id="{3558FFA0-A448-42D5-B49F-F1C8E2A0820F}"/>
              </a:ext>
            </a:extLst>
          </p:cNvPr>
          <p:cNvSpPr txBox="1">
            <a:spLocks/>
          </p:cNvSpPr>
          <p:nvPr/>
        </p:nvSpPr>
        <p:spPr>
          <a:xfrm>
            <a:off x="1589314" y="65710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/>
              <a:t>Модель памяти языка Си</a:t>
            </a:r>
          </a:p>
        </p:txBody>
      </p:sp>
    </p:spTree>
    <p:extLst>
      <p:ext uri="{BB962C8B-B14F-4D97-AF65-F5344CB8AC3E}">
        <p14:creationId xmlns:p14="http://schemas.microsoft.com/office/powerpoint/2010/main" val="305136827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3">
            <a:extLst>
              <a:ext uri="{FF2B5EF4-FFF2-40B4-BE49-F238E27FC236}">
                <a16:creationId xmlns:a16="http://schemas.microsoft.com/office/drawing/2014/main" id="{3558FFA0-A448-42D5-B49F-F1C8E2A0820F}"/>
              </a:ext>
            </a:extLst>
          </p:cNvPr>
          <p:cNvSpPr txBox="1">
            <a:spLocks/>
          </p:cNvSpPr>
          <p:nvPr/>
        </p:nvSpPr>
        <p:spPr>
          <a:xfrm>
            <a:off x="1589314" y="65710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Stack vs Heap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56681082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3">
            <a:extLst>
              <a:ext uri="{FF2B5EF4-FFF2-40B4-BE49-F238E27FC236}">
                <a16:creationId xmlns:a16="http://schemas.microsoft.com/office/drawing/2014/main" id="{3558FFA0-A448-42D5-B49F-F1C8E2A0820F}"/>
              </a:ext>
            </a:extLst>
          </p:cNvPr>
          <p:cNvSpPr txBox="1">
            <a:spLocks/>
          </p:cNvSpPr>
          <p:nvPr/>
        </p:nvSpPr>
        <p:spPr>
          <a:xfrm>
            <a:off x="1589314" y="65710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Virtual and Physical memory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61199304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A813CAB2-2AD3-CBC2-8DE8-2FF5AB76B7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14708" y="732353"/>
            <a:ext cx="2503404" cy="927688"/>
          </a:xfrm>
        </p:spPr>
        <p:txBody>
          <a:bodyPr/>
          <a:lstStyle/>
          <a:p>
            <a:r>
              <a:rPr lang="en-US" dirty="0" err="1"/>
              <a:t>Github</a:t>
            </a:r>
            <a:endParaRPr lang="ru-R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D8EE967-943B-407F-8E78-2668FBEBC15D}"/>
              </a:ext>
            </a:extLst>
          </p:cNvPr>
          <p:cNvSpPr txBox="1"/>
          <p:nvPr/>
        </p:nvSpPr>
        <p:spPr>
          <a:xfrm>
            <a:off x="3105916" y="1798093"/>
            <a:ext cx="652098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/>
              <a:t>https://github.com/kruffka/C-Programming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4BA00CC5-DBBE-4494-A2EC-6CA07C6372F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1551" y="2459365"/>
            <a:ext cx="3498480" cy="3498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7680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F46216B-77A9-411A-B9D3-5023FCB70208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2488</TotalTime>
  <Words>1915</Words>
  <Application>Microsoft Office PowerPoint</Application>
  <PresentationFormat>Широкоэкранный</PresentationFormat>
  <Paragraphs>338</Paragraphs>
  <Slides>43</Slides>
  <Notes>43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43</vt:i4>
      </vt:variant>
    </vt:vector>
  </HeadingPairs>
  <TitlesOfParts>
    <vt:vector size="49" baseType="lpstr">
      <vt:lpstr>Arial</vt:lpstr>
      <vt:lpstr>Calibri</vt:lpstr>
      <vt:lpstr>Calibri Light</vt:lpstr>
      <vt:lpstr>Consolas</vt:lpstr>
      <vt:lpstr>Times New Roman</vt:lpstr>
      <vt:lpstr>Office Theme</vt:lpstr>
      <vt:lpstr>C Programming 6_pointers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Github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Andrey Veyler</dc:creator>
  <cp:lastModifiedBy>Andrey Veyler</cp:lastModifiedBy>
  <cp:revision>599</cp:revision>
  <dcterms:created xsi:type="dcterms:W3CDTF">2019-12-17T14:15:21Z</dcterms:created>
  <dcterms:modified xsi:type="dcterms:W3CDTF">2025-10-11T01:37:07Z</dcterms:modified>
</cp:coreProperties>
</file>