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315" r:id="rId3"/>
    <p:sldId id="331" r:id="rId4"/>
    <p:sldId id="330" r:id="rId5"/>
    <p:sldId id="332" r:id="rId6"/>
    <p:sldId id="324" r:id="rId7"/>
    <p:sldId id="320" r:id="rId8"/>
    <p:sldId id="319" r:id="rId9"/>
    <p:sldId id="323" r:id="rId10"/>
    <p:sldId id="334" r:id="rId11"/>
    <p:sldId id="333" r:id="rId12"/>
    <p:sldId id="325" r:id="rId13"/>
    <p:sldId id="326" r:id="rId14"/>
    <p:sldId id="327" r:id="rId15"/>
    <p:sldId id="336" r:id="rId16"/>
    <p:sldId id="337" r:id="rId17"/>
    <p:sldId id="328" r:id="rId18"/>
    <p:sldId id="316" r:id="rId19"/>
    <p:sldId id="338" r:id="rId20"/>
    <p:sldId id="329" r:id="rId21"/>
    <p:sldId id="322" r:id="rId22"/>
    <p:sldId id="290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 Veyler" initials="AV" lastIdx="1" clrIdx="0">
    <p:extLst>
      <p:ext uri="{19B8F6BF-5375-455C-9EA6-DF929625EA0E}">
        <p15:presenceInfo xmlns:p15="http://schemas.microsoft.com/office/powerpoint/2012/main" userId="3d9934d1e83c21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30" autoAdjust="0"/>
  </p:normalViewPr>
  <p:slideViewPr>
    <p:cSldViewPr snapToGrid="0">
      <p:cViewPr varScale="1">
        <p:scale>
          <a:sx n="92" d="100"/>
          <a:sy n="92" d="100"/>
        </p:scale>
        <p:origin x="576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5437-F444-4613-A039-4AD69D91C86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B29-8E86-49C7-96F5-7C9D72076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8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5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313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118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291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423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300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534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1452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975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789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442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0943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893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5884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16716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7411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9983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5608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315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2090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5712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56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0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1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9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D01-7D49-4F37-AA30-F04C65571A4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7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521262"/>
            <a:ext cx="9144000" cy="2387600"/>
          </a:xfrm>
        </p:spPr>
        <p:txBody>
          <a:bodyPr/>
          <a:lstStyle/>
          <a:p>
            <a:r>
              <a:rPr lang="en-US" dirty="0"/>
              <a:t>C Programming</a:t>
            </a:r>
            <a:br>
              <a:rPr lang="en-US" dirty="0"/>
            </a:br>
            <a:r>
              <a:rPr lang="en-US" sz="3200" dirty="0"/>
              <a:t>10_struct_union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876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58B5723-F24F-408B-93CD-2C02A93FF06E}"/>
              </a:ext>
            </a:extLst>
          </p:cNvPr>
          <p:cNvSpPr txBox="1"/>
          <p:nvPr/>
        </p:nvSpPr>
        <p:spPr>
          <a:xfrm>
            <a:off x="2676741" y="3013501"/>
            <a:ext cx="68385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Попробуем создать кота..</a:t>
            </a:r>
          </a:p>
        </p:txBody>
      </p:sp>
    </p:spTree>
    <p:extLst>
      <p:ext uri="{BB962C8B-B14F-4D97-AF65-F5344CB8AC3E}">
        <p14:creationId xmlns:p14="http://schemas.microsoft.com/office/powerpoint/2010/main" val="221906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289948"/>
            <a:ext cx="9925717" cy="927688"/>
          </a:xfrm>
        </p:spPr>
        <p:txBody>
          <a:bodyPr>
            <a:normAutofit/>
          </a:bodyPr>
          <a:lstStyle/>
          <a:p>
            <a:r>
              <a:rPr lang="en-US" dirty="0"/>
              <a:t>struct (</a:t>
            </a:r>
            <a:r>
              <a:rPr lang="ru-RU" dirty="0"/>
              <a:t>Структуры)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B7FCDF-129C-4B24-87FA-56F359ECE378}"/>
              </a:ext>
            </a:extLst>
          </p:cNvPr>
          <p:cNvSpPr txBox="1"/>
          <p:nvPr/>
        </p:nvSpPr>
        <p:spPr>
          <a:xfrm>
            <a:off x="5573355" y="3883669"/>
            <a:ext cx="64489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ИмяСтруктуры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имяПеременной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имяПеременной.ИмяЭлемента1 = Значение1;  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имяПеременной.ИмяЭлемента2 = Значение2;  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90BC5-C640-4BD3-81A8-F15902D1C9E0}"/>
              </a:ext>
            </a:extLst>
          </p:cNvPr>
          <p:cNvSpPr txBox="1"/>
          <p:nvPr/>
        </p:nvSpPr>
        <p:spPr>
          <a:xfrm>
            <a:off x="894150" y="1217636"/>
            <a:ext cx="100442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— это объединение нескольких объектов, возможно, различного типа под одним именем, которое является типом структуры. В качестве объектов могут выступать переменные, массивы, указатели и другие структуры.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E0F6DA-368A-44A9-82DB-AC824E7CE10A}"/>
              </a:ext>
            </a:extLst>
          </p:cNvPr>
          <p:cNvSpPr txBox="1"/>
          <p:nvPr/>
        </p:nvSpPr>
        <p:spPr>
          <a:xfrm>
            <a:off x="1004985" y="3178152"/>
            <a:ext cx="509101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ИмяСтруктуры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  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тип ИмяЭлемента1;  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тип ИмяЭлемента2;  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...  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тип </a:t>
            </a:r>
            <a:r>
              <a:rPr lang="ru-RU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ИмяЭлемента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n;  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  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770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29571B-1B78-43DF-9ACD-DC1B134AE002}"/>
              </a:ext>
            </a:extLst>
          </p:cNvPr>
          <p:cNvSpPr txBox="1"/>
          <p:nvPr/>
        </p:nvSpPr>
        <p:spPr>
          <a:xfrm>
            <a:off x="750742" y="1001102"/>
            <a:ext cx="728142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Point {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Структура точка(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x, y)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x;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y;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Line {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Структура прямая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Point p1;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точка 1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Point p2;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точка 2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81FF87-F170-4608-AA3B-1B367DDC25CE}"/>
              </a:ext>
            </a:extLst>
          </p:cNvPr>
          <p:cNvSpPr txBox="1"/>
          <p:nvPr/>
        </p:nvSpPr>
        <p:spPr>
          <a:xfrm>
            <a:off x="7242463" y="4041018"/>
            <a:ext cx="473219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Line 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my_line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my_line.p1.x = -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my_line.p1.y =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my_line.p2.x =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my_line.p2.y = -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342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A082ACAA-4452-41B2-9CCA-1A2C74D50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179513"/>
              </p:ext>
            </p:extLst>
          </p:nvPr>
        </p:nvGraphicFramePr>
        <p:xfrm>
          <a:off x="2585185" y="4285465"/>
          <a:ext cx="7021627" cy="970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053">
                  <a:extLst>
                    <a:ext uri="{9D8B030D-6E8A-4147-A177-3AD203B41FA5}">
                      <a16:colId xmlns:a16="http://schemas.microsoft.com/office/drawing/2014/main" val="416517417"/>
                    </a:ext>
                  </a:extLst>
                </a:gridCol>
                <a:gridCol w="979053">
                  <a:extLst>
                    <a:ext uri="{9D8B030D-6E8A-4147-A177-3AD203B41FA5}">
                      <a16:colId xmlns:a16="http://schemas.microsoft.com/office/drawing/2014/main" val="537957133"/>
                    </a:ext>
                  </a:extLst>
                </a:gridCol>
                <a:gridCol w="979053">
                  <a:extLst>
                    <a:ext uri="{9D8B030D-6E8A-4147-A177-3AD203B41FA5}">
                      <a16:colId xmlns:a16="http://schemas.microsoft.com/office/drawing/2014/main" val="2949569941"/>
                    </a:ext>
                  </a:extLst>
                </a:gridCol>
                <a:gridCol w="1021117">
                  <a:extLst>
                    <a:ext uri="{9D8B030D-6E8A-4147-A177-3AD203B41FA5}">
                      <a16:colId xmlns:a16="http://schemas.microsoft.com/office/drawing/2014/main" val="1503918507"/>
                    </a:ext>
                  </a:extLst>
                </a:gridCol>
                <a:gridCol w="1021117">
                  <a:extLst>
                    <a:ext uri="{9D8B030D-6E8A-4147-A177-3AD203B41FA5}">
                      <a16:colId xmlns:a16="http://schemas.microsoft.com/office/drawing/2014/main" val="1143722035"/>
                    </a:ext>
                  </a:extLst>
                </a:gridCol>
                <a:gridCol w="1021117">
                  <a:extLst>
                    <a:ext uri="{9D8B030D-6E8A-4147-A177-3AD203B41FA5}">
                      <a16:colId xmlns:a16="http://schemas.microsoft.com/office/drawing/2014/main" val="2499344786"/>
                    </a:ext>
                  </a:extLst>
                </a:gridCol>
                <a:gridCol w="1021117">
                  <a:extLst>
                    <a:ext uri="{9D8B030D-6E8A-4147-A177-3AD203B41FA5}">
                      <a16:colId xmlns:a16="http://schemas.microsoft.com/office/drawing/2014/main" val="637286946"/>
                    </a:ext>
                  </a:extLst>
                </a:gridCol>
              </a:tblGrid>
              <a:tr h="970780">
                <a:tc>
                  <a:txBody>
                    <a:bodyPr/>
                    <a:lstStyle/>
                    <a:p>
                      <a:pPr algn="ctr"/>
                      <a:endParaRPr lang="ru-RU" sz="4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4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endParaRPr lang="ru-RU" sz="4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4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4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4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4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024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2203822-F75C-40EA-9016-E31165D601E3}"/>
              </a:ext>
            </a:extLst>
          </p:cNvPr>
          <p:cNvSpPr txBox="1"/>
          <p:nvPr/>
        </p:nvSpPr>
        <p:spPr>
          <a:xfrm>
            <a:off x="3977568" y="5281713"/>
            <a:ext cx="42368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100  104  108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0C2C7F-F14A-43DE-95EE-A1DD09B970CD}"/>
              </a:ext>
            </a:extLst>
          </p:cNvPr>
          <p:cNvSpPr txBox="1"/>
          <p:nvPr/>
        </p:nvSpPr>
        <p:spPr>
          <a:xfrm>
            <a:off x="4828440" y="3536165"/>
            <a:ext cx="19360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 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56C9E8-3DB1-48D9-87C9-82C61B8F98CE}"/>
              </a:ext>
            </a:extLst>
          </p:cNvPr>
          <p:cNvSpPr txBox="1"/>
          <p:nvPr/>
        </p:nvSpPr>
        <p:spPr>
          <a:xfrm>
            <a:off x="2756189" y="1259733"/>
            <a:ext cx="685540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complex {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re;</a:t>
            </a:r>
            <a:r>
              <a:rPr lang="en-US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реальная часть</a:t>
            </a:r>
            <a:endParaRPr lang="ru-RU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мнимая часть</a:t>
            </a:r>
            <a:endParaRPr lang="ru-RU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478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289948"/>
            <a:ext cx="9925717" cy="927688"/>
          </a:xfrm>
        </p:spPr>
        <p:txBody>
          <a:bodyPr>
            <a:normAutofit/>
          </a:bodyPr>
          <a:lstStyle/>
          <a:p>
            <a:r>
              <a:rPr lang="ru-RU" dirty="0"/>
              <a:t>Инициализация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D6F59-EF27-4B8D-B4C4-5EB8013EF52D}"/>
              </a:ext>
            </a:extLst>
          </p:cNvPr>
          <p:cNvSpPr txBox="1"/>
          <p:nvPr/>
        </p:nvSpPr>
        <p:spPr>
          <a:xfrm>
            <a:off x="1323539" y="1635466"/>
            <a:ext cx="477246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Определяем структуру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Cat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cat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*name;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age;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0C1052-B5C6-404C-8E6C-82987BBBE9F8}"/>
              </a:ext>
            </a:extLst>
          </p:cNvPr>
          <p:cNvSpPr txBox="1"/>
          <p:nvPr/>
        </p:nvSpPr>
        <p:spPr>
          <a:xfrm>
            <a:off x="3383433" y="4068372"/>
            <a:ext cx="86498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Варианты инициализации структуры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cat tom = {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"Tom"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};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cat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felix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 .name =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"Felix"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.age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};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cat mango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mango.name =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"Mango"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mango.age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300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289948"/>
            <a:ext cx="9925717" cy="927688"/>
          </a:xfrm>
        </p:spPr>
        <p:txBody>
          <a:bodyPr>
            <a:normAutofit/>
          </a:bodyPr>
          <a:lstStyle/>
          <a:p>
            <a:r>
              <a:rPr lang="ru-RU" dirty="0"/>
              <a:t>Массив структур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2376F7-DF64-4E35-B325-E5C9F515CA29}"/>
              </a:ext>
            </a:extLst>
          </p:cNvPr>
          <p:cNvSpPr txBox="1"/>
          <p:nvPr/>
        </p:nvSpPr>
        <p:spPr>
          <a:xfrm>
            <a:off x="927388" y="1613118"/>
            <a:ext cx="39043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funny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*fate;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99FAD9-4DEC-4C8C-9C21-E321A23F34B4}"/>
              </a:ext>
            </a:extLst>
          </p:cNvPr>
          <p:cNvSpPr txBox="1"/>
          <p:nvPr/>
        </p:nvSpPr>
        <p:spPr>
          <a:xfrm>
            <a:off x="2653145" y="3429000"/>
            <a:ext cx="91855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funny cats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{{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Yaqub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Qomarudin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Dibizah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👑'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},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  {</a:t>
            </a:r>
            <a:r>
              <a:rPr lang="ru-R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Khalid Kashmiri"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🗡️'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},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  {</a:t>
            </a:r>
            <a:r>
              <a:rPr lang="ru-R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Khidir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Karawitah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'⚔️'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},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  {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"Ismail Ahmad Khan Nabawi"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🐎'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},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  {</a:t>
            </a:r>
            <a:r>
              <a:rPr lang="ru-R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Utsman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Abdul Jalil Shisha"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📚'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},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  {</a:t>
            </a:r>
            <a:r>
              <a:rPr lang="ru-R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Muhammad 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Sumbul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'♐'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}};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6405AA-224A-4B31-AAD0-381626E3E68E}"/>
              </a:ext>
            </a:extLst>
          </p:cNvPr>
          <p:cNvSpPr txBox="1"/>
          <p:nvPr/>
        </p:nvSpPr>
        <p:spPr>
          <a:xfrm>
            <a:off x="1426152" y="6084657"/>
            <a:ext cx="9110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"Cat name: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].name);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=&gt; "Khalid Kashmiri"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805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55423"/>
            <a:ext cx="9925717" cy="927688"/>
          </a:xfrm>
        </p:spPr>
        <p:txBody>
          <a:bodyPr>
            <a:normAutofit/>
          </a:bodyPr>
          <a:lstStyle/>
          <a:p>
            <a:r>
              <a:rPr lang="en-US" dirty="0"/>
              <a:t>pointer to struct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87F3F-D994-4A0A-AA5B-EA2205CC93B8}"/>
              </a:ext>
            </a:extLst>
          </p:cNvPr>
          <p:cNvSpPr txBox="1"/>
          <p:nvPr/>
        </p:nvSpPr>
        <p:spPr>
          <a:xfrm>
            <a:off x="1133141" y="924035"/>
            <a:ext cx="26260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test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b;  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4FCBA9-73FD-4449-B11D-AAA4A3D9E1F1}"/>
              </a:ext>
            </a:extLst>
          </p:cNvPr>
          <p:cNvSpPr txBox="1"/>
          <p:nvPr/>
        </p:nvSpPr>
        <p:spPr>
          <a:xfrm>
            <a:off x="922126" y="5659192"/>
            <a:ext cx="107804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-&gt;a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тоже самое что 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(*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).a.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обращении к элементу указателя на структуру используется '-&gt;', а при работе с обычной структурой '.'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6AA9ED-EAAD-4625-851D-E060F970A027}"/>
              </a:ext>
            </a:extLst>
          </p:cNvPr>
          <p:cNvSpPr txBox="1"/>
          <p:nvPr/>
        </p:nvSpPr>
        <p:spPr>
          <a:xfrm>
            <a:off x="1133141" y="2719979"/>
            <a:ext cx="947038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a;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переменная со структурой </a:t>
            </a:r>
            <a:r>
              <a:rPr lang="ru-RU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test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переменная-указатель на структуру </a:t>
            </a:r>
            <a:r>
              <a:rPr lang="ru-RU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test</a:t>
            </a:r>
            <a:endParaRPr lang="en-US" sz="24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r>
              <a:rPr lang="ru-RU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&amp;a;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берем адрес a и записываем его в </a:t>
            </a:r>
            <a:r>
              <a:rPr lang="ru-RU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ptr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-&gt;a = </a:t>
            </a:r>
            <a:r>
              <a:rPr lang="ru-RU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работаем с переменной a косвенно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-&gt;b = </a:t>
            </a:r>
            <a:r>
              <a:rPr lang="ru-RU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555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680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02279D7-0011-4B68-A794-D8AD49025FDF}"/>
              </a:ext>
            </a:extLst>
          </p:cNvPr>
          <p:cNvSpPr txBox="1"/>
          <p:nvPr/>
        </p:nvSpPr>
        <p:spPr>
          <a:xfrm>
            <a:off x="1696772" y="1659285"/>
            <a:ext cx="879845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test {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test t = { 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49407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3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3200" dirty="0">
                <a:solidFill>
                  <a:srgbClr val="D4D4D4"/>
                </a:solidFill>
                <a:latin typeface="Consolas" panose="020B0609020204030204" pitchFamily="49" charset="0"/>
              </a:rPr>
              <a:t>(t) = </a:t>
            </a:r>
            <a:r>
              <a:rPr lang="en-US" sz="3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3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3200" dirty="0">
                <a:solidFill>
                  <a:srgbClr val="CCCCCC"/>
                </a:solidFill>
                <a:latin typeface="Consolas" panose="020B0609020204030204" pitchFamily="49" charset="0"/>
              </a:rPr>
              <a:t> test)</a:t>
            </a:r>
            <a:r>
              <a:rPr lang="en-US" sz="3200" dirty="0">
                <a:solidFill>
                  <a:srgbClr val="D4D4D4"/>
                </a:solidFill>
                <a:latin typeface="Consolas" panose="020B0609020204030204" pitchFamily="49" charset="0"/>
              </a:rPr>
              <a:t> = ?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Заголовок 2">
            <a:extLst>
              <a:ext uri="{FF2B5EF4-FFF2-40B4-BE49-F238E27FC236}">
                <a16:creationId xmlns:a16="http://schemas.microsoft.com/office/drawing/2014/main" id="{48B5E044-8A35-4EF9-86AE-A1D5EF8B4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55423"/>
            <a:ext cx="9925717" cy="927688"/>
          </a:xfrm>
        </p:spPr>
        <p:txBody>
          <a:bodyPr>
            <a:normAutofit/>
          </a:bodyPr>
          <a:lstStyle/>
          <a:p>
            <a:r>
              <a:rPr lang="en-US" dirty="0" err="1"/>
              <a:t>sizeof</a:t>
            </a:r>
            <a:r>
              <a:rPr lang="en-US" dirty="0"/>
              <a:t> struct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9823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02279D7-0011-4B68-A794-D8AD49025FDF}"/>
              </a:ext>
            </a:extLst>
          </p:cNvPr>
          <p:cNvSpPr txBox="1"/>
          <p:nvPr/>
        </p:nvSpPr>
        <p:spPr>
          <a:xfrm>
            <a:off x="1696772" y="1659285"/>
            <a:ext cx="879845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test {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test t = { 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49407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3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3200" dirty="0">
                <a:solidFill>
                  <a:srgbClr val="D4D4D4"/>
                </a:solidFill>
                <a:latin typeface="Consolas" panose="020B0609020204030204" pitchFamily="49" charset="0"/>
              </a:rPr>
              <a:t>(t) = </a:t>
            </a:r>
            <a:r>
              <a:rPr lang="en-US" sz="3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3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3200" dirty="0">
                <a:solidFill>
                  <a:srgbClr val="CCCCCC"/>
                </a:solidFill>
                <a:latin typeface="Consolas" panose="020B0609020204030204" pitchFamily="49" charset="0"/>
              </a:rPr>
              <a:t> test)</a:t>
            </a:r>
            <a:r>
              <a:rPr lang="en-US" sz="3200" dirty="0">
                <a:solidFill>
                  <a:srgbClr val="D4D4D4"/>
                </a:solidFill>
                <a:latin typeface="Consolas" panose="020B0609020204030204" pitchFamily="49" charset="0"/>
              </a:rPr>
              <a:t> = ?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Заголовок 2">
            <a:extLst>
              <a:ext uri="{FF2B5EF4-FFF2-40B4-BE49-F238E27FC236}">
                <a16:creationId xmlns:a16="http://schemas.microsoft.com/office/drawing/2014/main" id="{48B5E044-8A35-4EF9-86AE-A1D5EF8B4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55423"/>
            <a:ext cx="9925717" cy="927688"/>
          </a:xfrm>
        </p:spPr>
        <p:txBody>
          <a:bodyPr>
            <a:normAutofit/>
          </a:bodyPr>
          <a:lstStyle/>
          <a:p>
            <a:r>
              <a:rPr lang="en-US" dirty="0" err="1"/>
              <a:t>sizeof</a:t>
            </a:r>
            <a:r>
              <a:rPr lang="en-US" dirty="0"/>
              <a:t> struct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8561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289948"/>
            <a:ext cx="9925717" cy="927688"/>
          </a:xfrm>
        </p:spPr>
        <p:txBody>
          <a:bodyPr>
            <a:noAutofit/>
          </a:bodyPr>
          <a:lstStyle/>
          <a:p>
            <a:r>
              <a:rPr lang="en-US" sz="4800" dirty="0"/>
              <a:t>struct padding (</a:t>
            </a:r>
            <a:r>
              <a:rPr lang="ru-RU" sz="4800" dirty="0"/>
              <a:t>Набивка</a:t>
            </a:r>
            <a:r>
              <a:rPr lang="en-US" sz="4800" dirty="0"/>
              <a:t>/</a:t>
            </a:r>
            <a:r>
              <a:rPr lang="ru-RU" sz="4800" dirty="0"/>
              <a:t>Добивание)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CD48295-9E7D-413B-955B-045524823BFF}"/>
              </a:ext>
            </a:extLst>
          </p:cNvPr>
          <p:cNvGraphicFramePr>
            <a:graphicFrameLocks noGrp="1"/>
          </p:cNvGraphicFramePr>
          <p:nvPr/>
        </p:nvGraphicFramePr>
        <p:xfrm>
          <a:off x="1277532" y="4889281"/>
          <a:ext cx="58535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702">
                  <a:extLst>
                    <a:ext uri="{9D8B030D-6E8A-4147-A177-3AD203B41FA5}">
                      <a16:colId xmlns:a16="http://schemas.microsoft.com/office/drawing/2014/main" val="3225839638"/>
                    </a:ext>
                  </a:extLst>
                </a:gridCol>
                <a:gridCol w="479702">
                  <a:extLst>
                    <a:ext uri="{9D8B030D-6E8A-4147-A177-3AD203B41FA5}">
                      <a16:colId xmlns:a16="http://schemas.microsoft.com/office/drawing/2014/main" val="2949569941"/>
                    </a:ext>
                  </a:extLst>
                </a:gridCol>
                <a:gridCol w="500310">
                  <a:extLst>
                    <a:ext uri="{9D8B030D-6E8A-4147-A177-3AD203B41FA5}">
                      <a16:colId xmlns:a16="http://schemas.microsoft.com/office/drawing/2014/main" val="1503918507"/>
                    </a:ext>
                  </a:extLst>
                </a:gridCol>
                <a:gridCol w="546434">
                  <a:extLst>
                    <a:ext uri="{9D8B030D-6E8A-4147-A177-3AD203B41FA5}">
                      <a16:colId xmlns:a16="http://schemas.microsoft.com/office/drawing/2014/main" val="4018816944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743615699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471055099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4047946281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1442538888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818369598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322341131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136430749"/>
                    </a:ext>
                  </a:extLst>
                </a:gridCol>
              </a:tblGrid>
              <a:tr h="321617"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024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02279D7-0011-4B68-A794-D8AD49025FDF}"/>
              </a:ext>
            </a:extLst>
          </p:cNvPr>
          <p:cNvSpPr txBox="1"/>
          <p:nvPr/>
        </p:nvSpPr>
        <p:spPr>
          <a:xfrm>
            <a:off x="1277532" y="1675631"/>
            <a:ext cx="56244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test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test t = {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49407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03A7D4-7F88-48CA-BFDD-4FA6639F5A18}"/>
              </a:ext>
            </a:extLst>
          </p:cNvPr>
          <p:cNvSpPr txBox="1"/>
          <p:nvPr/>
        </p:nvSpPr>
        <p:spPr>
          <a:xfrm>
            <a:off x="7048502" y="1796192"/>
            <a:ext cx="415154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test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__attribute__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((packed));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test t;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(t) = 5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DF77F1-BCFC-437E-98D8-B660BB69F5E2}"/>
              </a:ext>
            </a:extLst>
          </p:cNvPr>
          <p:cNvSpPr txBox="1"/>
          <p:nvPr/>
        </p:nvSpPr>
        <p:spPr>
          <a:xfrm>
            <a:off x="1750033" y="5255041"/>
            <a:ext cx="5050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100   101   102   103    104   105   106    107    108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Левая фигурная скобка 16">
            <a:extLst>
              <a:ext uri="{FF2B5EF4-FFF2-40B4-BE49-F238E27FC236}">
                <a16:creationId xmlns:a16="http://schemas.microsoft.com/office/drawing/2014/main" id="{5EDD066E-E745-4F71-ACBC-39D5CF33226F}"/>
              </a:ext>
            </a:extLst>
          </p:cNvPr>
          <p:cNvSpPr/>
          <p:nvPr/>
        </p:nvSpPr>
        <p:spPr>
          <a:xfrm rot="5400000">
            <a:off x="1910175" y="4570607"/>
            <a:ext cx="158531" cy="478817"/>
          </a:xfrm>
          <a:prstGeom prst="leftBrace">
            <a:avLst>
              <a:gd name="adj1" fmla="val 96566"/>
              <a:gd name="adj2" fmla="val 50211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Левая фигурная скобка 17">
            <a:extLst>
              <a:ext uri="{FF2B5EF4-FFF2-40B4-BE49-F238E27FC236}">
                <a16:creationId xmlns:a16="http://schemas.microsoft.com/office/drawing/2014/main" id="{25E90F9A-33A8-4CA5-B2C0-4AFC1F9207A1}"/>
              </a:ext>
            </a:extLst>
          </p:cNvPr>
          <p:cNvSpPr/>
          <p:nvPr/>
        </p:nvSpPr>
        <p:spPr>
          <a:xfrm rot="5400000">
            <a:off x="2959208" y="4000390"/>
            <a:ext cx="158531" cy="1619251"/>
          </a:xfrm>
          <a:prstGeom prst="leftBrace">
            <a:avLst>
              <a:gd name="adj1" fmla="val 96566"/>
              <a:gd name="adj2" fmla="val 50211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Левая фигурная скобка 18">
            <a:extLst>
              <a:ext uri="{FF2B5EF4-FFF2-40B4-BE49-F238E27FC236}">
                <a16:creationId xmlns:a16="http://schemas.microsoft.com/office/drawing/2014/main" id="{40C42EC2-CE80-4DDD-A083-D1D4515DEFC4}"/>
              </a:ext>
            </a:extLst>
          </p:cNvPr>
          <p:cNvSpPr/>
          <p:nvPr/>
        </p:nvSpPr>
        <p:spPr>
          <a:xfrm rot="5400000">
            <a:off x="4832457" y="3701939"/>
            <a:ext cx="158531" cy="2216152"/>
          </a:xfrm>
          <a:prstGeom prst="leftBrace">
            <a:avLst>
              <a:gd name="adj1" fmla="val 96566"/>
              <a:gd name="adj2" fmla="val 50211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7B4B5E-689A-4D68-ADFD-71646F570A48}"/>
              </a:ext>
            </a:extLst>
          </p:cNvPr>
          <p:cNvSpPr txBox="1"/>
          <p:nvPr/>
        </p:nvSpPr>
        <p:spPr>
          <a:xfrm>
            <a:off x="1863722" y="4254952"/>
            <a:ext cx="3241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         padding                         b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EA3C88-D83F-4FBE-A0FA-E7D99B172214}"/>
              </a:ext>
            </a:extLst>
          </p:cNvPr>
          <p:cNvSpPr txBox="1"/>
          <p:nvPr/>
        </p:nvSpPr>
        <p:spPr>
          <a:xfrm>
            <a:off x="7594596" y="4678483"/>
            <a:ext cx="44056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Компилятор возьмет в структуре самый большой размер переменной положит всю структуру начиная с адреса кратного этому размеру.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184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289948"/>
            <a:ext cx="9925717" cy="927688"/>
          </a:xfrm>
        </p:spPr>
        <p:txBody>
          <a:bodyPr>
            <a:noAutofit/>
          </a:bodyPr>
          <a:lstStyle/>
          <a:p>
            <a:r>
              <a:rPr lang="en-US" sz="4800" dirty="0"/>
              <a:t>Alignment (</a:t>
            </a:r>
            <a:r>
              <a:rPr lang="ru-RU" sz="4800" dirty="0"/>
              <a:t>Выравнивание</a:t>
            </a:r>
            <a:r>
              <a:rPr lang="en-US" sz="4800" dirty="0"/>
              <a:t>)</a:t>
            </a:r>
            <a:endParaRPr lang="ru-RU" sz="4800" dirty="0"/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31378F2D-37C1-4DA6-9FEF-6AE89D714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545864"/>
              </p:ext>
            </p:extLst>
          </p:nvPr>
        </p:nvGraphicFramePr>
        <p:xfrm>
          <a:off x="5634245" y="4216792"/>
          <a:ext cx="58535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702">
                  <a:extLst>
                    <a:ext uri="{9D8B030D-6E8A-4147-A177-3AD203B41FA5}">
                      <a16:colId xmlns:a16="http://schemas.microsoft.com/office/drawing/2014/main" val="3225839638"/>
                    </a:ext>
                  </a:extLst>
                </a:gridCol>
                <a:gridCol w="479702">
                  <a:extLst>
                    <a:ext uri="{9D8B030D-6E8A-4147-A177-3AD203B41FA5}">
                      <a16:colId xmlns:a16="http://schemas.microsoft.com/office/drawing/2014/main" val="2949569941"/>
                    </a:ext>
                  </a:extLst>
                </a:gridCol>
                <a:gridCol w="500310">
                  <a:extLst>
                    <a:ext uri="{9D8B030D-6E8A-4147-A177-3AD203B41FA5}">
                      <a16:colId xmlns:a16="http://schemas.microsoft.com/office/drawing/2014/main" val="1503918507"/>
                    </a:ext>
                  </a:extLst>
                </a:gridCol>
                <a:gridCol w="546434">
                  <a:extLst>
                    <a:ext uri="{9D8B030D-6E8A-4147-A177-3AD203B41FA5}">
                      <a16:colId xmlns:a16="http://schemas.microsoft.com/office/drawing/2014/main" val="4018816944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743615699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471055099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4047946281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1442538888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818369598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322341131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136430749"/>
                    </a:ext>
                  </a:extLst>
                </a:gridCol>
              </a:tblGrid>
              <a:tr h="321617"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024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FDBB831-BACF-4A73-8839-3CBB02B8E2D9}"/>
              </a:ext>
            </a:extLst>
          </p:cNvPr>
          <p:cNvSpPr txBox="1"/>
          <p:nvPr/>
        </p:nvSpPr>
        <p:spPr>
          <a:xfrm>
            <a:off x="6106746" y="4582552"/>
            <a:ext cx="5050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100   101   102   103    104   105   106    107    108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Левая фигурная скобка 22">
            <a:extLst>
              <a:ext uri="{FF2B5EF4-FFF2-40B4-BE49-F238E27FC236}">
                <a16:creationId xmlns:a16="http://schemas.microsoft.com/office/drawing/2014/main" id="{4C3F16F5-7E78-499D-9024-6007C5674BF1}"/>
              </a:ext>
            </a:extLst>
          </p:cNvPr>
          <p:cNvSpPr/>
          <p:nvPr/>
        </p:nvSpPr>
        <p:spPr>
          <a:xfrm rot="5400000">
            <a:off x="9189170" y="3029450"/>
            <a:ext cx="158531" cy="2216152"/>
          </a:xfrm>
          <a:prstGeom prst="leftBrace">
            <a:avLst>
              <a:gd name="adj1" fmla="val 96566"/>
              <a:gd name="adj2" fmla="val 50211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8F381B-9FFF-4F50-8F6F-327FDC2F57A3}"/>
              </a:ext>
            </a:extLst>
          </p:cNvPr>
          <p:cNvSpPr txBox="1"/>
          <p:nvPr/>
        </p:nvSpPr>
        <p:spPr>
          <a:xfrm>
            <a:off x="9120796" y="3583528"/>
            <a:ext cx="295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ru-RU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AF4EB0DD-092C-4F90-9C46-231F163D0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526742"/>
              </p:ext>
            </p:extLst>
          </p:nvPr>
        </p:nvGraphicFramePr>
        <p:xfrm>
          <a:off x="8178016" y="5586336"/>
          <a:ext cx="21984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24">
                  <a:extLst>
                    <a:ext uri="{9D8B030D-6E8A-4147-A177-3AD203B41FA5}">
                      <a16:colId xmlns:a16="http://schemas.microsoft.com/office/drawing/2014/main" val="3860451175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621475644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3463807681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777151845"/>
                    </a:ext>
                  </a:extLst>
                </a:gridCol>
              </a:tblGrid>
              <a:tr h="32161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03273"/>
                  </a:ext>
                </a:extLst>
              </a:tr>
            </a:tbl>
          </a:graphicData>
        </a:graphic>
      </p:graphicFrame>
      <p:sp>
        <p:nvSpPr>
          <p:cNvPr id="3" name="Стрелка: вниз 2">
            <a:extLst>
              <a:ext uri="{FF2B5EF4-FFF2-40B4-BE49-F238E27FC236}">
                <a16:creationId xmlns:a16="http://schemas.microsoft.com/office/drawing/2014/main" id="{3FF1D5D4-831E-4803-B3D4-9C3DE77449CD}"/>
              </a:ext>
            </a:extLst>
          </p:cNvPr>
          <p:cNvSpPr/>
          <p:nvPr/>
        </p:nvSpPr>
        <p:spPr>
          <a:xfrm>
            <a:off x="9049360" y="4948312"/>
            <a:ext cx="438150" cy="478828"/>
          </a:xfrm>
          <a:prstGeom prst="down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5DACEA-7859-4098-B95A-E71D96D71C33}"/>
              </a:ext>
            </a:extLst>
          </p:cNvPr>
          <p:cNvSpPr txBox="1"/>
          <p:nvPr/>
        </p:nvSpPr>
        <p:spPr>
          <a:xfrm>
            <a:off x="575404" y="1344637"/>
            <a:ext cx="112550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Современные процессоры работают с числами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которых размер кратен степени 2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т.к. у нас везде двоичная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исчисления.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 отлично работает с числами в 1 байт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4, 8, 16..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байт.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 будет быстро работать с числами расположенными по адресу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 кратен их размеру. Если для 4 байтного числа адрес кратен 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 процессор считает такое число за 1 такт.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Такой подход наиболее эффективен при проектировании процессоров и позволяет делать процессоры более компактными. </a:t>
            </a:r>
            <a:endParaRPr lang="ru-RU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F8385B-347A-47F3-8186-B31984E0F79E}"/>
              </a:ext>
            </a:extLst>
          </p:cNvPr>
          <p:cNvSpPr txBox="1"/>
          <p:nvPr/>
        </p:nvSpPr>
        <p:spPr>
          <a:xfrm>
            <a:off x="575404" y="3995230"/>
            <a:ext cx="53242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Выравнивает данные по адресам компилятор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3121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289948"/>
            <a:ext cx="9925717" cy="927688"/>
          </a:xfrm>
        </p:spPr>
        <p:txBody>
          <a:bodyPr>
            <a:noAutofit/>
          </a:bodyPr>
          <a:lstStyle/>
          <a:p>
            <a:r>
              <a:rPr lang="en-US" sz="4800" dirty="0"/>
              <a:t>Alignment (</a:t>
            </a:r>
            <a:r>
              <a:rPr lang="ru-RU" sz="4800" dirty="0"/>
              <a:t>Выравнивание</a:t>
            </a:r>
            <a:r>
              <a:rPr lang="en-US" sz="4800" dirty="0"/>
              <a:t>)</a:t>
            </a:r>
            <a:endParaRPr lang="ru-RU" sz="4800" dirty="0"/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31378F2D-37C1-4DA6-9FEF-6AE89D714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497679"/>
              </p:ext>
            </p:extLst>
          </p:nvPr>
        </p:nvGraphicFramePr>
        <p:xfrm>
          <a:off x="4549578" y="2056002"/>
          <a:ext cx="58535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702">
                  <a:extLst>
                    <a:ext uri="{9D8B030D-6E8A-4147-A177-3AD203B41FA5}">
                      <a16:colId xmlns:a16="http://schemas.microsoft.com/office/drawing/2014/main" val="3225839638"/>
                    </a:ext>
                  </a:extLst>
                </a:gridCol>
                <a:gridCol w="479702">
                  <a:extLst>
                    <a:ext uri="{9D8B030D-6E8A-4147-A177-3AD203B41FA5}">
                      <a16:colId xmlns:a16="http://schemas.microsoft.com/office/drawing/2014/main" val="2949569941"/>
                    </a:ext>
                  </a:extLst>
                </a:gridCol>
                <a:gridCol w="500310">
                  <a:extLst>
                    <a:ext uri="{9D8B030D-6E8A-4147-A177-3AD203B41FA5}">
                      <a16:colId xmlns:a16="http://schemas.microsoft.com/office/drawing/2014/main" val="1503918507"/>
                    </a:ext>
                  </a:extLst>
                </a:gridCol>
                <a:gridCol w="546434">
                  <a:extLst>
                    <a:ext uri="{9D8B030D-6E8A-4147-A177-3AD203B41FA5}">
                      <a16:colId xmlns:a16="http://schemas.microsoft.com/office/drawing/2014/main" val="4018816944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743615699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471055099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4047946281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1442538888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818369598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322341131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136430749"/>
                    </a:ext>
                  </a:extLst>
                </a:gridCol>
              </a:tblGrid>
              <a:tr h="321617"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024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FDBB831-BACF-4A73-8839-3CBB02B8E2D9}"/>
              </a:ext>
            </a:extLst>
          </p:cNvPr>
          <p:cNvSpPr txBox="1"/>
          <p:nvPr/>
        </p:nvSpPr>
        <p:spPr>
          <a:xfrm>
            <a:off x="5022079" y="2421762"/>
            <a:ext cx="5050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99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3" name="Левая фигурная скобка 22">
            <a:extLst>
              <a:ext uri="{FF2B5EF4-FFF2-40B4-BE49-F238E27FC236}">
                <a16:creationId xmlns:a16="http://schemas.microsoft.com/office/drawing/2014/main" id="{4C3F16F5-7E78-499D-9024-6007C5674BF1}"/>
              </a:ext>
            </a:extLst>
          </p:cNvPr>
          <p:cNvSpPr/>
          <p:nvPr/>
        </p:nvSpPr>
        <p:spPr>
          <a:xfrm rot="5400000">
            <a:off x="8104503" y="868660"/>
            <a:ext cx="158531" cy="2216152"/>
          </a:xfrm>
          <a:prstGeom prst="leftBrace">
            <a:avLst>
              <a:gd name="adj1" fmla="val 96566"/>
              <a:gd name="adj2" fmla="val 50211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8F381B-9FFF-4F50-8F6F-327FDC2F57A3}"/>
              </a:ext>
            </a:extLst>
          </p:cNvPr>
          <p:cNvSpPr txBox="1"/>
          <p:nvPr/>
        </p:nvSpPr>
        <p:spPr>
          <a:xfrm>
            <a:off x="8036129" y="1432798"/>
            <a:ext cx="295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ru-RU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AF4EB0DD-092C-4F90-9C46-231F163D0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23672"/>
              </p:ext>
            </p:extLst>
          </p:nvPr>
        </p:nvGraphicFramePr>
        <p:xfrm>
          <a:off x="7238465" y="5742568"/>
          <a:ext cx="21984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24">
                  <a:extLst>
                    <a:ext uri="{9D8B030D-6E8A-4147-A177-3AD203B41FA5}">
                      <a16:colId xmlns:a16="http://schemas.microsoft.com/office/drawing/2014/main" val="3860451175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621475644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3463807681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777151845"/>
                    </a:ext>
                  </a:extLst>
                </a:gridCol>
              </a:tblGrid>
              <a:tr h="32161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03273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73B61DF-3A15-416A-999D-0FE1D7E8B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446717"/>
              </p:ext>
            </p:extLst>
          </p:nvPr>
        </p:nvGraphicFramePr>
        <p:xfrm>
          <a:off x="6047127" y="3099937"/>
          <a:ext cx="219530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434">
                  <a:extLst>
                    <a:ext uri="{9D8B030D-6E8A-4147-A177-3AD203B41FA5}">
                      <a16:colId xmlns:a16="http://schemas.microsoft.com/office/drawing/2014/main" val="2878898975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830807903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4263755999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3477696332"/>
                    </a:ext>
                  </a:extLst>
                </a:gridCol>
              </a:tblGrid>
              <a:tr h="32161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883867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8C66121E-CB97-4157-A442-41852F7ED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610785"/>
              </p:ext>
            </p:extLst>
          </p:nvPr>
        </p:nvGraphicFramePr>
        <p:xfrm>
          <a:off x="8331407" y="3682461"/>
          <a:ext cx="21984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24">
                  <a:extLst>
                    <a:ext uri="{9D8B030D-6E8A-4147-A177-3AD203B41FA5}">
                      <a16:colId xmlns:a16="http://schemas.microsoft.com/office/drawing/2014/main" val="2774961115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378922320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3674285681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387519822"/>
                    </a:ext>
                  </a:extLst>
                </a:gridCol>
              </a:tblGrid>
              <a:tr h="32161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94581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24EE3F3C-1634-4BD0-A14E-8223E91FF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818105"/>
              </p:ext>
            </p:extLst>
          </p:nvPr>
        </p:nvGraphicFramePr>
        <p:xfrm>
          <a:off x="6047127" y="4192635"/>
          <a:ext cx="21984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24">
                  <a:extLst>
                    <a:ext uri="{9D8B030D-6E8A-4147-A177-3AD203B41FA5}">
                      <a16:colId xmlns:a16="http://schemas.microsoft.com/office/drawing/2014/main" val="3860451175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621475644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3463807681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777151845"/>
                    </a:ext>
                  </a:extLst>
                </a:gridCol>
              </a:tblGrid>
              <a:tr h="32161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03273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BA83771-8E57-495D-B159-9DFB0B6DF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064898"/>
              </p:ext>
            </p:extLst>
          </p:nvPr>
        </p:nvGraphicFramePr>
        <p:xfrm>
          <a:off x="8331407" y="4733122"/>
          <a:ext cx="21984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24">
                  <a:extLst>
                    <a:ext uri="{9D8B030D-6E8A-4147-A177-3AD203B41FA5}">
                      <a16:colId xmlns:a16="http://schemas.microsoft.com/office/drawing/2014/main" val="2520155574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2542114923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789664185"/>
                    </a:ext>
                  </a:extLst>
                </a:gridCol>
                <a:gridCol w="549624">
                  <a:extLst>
                    <a:ext uri="{9D8B030D-6E8A-4147-A177-3AD203B41FA5}">
                      <a16:colId xmlns:a16="http://schemas.microsoft.com/office/drawing/2014/main" val="886193622"/>
                    </a:ext>
                  </a:extLst>
                </a:gridCol>
              </a:tblGrid>
              <a:tr h="32161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644335"/>
                  </a:ext>
                </a:extLst>
              </a:tr>
            </a:tbl>
          </a:graphicData>
        </a:graphic>
      </p:graphicFrame>
      <p:sp>
        <p:nvSpPr>
          <p:cNvPr id="16" name="Стрелка: вниз 15">
            <a:extLst>
              <a:ext uri="{FF2B5EF4-FFF2-40B4-BE49-F238E27FC236}">
                <a16:creationId xmlns:a16="http://schemas.microsoft.com/office/drawing/2014/main" id="{4B50656B-631D-409A-9683-F8E7DB646466}"/>
              </a:ext>
            </a:extLst>
          </p:cNvPr>
          <p:cNvSpPr/>
          <p:nvPr/>
        </p:nvSpPr>
        <p:spPr>
          <a:xfrm>
            <a:off x="8118638" y="5243296"/>
            <a:ext cx="438150" cy="411370"/>
          </a:xfrm>
          <a:prstGeom prst="down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01485B-8891-4E34-ACCD-3581DF3AD1D5}"/>
              </a:ext>
            </a:extLst>
          </p:cNvPr>
          <p:cNvSpPr txBox="1"/>
          <p:nvPr/>
        </p:nvSpPr>
        <p:spPr>
          <a:xfrm>
            <a:off x="624314" y="2934972"/>
            <a:ext cx="46602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данные у нас не выравнены по адресу кратному 4 для числа размера 4 байт.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 считает два числа по кратным адресам 4 и затем сдвинет байты в нужные позиции и затем сложит. Итого доступ к числу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будет примерно 4 такта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т.е. в 4 раза дольше чем когда структура была выравнена.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5833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9B47A7E-9609-4111-9DDF-119AB9D46837}"/>
              </a:ext>
            </a:extLst>
          </p:cNvPr>
          <p:cNvSpPr txBox="1"/>
          <p:nvPr/>
        </p:nvSpPr>
        <p:spPr>
          <a:xfrm>
            <a:off x="3279532" y="1166842"/>
            <a:ext cx="66381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test {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d;  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?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435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9B47A7E-9609-4111-9DDF-119AB9D46837}"/>
              </a:ext>
            </a:extLst>
          </p:cNvPr>
          <p:cNvSpPr txBox="1"/>
          <p:nvPr/>
        </p:nvSpPr>
        <p:spPr>
          <a:xfrm>
            <a:off x="3279532" y="1166842"/>
            <a:ext cx="66381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test {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?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811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289948"/>
            <a:ext cx="9925717" cy="927688"/>
          </a:xfrm>
        </p:spPr>
        <p:txBody>
          <a:bodyPr>
            <a:normAutofit/>
          </a:bodyPr>
          <a:lstStyle/>
          <a:p>
            <a:r>
              <a:rPr lang="ru-RU" dirty="0"/>
              <a:t>Битовые поля структуры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2D656D-402F-4CF5-BBDF-07471BA756B8}"/>
              </a:ext>
            </a:extLst>
          </p:cNvPr>
          <p:cNvSpPr txBox="1"/>
          <p:nvPr/>
        </p:nvSpPr>
        <p:spPr>
          <a:xfrm>
            <a:off x="1379360" y="2098927"/>
            <a:ext cx="372017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byte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b0: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b1: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b2: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b3: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b4: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b5: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b6: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b7: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 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F48094-675B-45FC-98F8-82F94977060E}"/>
              </a:ext>
            </a:extLst>
          </p:cNvPr>
          <p:cNvSpPr txBox="1"/>
          <p:nvPr/>
        </p:nvSpPr>
        <p:spPr>
          <a:xfrm>
            <a:off x="5308356" y="3429000"/>
            <a:ext cx="60974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0b00010001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17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bits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указатель на структуру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bits = 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byte *)&amp;a;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bits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-&gt;b0 =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0 бит числа a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276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289948"/>
            <a:ext cx="9925717" cy="927688"/>
          </a:xfrm>
        </p:spPr>
        <p:txBody>
          <a:bodyPr>
            <a:normAutofit/>
          </a:bodyPr>
          <a:lstStyle/>
          <a:p>
            <a:r>
              <a:rPr lang="ru-RU" dirty="0"/>
              <a:t>Битовые поля структуры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2D656D-402F-4CF5-BBDF-07471BA756B8}"/>
              </a:ext>
            </a:extLst>
          </p:cNvPr>
          <p:cNvSpPr txBox="1"/>
          <p:nvPr/>
        </p:nvSpPr>
        <p:spPr>
          <a:xfrm>
            <a:off x="1908798" y="1773331"/>
            <a:ext cx="41872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byte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b0: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b1: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b2: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b3: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b4: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b5: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b6: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b7: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1802E-DD65-4A68-A8E7-898D4A1FB9AA}"/>
              </a:ext>
            </a:extLst>
          </p:cNvPr>
          <p:cNvSpPr txBox="1"/>
          <p:nvPr/>
        </p:nvSpPr>
        <p:spPr>
          <a:xfrm>
            <a:off x="6800897" y="3312214"/>
            <a:ext cx="49720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все поля в структуре имеют тип данных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char?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42528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289948"/>
            <a:ext cx="9925717" cy="927688"/>
          </a:xfrm>
        </p:spPr>
        <p:txBody>
          <a:bodyPr>
            <a:normAutofit/>
          </a:bodyPr>
          <a:lstStyle/>
          <a:p>
            <a:r>
              <a:rPr lang="en-US" dirty="0"/>
              <a:t>union </a:t>
            </a:r>
            <a:r>
              <a:rPr lang="ru-RU" dirty="0"/>
              <a:t>(Объединения)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50725AD-D6DC-4FE8-9F88-0F8A90D2C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182167"/>
              </p:ext>
            </p:extLst>
          </p:nvPr>
        </p:nvGraphicFramePr>
        <p:xfrm>
          <a:off x="5301704" y="3147353"/>
          <a:ext cx="426481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801">
                  <a:extLst>
                    <a:ext uri="{9D8B030D-6E8A-4147-A177-3AD203B41FA5}">
                      <a16:colId xmlns:a16="http://schemas.microsoft.com/office/drawing/2014/main" val="3225839638"/>
                    </a:ext>
                  </a:extLst>
                </a:gridCol>
                <a:gridCol w="658801">
                  <a:extLst>
                    <a:ext uri="{9D8B030D-6E8A-4147-A177-3AD203B41FA5}">
                      <a16:colId xmlns:a16="http://schemas.microsoft.com/office/drawing/2014/main" val="2949569941"/>
                    </a:ext>
                  </a:extLst>
                </a:gridCol>
                <a:gridCol w="687103">
                  <a:extLst>
                    <a:ext uri="{9D8B030D-6E8A-4147-A177-3AD203B41FA5}">
                      <a16:colId xmlns:a16="http://schemas.microsoft.com/office/drawing/2014/main" val="1503918507"/>
                    </a:ext>
                  </a:extLst>
                </a:gridCol>
                <a:gridCol w="750448">
                  <a:extLst>
                    <a:ext uri="{9D8B030D-6E8A-4147-A177-3AD203B41FA5}">
                      <a16:colId xmlns:a16="http://schemas.microsoft.com/office/drawing/2014/main" val="4018816944"/>
                    </a:ext>
                  </a:extLst>
                </a:gridCol>
                <a:gridCol w="754829">
                  <a:extLst>
                    <a:ext uri="{9D8B030D-6E8A-4147-A177-3AD203B41FA5}">
                      <a16:colId xmlns:a16="http://schemas.microsoft.com/office/drawing/2014/main" val="743615699"/>
                    </a:ext>
                  </a:extLst>
                </a:gridCol>
                <a:gridCol w="754829">
                  <a:extLst>
                    <a:ext uri="{9D8B030D-6E8A-4147-A177-3AD203B41FA5}">
                      <a16:colId xmlns:a16="http://schemas.microsoft.com/office/drawing/2014/main" val="2471055099"/>
                    </a:ext>
                  </a:extLst>
                </a:gridCol>
              </a:tblGrid>
              <a:tr h="321617"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02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F67EBAF-98C1-45D0-ABEF-D3A80D8B9409}"/>
              </a:ext>
            </a:extLst>
          </p:cNvPr>
          <p:cNvSpPr txBox="1"/>
          <p:nvPr/>
        </p:nvSpPr>
        <p:spPr>
          <a:xfrm>
            <a:off x="1226733" y="1537639"/>
            <a:ext cx="48692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my_union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my_union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test;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test.a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test.b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12345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63FBB-F418-4C94-AE03-43D458C6B01C}"/>
              </a:ext>
            </a:extLst>
          </p:cNvPr>
          <p:cNvSpPr txBox="1"/>
          <p:nvPr/>
        </p:nvSpPr>
        <p:spPr>
          <a:xfrm>
            <a:off x="5982311" y="3495610"/>
            <a:ext cx="225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100   101   102   103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41883318-3FC5-4531-8B0E-74DE851D7FFD}"/>
              </a:ext>
            </a:extLst>
          </p:cNvPr>
          <p:cNvSpPr/>
          <p:nvPr/>
        </p:nvSpPr>
        <p:spPr>
          <a:xfrm rot="5400000">
            <a:off x="6219494" y="2734134"/>
            <a:ext cx="158531" cy="632901"/>
          </a:xfrm>
          <a:prstGeom prst="leftBrace">
            <a:avLst>
              <a:gd name="adj1" fmla="val 96566"/>
              <a:gd name="adj2" fmla="val 50211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Левая фигурная скобка 7">
            <a:extLst>
              <a:ext uri="{FF2B5EF4-FFF2-40B4-BE49-F238E27FC236}">
                <a16:creationId xmlns:a16="http://schemas.microsoft.com/office/drawing/2014/main" id="{82D4283B-CEB0-4008-83A2-A2A8C54C70E0}"/>
              </a:ext>
            </a:extLst>
          </p:cNvPr>
          <p:cNvSpPr/>
          <p:nvPr/>
        </p:nvSpPr>
        <p:spPr>
          <a:xfrm rot="5400000">
            <a:off x="7316774" y="1629011"/>
            <a:ext cx="158531" cy="2827461"/>
          </a:xfrm>
          <a:prstGeom prst="leftBrace">
            <a:avLst>
              <a:gd name="adj1" fmla="val 96566"/>
              <a:gd name="adj2" fmla="val 50211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29677-A00B-40F1-9E42-847916F6742D}"/>
              </a:ext>
            </a:extLst>
          </p:cNvPr>
          <p:cNvSpPr txBox="1"/>
          <p:nvPr/>
        </p:nvSpPr>
        <p:spPr>
          <a:xfrm>
            <a:off x="6096000" y="2495521"/>
            <a:ext cx="2713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'A'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 = 65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8527C8-0DBF-486D-9056-E4FCDF9407F7}"/>
              </a:ext>
            </a:extLst>
          </p:cNvPr>
          <p:cNvSpPr txBox="1"/>
          <p:nvPr/>
        </p:nvSpPr>
        <p:spPr>
          <a:xfrm>
            <a:off x="5778062" y="1583396"/>
            <a:ext cx="4385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my_union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</a:t>
            </a:r>
            <a:endParaRPr lang="ru-RU" dirty="0"/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5EB6529C-0188-4429-B890-8575D4BED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398616"/>
              </p:ext>
            </p:extLst>
          </p:nvPr>
        </p:nvGraphicFramePr>
        <p:xfrm>
          <a:off x="5320480" y="4810902"/>
          <a:ext cx="426481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801">
                  <a:extLst>
                    <a:ext uri="{9D8B030D-6E8A-4147-A177-3AD203B41FA5}">
                      <a16:colId xmlns:a16="http://schemas.microsoft.com/office/drawing/2014/main" val="3225839638"/>
                    </a:ext>
                  </a:extLst>
                </a:gridCol>
                <a:gridCol w="658801">
                  <a:extLst>
                    <a:ext uri="{9D8B030D-6E8A-4147-A177-3AD203B41FA5}">
                      <a16:colId xmlns:a16="http://schemas.microsoft.com/office/drawing/2014/main" val="2949569941"/>
                    </a:ext>
                  </a:extLst>
                </a:gridCol>
                <a:gridCol w="687103">
                  <a:extLst>
                    <a:ext uri="{9D8B030D-6E8A-4147-A177-3AD203B41FA5}">
                      <a16:colId xmlns:a16="http://schemas.microsoft.com/office/drawing/2014/main" val="1503918507"/>
                    </a:ext>
                  </a:extLst>
                </a:gridCol>
                <a:gridCol w="750448">
                  <a:extLst>
                    <a:ext uri="{9D8B030D-6E8A-4147-A177-3AD203B41FA5}">
                      <a16:colId xmlns:a16="http://schemas.microsoft.com/office/drawing/2014/main" val="4018816944"/>
                    </a:ext>
                  </a:extLst>
                </a:gridCol>
                <a:gridCol w="754829">
                  <a:extLst>
                    <a:ext uri="{9D8B030D-6E8A-4147-A177-3AD203B41FA5}">
                      <a16:colId xmlns:a16="http://schemas.microsoft.com/office/drawing/2014/main" val="743615699"/>
                    </a:ext>
                  </a:extLst>
                </a:gridCol>
                <a:gridCol w="754829">
                  <a:extLst>
                    <a:ext uri="{9D8B030D-6E8A-4147-A177-3AD203B41FA5}">
                      <a16:colId xmlns:a16="http://schemas.microsoft.com/office/drawing/2014/main" val="2471055099"/>
                    </a:ext>
                  </a:extLst>
                </a:gridCol>
              </a:tblGrid>
              <a:tr h="321617"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024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308A3FB-3B76-476A-BBFE-EFED62DD69FB}"/>
              </a:ext>
            </a:extLst>
          </p:cNvPr>
          <p:cNvSpPr txBox="1"/>
          <p:nvPr/>
        </p:nvSpPr>
        <p:spPr>
          <a:xfrm>
            <a:off x="6001087" y="5159159"/>
            <a:ext cx="225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100   101   102   103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Левая фигурная скобка 14">
            <a:extLst>
              <a:ext uri="{FF2B5EF4-FFF2-40B4-BE49-F238E27FC236}">
                <a16:creationId xmlns:a16="http://schemas.microsoft.com/office/drawing/2014/main" id="{95123D07-2EF0-4AA6-B027-F79CE433341B}"/>
              </a:ext>
            </a:extLst>
          </p:cNvPr>
          <p:cNvSpPr/>
          <p:nvPr/>
        </p:nvSpPr>
        <p:spPr>
          <a:xfrm rot="5400000">
            <a:off x="6238270" y="4397683"/>
            <a:ext cx="158531" cy="632901"/>
          </a:xfrm>
          <a:prstGeom prst="leftBrace">
            <a:avLst>
              <a:gd name="adj1" fmla="val 96566"/>
              <a:gd name="adj2" fmla="val 50211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Левая фигурная скобка 15">
            <a:extLst>
              <a:ext uri="{FF2B5EF4-FFF2-40B4-BE49-F238E27FC236}">
                <a16:creationId xmlns:a16="http://schemas.microsoft.com/office/drawing/2014/main" id="{46C5D772-F221-44B5-9CF9-565C1469128B}"/>
              </a:ext>
            </a:extLst>
          </p:cNvPr>
          <p:cNvSpPr/>
          <p:nvPr/>
        </p:nvSpPr>
        <p:spPr>
          <a:xfrm rot="5400000">
            <a:off x="7335550" y="3292560"/>
            <a:ext cx="158531" cy="2827461"/>
          </a:xfrm>
          <a:prstGeom prst="leftBrace">
            <a:avLst>
              <a:gd name="adj1" fmla="val 96566"/>
              <a:gd name="adj2" fmla="val 50211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D63BAB-0468-4043-8F3A-83810FD85E48}"/>
              </a:ext>
            </a:extLst>
          </p:cNvPr>
          <p:cNvSpPr txBox="1"/>
          <p:nvPr/>
        </p:nvSpPr>
        <p:spPr>
          <a:xfrm>
            <a:off x="6114776" y="4159070"/>
            <a:ext cx="2713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'9'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 = 12345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1466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289948"/>
            <a:ext cx="9925717" cy="927688"/>
          </a:xfrm>
        </p:spPr>
        <p:txBody>
          <a:bodyPr>
            <a:normAutofit/>
          </a:bodyPr>
          <a:lstStyle/>
          <a:p>
            <a:r>
              <a:rPr lang="en-US" dirty="0"/>
              <a:t>union </a:t>
            </a:r>
            <a:r>
              <a:rPr lang="ru-RU" dirty="0"/>
              <a:t>(Объединения)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E4B6EE-BD56-4463-A743-4AEA9E0093A3}"/>
              </a:ext>
            </a:extLst>
          </p:cNvPr>
          <p:cNvSpPr txBox="1"/>
          <p:nvPr/>
        </p:nvSpPr>
        <p:spPr>
          <a:xfrm>
            <a:off x="1943832" y="2316622"/>
            <a:ext cx="415216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test {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type;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 {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foo a;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bar b;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550F1B-B670-47C5-B2EB-E267C742FE54}"/>
              </a:ext>
            </a:extLst>
          </p:cNvPr>
          <p:cNvSpPr txBox="1"/>
          <p:nvPr/>
        </p:nvSpPr>
        <p:spPr>
          <a:xfrm>
            <a:off x="7165731" y="2316622"/>
            <a:ext cx="36275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u;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492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289948"/>
            <a:ext cx="9925717" cy="927688"/>
          </a:xfrm>
        </p:spPr>
        <p:txBody>
          <a:bodyPr>
            <a:normAutofit/>
          </a:bodyPr>
          <a:lstStyle/>
          <a:p>
            <a:r>
              <a:rPr lang="en-US" dirty="0" err="1"/>
              <a:t>enum</a:t>
            </a:r>
            <a:r>
              <a:rPr lang="en-US" dirty="0"/>
              <a:t> (</a:t>
            </a:r>
            <a:r>
              <a:rPr lang="ru-RU" dirty="0"/>
              <a:t>Перечисление)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67EBAF-98C1-45D0-ABEF-D3A80D8B9409}"/>
              </a:ext>
            </a:extLst>
          </p:cNvPr>
          <p:cNvSpPr txBox="1"/>
          <p:nvPr/>
        </p:nvSpPr>
        <p:spPr>
          <a:xfrm>
            <a:off x="1485200" y="1323494"/>
            <a:ext cx="502697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colors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RED,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по умолчанию будет = 0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GREEN,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= 1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BLUE =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ORANGE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будет равно 6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colors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my_color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GREEN;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my_color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2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RED: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выполнить что-то если красный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2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GREEN: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выполнить что-то если зеленый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483EB5-8C94-49AB-9FB8-2D2C643AA02C}"/>
              </a:ext>
            </a:extLst>
          </p:cNvPr>
          <p:cNvSpPr txBox="1"/>
          <p:nvPr/>
        </p:nvSpPr>
        <p:spPr>
          <a:xfrm>
            <a:off x="6859274" y="2943678"/>
            <a:ext cx="50269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Полезно когда хочется иметь строковый аналог числам. Например состояния программы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работает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работает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пауза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Вместо использования чисел более понятнее будет использовать слова.</a:t>
            </a:r>
          </a:p>
        </p:txBody>
      </p:sp>
    </p:spTree>
    <p:extLst>
      <p:ext uri="{BB962C8B-B14F-4D97-AF65-F5344CB8AC3E}">
        <p14:creationId xmlns:p14="http://schemas.microsoft.com/office/powerpoint/2010/main" val="1326904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95D51B6C-91AE-4569-B8E6-A8FC50FEB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141" y="289948"/>
            <a:ext cx="9925717" cy="927688"/>
          </a:xfrm>
        </p:spPr>
        <p:txBody>
          <a:bodyPr>
            <a:normAutofit/>
          </a:bodyPr>
          <a:lstStyle/>
          <a:p>
            <a:r>
              <a:rPr lang="en-US" dirty="0"/>
              <a:t>typedef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0B6D97-A247-437E-8903-F47CACD658BF}"/>
              </a:ext>
            </a:extLst>
          </p:cNvPr>
          <p:cNvSpPr txBox="1"/>
          <p:nvPr/>
        </p:nvSpPr>
        <p:spPr>
          <a:xfrm>
            <a:off x="1332994" y="1920116"/>
            <a:ext cx="53684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897F0D-03E0-40FE-969F-573E0E651FA4}"/>
              </a:ext>
            </a:extLst>
          </p:cNvPr>
          <p:cNvSpPr txBox="1"/>
          <p:nvPr/>
        </p:nvSpPr>
        <p:spPr>
          <a:xfrm>
            <a:off x="5603463" y="3546933"/>
            <a:ext cx="545539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cats {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age;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cats_t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cats_t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cats = {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"Mango"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8A9A4-4221-4C90-A977-57664A7CE957}"/>
              </a:ext>
            </a:extLst>
          </p:cNvPr>
          <p:cNvSpPr txBox="1"/>
          <p:nvPr/>
        </p:nvSpPr>
        <p:spPr>
          <a:xfrm>
            <a:off x="338364" y="6119419"/>
            <a:ext cx="19892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stdint.h</a:t>
            </a:r>
            <a:r>
              <a:rPr lang="en-US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57391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813CAB2-2AD3-CBC2-8DE8-2FF5AB76B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4708" y="732353"/>
            <a:ext cx="2503404" cy="927688"/>
          </a:xfrm>
        </p:spPr>
        <p:txBody>
          <a:bodyPr/>
          <a:lstStyle/>
          <a:p>
            <a:r>
              <a:rPr lang="en-US" dirty="0" err="1"/>
              <a:t>Github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EE967-943B-407F-8E78-2668FBEBC15D}"/>
              </a:ext>
            </a:extLst>
          </p:cNvPr>
          <p:cNvSpPr txBox="1"/>
          <p:nvPr/>
        </p:nvSpPr>
        <p:spPr>
          <a:xfrm>
            <a:off x="3105916" y="1798093"/>
            <a:ext cx="6520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https://github.com/kruffka/C-Programming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A00CC5-DBBE-4494-A2EC-6CA07C6372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551" y="2459365"/>
            <a:ext cx="3498480" cy="34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2580</TotalTime>
  <Words>1513</Words>
  <Application>Microsoft Office PowerPoint</Application>
  <PresentationFormat>Широкоэкранный</PresentationFormat>
  <Paragraphs>306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Times New Roman</vt:lpstr>
      <vt:lpstr>Office Theme</vt:lpstr>
      <vt:lpstr>C Programming 10_struct_union</vt:lpstr>
      <vt:lpstr>Презентация PowerPoint</vt:lpstr>
      <vt:lpstr>struct (Структуры)</vt:lpstr>
      <vt:lpstr>Презентация PowerPoint</vt:lpstr>
      <vt:lpstr>Презентация PowerPoint</vt:lpstr>
      <vt:lpstr>Инициализация</vt:lpstr>
      <vt:lpstr>Массив структур</vt:lpstr>
      <vt:lpstr>pointer to struct</vt:lpstr>
      <vt:lpstr>sizeof struct</vt:lpstr>
      <vt:lpstr>sizeof struct</vt:lpstr>
      <vt:lpstr>struct padding (Набивка/Добивание)</vt:lpstr>
      <vt:lpstr>Alignment (Выравнивание)</vt:lpstr>
      <vt:lpstr>Alignment (Выравнивание)</vt:lpstr>
      <vt:lpstr>Презентация PowerPoint</vt:lpstr>
      <vt:lpstr>Презентация PowerPoint</vt:lpstr>
      <vt:lpstr>Битовые поля структуры</vt:lpstr>
      <vt:lpstr>Битовые поля структуры</vt:lpstr>
      <vt:lpstr>union (Объединения)</vt:lpstr>
      <vt:lpstr>union (Объединения)</vt:lpstr>
      <vt:lpstr>enum (Перечисление)</vt:lpstr>
      <vt:lpstr>typedef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Veyler</dc:creator>
  <cp:lastModifiedBy>Andrey Veyler</cp:lastModifiedBy>
  <cp:revision>748</cp:revision>
  <dcterms:created xsi:type="dcterms:W3CDTF">2019-12-17T14:15:21Z</dcterms:created>
  <dcterms:modified xsi:type="dcterms:W3CDTF">2025-12-02T14:15:40Z</dcterms:modified>
</cp:coreProperties>
</file>