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sldIdLst>
    <p:sldId id="256" r:id="rId2"/>
    <p:sldId id="344" r:id="rId3"/>
    <p:sldId id="345" r:id="rId4"/>
    <p:sldId id="346" r:id="rId5"/>
    <p:sldId id="351" r:id="rId6"/>
    <p:sldId id="352" r:id="rId7"/>
    <p:sldId id="353" r:id="rId8"/>
    <p:sldId id="347" r:id="rId9"/>
    <p:sldId id="348" r:id="rId10"/>
    <p:sldId id="349" r:id="rId11"/>
    <p:sldId id="380" r:id="rId12"/>
    <p:sldId id="354" r:id="rId13"/>
    <p:sldId id="355" r:id="rId14"/>
    <p:sldId id="356" r:id="rId15"/>
    <p:sldId id="357" r:id="rId16"/>
    <p:sldId id="372" r:id="rId17"/>
    <p:sldId id="375" r:id="rId18"/>
    <p:sldId id="350" r:id="rId19"/>
    <p:sldId id="358" r:id="rId20"/>
    <p:sldId id="360" r:id="rId21"/>
    <p:sldId id="362" r:id="rId22"/>
    <p:sldId id="363" r:id="rId23"/>
    <p:sldId id="361" r:id="rId24"/>
    <p:sldId id="364" r:id="rId25"/>
    <p:sldId id="365" r:id="rId26"/>
    <p:sldId id="378" r:id="rId27"/>
    <p:sldId id="359" r:id="rId28"/>
    <p:sldId id="366" r:id="rId29"/>
    <p:sldId id="382" r:id="rId30"/>
    <p:sldId id="370" r:id="rId31"/>
    <p:sldId id="371" r:id="rId32"/>
    <p:sldId id="379" r:id="rId33"/>
    <p:sldId id="384" r:id="rId34"/>
    <p:sldId id="368" r:id="rId35"/>
    <p:sldId id="367" r:id="rId36"/>
    <p:sldId id="369" r:id="rId37"/>
    <p:sldId id="290" r:id="rId3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950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151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54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0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796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55210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034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331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317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3807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858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845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3867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473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2968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523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2548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409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0401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1498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5217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427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8495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438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937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87118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937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041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71267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" TargetMode="External"/><Relationship Id="rId7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earngitbranching.js.org/" TargetMode="External"/><Relationship Id="rId5" Type="http://schemas.openxmlformats.org/officeDocument/2006/relationships/hyperlink" Target="https://docs.github.com/ru" TargetMode="External"/><Relationship Id="rId4" Type="http://schemas.openxmlformats.org/officeDocument/2006/relationships/hyperlink" Target="https://git-scm.com/doc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2%d0%b2%d0%b5%d0%b4%d0%b5%d0%bd%d0%b8%d0%b5-%d0%a3%d1%81%d1%82%d0%b0%d0%bd%d0%be%d0%b2%d0%ba%d0%b0-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username@example.com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e%d1%81%d0%bd%d0%be%d0%b2%d1%8b-Git-%d0%a0%d0%b0%d0%b1%d0%be%d1%82%d0%b0-%d1%81-%d1%83%d0%b4%d0%b0%d0%bb%d1%91%d0%bd%d0%bd%d1%8b%d0%bc%d0%b8-%d1%80%d0%b5%d0%bf%d0%be%d0%b7%d0%b8%d1%82%d0%be%d1%80%d0%b8%d1%8f%d0%bc%d0%b8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en/v2/Git-Branching-Branches-in-a-Nutshel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-scm.com/book/en/v2/Git-Branching-Basic-Branching-and-Merging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merg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hyperlink" Target="https://git-scm.com/book/ru/v2/%D0%92%D0%B5%D1%82%D0%B2%D0%BB%D0%B5%D0%BD%D0%B8%D0%B5-%D0%B2-Git-%D0%9F%D0%B5%D1%80%D0%B5%D0%B1%D0%B0%D0%B7%D0%B8%D1%80%D0%BE%D0%B2%D0%B0%D0%BD%D0%B8%D0%B5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submodul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9_git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18B82ED-B5E3-42D5-BEF5-4263B11DEB0C}"/>
              </a:ext>
            </a:extLst>
          </p:cNvPr>
          <p:cNvSpPr txBox="1"/>
          <p:nvPr/>
        </p:nvSpPr>
        <p:spPr>
          <a:xfrm>
            <a:off x="316806" y="4929688"/>
            <a:ext cx="460688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u="sng" dirty="0">
                <a:effectLst/>
                <a:latin typeface="-apple-system"/>
                <a:hlinkClick r:id="rId3"/>
              </a:rPr>
              <a:t>Книга Pro </a:t>
            </a:r>
            <a:r>
              <a:rPr lang="ru-RU" sz="2400" b="0" i="0" u="sng" dirty="0" err="1">
                <a:effectLst/>
                <a:latin typeface="-apple-system"/>
                <a:hlinkClick r:id="rId3"/>
              </a:rPr>
              <a:t>Git</a:t>
            </a:r>
            <a:endParaRPr lang="en-US" sz="2400" dirty="0"/>
          </a:p>
          <a:p>
            <a:r>
              <a:rPr lang="ru-RU" sz="2400" b="0" i="0" u="sng" dirty="0">
                <a:effectLst/>
                <a:latin typeface="-apple-system"/>
                <a:hlinkClick r:id="rId4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4"/>
              </a:rPr>
              <a:t>Git</a:t>
            </a:r>
            <a:endParaRPr lang="en-US" sz="2400" dirty="0"/>
          </a:p>
          <a:p>
            <a:r>
              <a:rPr lang="ru-RU" sz="2400" b="0" i="0" u="sng" dirty="0">
                <a:effectLst/>
                <a:latin typeface="-apple-system"/>
                <a:hlinkClick r:id="rId5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5"/>
              </a:rPr>
              <a:t>GitHub</a:t>
            </a:r>
            <a:endParaRPr lang="ru-RU" sz="2400" b="0" i="0" u="sng" dirty="0">
              <a:effectLst/>
              <a:latin typeface="-apple-system"/>
            </a:endParaRPr>
          </a:p>
          <a:p>
            <a:r>
              <a:rPr lang="en-US" sz="2400" dirty="0">
                <a:hlinkClick r:id="rId6"/>
              </a:rPr>
              <a:t>https://learngitbranching.js.org/</a:t>
            </a:r>
            <a:endParaRPr lang="ru-RU" sz="2400" dirty="0"/>
          </a:p>
        </p:txBody>
      </p:sp>
      <p:pic>
        <p:nvPicPr>
          <p:cNvPr id="1028" name="Picture 4" descr="How we built the GitHub globe - The GitHub Blog">
            <a:extLst>
              <a:ext uri="{FF2B5EF4-FFF2-40B4-BE49-F238E27FC236}">
                <a16:creationId xmlns:a16="http://schemas.microsoft.com/office/drawing/2014/main" id="{B5C685B8-CC02-4551-89A5-F8DA604A691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57" y="657895"/>
            <a:ext cx="8090596" cy="505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8170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Кто такой </a:t>
            </a:r>
            <a:r>
              <a:rPr lang="en-US" dirty="0"/>
              <a:t>Git?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386DA-4F0A-4261-B618-627E75EBD7AB}"/>
              </a:ext>
            </a:extLst>
          </p:cNvPr>
          <p:cNvSpPr txBox="1"/>
          <p:nvPr/>
        </p:nvSpPr>
        <p:spPr>
          <a:xfrm>
            <a:off x="810973" y="1351508"/>
            <a:ext cx="1016560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(произносится "гит") - распределённая система управления версиями. Проект был создан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Линусом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Торвальдсом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управления разработкой ядра Linux, первая версия выпущена 7 апреля 2005 года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такая программа, которая позволяет просматривать историю изменений файлов с кодом, а также хранить эти самые файлы с кодом таким образом, что мы можем в любой момент откатиться до нужной версии. 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сегодня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самый популярный инструмент для хранения и управления версиями кода. </a:t>
            </a:r>
          </a:p>
        </p:txBody>
      </p:sp>
      <p:pic>
        <p:nvPicPr>
          <p:cNvPr id="2050" name="Picture 2" descr="alt text">
            <a:extLst>
              <a:ext uri="{FF2B5EF4-FFF2-40B4-BE49-F238E27FC236}">
                <a16:creationId xmlns:a16="http://schemas.microsoft.com/office/drawing/2014/main" id="{E7B4806A-5998-4C7C-BDF9-836C6944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574" y="5605891"/>
            <a:ext cx="2996426" cy="1252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EECFCD9-CD77-42BB-9D87-9CE522FA1F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127" y="4295765"/>
            <a:ext cx="1612873" cy="1460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5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262542FD-4C01-46F6-A422-976B46BC1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015" t="4933" r="-8298" b="-4933"/>
          <a:stretch/>
        </p:blipFill>
        <p:spPr bwMode="auto">
          <a:xfrm>
            <a:off x="2248224" y="2334380"/>
            <a:ext cx="7695549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97102" y="5053341"/>
            <a:ext cx="91802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Отслеживать изменения, например: создали файл, добавили в него код, удалили из него код и т.д.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472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040729"/>
            <a:ext cx="97617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откатиться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к последней работающей версии если что-то пошло не так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25BFE6B-0B48-4A18-8F1C-D421C3A3A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525" y="2214562"/>
            <a:ext cx="4552950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21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изменения в коде не изменяя работающий оригинал. Создаем мини копию с оригиналом, модифицируем ее как хотим,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полной и если ничего не отвалилось сливаем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соединяем) в оригинал</a:t>
            </a: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1AF767F7-42FF-4885-8A2C-8195041AB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4388" y="1900615"/>
            <a:ext cx="3266615" cy="305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>
            <a:extLst>
              <a:ext uri="{FF2B5EF4-FFF2-40B4-BE49-F238E27FC236}">
                <a16:creationId xmlns:a16="http://schemas.microsoft.com/office/drawing/2014/main" id="{614F62BE-AF19-4841-A06A-CE1D84EFB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215" y="1875338"/>
            <a:ext cx="5276408" cy="3086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623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Синхронизировать изменения между разными людьми или устройствами, где последняя актуальная версия кода с его историей хранится на некотором сервере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BF70B4E-D5B2-4303-B2BD-D6775FD4A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" y="1828800"/>
            <a:ext cx="51816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1300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Git vs </a:t>
            </a:r>
            <a:r>
              <a:rPr lang="en-US" dirty="0" err="1"/>
              <a:t>Github</a:t>
            </a:r>
            <a:r>
              <a:rPr lang="en-US" dirty="0"/>
              <a:t> (</a:t>
            </a:r>
            <a:r>
              <a:rPr lang="ru-RU" dirty="0"/>
              <a:t>и его аналоги)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A1B486-FDF7-4A22-984B-E24451CCC98C}"/>
              </a:ext>
            </a:extLst>
          </p:cNvPr>
          <p:cNvSpPr txBox="1"/>
          <p:nvPr/>
        </p:nvSpPr>
        <p:spPr>
          <a:xfrm>
            <a:off x="992150" y="1351508"/>
            <a:ext cx="95955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инструмент, позволяющий реализовать распределённую систему контроля версий.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-репозиторий, загруженный на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доступен с помощью разных интерфейсов (командная строка,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пр. графические интерфейсы).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есть другие сервисы, которые используют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- например,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Bitbucket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некоторые другие. </a:t>
            </a:r>
          </a:p>
        </p:txBody>
      </p:sp>
      <p:pic>
        <p:nvPicPr>
          <p:cNvPr id="4100" name="Picture 4" descr="Day 15: Introduction to Git and Github. Git commands in brief with simple  example. | Naga Priyanka Kanna">
            <a:extLst>
              <a:ext uri="{FF2B5EF4-FFF2-40B4-BE49-F238E27FC236}">
                <a16:creationId xmlns:a16="http://schemas.microsoft.com/office/drawing/2014/main" id="{43D7BCF1-AA5F-429D-A0F6-C15C9CB21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3835" y="5096935"/>
            <a:ext cx="1627000" cy="1203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Как пользоваться GitLab">
            <a:extLst>
              <a:ext uri="{FF2B5EF4-FFF2-40B4-BE49-F238E27FC236}">
                <a16:creationId xmlns:a16="http://schemas.microsoft.com/office/drawing/2014/main" id="{668B3785-7936-4C6C-B0EE-2F8B79426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8370" y="5743388"/>
            <a:ext cx="1851376" cy="638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DBB2390-2750-4EA2-B847-2AC81A678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0469" y="5891218"/>
            <a:ext cx="2380693" cy="34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GitVerse — Платформа для работы с исходным кодом, Git-репозиторий">
            <a:extLst>
              <a:ext uri="{FF2B5EF4-FFF2-40B4-BE49-F238E27FC236}">
                <a16:creationId xmlns:a16="http://schemas.microsoft.com/office/drawing/2014/main" id="{8A063272-3A4B-4D82-918F-7CEA7B010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54" y="2174284"/>
            <a:ext cx="1055346" cy="105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156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34365D-16B1-4F23-AFA9-2597FFD6680A}"/>
              </a:ext>
            </a:extLst>
          </p:cNvPr>
          <p:cNvSpPr txBox="1"/>
          <p:nvPr/>
        </p:nvSpPr>
        <p:spPr>
          <a:xfrm>
            <a:off x="1037346" y="507336"/>
            <a:ext cx="1038106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использования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нам необходимо установить его</a:t>
            </a:r>
            <a:endParaRPr lang="en-US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завести аккаунт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(github.com).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Желательно через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gmail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почту.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user.name "User Name"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user.email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username@example.com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Логин: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auth login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через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(Linux):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de-D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ssh-keygen</a:t>
            </a:r>
            <a:r>
              <a:rPr lang="de-D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-t ed25519 -C "</a:t>
            </a:r>
            <a:r>
              <a:rPr lang="de-DE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your@email</a:t>
            </a:r>
            <a:r>
              <a:rPr lang="de-D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Публичный ключ (`~/.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/id_ed25519.pub`)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копируете 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GitHub: Settings -&gt; SSH and GPG keys -&gt; New SSH key. 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-T git@github.com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Логин через пароль с 2021 года не работает в целях безопасности (в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workspace)*</a:t>
            </a:r>
          </a:p>
        </p:txBody>
      </p:sp>
    </p:spTree>
    <p:extLst>
      <p:ext uri="{BB962C8B-B14F-4D97-AF65-F5344CB8AC3E}">
        <p14:creationId xmlns:p14="http://schemas.microsoft.com/office/powerpoint/2010/main" val="699753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Создание Репозитория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B8FC4-FE10-489B-B81D-B567D23C5121}"/>
              </a:ext>
            </a:extLst>
          </p:cNvPr>
          <p:cNvSpPr txBox="1"/>
          <p:nvPr/>
        </p:nvSpPr>
        <p:spPr>
          <a:xfrm>
            <a:off x="779866" y="1301102"/>
            <a:ext cx="1063226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Репозито́рий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(от англ.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хранилище) - место, где хранятся и поддерживаются какие-либо данные. Иногда можно встретить сокращенно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 А еще иногда можно услышать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репозитАрий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это подобно папке с проектом, хранящей не только файлы, но и их историю изменений.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Заходим в github.com,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логинимся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далее вспоминаем как это показывали на лекции, либо гуглим, либо читаем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создание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проект пустой, то необходимо инициализировать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командой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по инициализации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обычно показываются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когда заходим в наш пустой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991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5380" y="173736"/>
            <a:ext cx="9921240" cy="923544"/>
          </a:xfrm>
        </p:spPr>
        <p:txBody>
          <a:bodyPr>
            <a:normAutofit/>
          </a:bodyPr>
          <a:lstStyle/>
          <a:p>
            <a:pPr algn="ctr"/>
            <a:r>
              <a:rPr dirty="0" err="1">
                <a:latin typeface="Times New Roman"/>
              </a:rPr>
              <a:t>Что</a:t>
            </a:r>
            <a:r>
              <a:rPr dirty="0">
                <a:latin typeface="Times New Roman"/>
              </a:rPr>
              <a:t> </a:t>
            </a:r>
            <a:r>
              <a:rPr dirty="0" err="1">
                <a:latin typeface="Times New Roman"/>
              </a:rPr>
              <a:t>внутри</a:t>
            </a:r>
            <a:r>
              <a:rPr dirty="0">
                <a:latin typeface="Times New Roman"/>
              </a:rPr>
              <a:t> .git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41330"/>
            <a:ext cx="679997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 a1b2c3d      &lt;-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ветка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указывает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сюда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+- tree d4e5f6a   (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корень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Aft>
                <a:spcPts val="2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+- blob 1234abc  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main.c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+- tree 5678def  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  <a:p>
            <a:pPr>
              <a:spcAft>
                <a:spcPts val="2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+- blob 9abc123  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lib.c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73018" y="3118805"/>
            <a:ext cx="5918982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Times New Roman"/>
              </a:rPr>
              <a:t>blob - </a:t>
            </a:r>
            <a:r>
              <a:rPr sz="2000" dirty="0" err="1">
                <a:latin typeface="Times New Roman"/>
              </a:rPr>
              <a:t>содержимое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файла</a:t>
            </a:r>
            <a:r>
              <a:rPr sz="2000" dirty="0">
                <a:latin typeface="Times New Roman"/>
              </a:rPr>
              <a:t>, </a:t>
            </a:r>
            <a:r>
              <a:rPr sz="2000" dirty="0" err="1">
                <a:latin typeface="Times New Roman"/>
              </a:rPr>
              <a:t>без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имени</a:t>
            </a:r>
            <a:endParaRPr sz="2000" dirty="0">
              <a:latin typeface="Times New Roman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Times New Roman"/>
              </a:rPr>
              <a:t>tree - </a:t>
            </a:r>
            <a:r>
              <a:rPr sz="2000" dirty="0" err="1">
                <a:latin typeface="Times New Roman"/>
              </a:rPr>
              <a:t>имена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файлов</a:t>
            </a:r>
            <a:r>
              <a:rPr sz="2000" dirty="0">
                <a:latin typeface="Times New Roman"/>
              </a:rPr>
              <a:t> и </a:t>
            </a:r>
            <a:r>
              <a:rPr sz="2000" dirty="0" err="1">
                <a:latin typeface="Times New Roman"/>
              </a:rPr>
              <a:t>папок</a:t>
            </a:r>
            <a:r>
              <a:rPr sz="2000" dirty="0">
                <a:latin typeface="Times New Roman"/>
              </a:rPr>
              <a:t> + </a:t>
            </a:r>
            <a:r>
              <a:rPr sz="2000" dirty="0" err="1">
                <a:latin typeface="Times New Roman"/>
              </a:rPr>
              <a:t>хэши</a:t>
            </a:r>
            <a:endParaRPr sz="2000" dirty="0">
              <a:latin typeface="Times New Roman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Times New Roman"/>
              </a:rPr>
              <a:t>commit - tree, </a:t>
            </a:r>
            <a:r>
              <a:rPr sz="2000" dirty="0" err="1">
                <a:latin typeface="Times New Roman"/>
              </a:rPr>
              <a:t>родитель</a:t>
            </a:r>
            <a:r>
              <a:rPr sz="2000" dirty="0">
                <a:latin typeface="Times New Roman"/>
              </a:rPr>
              <a:t>, </a:t>
            </a:r>
            <a:r>
              <a:rPr sz="2000" dirty="0" err="1">
                <a:latin typeface="Times New Roman"/>
              </a:rPr>
              <a:t>автор</a:t>
            </a:r>
            <a:r>
              <a:rPr sz="2000" dirty="0">
                <a:latin typeface="Times New Roman"/>
              </a:rPr>
              <a:t>, </a:t>
            </a:r>
            <a:r>
              <a:rPr sz="2000" dirty="0" err="1">
                <a:latin typeface="Times New Roman"/>
              </a:rPr>
              <a:t>сообщение</a:t>
            </a:r>
            <a:endParaRPr sz="2000" dirty="0">
              <a:latin typeface="Times New Roman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 err="1">
                <a:latin typeface="Times New Roman"/>
              </a:rPr>
              <a:t>имя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каждого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объекта</a:t>
            </a:r>
            <a:r>
              <a:rPr sz="2000" dirty="0">
                <a:latin typeface="Times New Roman"/>
              </a:rPr>
              <a:t> = </a:t>
            </a:r>
            <a:r>
              <a:rPr sz="2000" dirty="0" err="1">
                <a:latin typeface="Times New Roman"/>
              </a:rPr>
              <a:t>хэш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от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содержимого</a:t>
            </a:r>
            <a:endParaRPr sz="2000" dirty="0">
              <a:latin typeface="Times New Roma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234940"/>
            <a:ext cx="4698609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cat-file -t HEAD   #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тип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объекта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cat-file -p HEAD   #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содержимое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Запись изменений в репозиторий (Коммит)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EDD2D-01FE-45EE-B764-0073116FA66A}"/>
              </a:ext>
            </a:extLst>
          </p:cNvPr>
          <p:cNvSpPr txBox="1"/>
          <p:nvPr/>
        </p:nvSpPr>
        <p:spPr>
          <a:xfrm>
            <a:off x="1589164" y="4433262"/>
            <a:ext cx="7553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178CC319-B4BC-4E41-B680-4A563823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0400" y="1803104"/>
            <a:ext cx="7390875" cy="325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DB3480-138E-49B0-B51F-546F5D820326}"/>
              </a:ext>
            </a:extLst>
          </p:cNvPr>
          <p:cNvSpPr txBox="1"/>
          <p:nvPr/>
        </p:nvSpPr>
        <p:spPr>
          <a:xfrm>
            <a:off x="4350400" y="6303999"/>
            <a:ext cx="8036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https://git-scm.com/book/en/v2/Git-Basics-Recording-Changes-to-the-Repository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D0CD32-612B-40A9-9F39-9C6A6A33E2A8}"/>
              </a:ext>
            </a:extLst>
          </p:cNvPr>
          <p:cNvSpPr txBox="1"/>
          <p:nvPr/>
        </p:nvSpPr>
        <p:spPr>
          <a:xfrm>
            <a:off x="182441" y="2542080"/>
            <a:ext cx="4371974" cy="3098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 err="1">
                <a:latin typeface="Times New Roman"/>
              </a:rPr>
              <a:t>untracked</a:t>
            </a:r>
            <a:r>
              <a:rPr lang="ru-RU" sz="1800" dirty="0">
                <a:latin typeface="Times New Roman"/>
              </a:rPr>
              <a:t> / </a:t>
            </a:r>
            <a:r>
              <a:rPr lang="ru-RU" sz="1800" dirty="0" err="1">
                <a:latin typeface="Times New Roman"/>
              </a:rPr>
              <a:t>modified</a:t>
            </a:r>
            <a:r>
              <a:rPr lang="ru-RU" sz="1800" dirty="0">
                <a:latin typeface="Times New Roman"/>
              </a:rPr>
              <a:t> - рабочая копия, </a:t>
            </a:r>
            <a:r>
              <a:rPr lang="ru-RU" sz="1800" dirty="0" err="1">
                <a:latin typeface="Times New Roman"/>
              </a:rPr>
              <a:t>Git</a:t>
            </a:r>
            <a:r>
              <a:rPr lang="ru-RU" sz="1800" dirty="0">
                <a:latin typeface="Times New Roman"/>
              </a:rPr>
              <a:t> изменения еще не запомнил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 err="1">
                <a:latin typeface="Times New Roman"/>
              </a:rPr>
              <a:t>staged</a:t>
            </a:r>
            <a:r>
              <a:rPr lang="ru-RU" sz="1800" dirty="0">
                <a:latin typeface="Times New Roman"/>
              </a:rPr>
              <a:t> - то, что уйдет в следующий коммит (</a:t>
            </a:r>
            <a:r>
              <a:rPr lang="ru-RU" sz="1800" dirty="0" err="1">
                <a:latin typeface="Times New Roman"/>
              </a:rPr>
              <a:t>git</a:t>
            </a:r>
            <a:r>
              <a:rPr lang="ru-RU" sz="1800" dirty="0">
                <a:latin typeface="Times New Roman"/>
              </a:rPr>
              <a:t> </a:t>
            </a:r>
            <a:r>
              <a:rPr lang="ru-RU" sz="1800" dirty="0" err="1">
                <a:latin typeface="Times New Roman"/>
              </a:rPr>
              <a:t>add</a:t>
            </a:r>
            <a:r>
              <a:rPr lang="ru-RU" sz="1800" dirty="0">
                <a:latin typeface="Times New Roman"/>
              </a:rPr>
              <a:t>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 err="1">
                <a:latin typeface="Times New Roman"/>
              </a:rPr>
              <a:t>committed</a:t>
            </a:r>
            <a:r>
              <a:rPr lang="ru-RU" sz="1800" dirty="0">
                <a:latin typeface="Times New Roman"/>
              </a:rPr>
              <a:t> - история проекта; </a:t>
            </a:r>
            <a:r>
              <a:rPr lang="ru-RU" sz="1800" dirty="0" err="1">
                <a:latin typeface="Times New Roman"/>
              </a:rPr>
              <a:t>git</a:t>
            </a:r>
            <a:r>
              <a:rPr lang="ru-RU" sz="1800" dirty="0">
                <a:latin typeface="Times New Roman"/>
              </a:rPr>
              <a:t> </a:t>
            </a:r>
            <a:r>
              <a:rPr lang="ru-RU" sz="1800" dirty="0" err="1">
                <a:latin typeface="Times New Roman"/>
              </a:rPr>
              <a:t>push</a:t>
            </a:r>
            <a:r>
              <a:rPr lang="ru-RU" sz="1800" dirty="0">
                <a:latin typeface="Times New Roman"/>
              </a:rPr>
              <a:t> отправляет коммиты на сервер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ru-RU" sz="1800" dirty="0">
              <a:latin typeface="Times New Roman"/>
            </a:endParaRPr>
          </a:p>
          <a:p>
            <a:pPr>
              <a:spcAft>
                <a:spcPts val="800"/>
              </a:spcAft>
            </a:pPr>
            <a:r>
              <a:rPr lang="ru-RU" sz="1800" dirty="0" err="1">
                <a:latin typeface="Times New Roman"/>
              </a:rPr>
              <a:t>git</a:t>
            </a:r>
            <a:r>
              <a:rPr lang="ru-RU" sz="1800" dirty="0">
                <a:latin typeface="Times New Roman"/>
              </a:rPr>
              <a:t> </a:t>
            </a:r>
            <a:r>
              <a:rPr lang="ru-RU" sz="1800" dirty="0" err="1">
                <a:latin typeface="Times New Roman"/>
              </a:rPr>
              <a:t>status</a:t>
            </a:r>
            <a:r>
              <a:rPr lang="ru-RU" sz="1800" dirty="0">
                <a:latin typeface="Times New Roman"/>
              </a:rPr>
              <a:t> показывает, что где лежит, </a:t>
            </a:r>
            <a:endParaRPr lang="en-US" sz="1800" dirty="0">
              <a:latin typeface="Times New Roman"/>
            </a:endParaRPr>
          </a:p>
          <a:p>
            <a:pPr>
              <a:spcAft>
                <a:spcPts val="800"/>
              </a:spcAft>
            </a:pPr>
            <a:r>
              <a:rPr lang="ru-RU" sz="1800" dirty="0" err="1">
                <a:latin typeface="Times New Roman"/>
              </a:rPr>
              <a:t>git</a:t>
            </a:r>
            <a:r>
              <a:rPr lang="ru-RU" sz="1800" dirty="0">
                <a:latin typeface="Times New Roman"/>
              </a:rPr>
              <a:t> </a:t>
            </a:r>
            <a:r>
              <a:rPr lang="ru-RU" sz="1800" dirty="0" err="1">
                <a:latin typeface="Times New Roman"/>
              </a:rPr>
              <a:t>diff</a:t>
            </a:r>
            <a:r>
              <a:rPr lang="ru-RU" sz="1800" dirty="0">
                <a:latin typeface="Times New Roman"/>
              </a:rPr>
              <a:t> - что именно поменялось</a:t>
            </a:r>
          </a:p>
        </p:txBody>
      </p:sp>
    </p:spTree>
    <p:extLst>
      <p:ext uri="{BB962C8B-B14F-4D97-AF65-F5344CB8AC3E}">
        <p14:creationId xmlns:p14="http://schemas.microsoft.com/office/powerpoint/2010/main" val="4186903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Изменение файлов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CBCB4-030D-43CB-893B-5B2267A067FA}"/>
              </a:ext>
            </a:extLst>
          </p:cNvPr>
          <p:cNvSpPr txBox="1"/>
          <p:nvPr/>
        </p:nvSpPr>
        <p:spPr>
          <a:xfrm>
            <a:off x="1133141" y="1272197"/>
            <a:ext cx="1013605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состояние файлов можно командой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status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все что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измененные, а конкретнее по букве напротив файла M =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modified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U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untracked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изменении отслеживаемого файла - он переходит в состоянии измененный и все эти изменения можно увидеть через команду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diff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открыв нужный файл</a:t>
            </a:r>
          </a:p>
          <a:p>
            <a:r>
              <a:rPr lang="ru-RU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"+" и/или зеленый цвет == Добавлено новое</a:t>
            </a:r>
          </a:p>
          <a:p>
            <a:r>
              <a:rPr lang="ru-RU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"-" и/или красный цвет == Удалено старое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Следующий этап после модификации файлов - фиксация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индексация) их изменений, делается с помощью команды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$ git add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сделать это можно в Source Control выделив нужные файлы -&gt; нажать ПКМ -&gt;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0188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01BD1F-82E7-475C-AF56-5D681B8A534B}"/>
              </a:ext>
            </a:extLst>
          </p:cNvPr>
          <p:cNvSpPr txBox="1"/>
          <p:nvPr/>
        </p:nvSpPr>
        <p:spPr>
          <a:xfrm>
            <a:off x="1133141" y="1377455"/>
            <a:ext cx="10312625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Часто можно встретить в корне проекта файл .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нем прописываются пути и файлы, состояния которых полностью игнорируются (работает только для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неотслеживаемых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файлов).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cat .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foo/*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build/*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40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*.o</a:t>
            </a:r>
          </a:p>
          <a:p>
            <a:pPr>
              <a:spcAft>
                <a:spcPts val="40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*.exe</a:t>
            </a:r>
          </a:p>
          <a:p>
            <a:pPr>
              <a:spcAft>
                <a:spcPts val="400"/>
              </a:spcAft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a.out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400"/>
              </a:spcAf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build/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9285DE-BCFA-4D4D-A94F-438A536611A0}"/>
              </a:ext>
            </a:extLst>
          </p:cNvPr>
          <p:cNvSpPr txBox="1"/>
          <p:nvPr/>
        </p:nvSpPr>
        <p:spPr>
          <a:xfrm>
            <a:off x="8185519" y="5914945"/>
            <a:ext cx="386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https://git-scm.com/docs/gitignore</a:t>
            </a:r>
          </a:p>
        </p:txBody>
      </p:sp>
    </p:spTree>
    <p:extLst>
      <p:ext uri="{BB962C8B-B14F-4D97-AF65-F5344CB8AC3E}">
        <p14:creationId xmlns:p14="http://schemas.microsoft.com/office/powerpoint/2010/main" val="3041713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D4C0A-78CA-4D89-BB49-A162CF25C0E8}"/>
              </a:ext>
            </a:extLst>
          </p:cNvPr>
          <p:cNvSpPr txBox="1"/>
          <p:nvPr/>
        </p:nvSpPr>
        <p:spPr>
          <a:xfrm>
            <a:off x="1079939" y="1588325"/>
            <a:ext cx="1034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Коммит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фиксировать) - это способ сохранения изменений в коде. Каждый такой коммит содержит информацию о том, что было изменено в коде, кем были внесены эти изменения и когда. Под коммитом можно понимать некоторый снимок состояния проекта.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C5968C-396A-4050-8C82-7123D96668E6}"/>
              </a:ext>
            </a:extLst>
          </p:cNvPr>
          <p:cNvSpPr txBox="1"/>
          <p:nvPr/>
        </p:nvSpPr>
        <p:spPr>
          <a:xfrm>
            <a:off x="1079939" y="2698456"/>
            <a:ext cx="104667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каждый коммит помимо инфы несет свой уникальный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40 символов, в составе могут быть как буквы, так и цифры. - это называется хэш коммита и по нему часто разработчики понимают версию запускаемого кода. Хэш коммита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помощью крипто хэш-функции SHA-1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7EA275-E5F0-46A0-8FFC-017659059CCE}"/>
              </a:ext>
            </a:extLst>
          </p:cNvPr>
          <p:cNvSpPr txBox="1"/>
          <p:nvPr/>
        </p:nvSpPr>
        <p:spPr>
          <a:xfrm>
            <a:off x="1079939" y="3796172"/>
            <a:ext cx="106496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Теперь когда мы перенесли наши файлы в состояние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staged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мы можем их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закоммитить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для этого используется команда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-m "Сообщение коммита: что поменялось"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862AC-C03E-4896-A3CF-A8B338E28209}"/>
              </a:ext>
            </a:extLst>
          </p:cNvPr>
          <p:cNvSpPr txBox="1"/>
          <p:nvPr/>
        </p:nvSpPr>
        <p:spPr>
          <a:xfrm>
            <a:off x="1079939" y="4993092"/>
            <a:ext cx="85559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прописывается сообщение над БОЛЬШОЙ синей кнопкой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нажимается эта самая кнопка.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-am "hello git"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D98E0DF-3A9B-4BDE-9926-4A448006C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7551" y="5074071"/>
            <a:ext cx="270547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24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2C3EAF-E4D4-48E3-A7B0-0E97867C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45" y="1444137"/>
            <a:ext cx="8639908" cy="485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063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>
            <a:normAutofit/>
          </a:bodyPr>
          <a:lstStyle/>
          <a:p>
            <a:pPr algn="ctr"/>
            <a:r>
              <a:rPr sz="5400" dirty="0" err="1">
                <a:latin typeface="Times New Roman"/>
              </a:rPr>
              <a:t>Сообщения</a:t>
            </a:r>
            <a:r>
              <a:rPr sz="5400" dirty="0">
                <a:latin typeface="Times New Roman"/>
              </a:rPr>
              <a:t> </a:t>
            </a:r>
            <a:r>
              <a:rPr sz="5400" dirty="0" err="1">
                <a:latin typeface="Times New Roman"/>
              </a:rPr>
              <a:t>коммитов</a:t>
            </a:r>
            <a:endParaRPr sz="5400" dirty="0">
              <a:latin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62688" y="1830719"/>
            <a:ext cx="5882373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feat: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сортировку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пузырьком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fix: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исправи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выход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границу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массива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docs: </a:t>
            </a:r>
            <a:r>
              <a:rPr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дописа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6" y="4204162"/>
            <a:ext cx="11119104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dirty="0" err="1">
                <a:latin typeface="Times New Roman"/>
              </a:rPr>
              <a:t>заголовок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до</a:t>
            </a:r>
            <a:r>
              <a:rPr sz="2400" dirty="0">
                <a:latin typeface="Times New Roman"/>
              </a:rPr>
              <a:t> 50 </a:t>
            </a:r>
            <a:r>
              <a:rPr sz="2400" dirty="0" err="1">
                <a:latin typeface="Times New Roman"/>
              </a:rPr>
              <a:t>символов</a:t>
            </a:r>
            <a:endParaRPr lang="ru-RU" sz="2400" dirty="0">
              <a:latin typeface="Times New Roman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dirty="0">
                <a:latin typeface="Times New Roman"/>
              </a:rPr>
              <a:t>в </a:t>
            </a:r>
            <a:r>
              <a:rPr sz="2400" dirty="0" err="1">
                <a:latin typeface="Times New Roman"/>
              </a:rPr>
              <a:t>теле</a:t>
            </a:r>
            <a:r>
              <a:rPr sz="2400" dirty="0">
                <a:latin typeface="Times New Roman"/>
              </a:rPr>
              <a:t> - </a:t>
            </a:r>
            <a:r>
              <a:rPr sz="2400" dirty="0" err="1">
                <a:latin typeface="Times New Roman"/>
              </a:rPr>
              <a:t>почему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так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сделали</a:t>
            </a:r>
            <a:r>
              <a:rPr sz="2400" dirty="0">
                <a:latin typeface="Times New Roman"/>
              </a:rPr>
              <a:t>: </a:t>
            </a:r>
            <a:r>
              <a:rPr sz="2400" dirty="0" err="1">
                <a:latin typeface="Times New Roman"/>
              </a:rPr>
              <a:t>что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поменялось</a:t>
            </a:r>
            <a:r>
              <a:rPr sz="2400" dirty="0">
                <a:latin typeface="Times New Roman"/>
              </a:rPr>
              <a:t>, и </a:t>
            </a:r>
            <a:r>
              <a:rPr sz="2400" dirty="0" err="1">
                <a:latin typeface="Times New Roman"/>
              </a:rPr>
              <a:t>так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видно</a:t>
            </a:r>
            <a:r>
              <a:rPr sz="2400" dirty="0">
                <a:latin typeface="Times New Roman"/>
              </a:rPr>
              <a:t> в diff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dirty="0" err="1">
                <a:latin typeface="Times New Roman"/>
              </a:rPr>
              <a:t>первый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коммит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можно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назвать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как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угодно</a:t>
            </a:r>
            <a:r>
              <a:rPr sz="2400" dirty="0">
                <a:latin typeface="Times New Roman"/>
              </a:rPr>
              <a:t>, </a:t>
            </a:r>
            <a:r>
              <a:rPr sz="2400" dirty="0" err="1">
                <a:latin typeface="Times New Roman"/>
              </a:rPr>
              <a:t>дальше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лучше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привыкать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писать</a:t>
            </a:r>
            <a:r>
              <a:rPr sz="2400" dirty="0">
                <a:latin typeface="Times New Roman"/>
              </a:rPr>
              <a:t> </a:t>
            </a:r>
            <a:r>
              <a:rPr sz="2400" dirty="0" err="1">
                <a:latin typeface="Times New Roman"/>
              </a:rPr>
              <a:t>по-человечески</a:t>
            </a:r>
            <a:endParaRPr sz="2400" dirty="0"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теперь просмотреть коммиты?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66B25E-CE5F-444A-A82E-0461F5D09512}"/>
              </a:ext>
            </a:extLst>
          </p:cNvPr>
          <p:cNvSpPr txBox="1"/>
          <p:nvPr/>
        </p:nvSpPr>
        <p:spPr>
          <a:xfrm>
            <a:off x="1294349" y="179548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0AF57-7375-418C-B9A9-6794FED4C9B2}"/>
              </a:ext>
            </a:extLst>
          </p:cNvPr>
          <p:cNvSpPr txBox="1"/>
          <p:nvPr/>
        </p:nvSpPr>
        <p:spPr>
          <a:xfrm>
            <a:off x="1294349" y="2381408"/>
            <a:ext cx="104982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верхушке стека будут самые последние коммиты. Интересные флаги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также будут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pretty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E71362-E563-433E-9A3A-30E8ECB4D5E0}"/>
              </a:ext>
            </a:extLst>
          </p:cNvPr>
          <p:cNvSpPr txBox="1"/>
          <p:nvPr/>
        </p:nvSpPr>
        <p:spPr>
          <a:xfrm>
            <a:off x="1294349" y="3565930"/>
            <a:ext cx="101514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показывает каждый коммит в одной строке. Кроме того, она показывает лишь префикс ID коммита.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печатает все относительные имена показанных коммитов.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ветки визуализирует красивенько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1CC550-81AB-4B17-A9F9-651B2E6A4344}"/>
              </a:ext>
            </a:extLst>
          </p:cNvPr>
          <p:cNvSpPr txBox="1"/>
          <p:nvPr/>
        </p:nvSpPr>
        <p:spPr>
          <a:xfrm>
            <a:off x="1294349" y="3108905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562B40-3AA1-4D3E-A220-E80188349E84}"/>
              </a:ext>
            </a:extLst>
          </p:cNvPr>
          <p:cNvSpPr txBox="1"/>
          <p:nvPr/>
        </p:nvSpPr>
        <p:spPr>
          <a:xfrm>
            <a:off x="1294349" y="4853952"/>
            <a:ext cx="104478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это будет в Source Control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Можно мышкой навести на любой коммит и увидеть все тоже самое.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alias.lol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'log --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--graph --all’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lol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8180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Удаленные репозитории (</a:t>
            </a:r>
            <a:r>
              <a:rPr lang="ru-RU" sz="4000" dirty="0" err="1"/>
              <a:t>push</a:t>
            </a:r>
            <a:r>
              <a:rPr lang="ru-RU" sz="4000" dirty="0"/>
              <a:t>, </a:t>
            </a:r>
            <a:r>
              <a:rPr lang="ru-RU" sz="4000" dirty="0" err="1"/>
              <a:t>clone</a:t>
            </a:r>
            <a:r>
              <a:rPr lang="ru-RU" sz="4000" dirty="0"/>
              <a:t>, </a:t>
            </a:r>
            <a:r>
              <a:rPr lang="ru-RU" sz="4000" dirty="0" err="1"/>
              <a:t>fetch</a:t>
            </a:r>
            <a:r>
              <a:rPr lang="ru-RU" sz="4000" dirty="0"/>
              <a:t>, </a:t>
            </a:r>
            <a:r>
              <a:rPr lang="ru-RU" sz="4000" dirty="0" err="1"/>
              <a:t>pull</a:t>
            </a:r>
            <a:r>
              <a:rPr lang="ru-RU" sz="40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B8B4E3-1310-46B5-8C6F-BB6E5A7554F3}"/>
              </a:ext>
            </a:extLst>
          </p:cNvPr>
          <p:cNvSpPr txBox="1"/>
          <p:nvPr/>
        </p:nvSpPr>
        <p:spPr>
          <a:xfrm>
            <a:off x="1133141" y="156381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Основы </a:t>
            </a:r>
            <a:r>
              <a:rPr lang="ru-RU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Работа с удалёнными репозиториями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A83F5C-2830-4C9D-AABE-E369462DAC6C}"/>
              </a:ext>
            </a:extLst>
          </p:cNvPr>
          <p:cNvSpPr txBox="1"/>
          <p:nvPr/>
        </p:nvSpPr>
        <p:spPr>
          <a:xfrm>
            <a:off x="1133141" y="1933144"/>
            <a:ext cx="105711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наши коммиты на самом деле являются локальными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сам наш репозиторий наоборот - удаленный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т.е. он хранится на некотором сервере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интернетах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 части это полезно тем, что вы можете набрать n-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кол-во коммитов локально и разом их запушить. А пока их копите у себя локально иногда бывает надо откатиться назад, что-то отменить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торопитесь пушить сразу на удаленный сервер, стоит перепроверить ничего ли не забыли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0B51ED-D5B7-4B71-A5BA-B419315FF21C}"/>
              </a:ext>
            </a:extLst>
          </p:cNvPr>
          <p:cNvSpPr txBox="1"/>
          <p:nvPr/>
        </p:nvSpPr>
        <p:spPr>
          <a:xfrm>
            <a:off x="1133140" y="3872136"/>
            <a:ext cx="10817121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push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pull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fetch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clone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remote -v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 появится слово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алияс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псевдоним) на нашей системе, под которым подразумевается удаленный репозиторий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0434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15D2B2FA-01EC-4889-A398-7B4B7431C963}"/>
              </a:ext>
            </a:extLst>
          </p:cNvPr>
          <p:cNvSpPr txBox="1"/>
          <p:nvPr/>
        </p:nvSpPr>
        <p:spPr>
          <a:xfrm>
            <a:off x="1188782" y="4665755"/>
            <a:ext cx="9814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- ссылка (указатель) на ваш последний коммит вашей ветки. Можно глянуть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/HEAD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указывается не ветка, а коммит в этом файле, то это значит у вас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detached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 == вы пошли бродить по предыдущим коммитам ветки. 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50837717-DC57-405F-9E25-89EC3A744AB9}"/>
              </a:ext>
            </a:extLst>
          </p:cNvPr>
          <p:cNvGrpSpPr/>
          <p:nvPr/>
        </p:nvGrpSpPr>
        <p:grpSpPr>
          <a:xfrm>
            <a:off x="1826555" y="1893888"/>
            <a:ext cx="8230005" cy="2073594"/>
            <a:chOff x="1826555" y="1893888"/>
            <a:chExt cx="8230005" cy="2073594"/>
          </a:xfrm>
        </p:grpSpPr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9DA2A33-6356-49F5-ABA0-163E8907F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5313" y="1893888"/>
              <a:ext cx="8071247" cy="1870167"/>
            </a:xfrm>
            <a:prstGeom prst="rect">
              <a:avLst/>
            </a:prstGeom>
          </p:spPr>
        </p:pic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6ABB981B-76F4-4A85-85D7-C0B4B9CA68A3}"/>
                </a:ext>
              </a:extLst>
            </p:cNvPr>
            <p:cNvSpPr/>
            <p:nvPr/>
          </p:nvSpPr>
          <p:spPr>
            <a:xfrm>
              <a:off x="7014949" y="2333770"/>
              <a:ext cx="627125" cy="808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Круг: прозрачная заливка 23">
              <a:extLst>
                <a:ext uri="{FF2B5EF4-FFF2-40B4-BE49-F238E27FC236}">
                  <a16:creationId xmlns:a16="http://schemas.microsoft.com/office/drawing/2014/main" id="{5F2EE8BF-1F8D-4F22-82E0-23FFDE7BCC1E}"/>
                </a:ext>
              </a:extLst>
            </p:cNvPr>
            <p:cNvSpPr>
              <a:spLocks/>
            </p:cNvSpPr>
            <p:nvPr/>
          </p:nvSpPr>
          <p:spPr>
            <a:xfrm>
              <a:off x="3630446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7" name="Круг: прозрачная заливка 26">
              <a:extLst>
                <a:ext uri="{FF2B5EF4-FFF2-40B4-BE49-F238E27FC236}">
                  <a16:creationId xmlns:a16="http://schemas.microsoft.com/office/drawing/2014/main" id="{EEAEF5BA-2D55-4289-AD95-8D05522BFE7F}"/>
                </a:ext>
              </a:extLst>
            </p:cNvPr>
            <p:cNvSpPr>
              <a:spLocks/>
            </p:cNvSpPr>
            <p:nvPr/>
          </p:nvSpPr>
          <p:spPr>
            <a:xfrm>
              <a:off x="2329360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8" name="Круг: прозрачная заливка 27">
              <a:extLst>
                <a:ext uri="{FF2B5EF4-FFF2-40B4-BE49-F238E27FC236}">
                  <a16:creationId xmlns:a16="http://schemas.microsoft.com/office/drawing/2014/main" id="{9CBBC43C-83E3-45C0-B519-56384E70174B}"/>
                </a:ext>
              </a:extLst>
            </p:cNvPr>
            <p:cNvSpPr>
              <a:spLocks/>
            </p:cNvSpPr>
            <p:nvPr/>
          </p:nvSpPr>
          <p:spPr>
            <a:xfrm>
              <a:off x="4931532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9" name="Круг: прозрачная заливка 28">
              <a:extLst>
                <a:ext uri="{FF2B5EF4-FFF2-40B4-BE49-F238E27FC236}">
                  <a16:creationId xmlns:a16="http://schemas.microsoft.com/office/drawing/2014/main" id="{C5BEFE0F-2CB3-4C83-A36D-469FE9F07147}"/>
                </a:ext>
              </a:extLst>
            </p:cNvPr>
            <p:cNvSpPr>
              <a:spLocks/>
            </p:cNvSpPr>
            <p:nvPr/>
          </p:nvSpPr>
          <p:spPr>
            <a:xfrm>
              <a:off x="6219276" y="2158666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cxnSp>
          <p:nvCxnSpPr>
            <p:cNvPr id="26" name="Прямая со стрелкой 25">
              <a:extLst>
                <a:ext uri="{FF2B5EF4-FFF2-40B4-BE49-F238E27FC236}">
                  <a16:creationId xmlns:a16="http://schemas.microsoft.com/office/drawing/2014/main" id="{1E99513A-7CDC-4636-9C8F-667E928A54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14949" y="2534907"/>
              <a:ext cx="661916" cy="0"/>
            </a:xfrm>
            <a:prstGeom prst="straightConnector1">
              <a:avLst/>
            </a:prstGeom>
            <a:ln w="1365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Прямая соединительная линия 33">
              <a:extLst>
                <a:ext uri="{FF2B5EF4-FFF2-40B4-BE49-F238E27FC236}">
                  <a16:creationId xmlns:a16="http://schemas.microsoft.com/office/drawing/2014/main" id="{7D7D7BFA-0B06-49CA-8306-1B671E79ECC1}"/>
                </a:ext>
              </a:extLst>
            </p:cNvPr>
            <p:cNvCxnSpPr>
              <a:cxnSpLocks/>
              <a:stCxn id="27" idx="6"/>
              <a:endCxn id="24" idx="2"/>
            </p:cNvCxnSpPr>
            <p:nvPr/>
          </p:nvCxnSpPr>
          <p:spPr>
            <a:xfrm>
              <a:off x="3098716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Прямая соединительная линия 37">
              <a:extLst>
                <a:ext uri="{FF2B5EF4-FFF2-40B4-BE49-F238E27FC236}">
                  <a16:creationId xmlns:a16="http://schemas.microsoft.com/office/drawing/2014/main" id="{4C098D69-5BB7-462F-9A90-AE0C7A113747}"/>
                </a:ext>
              </a:extLst>
            </p:cNvPr>
            <p:cNvCxnSpPr>
              <a:cxnSpLocks/>
              <a:stCxn id="24" idx="6"/>
              <a:endCxn id="28" idx="2"/>
            </p:cNvCxnSpPr>
            <p:nvPr/>
          </p:nvCxnSpPr>
          <p:spPr>
            <a:xfrm>
              <a:off x="4399802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Прямая соединительная линия 41">
              <a:extLst>
                <a:ext uri="{FF2B5EF4-FFF2-40B4-BE49-F238E27FC236}">
                  <a16:creationId xmlns:a16="http://schemas.microsoft.com/office/drawing/2014/main" id="{5BC956BC-BB2C-42DC-9344-17B29444BFCF}"/>
                </a:ext>
              </a:extLst>
            </p:cNvPr>
            <p:cNvCxnSpPr>
              <a:cxnSpLocks/>
            </p:cNvCxnSpPr>
            <p:nvPr/>
          </p:nvCxnSpPr>
          <p:spPr>
            <a:xfrm>
              <a:off x="5700888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Рамка 39">
              <a:extLst>
                <a:ext uri="{FF2B5EF4-FFF2-40B4-BE49-F238E27FC236}">
                  <a16:creationId xmlns:a16="http://schemas.microsoft.com/office/drawing/2014/main" id="{DF8EF303-0AA1-450F-B917-04A971E2BACC}"/>
                </a:ext>
              </a:extLst>
            </p:cNvPr>
            <p:cNvSpPr/>
            <p:nvPr/>
          </p:nvSpPr>
          <p:spPr>
            <a:xfrm>
              <a:off x="7729499" y="2108580"/>
              <a:ext cx="1983016" cy="873449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01DF7F44-AD0C-49D4-8AB1-BA4BBDFFF9DE}"/>
                </a:ext>
              </a:extLst>
            </p:cNvPr>
            <p:cNvSpPr/>
            <p:nvPr/>
          </p:nvSpPr>
          <p:spPr>
            <a:xfrm>
              <a:off x="7819118" y="2202274"/>
              <a:ext cx="1803778" cy="6860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HEAD, master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EA983185-7E71-4089-BE7D-1B13FAD0B611}"/>
                </a:ext>
              </a:extLst>
            </p:cNvPr>
            <p:cNvSpPr/>
            <p:nvPr/>
          </p:nvSpPr>
          <p:spPr>
            <a:xfrm>
              <a:off x="1826555" y="2955685"/>
              <a:ext cx="5547815" cy="10117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2054CE-4BB9-41E1-9F81-8A40B2C52662}"/>
                </a:ext>
              </a:extLst>
            </p:cNvPr>
            <p:cNvSpPr txBox="1"/>
            <p:nvPr/>
          </p:nvSpPr>
          <p:spPr>
            <a:xfrm>
              <a:off x="2262632" y="2946578"/>
              <a:ext cx="9028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first</a:t>
              </a:r>
              <a:br>
                <a:rPr lang="en-US" dirty="0"/>
              </a:br>
              <a:r>
                <a:rPr lang="en-US" dirty="0"/>
                <a:t>commit</a:t>
              </a:r>
              <a:endParaRPr lang="ru-RU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EECA96-1F40-4519-A21D-5EE8D23CF85D}"/>
                </a:ext>
              </a:extLst>
            </p:cNvPr>
            <p:cNvSpPr txBox="1"/>
            <p:nvPr/>
          </p:nvSpPr>
          <p:spPr>
            <a:xfrm>
              <a:off x="3745659" y="2946578"/>
              <a:ext cx="5389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  <a:br>
                <a:rPr lang="en-US" dirty="0"/>
              </a:br>
              <a:r>
                <a:rPr lang="en-US" dirty="0"/>
                <a:t>line</a:t>
              </a:r>
              <a:endParaRPr lang="ru-RU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211FF50-AF6E-4185-ABA3-426A1E3DAB38}"/>
                </a:ext>
              </a:extLst>
            </p:cNvPr>
            <p:cNvSpPr txBox="1"/>
            <p:nvPr/>
          </p:nvSpPr>
          <p:spPr>
            <a:xfrm>
              <a:off x="4841721" y="3023603"/>
              <a:ext cx="94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changes</a:t>
              </a:r>
              <a:endParaRPr lang="ru-RU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FE3772D-5E38-41AE-A292-2DA1D103D8A6}"/>
                </a:ext>
              </a:extLst>
            </p:cNvPr>
            <p:cNvSpPr txBox="1"/>
            <p:nvPr/>
          </p:nvSpPr>
          <p:spPr>
            <a:xfrm>
              <a:off x="6145174" y="2946577"/>
              <a:ext cx="91755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new </a:t>
              </a:r>
            </a:p>
            <a:p>
              <a:r>
                <a:rPr lang="en-US" dirty="0"/>
                <a:t> feature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8669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00A901-7E25-46CE-B64B-6B18106664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7" b="979"/>
          <a:stretch/>
        </p:blipFill>
        <p:spPr>
          <a:xfrm>
            <a:off x="1660619" y="1044052"/>
            <a:ext cx="8870762" cy="4524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15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A8369-9F42-46F5-8120-D06CBDC3E6B5}"/>
              </a:ext>
            </a:extLst>
          </p:cNvPr>
          <p:cNvSpPr txBox="1"/>
          <p:nvPr/>
        </p:nvSpPr>
        <p:spPr>
          <a:xfrm>
            <a:off x="893927" y="1380759"/>
            <a:ext cx="1067937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Times New Roman"/>
              </a:rPr>
              <a:t>Ветка (англ. Branch) - это просто наклейка на коммите, то есть перемещаемый указатель.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умолчанию, имя основной 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одна из лучших фич и они довольно легковесны, т.е. их легко и быстро создать,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смержить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т.д. в отличии от других систем контроля версий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2CA2B0-7449-424D-9D28-977AC58EBCDA}"/>
              </a:ext>
            </a:extLst>
          </p:cNvPr>
          <p:cNvSpPr txBox="1"/>
          <p:nvPr/>
        </p:nvSpPr>
        <p:spPr>
          <a:xfrm>
            <a:off x="893927" y="2635406"/>
            <a:ext cx="44724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Полезные команды для веток: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 -c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&lt;branch-name&gt;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-v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-d &lt;branch-name&gt;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1F66B-E39E-41A7-BD57-30DF9F63AF49}"/>
              </a:ext>
            </a:extLst>
          </p:cNvPr>
          <p:cNvSpPr txBox="1"/>
          <p:nvPr/>
        </p:nvSpPr>
        <p:spPr>
          <a:xfrm>
            <a:off x="1050876" y="5286521"/>
            <a:ext cx="81505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3"/>
              </a:rPr>
              <a:t>https://git-scm.com/book/en/v2/Git-Branching-Branches-in-a-Nutshell</a:t>
            </a:r>
            <a:br>
              <a:rPr lang="en-US" dirty="0"/>
            </a:br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https://git-scm.com/book/en/v2/Git-Branching-Basic-Branching-and-Merging</a:t>
            </a:r>
            <a:endParaRPr lang="ru-RU" dirty="0"/>
          </a:p>
        </p:txBody>
      </p:sp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2C25C71F-F312-4673-98ED-96E63CE2FD38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Ветвление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1D1A83-FF81-4E50-A737-303AD046877B}"/>
              </a:ext>
            </a:extLst>
          </p:cNvPr>
          <p:cNvSpPr txBox="1"/>
          <p:nvPr/>
        </p:nvSpPr>
        <p:spPr>
          <a:xfrm>
            <a:off x="4802305" y="3466402"/>
            <a:ext cx="60971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 -b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4045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E48197-7F44-44A6-87F8-DF07751D7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92"/>
          <a:stretch/>
        </p:blipFill>
        <p:spPr>
          <a:xfrm>
            <a:off x="6096000" y="113423"/>
            <a:ext cx="5749231" cy="62558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ED89D9-05F7-4040-948F-377A51565673}"/>
              </a:ext>
            </a:extLst>
          </p:cNvPr>
          <p:cNvSpPr txBox="1"/>
          <p:nvPr/>
        </p:nvSpPr>
        <p:spPr>
          <a:xfrm>
            <a:off x="850537" y="1810185"/>
            <a:ext cx="4516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реальной большой разработке обычно есть как минимум ветка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содержатся самые стабильные версии и релизы, которые отдаются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продакшн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основная ветка для разработки, в ней кипит вся разработка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мержатся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все мелкие ветки с новыми фичами, затем проверяется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77DC79-A29F-4A54-B2CE-0838617CFBFA}"/>
              </a:ext>
            </a:extLst>
          </p:cNvPr>
          <p:cNvSpPr txBox="1"/>
          <p:nvPr/>
        </p:nvSpPr>
        <p:spPr>
          <a:xfrm>
            <a:off x="6280910" y="6365139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https://nvie.com/posts/a-successful-git-branching-model/</a:t>
            </a:r>
          </a:p>
        </p:txBody>
      </p:sp>
    </p:spTree>
    <p:extLst>
      <p:ext uri="{BB962C8B-B14F-4D97-AF65-F5344CB8AC3E}">
        <p14:creationId xmlns:p14="http://schemas.microsoft.com/office/powerpoint/2010/main" val="3095008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30CAC3-3E95-4C82-8E8F-AF32023C7914}"/>
              </a:ext>
            </a:extLst>
          </p:cNvPr>
          <p:cNvSpPr txBox="1"/>
          <p:nvPr/>
        </p:nvSpPr>
        <p:spPr>
          <a:xfrm>
            <a:off x="5257717" y="5897632"/>
            <a:ext cx="69342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3"/>
              </a:rPr>
              <a:t>https://git-scm.com/docs/git-merge</a:t>
            </a:r>
            <a:endParaRPr lang="en-US" sz="1600" dirty="0"/>
          </a:p>
          <a:p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https://git-scm.com/book/ru/v2/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Ветвление-в-</a:t>
            </a:r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Git-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Перебазирование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2ACA63-C894-4FBF-B056-8AD2A4720603}"/>
              </a:ext>
            </a:extLst>
          </p:cNvPr>
          <p:cNvSpPr txBox="1"/>
          <p:nvPr/>
        </p:nvSpPr>
        <p:spPr>
          <a:xfrm>
            <a:off x="493107" y="2087473"/>
            <a:ext cx="85247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коммит сливается с тем, до которого можно добраться, двигаясь по истории вперёд,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упрощает слияние, просто перенося указатель ветки вперёд, потому что в этом случае нет никаких разнонаправленных изменений, которые нужно было бы свести воедино. Это называется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fast-forward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можно увидеть еще: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(по умолчанию) попытаться выполнить перемотку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если не удалось, то создать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no-ff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всегда создавать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ff-only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попытаться выполнить перемотку, если не удалось, завершить ошибкой.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727461-D223-4B17-ADFB-C9BCE11BB8D4}"/>
              </a:ext>
            </a:extLst>
          </p:cNvPr>
          <p:cNvSpPr txBox="1"/>
          <p:nvPr/>
        </p:nvSpPr>
        <p:spPr>
          <a:xfrm>
            <a:off x="493107" y="5254436"/>
            <a:ext cx="6097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для слияния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merge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rebase</a:t>
            </a:r>
          </a:p>
        </p:txBody>
      </p:sp>
      <p:pic>
        <p:nvPicPr>
          <p:cNvPr id="3074" name="Picture 2" descr="Git Merge | Atlassian Git Tutorial">
            <a:extLst>
              <a:ext uri="{FF2B5EF4-FFF2-40B4-BE49-F238E27FC236}">
                <a16:creationId xmlns:a16="http://schemas.microsoft.com/office/drawing/2014/main" id="{01B29B35-F15D-43D3-A316-9859EA1CF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716" y="2334157"/>
            <a:ext cx="3398779" cy="19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363E0B0-E3F9-4C7F-B97E-CE50DBC3C500}"/>
              </a:ext>
            </a:extLst>
          </p:cNvPr>
          <p:cNvSpPr txBox="1"/>
          <p:nvPr/>
        </p:nvSpPr>
        <p:spPr>
          <a:xfrm>
            <a:off x="493107" y="1329397"/>
            <a:ext cx="11346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(слияние,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объединение двух или более веток. В процессе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изменения с указанной ветки переносятся (копируются) в текущую.</a:t>
            </a:r>
          </a:p>
        </p:txBody>
      </p:sp>
      <p:sp>
        <p:nvSpPr>
          <p:cNvPr id="17" name="Заголовок 2">
            <a:extLst>
              <a:ext uri="{FF2B5EF4-FFF2-40B4-BE49-F238E27FC236}">
                <a16:creationId xmlns:a16="http://schemas.microsoft.com/office/drawing/2014/main" id="{50446617-E200-4D6F-8D76-280037FCEC77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72359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2014911-15DB-4674-BA60-066E8FD8C35A}"/>
              </a:ext>
            </a:extLst>
          </p:cNvPr>
          <p:cNvSpPr txBox="1"/>
          <p:nvPr/>
        </p:nvSpPr>
        <p:spPr>
          <a:xfrm>
            <a:off x="4283780" y="5977233"/>
            <a:ext cx="3128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Идем на </a:t>
            </a:r>
            <a:r>
              <a:rPr lang="ru-RU" dirty="0" err="1"/>
              <a:t>LearnGitBranching</a:t>
            </a:r>
            <a:endParaRPr lang="ru-RU" dirty="0"/>
          </a:p>
        </p:txBody>
      </p:sp>
      <p:pic>
        <p:nvPicPr>
          <p:cNvPr id="2050" name="Picture 2" descr="Добро пожаловать в LearnGitBranching!">
            <a:extLst>
              <a:ext uri="{FF2B5EF4-FFF2-40B4-BE49-F238E27FC236}">
                <a16:creationId xmlns:a16="http://schemas.microsoft.com/office/drawing/2014/main" id="{7EA6FC19-CA6C-4711-801A-FC951293B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481" y="511435"/>
            <a:ext cx="7997374" cy="5395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297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>
            <a:normAutofit/>
          </a:bodyPr>
          <a:lstStyle/>
          <a:p>
            <a:pPr algn="ctr"/>
            <a:r>
              <a:rPr sz="4800" dirty="0">
                <a:latin typeface="Times New Roman"/>
              </a:rPr>
              <a:t>Pull request и merge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89901" y="1937698"/>
            <a:ext cx="4416967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dirty="0">
                <a:latin typeface="Consolas"/>
              </a:rPr>
              <a:t>main   ---o---o------------o---&gt;</a:t>
            </a:r>
          </a:p>
          <a:p>
            <a:pPr>
              <a:spcAft>
                <a:spcPts val="200"/>
              </a:spcAft>
            </a:pPr>
            <a:r>
              <a:rPr sz="1600" dirty="0">
                <a:latin typeface="Consolas"/>
              </a:rPr>
              <a:t>         \                /</a:t>
            </a:r>
          </a:p>
          <a:p>
            <a:pPr>
              <a:spcAft>
                <a:spcPts val="200"/>
              </a:spcAft>
            </a:pPr>
            <a:r>
              <a:rPr sz="1600" dirty="0">
                <a:latin typeface="Consolas"/>
              </a:rPr>
              <a:t> feature  o---o---o---o--   &lt;-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4450" y="3332988"/>
            <a:ext cx="913444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Times New Roman"/>
              </a:rPr>
              <a:t>git switch -c feature/sort, </a:t>
            </a:r>
            <a:r>
              <a:rPr sz="2000" dirty="0" err="1">
                <a:latin typeface="Times New Roman"/>
              </a:rPr>
              <a:t>коммиты</a:t>
            </a:r>
            <a:r>
              <a:rPr sz="2000" dirty="0">
                <a:latin typeface="Times New Roman"/>
              </a:rPr>
              <a:t>, git push -u origin feature/sort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 err="1">
                <a:latin typeface="Times New Roman"/>
              </a:rPr>
              <a:t>на</a:t>
            </a:r>
            <a:r>
              <a:rPr sz="2000" dirty="0">
                <a:latin typeface="Times New Roman"/>
              </a:rPr>
              <a:t> GitHub: Compare &amp; pull request -&gt; </a:t>
            </a:r>
            <a:r>
              <a:rPr sz="2000" dirty="0" err="1">
                <a:latin typeface="Times New Roman"/>
              </a:rPr>
              <a:t>описание</a:t>
            </a:r>
            <a:r>
              <a:rPr sz="2000" dirty="0">
                <a:latin typeface="Times New Roman"/>
              </a:rPr>
              <a:t> -&gt; Create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 err="1">
                <a:latin typeface="Times New Roman"/>
              </a:rPr>
              <a:t>ревью</a:t>
            </a:r>
            <a:r>
              <a:rPr sz="2000" dirty="0">
                <a:latin typeface="Times New Roman"/>
              </a:rPr>
              <a:t> и </a:t>
            </a:r>
            <a:r>
              <a:rPr sz="2000" dirty="0" err="1">
                <a:latin typeface="Times New Roman"/>
              </a:rPr>
              <a:t>обсуждение</a:t>
            </a:r>
            <a:r>
              <a:rPr sz="2000" dirty="0">
                <a:latin typeface="Times New Roman"/>
              </a:rPr>
              <a:t>, </a:t>
            </a:r>
            <a:r>
              <a:rPr sz="2000" dirty="0" err="1">
                <a:latin typeface="Times New Roman"/>
              </a:rPr>
              <a:t>новые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коммиты</a:t>
            </a:r>
            <a:r>
              <a:rPr sz="2000" dirty="0">
                <a:latin typeface="Times New Roman"/>
              </a:rPr>
              <a:t> в </a:t>
            </a:r>
            <a:r>
              <a:rPr sz="2000" dirty="0" err="1">
                <a:latin typeface="Times New Roman"/>
              </a:rPr>
              <a:t>ту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же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ветку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попадут</a:t>
            </a:r>
            <a:r>
              <a:rPr sz="2000" dirty="0">
                <a:latin typeface="Times New Roman"/>
              </a:rPr>
              <a:t> в PR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>
                <a:latin typeface="Times New Roman"/>
              </a:rPr>
              <a:t>Merge pull request: merge commit, squash (</a:t>
            </a:r>
            <a:r>
              <a:rPr sz="2000" dirty="0" err="1">
                <a:latin typeface="Times New Roman"/>
              </a:rPr>
              <a:t>все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коммиты</a:t>
            </a:r>
            <a:r>
              <a:rPr sz="2000" dirty="0">
                <a:latin typeface="Times New Roman"/>
              </a:rPr>
              <a:t> в </a:t>
            </a:r>
            <a:r>
              <a:rPr sz="2000" dirty="0" err="1">
                <a:latin typeface="Times New Roman"/>
              </a:rPr>
              <a:t>один</a:t>
            </a:r>
            <a:r>
              <a:rPr sz="2000" dirty="0">
                <a:latin typeface="Times New Roman"/>
              </a:rPr>
              <a:t>) </a:t>
            </a:r>
            <a:r>
              <a:rPr sz="2000" dirty="0" err="1">
                <a:latin typeface="Times New Roman"/>
              </a:rPr>
              <a:t>или</a:t>
            </a:r>
            <a:r>
              <a:rPr sz="2000" dirty="0">
                <a:latin typeface="Times New Roman"/>
              </a:rPr>
              <a:t> rebase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dirty="0" err="1">
                <a:latin typeface="Times New Roman"/>
              </a:rPr>
              <a:t>потом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удалить</a:t>
            </a:r>
            <a:r>
              <a:rPr sz="2000" dirty="0">
                <a:latin typeface="Times New Roman"/>
              </a:rPr>
              <a:t> </a:t>
            </a:r>
            <a:r>
              <a:rPr sz="2000" dirty="0" err="1">
                <a:latin typeface="Times New Roman"/>
              </a:rPr>
              <a:t>ветку</a:t>
            </a:r>
            <a:r>
              <a:rPr sz="2000" dirty="0">
                <a:latin typeface="Times New Roman"/>
              </a:rPr>
              <a:t> и </a:t>
            </a:r>
            <a:r>
              <a:rPr sz="2000" dirty="0" err="1">
                <a:latin typeface="Times New Roman"/>
              </a:rPr>
              <a:t>сделать</a:t>
            </a:r>
            <a:r>
              <a:rPr sz="2000" dirty="0">
                <a:latin typeface="Times New Roman"/>
              </a:rPr>
              <a:t> git switch main + git pull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705" y="6196060"/>
            <a:ext cx="1088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>
                <a:latin typeface="Times New Roman"/>
              </a:rPr>
              <a:t>Fork и open source</a:t>
            </a:r>
            <a:r>
              <a:rPr lang="en-US" dirty="0">
                <a:latin typeface="Times New Roman"/>
              </a:rPr>
              <a:t>*</a:t>
            </a:r>
            <a:endParaRPr dirty="0">
              <a:latin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Отмена изменений</a:t>
            </a:r>
          </a:p>
        </p:txBody>
      </p:sp>
      <p:pic>
        <p:nvPicPr>
          <p:cNvPr id="16386" name="Picture 2" descr="alt text">
            <a:extLst>
              <a:ext uri="{FF2B5EF4-FFF2-40B4-BE49-F238E27FC236}">
                <a16:creationId xmlns:a16="http://schemas.microsoft.com/office/drawing/2014/main" id="{2261AE2E-DD63-4EA2-A38A-CFA231CAC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6305" y="1787343"/>
            <a:ext cx="2362200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02B005-0412-431C-B942-077FBCA78ED5}"/>
              </a:ext>
            </a:extLst>
          </p:cNvPr>
          <p:cNvSpPr txBox="1"/>
          <p:nvPr/>
        </p:nvSpPr>
        <p:spPr>
          <a:xfrm>
            <a:off x="8303968" y="1418011"/>
            <a:ext cx="2445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https://ohshitgit.com/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31582-ABF3-45D9-92DC-46FD2A1B0A3D}"/>
              </a:ext>
            </a:extLst>
          </p:cNvPr>
          <p:cNvSpPr txBox="1"/>
          <p:nvPr/>
        </p:nvSpPr>
        <p:spPr>
          <a:xfrm>
            <a:off x="2538376" y="1418011"/>
            <a:ext cx="462442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--amend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--amend -m "New commit message"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restore --staged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HEAD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revert HEAD #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revert *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commit_hash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--soft HEAD~1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--hard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Удаленный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1600" dirty="0">
                <a:latin typeface="Times New Roman"/>
              </a:rPr>
              <a:t>$ git push -f # </a:t>
            </a:r>
            <a:r>
              <a:rPr sz="1600" dirty="0" err="1">
                <a:latin typeface="Times New Roman"/>
              </a:rPr>
              <a:t>или</a:t>
            </a:r>
            <a:r>
              <a:rPr sz="1600" dirty="0">
                <a:latin typeface="Times New Roman"/>
              </a:rPr>
              <a:t> --force-with-lease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Последняя надежда: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reflog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63FA4-FB68-4859-9C1A-109BC2683BD2}"/>
              </a:ext>
            </a:extLst>
          </p:cNvPr>
          <p:cNvSpPr txBox="1"/>
          <p:nvPr/>
        </p:nvSpPr>
        <p:spPr>
          <a:xfrm>
            <a:off x="2538376" y="5564232"/>
            <a:ext cx="60949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 позволяющая слить к себе определённый коммит   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cherry-pick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*&lt;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commit_sha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&gt;* </a:t>
            </a:r>
          </a:p>
        </p:txBody>
      </p:sp>
    </p:spTree>
    <p:extLst>
      <p:ext uri="{BB962C8B-B14F-4D97-AF65-F5344CB8AC3E}">
        <p14:creationId xmlns:p14="http://schemas.microsoft.com/office/powerpoint/2010/main" val="4263133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Git version in binary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B3AD79-AE93-41C2-8089-A61CBD3FF639}"/>
              </a:ext>
            </a:extLst>
          </p:cNvPr>
          <p:cNvSpPr txBox="1"/>
          <p:nvPr/>
        </p:nvSpPr>
        <p:spPr>
          <a:xfrm>
            <a:off x="3283330" y="2933868"/>
            <a:ext cx="562533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rev-parse --abbrev-ref HEAD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log -1 --format=%h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log -1 --format=%cd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223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>
            <a:normAutofit/>
          </a:bodyPr>
          <a:lstStyle/>
          <a:p>
            <a:pPr algn="ctr"/>
            <a:r>
              <a:rPr sz="4800" dirty="0" err="1">
                <a:latin typeface="Times New Roman"/>
              </a:rPr>
              <a:t>Теги</a:t>
            </a:r>
            <a:r>
              <a:rPr sz="4800" dirty="0">
                <a:latin typeface="Times New Roman"/>
              </a:rPr>
              <a:t> и </a:t>
            </a:r>
            <a:r>
              <a:rPr sz="4800" dirty="0" err="1">
                <a:latin typeface="Times New Roman"/>
              </a:rPr>
              <a:t>semver</a:t>
            </a:r>
            <a:endParaRPr sz="4800" dirty="0">
              <a:latin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89417"/>
            <a:ext cx="6975817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tag v1.2.3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-a v1.2.3 -m "Релиз"</a:t>
            </a:r>
          </a:p>
          <a:p>
            <a:pPr>
              <a:spcAft>
                <a:spcPts val="600"/>
              </a:spcAft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push --tags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352063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3200" dirty="0" err="1">
                <a:latin typeface="Times New Roman"/>
              </a:rPr>
              <a:t>semver</a:t>
            </a:r>
            <a:r>
              <a:rPr sz="3200" dirty="0">
                <a:latin typeface="Times New Roman"/>
              </a:rPr>
              <a:t>: </a:t>
            </a:r>
            <a:r>
              <a:rPr sz="3200" dirty="0" err="1">
                <a:latin typeface="Times New Roman"/>
              </a:rPr>
              <a:t>major.minor.patch</a:t>
            </a:r>
            <a:endParaRPr sz="3200" dirty="0">
              <a:latin typeface="Times New Roman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3200" dirty="0">
                <a:latin typeface="Times New Roman"/>
              </a:rPr>
              <a:t>major - </a:t>
            </a:r>
            <a:r>
              <a:rPr sz="3200" dirty="0" err="1">
                <a:latin typeface="Times New Roman"/>
              </a:rPr>
              <a:t>сломали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совместимость</a:t>
            </a:r>
            <a:r>
              <a:rPr sz="3200" dirty="0">
                <a:latin typeface="Times New Roman"/>
              </a:rPr>
              <a:t>, minor - </a:t>
            </a:r>
            <a:r>
              <a:rPr sz="3200" dirty="0" err="1">
                <a:latin typeface="Times New Roman"/>
              </a:rPr>
              <a:t>фича</a:t>
            </a:r>
            <a:r>
              <a:rPr sz="3200" dirty="0">
                <a:latin typeface="Times New Roman"/>
              </a:rPr>
              <a:t>, patch - </a:t>
            </a:r>
            <a:r>
              <a:rPr sz="3200" dirty="0" err="1">
                <a:latin typeface="Times New Roman"/>
              </a:rPr>
              <a:t>баг</a:t>
            </a:r>
            <a:endParaRPr sz="3200" dirty="0">
              <a:latin typeface="Times New Roman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3200" dirty="0" err="1">
                <a:latin typeface="Times New Roman"/>
              </a:rPr>
              <a:t>на</a:t>
            </a:r>
            <a:r>
              <a:rPr sz="3200" dirty="0">
                <a:latin typeface="Times New Roman"/>
              </a:rPr>
              <a:t> GitHub </a:t>
            </a:r>
            <a:r>
              <a:rPr sz="3200" dirty="0" err="1">
                <a:latin typeface="Times New Roman"/>
              </a:rPr>
              <a:t>тег</a:t>
            </a:r>
            <a:r>
              <a:rPr sz="3200" dirty="0">
                <a:latin typeface="Times New Roman"/>
              </a:rPr>
              <a:t> </a:t>
            </a:r>
            <a:r>
              <a:rPr sz="3200" dirty="0" err="1">
                <a:latin typeface="Times New Roman"/>
              </a:rPr>
              <a:t>превращается</a:t>
            </a:r>
            <a:r>
              <a:rPr sz="3200" dirty="0">
                <a:latin typeface="Times New Roman"/>
              </a:rPr>
              <a:t> в Release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/>
              <a:t>Подмодули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2BA3C-44A8-4D0A-B4AE-D2F6CE33C765}"/>
              </a:ext>
            </a:extLst>
          </p:cNvPr>
          <p:cNvSpPr txBox="1"/>
          <p:nvPr/>
        </p:nvSpPr>
        <p:spPr>
          <a:xfrm>
            <a:off x="3047431" y="564036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https://git-scm.com/docs/git-submodule</a:t>
            </a:r>
            <a:endParaRPr lang="en-US" dirty="0"/>
          </a:p>
          <a:p>
            <a:r>
              <a:rPr lang="ru-RU" dirty="0"/>
              <a:t>https://git-scm.com/book/en/v2/Git-Tools-Submodules</a:t>
            </a:r>
          </a:p>
        </p:txBody>
      </p:sp>
      <p:pic>
        <p:nvPicPr>
          <p:cNvPr id="5122" name="Picture 2" descr="Git Submodule: Add, Remove, Uses &amp; More (With Examples) // Unstop">
            <a:extLst>
              <a:ext uri="{FF2B5EF4-FFF2-40B4-BE49-F238E27FC236}">
                <a16:creationId xmlns:a16="http://schemas.microsoft.com/office/drawing/2014/main" id="{6F889074-AEBE-47EB-A049-AAE975A3FD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03" r="13795"/>
          <a:stretch/>
        </p:blipFill>
        <p:spPr bwMode="auto">
          <a:xfrm>
            <a:off x="3211771" y="1442537"/>
            <a:ext cx="5537011" cy="3972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6198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Stash</a:t>
            </a:r>
            <a:r>
              <a:rPr lang="ru-RU" sz="5400" dirty="0"/>
              <a:t> (тайник)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3396-313F-4C63-93B9-8902F8514CAB}"/>
              </a:ext>
            </a:extLst>
          </p:cNvPr>
          <p:cNvSpPr txBox="1"/>
          <p:nvPr/>
        </p:nvSpPr>
        <p:spPr>
          <a:xfrm>
            <a:off x="4610098" y="2767280"/>
            <a:ext cx="29718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</a:t>
            </a:r>
          </a:p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 pop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368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>
            <a:normAutofit/>
          </a:bodyPr>
          <a:lstStyle/>
          <a:p>
            <a:pPr algn="ctr"/>
            <a:r>
              <a:rPr lang="ru-RU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Дополнительно про </a:t>
            </a:r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endParaRPr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9567" y="1701232"/>
            <a:ext cx="11180388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3600" dirty="0">
                <a:latin typeface="Times New Roman"/>
              </a:rPr>
              <a:t>open source: fork + PR, </a:t>
            </a:r>
            <a:r>
              <a:rPr lang="ru-RU" sz="3600" dirty="0">
                <a:latin typeface="Times New Roman"/>
              </a:rPr>
              <a:t>различные </a:t>
            </a:r>
            <a:r>
              <a:rPr lang="en-US" sz="3600" dirty="0">
                <a:latin typeface="Times New Roman"/>
              </a:rPr>
              <a:t>issues (</a:t>
            </a:r>
            <a:r>
              <a:rPr lang="ru-RU" sz="3600" dirty="0">
                <a:latin typeface="Times New Roman"/>
              </a:rPr>
              <a:t>задачи)</a:t>
            </a:r>
            <a:endParaRPr sz="3600" dirty="0">
              <a:latin typeface="Times New Roman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3600" dirty="0" err="1">
                <a:latin typeface="Times New Roman"/>
              </a:rPr>
              <a:t>большие</a:t>
            </a:r>
            <a:r>
              <a:rPr sz="3600" dirty="0">
                <a:latin typeface="Times New Roman"/>
              </a:rPr>
              <a:t> </a:t>
            </a:r>
            <a:r>
              <a:rPr sz="3600" dirty="0" err="1">
                <a:latin typeface="Times New Roman"/>
              </a:rPr>
              <a:t>файлы</a:t>
            </a:r>
            <a:r>
              <a:rPr sz="3600" dirty="0">
                <a:latin typeface="Times New Roman"/>
              </a:rPr>
              <a:t> и </a:t>
            </a:r>
            <a:r>
              <a:rPr sz="3600" dirty="0" err="1">
                <a:latin typeface="Times New Roman"/>
              </a:rPr>
              <a:t>модели</a:t>
            </a:r>
            <a:r>
              <a:rPr sz="3600" dirty="0">
                <a:latin typeface="Times New Roman"/>
              </a:rPr>
              <a:t> - git-</a:t>
            </a:r>
            <a:r>
              <a:rPr sz="3600" dirty="0" err="1">
                <a:latin typeface="Times New Roman"/>
              </a:rPr>
              <a:t>lfs</a:t>
            </a:r>
            <a:r>
              <a:rPr sz="3600" dirty="0">
                <a:latin typeface="Times New Roman"/>
              </a:rPr>
              <a:t> (Large File Storage)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3600" dirty="0">
                <a:latin typeface="Times New Roman"/>
              </a:rPr>
              <a:t>в git </a:t>
            </a:r>
            <a:r>
              <a:rPr sz="3600" dirty="0" err="1">
                <a:latin typeface="Times New Roman"/>
              </a:rPr>
              <a:t>лежат</a:t>
            </a:r>
            <a:r>
              <a:rPr sz="3600" dirty="0">
                <a:latin typeface="Times New Roman"/>
              </a:rPr>
              <a:t> </a:t>
            </a:r>
            <a:r>
              <a:rPr sz="3600" dirty="0" err="1">
                <a:latin typeface="Times New Roman"/>
              </a:rPr>
              <a:t>конфиги</a:t>
            </a:r>
            <a:r>
              <a:rPr sz="3600" dirty="0">
                <a:latin typeface="Times New Roman"/>
              </a:rPr>
              <a:t>, </a:t>
            </a:r>
            <a:r>
              <a:rPr sz="3600" dirty="0" err="1">
                <a:latin typeface="Times New Roman"/>
              </a:rPr>
              <a:t>документация</a:t>
            </a:r>
            <a:r>
              <a:rPr sz="3600" dirty="0">
                <a:latin typeface="Times New Roman"/>
              </a:rPr>
              <a:t>, </a:t>
            </a:r>
            <a:r>
              <a:rPr sz="3600" dirty="0" err="1">
                <a:latin typeface="Times New Roman"/>
              </a:rPr>
              <a:t>эта</a:t>
            </a:r>
            <a:r>
              <a:rPr sz="3600" dirty="0">
                <a:latin typeface="Times New Roman"/>
              </a:rPr>
              <a:t> </a:t>
            </a:r>
            <a:r>
              <a:rPr sz="3600" dirty="0" err="1">
                <a:latin typeface="Times New Roman"/>
              </a:rPr>
              <a:t>лекция</a:t>
            </a:r>
            <a:r>
              <a:rPr sz="3600" dirty="0">
                <a:latin typeface="Times New Roman"/>
              </a:rPr>
              <a:t> и </a:t>
            </a:r>
            <a:r>
              <a:rPr lang="ru-RU" sz="3600" dirty="0">
                <a:latin typeface="Times New Roman"/>
              </a:rPr>
              <a:t>примеры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3600" dirty="0" err="1">
                <a:latin typeface="Times New Roman"/>
              </a:rPr>
              <a:t>монорепозитории</a:t>
            </a:r>
            <a:r>
              <a:rPr lang="ru-RU" sz="3600" dirty="0">
                <a:latin typeface="Times New Roman"/>
              </a:rPr>
              <a:t>: Google и </a:t>
            </a:r>
            <a:r>
              <a:rPr lang="ru-RU" sz="3600" dirty="0" err="1">
                <a:latin typeface="Times New Roman"/>
              </a:rPr>
              <a:t>Meta</a:t>
            </a:r>
            <a:r>
              <a:rPr lang="ru-RU" sz="3600" dirty="0">
                <a:latin typeface="Times New Roman"/>
              </a:rPr>
              <a:t> держат весь код в одном </a:t>
            </a:r>
            <a:r>
              <a:rPr lang="ru-RU" sz="3600" dirty="0" err="1">
                <a:latin typeface="Times New Roman"/>
              </a:rPr>
              <a:t>репо</a:t>
            </a:r>
            <a:endParaRPr lang="ru-RU" sz="3600" dirty="0">
              <a:latin typeface="Times New Roman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sz="3600" dirty="0">
              <a:latin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DA6C4BD-33CA-49A5-A770-EC2CB3909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60888"/>
              </p:ext>
            </p:extLst>
          </p:nvPr>
        </p:nvGraphicFramePr>
        <p:xfrm>
          <a:off x="3648807" y="1137877"/>
          <a:ext cx="4894385" cy="4582245"/>
        </p:xfrm>
        <a:graphic>
          <a:graphicData uri="http://schemas.openxmlformats.org/drawingml/2006/table">
            <a:tbl>
              <a:tblPr/>
              <a:tblGrid>
                <a:gridCol w="4894385">
                  <a:extLst>
                    <a:ext uri="{9D8B030D-6E8A-4147-A177-3AD203B41FA5}">
                      <a16:colId xmlns:a16="http://schemas.microsoft.com/office/drawing/2014/main" val="1825957959"/>
                    </a:ext>
                  </a:extLst>
                </a:gridCol>
              </a:tblGrid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Чем </a:t>
                      </a:r>
                      <a:r>
                        <a:rPr lang="ru-RU" sz="24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fetch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отличается от </a:t>
                      </a:r>
                      <a:r>
                        <a:rPr lang="ru-RU" sz="24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pull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069550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rebase vs merge?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943698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Что такое 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detached HEAD?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854363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Как отменить запушенный коммит?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196747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Зачем 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 stash?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8507804"/>
                  </a:ext>
                </a:extLst>
              </a:tr>
              <a:tr h="615189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Что лежит внутри коммита?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9297401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Что такое 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fast-forward?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812155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Как выйти из конфликта?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4487138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Зачем 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reflog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699"/>
                  </a:ext>
                </a:extLst>
              </a:tr>
              <a:tr h="255078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Почему .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gitignore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работает?</a:t>
                      </a:r>
                    </a:p>
                  </a:txBody>
                  <a:tcPr marL="81275" marR="81275" marT="37512" marB="37512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97118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GitLens Tutorial: How to use the VS Code Extension">
            <a:extLst>
              <a:ext uri="{FF2B5EF4-FFF2-40B4-BE49-F238E27FC236}">
                <a16:creationId xmlns:a16="http://schemas.microsoft.com/office/drawing/2014/main" id="{6F83F53E-0BA0-4C19-BBD0-E48C4088DF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" t="13806" r="896"/>
          <a:stretch/>
        </p:blipFill>
        <p:spPr bwMode="auto">
          <a:xfrm>
            <a:off x="2486872" y="891951"/>
            <a:ext cx="8169405" cy="543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3025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 err="1"/>
              <a:t>VSCode</a:t>
            </a:r>
            <a:r>
              <a:rPr lang="en-US" sz="5400" dirty="0"/>
              <a:t> </a:t>
            </a:r>
            <a:r>
              <a:rPr lang="ru-RU" sz="5400" dirty="0"/>
              <a:t>в </a:t>
            </a:r>
            <a:r>
              <a:rPr lang="en-US" sz="5400" dirty="0"/>
              <a:t>Github.com</a:t>
            </a:r>
            <a:endParaRPr lang="ru-RU" sz="5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7252D-4C0C-45ED-BE7D-7DC2556B3EB0}"/>
              </a:ext>
            </a:extLst>
          </p:cNvPr>
          <p:cNvSpPr txBox="1"/>
          <p:nvPr/>
        </p:nvSpPr>
        <p:spPr>
          <a:xfrm>
            <a:off x="2696021" y="2879018"/>
            <a:ext cx="679995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Откройте свой репозиторий, например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https://github.dev/kruffka/C-Programming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вместо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введите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724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Gitlab</a:t>
            </a:r>
            <a:endParaRPr lang="ru-RU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997BA0-B876-44D1-8F6C-5015603614CE}"/>
              </a:ext>
            </a:extLst>
          </p:cNvPr>
          <p:cNvSpPr txBox="1"/>
          <p:nvPr/>
        </p:nvSpPr>
        <p:spPr>
          <a:xfrm>
            <a:off x="1022443" y="3059668"/>
            <a:ext cx="101471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теперь рассмотрим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красивые графы коммитов из реальных проектов.. </a:t>
            </a:r>
          </a:p>
        </p:txBody>
      </p:sp>
    </p:spTree>
    <p:extLst>
      <p:ext uri="{BB962C8B-B14F-4D97-AF65-F5344CB8AC3E}">
        <p14:creationId xmlns:p14="http://schemas.microsoft.com/office/powerpoint/2010/main" val="26637945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2777152" y="1689275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8406" y="2240060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2969</TotalTime>
  <Words>2258</Words>
  <Application>Microsoft Office PowerPoint</Application>
  <PresentationFormat>Широкоэкранный</PresentationFormat>
  <Paragraphs>288</Paragraphs>
  <Slides>37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-apple-system</vt:lpstr>
      <vt:lpstr>Arial</vt:lpstr>
      <vt:lpstr>Calibri</vt:lpstr>
      <vt:lpstr>Calibri Light</vt:lpstr>
      <vt:lpstr>Consolas</vt:lpstr>
      <vt:lpstr>Helvetica Neue</vt:lpstr>
      <vt:lpstr>Times New Roman</vt:lpstr>
      <vt:lpstr>Office Theme</vt:lpstr>
      <vt:lpstr>Programming 9_git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Что внутри .git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Сообщения коммитов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Pull request и merge request</vt:lpstr>
      <vt:lpstr>Презентация PowerPoint</vt:lpstr>
      <vt:lpstr>Презентация PowerPoint</vt:lpstr>
      <vt:lpstr>Теги и semver</vt:lpstr>
      <vt:lpstr>Презентация PowerPoint</vt:lpstr>
      <vt:lpstr>Презентация PowerPoint</vt:lpstr>
      <vt:lpstr>Дополнительно про Git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1019</cp:revision>
  <dcterms:created xsi:type="dcterms:W3CDTF">2019-12-17T14:15:21Z</dcterms:created>
  <dcterms:modified xsi:type="dcterms:W3CDTF">2026-10-27T18:49:52Z</dcterms:modified>
</cp:coreProperties>
</file>