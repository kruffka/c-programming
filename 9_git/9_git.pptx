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sldIdLst>
    <p:sldId id="256" r:id="rId2"/>
    <p:sldId id="344" r:id="rId3"/>
    <p:sldId id="345" r:id="rId4"/>
    <p:sldId id="346" r:id="rId5"/>
    <p:sldId id="351" r:id="rId6"/>
    <p:sldId id="352" r:id="rId7"/>
    <p:sldId id="353" r:id="rId8"/>
    <p:sldId id="347" r:id="rId9"/>
    <p:sldId id="348" r:id="rId10"/>
    <p:sldId id="349" r:id="rId11"/>
    <p:sldId id="354" r:id="rId12"/>
    <p:sldId id="373" r:id="rId13"/>
    <p:sldId id="355" r:id="rId14"/>
    <p:sldId id="356" r:id="rId15"/>
    <p:sldId id="357" r:id="rId16"/>
    <p:sldId id="372" r:id="rId17"/>
    <p:sldId id="375" r:id="rId18"/>
    <p:sldId id="350" r:id="rId19"/>
    <p:sldId id="358" r:id="rId20"/>
    <p:sldId id="376" r:id="rId21"/>
    <p:sldId id="360" r:id="rId22"/>
    <p:sldId id="362" r:id="rId23"/>
    <p:sldId id="363" r:id="rId24"/>
    <p:sldId id="361" r:id="rId25"/>
    <p:sldId id="364" r:id="rId26"/>
    <p:sldId id="365" r:id="rId27"/>
    <p:sldId id="359" r:id="rId28"/>
    <p:sldId id="374" r:id="rId29"/>
    <p:sldId id="366" r:id="rId30"/>
    <p:sldId id="370" r:id="rId31"/>
    <p:sldId id="371" r:id="rId32"/>
    <p:sldId id="368" r:id="rId33"/>
    <p:sldId id="367" r:id="rId34"/>
    <p:sldId id="369" r:id="rId35"/>
    <p:sldId id="290" r:id="rId3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0" autoAdjust="0"/>
  </p:normalViewPr>
  <p:slideViewPr>
    <p:cSldViewPr snapToGrid="0">
      <p:cViewPr varScale="1">
        <p:scale>
          <a:sx n="152" d="100"/>
          <a:sy n="152" d="100"/>
        </p:scale>
        <p:origin x="2844" y="15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950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2151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54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8011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796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55210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40340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0331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33179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3807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88583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28457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63867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4736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29687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1523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12548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34090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0401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14985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52170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12427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684958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4382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69379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871189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937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00410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71267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ru/v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gif"/><Relationship Id="rId5" Type="http://schemas.openxmlformats.org/officeDocument/2006/relationships/hyperlink" Target="https://docs.github.com/ru" TargetMode="External"/><Relationship Id="rId4" Type="http://schemas.openxmlformats.org/officeDocument/2006/relationships/hyperlink" Target="https://git-scm.com/doc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ru/v2/%d0%92%d0%b2%d0%b5%d0%b4%d0%b5%d0%bd%d0%b8%d0%b5-%d0%a3%d1%81%d1%82%d0%b0%d0%bd%d0%be%d0%b2%d0%ba%d0%b0-Gi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ru/v2/%d0%9e%d1%81%d0%bd%d0%be%d0%b2%d1%8b-Git-%d0%a0%d0%b0%d0%b1%d0%be%d1%82%d0%b0-%d1%81-%d1%83%d0%b4%d0%b0%d0%bb%d1%91%d0%bd%d0%bd%d1%8b%d0%bc%d0%b8-%d1%80%d0%b5%d0%bf%d0%be%d0%b7%d0%b8%d1%82%d0%be%d1%80%d0%b8%d1%8f%d0%bc%d0%b8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en/v2/Git-Branching-Branches-in-a-Nutshel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-scm.com/book/en/v2/Git-Branching-Basic-Branching-and-Merging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cs/git-merge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hyperlink" Target="https://git-scm.com/book/ru/v2/%D0%92%D0%B5%D1%82%D0%B2%D0%BB%D0%B5%D0%BD%D0%B8%D0%B5-%D0%B2-Git-%D0%9F%D0%B5%D1%80%D0%B5%D0%B1%D0%B0%D0%B7%D0%B8%D1%80%D0%BE%D0%B2%D0%B0%D0%BD%D0%B8%D0%B5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cs/git-submodul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/>
              <a:t>Programming</a:t>
            </a:r>
            <a:br>
              <a:rPr lang="en-US" dirty="0"/>
            </a:br>
            <a:r>
              <a:rPr lang="en-US" sz="3200" dirty="0"/>
              <a:t>9_git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18B82ED-B5E3-42D5-BEF5-4263B11DEB0C}"/>
              </a:ext>
            </a:extLst>
          </p:cNvPr>
          <p:cNvSpPr txBox="1"/>
          <p:nvPr/>
        </p:nvSpPr>
        <p:spPr>
          <a:xfrm>
            <a:off x="642121" y="2828835"/>
            <a:ext cx="34019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0" i="0" u="sng" dirty="0">
                <a:effectLst/>
                <a:latin typeface="-apple-system"/>
                <a:hlinkClick r:id="rId3"/>
              </a:rPr>
              <a:t>Книга Pro </a:t>
            </a:r>
            <a:r>
              <a:rPr lang="ru-RU" sz="2400" b="0" i="0" u="sng" dirty="0" err="1">
                <a:effectLst/>
                <a:latin typeface="-apple-system"/>
                <a:hlinkClick r:id="rId3"/>
              </a:rPr>
              <a:t>Git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0" i="0" u="sng" dirty="0">
                <a:effectLst/>
                <a:latin typeface="-apple-system"/>
                <a:hlinkClick r:id="rId4"/>
              </a:rPr>
              <a:t>Документация </a:t>
            </a:r>
            <a:r>
              <a:rPr lang="ru-RU" sz="2400" b="0" i="0" u="sng" dirty="0" err="1">
                <a:effectLst/>
                <a:latin typeface="-apple-system"/>
                <a:hlinkClick r:id="rId4"/>
              </a:rPr>
              <a:t>Git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b="0" i="0" u="sng" dirty="0">
                <a:effectLst/>
                <a:latin typeface="-apple-system"/>
                <a:hlinkClick r:id="rId5"/>
              </a:rPr>
              <a:t>Документация </a:t>
            </a:r>
            <a:r>
              <a:rPr lang="ru-RU" sz="2400" b="0" i="0" u="sng" dirty="0" err="1">
                <a:effectLst/>
                <a:latin typeface="-apple-system"/>
                <a:hlinkClick r:id="rId5"/>
              </a:rPr>
              <a:t>GitHub</a:t>
            </a:r>
            <a:endParaRPr lang="ru-RU" sz="2400" dirty="0"/>
          </a:p>
        </p:txBody>
      </p:sp>
      <p:pic>
        <p:nvPicPr>
          <p:cNvPr id="1028" name="Picture 4" descr="How we built the GitHub globe - The GitHub Blog">
            <a:extLst>
              <a:ext uri="{FF2B5EF4-FFF2-40B4-BE49-F238E27FC236}">
                <a16:creationId xmlns:a16="http://schemas.microsoft.com/office/drawing/2014/main" id="{B5C685B8-CC02-4551-89A5-F8DA604A6914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6220" y="1065749"/>
            <a:ext cx="7313659" cy="4571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8170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Кто такой </a:t>
            </a:r>
            <a:r>
              <a:rPr lang="en-US" dirty="0"/>
              <a:t>Git?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5386DA-4F0A-4261-B618-627E75EBD7AB}"/>
              </a:ext>
            </a:extLst>
          </p:cNvPr>
          <p:cNvSpPr txBox="1"/>
          <p:nvPr/>
        </p:nvSpPr>
        <p:spPr>
          <a:xfrm>
            <a:off x="1013196" y="1326742"/>
            <a:ext cx="1016560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(произносится "гит") - распределённая система управления версиями. Проект был создан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Линусом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Торвальдсом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управления разработкой ядра Linux, первая версия выпущена 7 апреля 2005 года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Простыми словами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это такая программа, которая позволяет просматривать историю изменений файлов с кодом, а также хранить эти самые файлы с кодом таким образом, что мы можем в любой момент откатиться до нужной версии. 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сегодня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самый популярный инструмент для хранения и управления версиями кода. Есть у него и аналоги, но на них мы даже и не будем тратить время, т.к. в какую компанию вы бы не пришли в 99% случаев будет использоваться система контроля версий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не зависимости от используемого языка программирования</a:t>
            </a:r>
          </a:p>
        </p:txBody>
      </p:sp>
      <p:pic>
        <p:nvPicPr>
          <p:cNvPr id="2050" name="Picture 2" descr="alt text">
            <a:extLst>
              <a:ext uri="{FF2B5EF4-FFF2-40B4-BE49-F238E27FC236}">
                <a16:creationId xmlns:a16="http://schemas.microsoft.com/office/drawing/2014/main" id="{E7B4806A-5998-4C7C-BDF9-836C694456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5574" y="5605891"/>
            <a:ext cx="2996426" cy="1252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EECFCD9-CD77-42BB-9D87-9CE522FA1F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127" y="4295765"/>
            <a:ext cx="1612873" cy="1460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352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262542FD-4C01-46F6-A422-976B46BC13D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015" t="4933" r="-8298" b="-4933"/>
          <a:stretch/>
        </p:blipFill>
        <p:spPr bwMode="auto">
          <a:xfrm>
            <a:off x="2248224" y="2334380"/>
            <a:ext cx="7695549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97102" y="5053341"/>
            <a:ext cx="91802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Отслеживать изменения, например: создали файл, добавили в него код, удалили из него код и т.д.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0472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15121" y="5040729"/>
            <a:ext cx="9761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откатиться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revert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к последней работающей версии если что-то пошло не так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25BFE6B-0B48-4A18-8F1C-D421C3A3A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9525" y="2214562"/>
            <a:ext cx="4552950" cy="242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2113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15121" y="5147249"/>
            <a:ext cx="97617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Протестировать изменения в коде не изменяя работающий оригинал. Создаем мини копию с оригиналом, модифицируем ее как хотим,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тестим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 полной и если ничего не отвалилось сливаем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мержим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соединяем) в оригинал</a:t>
            </a: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1AF767F7-42FF-4885-8A2C-8195041AB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4388" y="1900615"/>
            <a:ext cx="3266615" cy="3056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>
            <a:extLst>
              <a:ext uri="{FF2B5EF4-FFF2-40B4-BE49-F238E27FC236}">
                <a16:creationId xmlns:a16="http://schemas.microsoft.com/office/drawing/2014/main" id="{614F62BE-AF19-4841-A06A-CE1D84EFB4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4215" y="1875338"/>
            <a:ext cx="5276408" cy="3086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623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Что можно делать в </a:t>
            </a:r>
            <a:r>
              <a:rPr lang="en-US" dirty="0"/>
              <a:t>Git</a:t>
            </a:r>
            <a:r>
              <a:rPr lang="ru-RU" dirty="0"/>
              <a:t>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7C117B-E4DA-4DA3-84E1-AAB521F8C193}"/>
              </a:ext>
            </a:extLst>
          </p:cNvPr>
          <p:cNvSpPr txBox="1"/>
          <p:nvPr/>
        </p:nvSpPr>
        <p:spPr>
          <a:xfrm>
            <a:off x="1215121" y="5147249"/>
            <a:ext cx="97617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Синхронизировать изменения между разными людьми или устройствами, где последняя актуальная версия кода с его историей хранится на некотором сервере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BF70B4E-D5B2-4303-B2BD-D6775FD4A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0" y="1828800"/>
            <a:ext cx="51816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13007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err="1"/>
              <a:t>Git</a:t>
            </a:r>
            <a:r>
              <a:rPr lang="ru-RU" dirty="0"/>
              <a:t> не следует путать с </a:t>
            </a:r>
            <a:r>
              <a:rPr lang="ru-RU" dirty="0" err="1"/>
              <a:t>GitHub</a:t>
            </a:r>
            <a:r>
              <a:rPr lang="ru-RU" dirty="0"/>
              <a:t> и прочими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A1B486-FDF7-4A22-984B-E24451CCC98C}"/>
              </a:ext>
            </a:extLst>
          </p:cNvPr>
          <p:cNvSpPr txBox="1"/>
          <p:nvPr/>
        </p:nvSpPr>
        <p:spPr>
          <a:xfrm>
            <a:off x="1078361" y="1629483"/>
            <a:ext cx="885391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это инструмент, позволяющий реализовать распределённую систему контроля версий.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крупнейший веб-сервис для хостинга IT-проектов и их совместной разработки. Веб-сервис основан на системе контроля версий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-репозиторий, загруженный на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доступен с помощью разных интерфейсов (командная строка,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пр. графические интерфейсы).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Кроме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есть другие сервисы, которые используют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- например,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Bitbucket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Gitlab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некоторые другие. Каждый из них под капотом содержит систему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но отличаются они все веб интерфейсами, а также каждый из них привносит свои фичи при работе с проектами.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Мы будем работать именно с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т.к. это доступный для всех начинающих и опытных разработчиков сервис (ну и конечно один из самых популярных).</a:t>
            </a:r>
          </a:p>
        </p:txBody>
      </p:sp>
      <p:pic>
        <p:nvPicPr>
          <p:cNvPr id="4100" name="Picture 4" descr="Day 15: Introduction to Git and Github. Git commands in brief with simple  example. | Naga Priyanka Kanna">
            <a:extLst>
              <a:ext uri="{FF2B5EF4-FFF2-40B4-BE49-F238E27FC236}">
                <a16:creationId xmlns:a16="http://schemas.microsoft.com/office/drawing/2014/main" id="{43D7BCF1-AA5F-429D-A0F6-C15C9CB21C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2277" y="1816188"/>
            <a:ext cx="1627000" cy="1203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Как пользоваться GitLab">
            <a:extLst>
              <a:ext uri="{FF2B5EF4-FFF2-40B4-BE49-F238E27FC236}">
                <a16:creationId xmlns:a16="http://schemas.microsoft.com/office/drawing/2014/main" id="{668B3785-7936-4C6C-B0EE-2F8B79426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2276" y="4136872"/>
            <a:ext cx="1851376" cy="638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CDBB2390-2750-4EA2-B847-2AC81A678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0196" y="5015958"/>
            <a:ext cx="2380693" cy="343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156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34365D-16B1-4F23-AFA9-2597FFD6680A}"/>
              </a:ext>
            </a:extLst>
          </p:cNvPr>
          <p:cNvSpPr txBox="1"/>
          <p:nvPr/>
        </p:nvSpPr>
        <p:spPr>
          <a:xfrm>
            <a:off x="1133140" y="1366660"/>
            <a:ext cx="1000992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u="sng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Для использования </a:t>
            </a:r>
            <a:r>
              <a:rPr lang="ru-RU" b="0" i="0" u="sng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git</a:t>
            </a:r>
            <a:r>
              <a:rPr lang="ru-RU" b="0" i="0" u="sng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 нам необходимо установить его</a:t>
            </a:r>
            <a:endParaRPr lang="en-US" b="0" i="0" u="sng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также завести аккаунт на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(github.com)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при регистрации возникают проблемы, то стоит попробовать указать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gmail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почту.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если работаете из консоли - залогиниться: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--global user.name "User Name"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--global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user.email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username@example.com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299051-CBFD-42DB-9B11-FCB788E32822}"/>
              </a:ext>
            </a:extLst>
          </p:cNvPr>
          <p:cNvSpPr txBox="1"/>
          <p:nvPr/>
        </p:nvSpPr>
        <p:spPr>
          <a:xfrm>
            <a:off x="1133139" y="4198678"/>
            <a:ext cx="1060901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утилита и она принимает множество различных флагов на вход, чтобы вспомнить можно воспользоваться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help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просмотра возможностей, например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help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--help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FF7FDB-3C3A-438D-AB20-35CC3637E6FA}"/>
              </a:ext>
            </a:extLst>
          </p:cNvPr>
          <p:cNvSpPr txBox="1"/>
          <p:nvPr/>
        </p:nvSpPr>
        <p:spPr>
          <a:xfrm>
            <a:off x="1133139" y="5670873"/>
            <a:ext cx="6854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дополнительно помощник с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расширение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GitLens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97536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Создание Репозитория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2B8FC4-FE10-489B-B81D-B567D23C5121}"/>
              </a:ext>
            </a:extLst>
          </p:cNvPr>
          <p:cNvSpPr txBox="1"/>
          <p:nvPr/>
        </p:nvSpPr>
        <p:spPr>
          <a:xfrm>
            <a:off x="779866" y="1476948"/>
            <a:ext cx="1063226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Репозито́рий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(от англ.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хранилище) - место, где хранятся и поддерживаются какие-либо данные. Иногда можно встретить сокращенно "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". А еще иногда можно услышать "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репозитАрий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Простыми словами это подобно папке с проектом, хранящей не только файлы, но и их историю изменений.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Заходим в github.com,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логинимся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далее вспоминаем как это показывали на лекции, либо гуглим, либо читаем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создание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проект пустой, то необходимо инициализировать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командой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init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Команды по инициализации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обычно показываются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когда заходим в наш пустой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8991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Запись изменений в репозиторий (Коммит)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EDD2D-01FE-45EE-B764-0073116FA66A}"/>
              </a:ext>
            </a:extLst>
          </p:cNvPr>
          <p:cNvSpPr txBox="1"/>
          <p:nvPr/>
        </p:nvSpPr>
        <p:spPr>
          <a:xfrm>
            <a:off x="1589164" y="4433262"/>
            <a:ext cx="75532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178CC319-B4BC-4E41-B680-4A5638234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3573" y="1960705"/>
            <a:ext cx="7390875" cy="325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DB3480-138E-49B0-B51F-546F5D820326}"/>
              </a:ext>
            </a:extLst>
          </p:cNvPr>
          <p:cNvSpPr txBox="1"/>
          <p:nvPr/>
        </p:nvSpPr>
        <p:spPr>
          <a:xfrm>
            <a:off x="1870969" y="5780177"/>
            <a:ext cx="80360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https://git-scm.com/book/en/v2/Git-Basics-Recording-Changes-to-the-Repository</a:t>
            </a:r>
          </a:p>
        </p:txBody>
      </p:sp>
    </p:spTree>
    <p:extLst>
      <p:ext uri="{BB962C8B-B14F-4D97-AF65-F5344CB8AC3E}">
        <p14:creationId xmlns:p14="http://schemas.microsoft.com/office/powerpoint/2010/main" val="4186903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856" y="292608"/>
            <a:ext cx="9921240" cy="923544"/>
          </a:xfrm>
        </p:spPr>
        <p:txBody>
          <a:bodyPr/>
          <a:lstStyle/>
          <a:p>
            <a:r>
              <a:rPr sz="3200" b="1">
                <a:latin typeface="Times New Roman"/>
              </a:rPr>
              <a:t>Три области Git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latin typeface="Consolas"/>
              </a:rPr>
              <a:t>  рабочий каталог          индекс (stage)          репозиторий</a:t>
            </a:r>
          </a:p>
          <a:p>
            <a:pPr>
              <a:spcAft>
                <a:spcPts val="400"/>
              </a:spcAft>
            </a:pPr>
            <a:r>
              <a:rPr sz="1500">
                <a:latin typeface="Consolas"/>
              </a:rPr>
              <a:t>    hello.c --git add--&gt;   hello.c --git commit--&gt;  коммит a1b2c3d</a:t>
            </a:r>
          </a:p>
          <a:p>
            <a:pPr>
              <a:spcAft>
                <a:spcPts val="400"/>
              </a:spcAft>
            </a:pPr>
            <a:r>
              <a:rPr sz="1500">
                <a:latin typeface="Consolas"/>
              </a:rPr>
              <a:t>            &lt;--git restore --staged--   &lt;--git reset --soft--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789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latin typeface="Times New Roman"/>
              </a:rPr>
              <a:t>- untracked / modified - рабочая копия, Git изменения еще не запомнил</a:t>
            </a:r>
          </a:p>
          <a:p>
            <a:pPr>
              <a:spcAft>
                <a:spcPts val="800"/>
              </a:spcAft>
            </a:pPr>
            <a:r>
              <a:rPr sz="2000">
                <a:latin typeface="Times New Roman"/>
              </a:rPr>
              <a:t>- staged - то, что уйдет в следующий коммит (git add)</a:t>
            </a:r>
          </a:p>
          <a:p>
            <a:pPr>
              <a:spcAft>
                <a:spcPts val="800"/>
              </a:spcAft>
            </a:pPr>
            <a:r>
              <a:rPr sz="2000">
                <a:latin typeface="Times New Roman"/>
              </a:rPr>
              <a:t>- committed - история проекта; git push отправляет коммиты на сервер</a:t>
            </a:r>
          </a:p>
          <a:p>
            <a:pPr>
              <a:spcAft>
                <a:spcPts val="800"/>
              </a:spcAft>
            </a:pPr>
            <a:endParaRPr sz="2000">
              <a:latin typeface="Times New Roman"/>
            </a:endParaRPr>
          </a:p>
          <a:p>
            <a:pPr>
              <a:spcAft>
                <a:spcPts val="800"/>
              </a:spcAft>
            </a:pPr>
            <a:r>
              <a:rPr sz="2000">
                <a:latin typeface="Times New Roman"/>
              </a:rPr>
              <a:t>git status показывает, что где лежит, git diff - что именно поменялось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Изменение файлов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ACBCB4-030D-43CB-893B-5B2267A067FA}"/>
              </a:ext>
            </a:extLst>
          </p:cNvPr>
          <p:cNvSpPr txBox="1"/>
          <p:nvPr/>
        </p:nvSpPr>
        <p:spPr>
          <a:xfrm>
            <a:off x="1133141" y="1272197"/>
            <a:ext cx="10136051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Определить состояние файлов можно командой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status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 вкладке Source Control все что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Changes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измененные, а конкретнее по букве напротив файла M =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modified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U -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untracked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изменении отслеживаемого файла - он переходит в состоянии измененный и все эти изменения можно увидеть через команду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diff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 вкладке Source Control открыв нужный файл</a:t>
            </a:r>
          </a:p>
          <a:p>
            <a:r>
              <a:rPr lang="ru-RU" dirty="0">
                <a:solidFill>
                  <a:schemeClr val="accent6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"+" и/или зеленый цвет == Добавлено новое</a:t>
            </a:r>
          </a:p>
          <a:p>
            <a:r>
              <a:rPr lang="ru-RU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"-" и/или красный цвет == Удалено старое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Следующий этап после модификации файлов - фиксация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индексация) их изменений, делается с помощью команды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$ git add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сделать это можно в Source Control выделив нужные файлы -&gt; нажать ПКМ -&gt;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Stage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Changes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0188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.</a:t>
            </a:r>
            <a:r>
              <a:rPr lang="en-US" dirty="0" err="1"/>
              <a:t>gitignore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01BD1F-82E7-475C-AF56-5D681B8A534B}"/>
              </a:ext>
            </a:extLst>
          </p:cNvPr>
          <p:cNvSpPr txBox="1"/>
          <p:nvPr/>
        </p:nvSpPr>
        <p:spPr>
          <a:xfrm>
            <a:off x="1133141" y="2136338"/>
            <a:ext cx="1031262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Часто можно встретить в корне проекта файл .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gitignore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В нем прописываются пути и файлы, состояния которых полностью игнорируются (работает только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неотслеживаемых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файлов).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Примеры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cat .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gitignore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foo/*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build/*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9285DE-BCFA-4D4D-A94F-438A536611A0}"/>
              </a:ext>
            </a:extLst>
          </p:cNvPr>
          <p:cNvSpPr txBox="1"/>
          <p:nvPr/>
        </p:nvSpPr>
        <p:spPr>
          <a:xfrm>
            <a:off x="8185519" y="5914945"/>
            <a:ext cx="386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https://git-scm.com/docs/gitignore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48920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latin typeface="Consolas"/>
              </a:rPr>
              <a:t>*.o</a:t>
            </a:r>
          </a:p>
          <a:p>
            <a:pPr>
              <a:spcAft>
                <a:spcPts val="400"/>
              </a:spcAft>
            </a:pPr>
            <a:r>
              <a:rPr sz="1800">
                <a:latin typeface="Consolas"/>
              </a:rPr>
              <a:t>*.exe</a:t>
            </a:r>
          </a:p>
          <a:p>
            <a:pPr>
              <a:spcAft>
                <a:spcPts val="400"/>
              </a:spcAft>
            </a:pPr>
            <a:r>
              <a:rPr sz="1800">
                <a:latin typeface="Consolas"/>
              </a:rPr>
              <a:t>a.out</a:t>
            </a:r>
          </a:p>
          <a:p>
            <a:pPr>
              <a:spcAft>
                <a:spcPts val="400"/>
              </a:spcAft>
            </a:pPr>
            <a:r>
              <a:rPr sz="1800">
                <a:latin typeface="Consolas"/>
              </a:rPr>
              <a:t>build/</a:t>
            </a:r>
          </a:p>
        </p:txBody>
      </p:sp>
    </p:spTree>
    <p:extLst>
      <p:ext uri="{BB962C8B-B14F-4D97-AF65-F5344CB8AC3E}">
        <p14:creationId xmlns:p14="http://schemas.microsoft.com/office/powerpoint/2010/main" val="3041713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Коммит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ED4C0A-78CA-4D89-BB49-A162CF25C0E8}"/>
              </a:ext>
            </a:extLst>
          </p:cNvPr>
          <p:cNvSpPr txBox="1"/>
          <p:nvPr/>
        </p:nvSpPr>
        <p:spPr>
          <a:xfrm>
            <a:off x="1079939" y="1588325"/>
            <a:ext cx="103469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Коммит (англ.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фиксировать) - это способ сохранения изменений в коде. Каждый такой коммит содержит информацию о том, что было изменено в коде, кем были внесены эти изменения и когда. Под коммитом можно понимать некоторый снимок состояния проекта.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C5968C-396A-4050-8C82-7123D96668E6}"/>
              </a:ext>
            </a:extLst>
          </p:cNvPr>
          <p:cNvSpPr txBox="1"/>
          <p:nvPr/>
        </p:nvSpPr>
        <p:spPr>
          <a:xfrm>
            <a:off x="1079939" y="2698456"/>
            <a:ext cx="104667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Важно: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каждый коммит помимо инфы несет свой уникальный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 40 символов, в составе могут быть как буквы, так и цифры. - это называется хэш коммита и по нему часто разработчики понимают версию запускаемого кода. Хэш коммита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генерится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помощью крипто хэш-функции SHA-1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7EA275-E5F0-46A0-8FFC-017659059CCE}"/>
              </a:ext>
            </a:extLst>
          </p:cNvPr>
          <p:cNvSpPr txBox="1"/>
          <p:nvPr/>
        </p:nvSpPr>
        <p:spPr>
          <a:xfrm>
            <a:off x="1079939" y="3808587"/>
            <a:ext cx="1064960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Теперь когда мы перенесли наши файлы в состояние </a:t>
            </a:r>
            <a:r>
              <a:rPr lang="ru-RU" dirty="0" err="1"/>
              <a:t>staged</a:t>
            </a:r>
            <a:r>
              <a:rPr lang="ru-RU" dirty="0"/>
              <a:t>, мы можем их </a:t>
            </a:r>
            <a:r>
              <a:rPr lang="ru-RU" dirty="0" err="1"/>
              <a:t>закоммитить</a:t>
            </a:r>
            <a:r>
              <a:rPr lang="ru-RU" dirty="0"/>
              <a:t>, для этого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используется</a:t>
            </a:r>
            <a:r>
              <a:rPr lang="ru-RU" dirty="0"/>
              <a:t> команда</a:t>
            </a:r>
          </a:p>
          <a:p>
            <a:r>
              <a:rPr lang="en-US" dirty="0"/>
              <a:t>$ </a:t>
            </a:r>
            <a:r>
              <a:rPr lang="ru-RU" dirty="0" err="1"/>
              <a:t>git</a:t>
            </a:r>
            <a:r>
              <a:rPr lang="ru-RU" dirty="0"/>
              <a:t> </a:t>
            </a:r>
            <a:r>
              <a:rPr lang="ru-RU" dirty="0" err="1"/>
              <a:t>commit</a:t>
            </a:r>
            <a:r>
              <a:rPr lang="ru-RU" dirty="0"/>
              <a:t> -m "Сообщение коммита: что поменялось"</a:t>
            </a:r>
            <a:endParaRPr lang="en-US" dirty="0"/>
          </a:p>
          <a:p>
            <a:endParaRPr lang="en-US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3862AC-C03E-4896-A3CF-A8B338E28209}"/>
              </a:ext>
            </a:extLst>
          </p:cNvPr>
          <p:cNvSpPr txBox="1"/>
          <p:nvPr/>
        </p:nvSpPr>
        <p:spPr>
          <a:xfrm>
            <a:off x="1079939" y="4993092"/>
            <a:ext cx="85559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прописывается сообщение над БОЛЬШОЙ синей кнопкой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нажимается эта самая кнопка.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commit -am "hello git"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D98E0DF-3A9B-4BDE-9926-4A448006C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81" y="4959984"/>
            <a:ext cx="2705478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2450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Коммит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F2C3EAF-E4D4-48E3-A7B0-0E97867C0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045" y="1444137"/>
            <a:ext cx="8639908" cy="485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063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856" y="292608"/>
            <a:ext cx="9921240" cy="923544"/>
          </a:xfrm>
        </p:spPr>
        <p:txBody>
          <a:bodyPr/>
          <a:lstStyle/>
          <a:p>
            <a:r>
              <a:rPr sz="3200" b="1">
                <a:latin typeface="Times New Roman"/>
              </a:rPr>
              <a:t>Сообщения коммитов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Consolas"/>
              </a:rPr>
              <a:t>feat: добавить сортировку пузырьком</a:t>
            </a:r>
          </a:p>
          <a:p>
            <a:pPr>
              <a:spcAft>
                <a:spcPts val="1000"/>
              </a:spcAft>
            </a:pPr>
            <a:r>
              <a:rPr sz="2000">
                <a:latin typeface="Consolas"/>
              </a:rPr>
              <a:t>fix: исправить выход за границу массива</a:t>
            </a:r>
          </a:p>
          <a:p>
            <a:pPr>
              <a:spcAft>
                <a:spcPts val="1000"/>
              </a:spcAft>
            </a:pPr>
            <a:r>
              <a:rPr sz="2000">
                <a:latin typeface="Consolas"/>
              </a:rPr>
              <a:t>docs: дописать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latin typeface="Times New Roman"/>
              </a:rPr>
              <a:t>- заголовок до 50 символов, в повелительном наклонении</a:t>
            </a:r>
          </a:p>
          <a:p>
            <a:pPr>
              <a:spcAft>
                <a:spcPts val="1200"/>
              </a:spcAft>
            </a:pPr>
            <a:r>
              <a:rPr sz="2000">
                <a:latin typeface="Times New Roman"/>
              </a:rPr>
              <a:t>- в теле - почему так сделали: что поменялось, и так видно в diff</a:t>
            </a:r>
          </a:p>
          <a:p>
            <a:pPr>
              <a:spcAft>
                <a:spcPts val="1200"/>
              </a:spcAft>
            </a:pPr>
            <a:r>
              <a:rPr sz="2000">
                <a:latin typeface="Times New Roman"/>
              </a:rPr>
              <a:t>- первый коммит можно назвать как угодно, дальше лучше привыкать писать по-человечески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Как теперь просмотреть коммиты?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66B25E-CE5F-444A-A82E-0461F5D09512}"/>
              </a:ext>
            </a:extLst>
          </p:cNvPr>
          <p:cNvSpPr txBox="1"/>
          <p:nvPr/>
        </p:nvSpPr>
        <p:spPr>
          <a:xfrm>
            <a:off x="1294349" y="1795482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B0AF57-7375-418C-B9A9-6794FED4C9B2}"/>
              </a:ext>
            </a:extLst>
          </p:cNvPr>
          <p:cNvSpPr txBox="1"/>
          <p:nvPr/>
        </p:nvSpPr>
        <p:spPr>
          <a:xfrm>
            <a:off x="1294349" y="2381408"/>
            <a:ext cx="104982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верхушке стека будут самые последние коммиты. Интересные флаги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также будут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pretty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full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fuller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format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E71362-E563-433E-9A3A-30E8ECB4D5E0}"/>
              </a:ext>
            </a:extLst>
          </p:cNvPr>
          <p:cNvSpPr txBox="1"/>
          <p:nvPr/>
        </p:nvSpPr>
        <p:spPr>
          <a:xfrm>
            <a:off x="1294349" y="3565930"/>
            <a:ext cx="101514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показывает каждый коммит в одной строке. Кроме того, она показывает лишь префикс ID коммита.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decorate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печатает все относительные имена показанных коммитов.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ветки визуализирует красивенько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1CC550-81AB-4B17-A9F9-651B2E6A4344}"/>
              </a:ext>
            </a:extLst>
          </p:cNvPr>
          <p:cNvSpPr txBox="1"/>
          <p:nvPr/>
        </p:nvSpPr>
        <p:spPr>
          <a:xfrm>
            <a:off x="1294349" y="3108905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decorate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562B40-3AA1-4D3E-A220-E80188349E84}"/>
              </a:ext>
            </a:extLst>
          </p:cNvPr>
          <p:cNvSpPr txBox="1"/>
          <p:nvPr/>
        </p:nvSpPr>
        <p:spPr>
          <a:xfrm>
            <a:off x="1294349" y="4853952"/>
            <a:ext cx="1044780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это будет в Source Control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Можно мышкой навести на любой коммит и увидеть все тоже самое.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config --global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alias.lol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'log --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oneline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--graph --all’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lol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08180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5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Удаленные репозитории (</a:t>
            </a:r>
            <a:r>
              <a:rPr lang="ru-RU" dirty="0" err="1"/>
              <a:t>push</a:t>
            </a:r>
            <a:r>
              <a:rPr lang="ru-RU" dirty="0"/>
              <a:t>, </a:t>
            </a:r>
            <a:r>
              <a:rPr lang="ru-RU" dirty="0" err="1"/>
              <a:t>clone</a:t>
            </a:r>
            <a:r>
              <a:rPr lang="ru-RU" dirty="0"/>
              <a:t>, </a:t>
            </a:r>
            <a:r>
              <a:rPr lang="ru-RU" dirty="0" err="1"/>
              <a:t>fetch</a:t>
            </a:r>
            <a:r>
              <a:rPr lang="ru-RU" dirty="0"/>
              <a:t>, </a:t>
            </a:r>
            <a:r>
              <a:rPr lang="ru-RU" dirty="0" err="1"/>
              <a:t>pull</a:t>
            </a:r>
            <a:r>
              <a:rPr lang="ru-RU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B8B4E3-1310-46B5-8C6F-BB6E5A7554F3}"/>
              </a:ext>
            </a:extLst>
          </p:cNvPr>
          <p:cNvSpPr txBox="1"/>
          <p:nvPr/>
        </p:nvSpPr>
        <p:spPr>
          <a:xfrm>
            <a:off x="1133141" y="1563812"/>
            <a:ext cx="60949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Основы </a:t>
            </a:r>
            <a:r>
              <a:rPr lang="ru-RU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</a:t>
            </a:r>
            <a:r>
              <a:rPr lang="ru-RU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Работа с удалёнными репозиториями</a:t>
            </a:r>
            <a:endParaRPr lang="ru-RU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A83F5C-2830-4C9D-AABE-E369462DAC6C}"/>
              </a:ext>
            </a:extLst>
          </p:cNvPr>
          <p:cNvSpPr txBox="1"/>
          <p:nvPr/>
        </p:nvSpPr>
        <p:spPr>
          <a:xfrm>
            <a:off x="1133141" y="1933144"/>
            <a:ext cx="105711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наши коммиты на самом деле являются локальными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local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сам наш репозиторий наоборот - удаленный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remote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т.е. он хранится на некотором сервере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интернетах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 части это полезно тем, что вы можете набрать n-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кол-во коммитов локально и разом их запушить. А пока их копите у себя локально иногда бывает надо откатиться назад, что-то отменить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торопитесь пушить сразу на удаленный сервер, стоит перепроверить ничего ли не забыли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0B51ED-D5B7-4B71-A5BA-B419315FF21C}"/>
              </a:ext>
            </a:extLst>
          </p:cNvPr>
          <p:cNvSpPr txBox="1"/>
          <p:nvPr/>
        </p:nvSpPr>
        <p:spPr>
          <a:xfrm>
            <a:off x="1133140" y="3872136"/>
            <a:ext cx="1081712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push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pull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fetch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clone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remote -v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умолчанию появится слово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origin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алияс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alias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псевдоним) на нашей системе, под которым подразумевается удаленный репозиторий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04345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856" y="292608"/>
            <a:ext cx="9921240" cy="923544"/>
          </a:xfrm>
        </p:spPr>
        <p:txBody>
          <a:bodyPr/>
          <a:lstStyle/>
          <a:p>
            <a:r>
              <a:rPr sz="3200" b="1">
                <a:latin typeface="Times New Roman"/>
              </a:rPr>
              <a:t>push, pull и fetch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latin typeface="Consolas"/>
              </a:rPr>
              <a:t>git push    - отправить свои коммиты на сервер</a:t>
            </a:r>
          </a:p>
          <a:p>
            <a:pPr>
              <a:spcAft>
                <a:spcPts val="1200"/>
              </a:spcAft>
            </a:pPr>
            <a:r>
              <a:rPr sz="2000">
                <a:latin typeface="Consolas"/>
              </a:rPr>
              <a:t>git pull    - забрать чужие и сразу слить со своими</a:t>
            </a:r>
          </a:p>
          <a:p>
            <a:pPr>
              <a:spcAft>
                <a:spcPts val="1200"/>
              </a:spcAft>
            </a:pPr>
            <a:r>
              <a:rPr sz="2000">
                <a:latin typeface="Consolas"/>
              </a:rPr>
              <a:t>git fetch   - только узнать, что нового (ваш код не меняется)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latin typeface="Times New Roman"/>
              </a:rPr>
              <a:t>pull = fetch + merge.</a:t>
            </a:r>
          </a:p>
          <a:p>
            <a:pPr>
              <a:spcAft>
                <a:spcPts val="1200"/>
              </a:spcAft>
            </a:pPr>
            <a:r>
              <a:rPr sz="2000">
                <a:latin typeface="Times New Roman"/>
              </a:rPr>
              <a:t>Если push не проходит, потому что коллега уже запушил, - сначала pull: свой коммит должен встать после его коммитов.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15D2B2FA-01EC-4889-A398-7B4B7431C963}"/>
              </a:ext>
            </a:extLst>
          </p:cNvPr>
          <p:cNvSpPr txBox="1"/>
          <p:nvPr/>
        </p:nvSpPr>
        <p:spPr>
          <a:xfrm>
            <a:off x="1188782" y="4665755"/>
            <a:ext cx="98144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 - ссылка (указатель) на ваш последний коммит вашей ветки. Можно глянуть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.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/HEAD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указывается не ветка, а коммит в этом файле, то это значит у вас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detached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HEAD == вы пошли бродить по предыдущим коммитам ветки. </a:t>
            </a:r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50837717-DC57-405F-9E25-89EC3A744AB9}"/>
              </a:ext>
            </a:extLst>
          </p:cNvPr>
          <p:cNvGrpSpPr/>
          <p:nvPr/>
        </p:nvGrpSpPr>
        <p:grpSpPr>
          <a:xfrm>
            <a:off x="1826555" y="1893888"/>
            <a:ext cx="8230005" cy="2073594"/>
            <a:chOff x="1826555" y="1893888"/>
            <a:chExt cx="8230005" cy="2073594"/>
          </a:xfrm>
        </p:grpSpPr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19DA2A33-6356-49F5-ABA0-163E8907F8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85313" y="1893888"/>
              <a:ext cx="8071247" cy="1870167"/>
            </a:xfrm>
            <a:prstGeom prst="rect">
              <a:avLst/>
            </a:prstGeom>
          </p:spPr>
        </p:pic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6ABB981B-76F4-4A85-85D7-C0B4B9CA68A3}"/>
                </a:ext>
              </a:extLst>
            </p:cNvPr>
            <p:cNvSpPr/>
            <p:nvPr/>
          </p:nvSpPr>
          <p:spPr>
            <a:xfrm>
              <a:off x="7014949" y="2333770"/>
              <a:ext cx="627125" cy="808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Круг: прозрачная заливка 23">
              <a:extLst>
                <a:ext uri="{FF2B5EF4-FFF2-40B4-BE49-F238E27FC236}">
                  <a16:creationId xmlns:a16="http://schemas.microsoft.com/office/drawing/2014/main" id="{5F2EE8BF-1F8D-4F22-82E0-23FFDE7BCC1E}"/>
                </a:ext>
              </a:extLst>
            </p:cNvPr>
            <p:cNvSpPr>
              <a:spLocks/>
            </p:cNvSpPr>
            <p:nvPr/>
          </p:nvSpPr>
          <p:spPr>
            <a:xfrm>
              <a:off x="3630446" y="2159169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7" name="Круг: прозрачная заливка 26">
              <a:extLst>
                <a:ext uri="{FF2B5EF4-FFF2-40B4-BE49-F238E27FC236}">
                  <a16:creationId xmlns:a16="http://schemas.microsoft.com/office/drawing/2014/main" id="{EEAEF5BA-2D55-4289-AD95-8D05522BFE7F}"/>
                </a:ext>
              </a:extLst>
            </p:cNvPr>
            <p:cNvSpPr>
              <a:spLocks/>
            </p:cNvSpPr>
            <p:nvPr/>
          </p:nvSpPr>
          <p:spPr>
            <a:xfrm>
              <a:off x="2329360" y="2159169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8" name="Круг: прозрачная заливка 27">
              <a:extLst>
                <a:ext uri="{FF2B5EF4-FFF2-40B4-BE49-F238E27FC236}">
                  <a16:creationId xmlns:a16="http://schemas.microsoft.com/office/drawing/2014/main" id="{9CBBC43C-83E3-45C0-B519-56384E70174B}"/>
                </a:ext>
              </a:extLst>
            </p:cNvPr>
            <p:cNvSpPr>
              <a:spLocks/>
            </p:cNvSpPr>
            <p:nvPr/>
          </p:nvSpPr>
          <p:spPr>
            <a:xfrm>
              <a:off x="4931532" y="2159169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9" name="Круг: прозрачная заливка 28">
              <a:extLst>
                <a:ext uri="{FF2B5EF4-FFF2-40B4-BE49-F238E27FC236}">
                  <a16:creationId xmlns:a16="http://schemas.microsoft.com/office/drawing/2014/main" id="{C5BEFE0F-2CB3-4C83-A36D-469FE9F07147}"/>
                </a:ext>
              </a:extLst>
            </p:cNvPr>
            <p:cNvSpPr>
              <a:spLocks/>
            </p:cNvSpPr>
            <p:nvPr/>
          </p:nvSpPr>
          <p:spPr>
            <a:xfrm>
              <a:off x="6219276" y="2158666"/>
              <a:ext cx="769356" cy="751476"/>
            </a:xfrm>
            <a:prstGeom prst="donut">
              <a:avLst/>
            </a:prstGeom>
            <a:solidFill>
              <a:schemeClr val="accent1"/>
            </a:solidFill>
            <a:ln w="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cxnSp>
          <p:nvCxnSpPr>
            <p:cNvPr id="26" name="Прямая со стрелкой 25">
              <a:extLst>
                <a:ext uri="{FF2B5EF4-FFF2-40B4-BE49-F238E27FC236}">
                  <a16:creationId xmlns:a16="http://schemas.microsoft.com/office/drawing/2014/main" id="{1E99513A-7CDC-4636-9C8F-667E928A54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14949" y="2534907"/>
              <a:ext cx="661916" cy="0"/>
            </a:xfrm>
            <a:prstGeom prst="straightConnector1">
              <a:avLst/>
            </a:prstGeom>
            <a:ln w="13652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Прямая соединительная линия 33">
              <a:extLst>
                <a:ext uri="{FF2B5EF4-FFF2-40B4-BE49-F238E27FC236}">
                  <a16:creationId xmlns:a16="http://schemas.microsoft.com/office/drawing/2014/main" id="{7D7D7BFA-0B06-49CA-8306-1B671E79ECC1}"/>
                </a:ext>
              </a:extLst>
            </p:cNvPr>
            <p:cNvCxnSpPr>
              <a:cxnSpLocks/>
              <a:stCxn id="27" idx="6"/>
              <a:endCxn id="24" idx="2"/>
            </p:cNvCxnSpPr>
            <p:nvPr/>
          </p:nvCxnSpPr>
          <p:spPr>
            <a:xfrm>
              <a:off x="3098716" y="2534907"/>
              <a:ext cx="531730" cy="0"/>
            </a:xfrm>
            <a:prstGeom prst="line">
              <a:avLst/>
            </a:prstGeom>
            <a:ln w="603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Прямая соединительная линия 37">
              <a:extLst>
                <a:ext uri="{FF2B5EF4-FFF2-40B4-BE49-F238E27FC236}">
                  <a16:creationId xmlns:a16="http://schemas.microsoft.com/office/drawing/2014/main" id="{4C098D69-5BB7-462F-9A90-AE0C7A113747}"/>
                </a:ext>
              </a:extLst>
            </p:cNvPr>
            <p:cNvCxnSpPr>
              <a:cxnSpLocks/>
              <a:stCxn id="24" idx="6"/>
              <a:endCxn id="28" idx="2"/>
            </p:cNvCxnSpPr>
            <p:nvPr/>
          </p:nvCxnSpPr>
          <p:spPr>
            <a:xfrm>
              <a:off x="4399802" y="2534907"/>
              <a:ext cx="531730" cy="0"/>
            </a:xfrm>
            <a:prstGeom prst="line">
              <a:avLst/>
            </a:prstGeom>
            <a:ln w="603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Прямая соединительная линия 41">
              <a:extLst>
                <a:ext uri="{FF2B5EF4-FFF2-40B4-BE49-F238E27FC236}">
                  <a16:creationId xmlns:a16="http://schemas.microsoft.com/office/drawing/2014/main" id="{5BC956BC-BB2C-42DC-9344-17B29444BFCF}"/>
                </a:ext>
              </a:extLst>
            </p:cNvPr>
            <p:cNvCxnSpPr>
              <a:cxnSpLocks/>
            </p:cNvCxnSpPr>
            <p:nvPr/>
          </p:nvCxnSpPr>
          <p:spPr>
            <a:xfrm>
              <a:off x="5700888" y="2534907"/>
              <a:ext cx="531730" cy="0"/>
            </a:xfrm>
            <a:prstGeom prst="line">
              <a:avLst/>
            </a:prstGeom>
            <a:ln w="6032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Рамка 39">
              <a:extLst>
                <a:ext uri="{FF2B5EF4-FFF2-40B4-BE49-F238E27FC236}">
                  <a16:creationId xmlns:a16="http://schemas.microsoft.com/office/drawing/2014/main" id="{DF8EF303-0AA1-450F-B917-04A971E2BACC}"/>
                </a:ext>
              </a:extLst>
            </p:cNvPr>
            <p:cNvSpPr/>
            <p:nvPr/>
          </p:nvSpPr>
          <p:spPr>
            <a:xfrm>
              <a:off x="7729499" y="2108580"/>
              <a:ext cx="1983016" cy="873449"/>
            </a:xfrm>
            <a:prstGeom prst="fram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id="{01DF7F44-AD0C-49D4-8AB1-BA4BBDFFF9DE}"/>
                </a:ext>
              </a:extLst>
            </p:cNvPr>
            <p:cNvSpPr/>
            <p:nvPr/>
          </p:nvSpPr>
          <p:spPr>
            <a:xfrm>
              <a:off x="7819118" y="2202274"/>
              <a:ext cx="1803778" cy="6860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HEAD, master</a:t>
              </a:r>
              <a:endParaRPr lang="ru-RU" dirty="0"/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EA983185-7E71-4089-BE7D-1B13FAD0B611}"/>
                </a:ext>
              </a:extLst>
            </p:cNvPr>
            <p:cNvSpPr/>
            <p:nvPr/>
          </p:nvSpPr>
          <p:spPr>
            <a:xfrm>
              <a:off x="1826555" y="2955685"/>
              <a:ext cx="5547815" cy="10117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0F2054CE-4BB9-41E1-9F81-8A40B2C52662}"/>
                </a:ext>
              </a:extLst>
            </p:cNvPr>
            <p:cNvSpPr txBox="1"/>
            <p:nvPr/>
          </p:nvSpPr>
          <p:spPr>
            <a:xfrm>
              <a:off x="2262632" y="2946578"/>
              <a:ext cx="90281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   first</a:t>
              </a:r>
              <a:br>
                <a:rPr lang="en-US" dirty="0"/>
              </a:br>
              <a:r>
                <a:rPr lang="en-US" dirty="0"/>
                <a:t>commit</a:t>
              </a:r>
              <a:endParaRPr lang="ru-RU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CEECA96-1F40-4519-A21D-5EE8D23CF85D}"/>
                </a:ext>
              </a:extLst>
            </p:cNvPr>
            <p:cNvSpPr txBox="1"/>
            <p:nvPr/>
          </p:nvSpPr>
          <p:spPr>
            <a:xfrm>
              <a:off x="3745659" y="2946578"/>
              <a:ext cx="5389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  <a:br>
                <a:rPr lang="en-US" dirty="0"/>
              </a:br>
              <a:r>
                <a:rPr lang="en-US" dirty="0"/>
                <a:t>line</a:t>
              </a:r>
              <a:endParaRPr lang="ru-RU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211FF50-AF6E-4185-ABA3-426A1E3DAB38}"/>
                </a:ext>
              </a:extLst>
            </p:cNvPr>
            <p:cNvSpPr txBox="1"/>
            <p:nvPr/>
          </p:nvSpPr>
          <p:spPr>
            <a:xfrm>
              <a:off x="4841721" y="3023603"/>
              <a:ext cx="94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changes</a:t>
              </a:r>
              <a:endParaRPr lang="ru-RU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FE3772D-5E38-41AE-A292-2DA1D103D8A6}"/>
                </a:ext>
              </a:extLst>
            </p:cNvPr>
            <p:cNvSpPr txBox="1"/>
            <p:nvPr/>
          </p:nvSpPr>
          <p:spPr>
            <a:xfrm>
              <a:off x="6145174" y="2946577"/>
              <a:ext cx="91755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   new </a:t>
              </a:r>
            </a:p>
            <a:p>
              <a:r>
                <a:rPr lang="en-US" dirty="0"/>
                <a:t> feature</a:t>
              </a:r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27086695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100A901-7E25-46CE-B64B-6B18106664D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7" b="979"/>
          <a:stretch/>
        </p:blipFill>
        <p:spPr>
          <a:xfrm>
            <a:off x="1660619" y="1044052"/>
            <a:ext cx="8870762" cy="4524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6150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2A8369-9F42-46F5-8120-D06CBDC3E6B5}"/>
              </a:ext>
            </a:extLst>
          </p:cNvPr>
          <p:cNvSpPr txBox="1"/>
          <p:nvPr/>
        </p:nvSpPr>
        <p:spPr>
          <a:xfrm>
            <a:off x="893927" y="1380759"/>
            <a:ext cx="1067937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>
                <a:latin typeface="Times New Roman"/>
              </a:rPr>
              <a:t>Ветка (англ. Branch) - это просто наклейка на коммите, то есть перемещаемый указатель.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умолчанию, имя основной ветки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Ветки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одна из лучших фич и они довольно легковесны, т.е. их легко и быстро создать,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смержить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т.д. в отличии от других систем контроля версий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2CA2B0-7449-424D-9D28-977AC58EBCDA}"/>
              </a:ext>
            </a:extLst>
          </p:cNvPr>
          <p:cNvSpPr txBox="1"/>
          <p:nvPr/>
        </p:nvSpPr>
        <p:spPr>
          <a:xfrm>
            <a:off x="893927" y="2635406"/>
            <a:ext cx="447248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Полезные команды для веток: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switch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switch -c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 &lt;branch-name&gt;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 -v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branch -d &lt;branch-name&gt;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81F66B-E39E-41A7-BD57-30DF9F63AF49}"/>
              </a:ext>
            </a:extLst>
          </p:cNvPr>
          <p:cNvSpPr txBox="1"/>
          <p:nvPr/>
        </p:nvSpPr>
        <p:spPr>
          <a:xfrm>
            <a:off x="1050876" y="5286521"/>
            <a:ext cx="81505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3"/>
              </a:rPr>
              <a:t>https://git-scm.com/book/en/v2/Git-Branching-Branches-in-a-Nutshell</a:t>
            </a:r>
            <a:br>
              <a:rPr lang="en-US" dirty="0"/>
            </a:br>
            <a:r>
              <a:rPr lang="en-US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https://git-scm.com/book/en/v2/Git-Branching-Basic-Branching-and-Merging</a:t>
            </a:r>
            <a:endParaRPr lang="ru-RU" dirty="0"/>
          </a:p>
        </p:txBody>
      </p:sp>
      <p:sp>
        <p:nvSpPr>
          <p:cNvPr id="14" name="Заголовок 2">
            <a:extLst>
              <a:ext uri="{FF2B5EF4-FFF2-40B4-BE49-F238E27FC236}">
                <a16:creationId xmlns:a16="http://schemas.microsoft.com/office/drawing/2014/main" id="{2C25C71F-F312-4673-98ED-96E63CE2FD38}"/>
              </a:ext>
            </a:extLst>
          </p:cNvPr>
          <p:cNvSpPr txBox="1">
            <a:spLocks/>
          </p:cNvSpPr>
          <p:nvPr/>
        </p:nvSpPr>
        <p:spPr>
          <a:xfrm>
            <a:off x="1133141" y="228886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Ветвление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B1D1A83-FF81-4E50-A737-303AD046877B}"/>
              </a:ext>
            </a:extLst>
          </p:cNvPr>
          <p:cNvSpPr txBox="1"/>
          <p:nvPr/>
        </p:nvSpPr>
        <p:spPr>
          <a:xfrm>
            <a:off x="4802305" y="3466402"/>
            <a:ext cx="60971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diff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diff &lt;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branchA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 &lt;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branchB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checkout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checkout -b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5404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E48197-7F44-44A6-87F8-DF07751D7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892"/>
          <a:stretch/>
        </p:blipFill>
        <p:spPr>
          <a:xfrm>
            <a:off x="6096000" y="113423"/>
            <a:ext cx="5749231" cy="62558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ED89D9-05F7-4040-948F-377A51565673}"/>
              </a:ext>
            </a:extLst>
          </p:cNvPr>
          <p:cNvSpPr txBox="1"/>
          <p:nvPr/>
        </p:nvSpPr>
        <p:spPr>
          <a:xfrm>
            <a:off x="850537" y="1810185"/>
            <a:ext cx="45160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реальной большой разработке обычно есть как минимум ветка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develop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содержатся самые стабильные версии и релизы, которые отдаются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продакшн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develop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основная ветка для разработки, в ней кипит вся разработка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мержатся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все мелкие ветки с новыми фичами, затем проверяется 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мержится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master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77DC79-A29F-4A54-B2CE-0838617CFBFA}"/>
              </a:ext>
            </a:extLst>
          </p:cNvPr>
          <p:cNvSpPr txBox="1"/>
          <p:nvPr/>
        </p:nvSpPr>
        <p:spPr>
          <a:xfrm>
            <a:off x="6280910" y="6365139"/>
            <a:ext cx="60971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https://nvie.com/posts/a-successful-git-branching-model/</a:t>
            </a:r>
          </a:p>
        </p:txBody>
      </p:sp>
    </p:spTree>
    <p:extLst>
      <p:ext uri="{BB962C8B-B14F-4D97-AF65-F5344CB8AC3E}">
        <p14:creationId xmlns:p14="http://schemas.microsoft.com/office/powerpoint/2010/main" val="3095008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530CAC3-3E95-4C82-8E8F-AF32023C7914}"/>
              </a:ext>
            </a:extLst>
          </p:cNvPr>
          <p:cNvSpPr txBox="1"/>
          <p:nvPr/>
        </p:nvSpPr>
        <p:spPr>
          <a:xfrm>
            <a:off x="5257717" y="5897632"/>
            <a:ext cx="69342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3"/>
              </a:rPr>
              <a:t>https://git-scm.com/docs/git-merge</a:t>
            </a:r>
            <a:endParaRPr lang="en-US" sz="1600" dirty="0"/>
          </a:p>
          <a:p>
            <a:r>
              <a:rPr lang="en-US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https://git-scm.com/book/ru/v2/</a:t>
            </a:r>
            <a:r>
              <a:rPr lang="ru-RU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Ветвление-в-</a:t>
            </a:r>
            <a:r>
              <a:rPr lang="en-US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Git-</a:t>
            </a:r>
            <a:r>
              <a:rPr lang="ru-RU" sz="1600" b="0" i="0" u="none" strike="noStrike" dirty="0">
                <a:solidFill>
                  <a:srgbClr val="0088CC"/>
                </a:solidFill>
                <a:effectLst/>
                <a:latin typeface="Helvetica Neue"/>
                <a:hlinkClick r:id="rId4"/>
              </a:rPr>
              <a:t>Перебазирование</a:t>
            </a:r>
            <a:endParaRPr lang="ru-RU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2ACA63-C894-4FBF-B056-8AD2A4720603}"/>
              </a:ext>
            </a:extLst>
          </p:cNvPr>
          <p:cNvSpPr txBox="1"/>
          <p:nvPr/>
        </p:nvSpPr>
        <p:spPr>
          <a:xfrm>
            <a:off x="493107" y="2087473"/>
            <a:ext cx="852473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коммит сливается с тем, до которого можно добраться, двигаясь по истории вперёд,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упрощает слияние, просто перенося указатель ветки вперёд, потому что в этом случае нет никаких разнонаправленных изменений, которые нужно было бы свести воедино. Это называется "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fast-forward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"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Кроме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можно увидеть еще: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(по умолчанию) попытаться выполнить перемотку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forward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если не удалось, то создать коммит слияния.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no-ff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всегда создавать коммит слияния.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ff-only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попытаться выполнить перемотку, если не удалось, завершить ошибкой.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727461-D223-4B17-ADFB-C9BCE11BB8D4}"/>
              </a:ext>
            </a:extLst>
          </p:cNvPr>
          <p:cNvSpPr txBox="1"/>
          <p:nvPr/>
        </p:nvSpPr>
        <p:spPr>
          <a:xfrm>
            <a:off x="493107" y="5254436"/>
            <a:ext cx="6097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Команды для слияния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merge)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merge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rebase</a:t>
            </a:r>
          </a:p>
        </p:txBody>
      </p:sp>
      <p:pic>
        <p:nvPicPr>
          <p:cNvPr id="3074" name="Picture 2" descr="Git Merge | Atlassian Git Tutorial">
            <a:extLst>
              <a:ext uri="{FF2B5EF4-FFF2-40B4-BE49-F238E27FC236}">
                <a16:creationId xmlns:a16="http://schemas.microsoft.com/office/drawing/2014/main" id="{01B29B35-F15D-43D3-A316-9859EA1CF6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6716" y="2334157"/>
            <a:ext cx="3398779" cy="194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363E0B0-E3F9-4C7F-B97E-CE50DBC3C500}"/>
              </a:ext>
            </a:extLst>
          </p:cNvPr>
          <p:cNvSpPr txBox="1"/>
          <p:nvPr/>
        </p:nvSpPr>
        <p:spPr>
          <a:xfrm>
            <a:off x="493107" y="1329397"/>
            <a:ext cx="113463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Мердж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(слияние,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merge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- объединение двух или более веток. В процессе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мерджа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изменения с указанной ветки переносятся (копируются) в текущую.</a:t>
            </a:r>
          </a:p>
        </p:txBody>
      </p:sp>
      <p:sp>
        <p:nvSpPr>
          <p:cNvPr id="17" name="Заголовок 2">
            <a:extLst>
              <a:ext uri="{FF2B5EF4-FFF2-40B4-BE49-F238E27FC236}">
                <a16:creationId xmlns:a16="http://schemas.microsoft.com/office/drawing/2014/main" id="{50446617-E200-4D6F-8D76-280037FCEC77}"/>
              </a:ext>
            </a:extLst>
          </p:cNvPr>
          <p:cNvSpPr txBox="1">
            <a:spLocks/>
          </p:cNvSpPr>
          <p:nvPr/>
        </p:nvSpPr>
        <p:spPr>
          <a:xfrm>
            <a:off x="1133141" y="228886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Merge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072359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2014911-15DB-4674-BA60-066E8FD8C35A}"/>
              </a:ext>
            </a:extLst>
          </p:cNvPr>
          <p:cNvSpPr txBox="1"/>
          <p:nvPr/>
        </p:nvSpPr>
        <p:spPr>
          <a:xfrm>
            <a:off x="1232849" y="6025000"/>
            <a:ext cx="9323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Есть интерактивный сайт, что поможет лучше понять работу веток в </a:t>
            </a:r>
            <a:r>
              <a:rPr lang="ru-RU" dirty="0" err="1"/>
              <a:t>Git</a:t>
            </a:r>
            <a:r>
              <a:rPr lang="ru-RU" dirty="0"/>
              <a:t>: </a:t>
            </a:r>
            <a:r>
              <a:rPr lang="ru-RU" dirty="0" err="1"/>
              <a:t>LearnGitBranching</a:t>
            </a:r>
            <a:endParaRPr lang="ru-RU" dirty="0"/>
          </a:p>
        </p:txBody>
      </p:sp>
      <p:pic>
        <p:nvPicPr>
          <p:cNvPr id="2050" name="Picture 2" descr="Добро пожаловать в LearnGitBranching!">
            <a:extLst>
              <a:ext uri="{FF2B5EF4-FFF2-40B4-BE49-F238E27FC236}">
                <a16:creationId xmlns:a16="http://schemas.microsoft.com/office/drawing/2014/main" id="{7EA6FC19-CA6C-4711-801A-FC951293B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3481" y="511435"/>
            <a:ext cx="7997374" cy="5395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9297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Отмена изменений</a:t>
            </a:r>
          </a:p>
        </p:txBody>
      </p:sp>
      <p:pic>
        <p:nvPicPr>
          <p:cNvPr id="16386" name="Picture 2" descr="alt text">
            <a:extLst>
              <a:ext uri="{FF2B5EF4-FFF2-40B4-BE49-F238E27FC236}">
                <a16:creationId xmlns:a16="http://schemas.microsoft.com/office/drawing/2014/main" id="{2261AE2E-DD63-4EA2-A38A-CFA231CAC9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6305" y="1787343"/>
            <a:ext cx="2362200" cy="3257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02B005-0412-431C-B942-077FBCA78ED5}"/>
              </a:ext>
            </a:extLst>
          </p:cNvPr>
          <p:cNvSpPr txBox="1"/>
          <p:nvPr/>
        </p:nvSpPr>
        <p:spPr>
          <a:xfrm>
            <a:off x="8303968" y="1418011"/>
            <a:ext cx="24452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https://ohshitgit.com/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F31582-ABF3-45D9-92DC-46FD2A1B0A3D}"/>
              </a:ext>
            </a:extLst>
          </p:cNvPr>
          <p:cNvSpPr txBox="1"/>
          <p:nvPr/>
        </p:nvSpPr>
        <p:spPr>
          <a:xfrm>
            <a:off x="2538376" y="1418011"/>
            <a:ext cx="4624426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commit --amend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commit --amend -m "New commit message"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restore --staged *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файлы*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reset HEAD *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файлы*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revert HEAD #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revert *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commit_hash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reset --soft HEAD~1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git reset --hard</a:t>
            </a:r>
          </a:p>
          <a:p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Удаленный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репо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sz="1600">
                <a:latin typeface="Times New Roman"/>
              </a:rPr>
              <a:t>$ git push -f # или --force-with-lease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Последняя надежда: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reflog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63FA4-FB68-4859-9C1A-109BC2683BD2}"/>
              </a:ext>
            </a:extLst>
          </p:cNvPr>
          <p:cNvSpPr txBox="1"/>
          <p:nvPr/>
        </p:nvSpPr>
        <p:spPr>
          <a:xfrm>
            <a:off x="2538376" y="5564232"/>
            <a:ext cx="60949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Команда позволяющая слить к себе определённый коммит    </a:t>
            </a:r>
          </a:p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$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cherry-pick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*&lt;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commit_sha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&gt;* </a:t>
            </a:r>
          </a:p>
        </p:txBody>
      </p:sp>
    </p:spTree>
    <p:extLst>
      <p:ext uri="{BB962C8B-B14F-4D97-AF65-F5344CB8AC3E}">
        <p14:creationId xmlns:p14="http://schemas.microsoft.com/office/powerpoint/2010/main" val="42631335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856" y="292608"/>
            <a:ext cx="9921240" cy="923544"/>
          </a:xfrm>
        </p:spPr>
        <p:txBody>
          <a:bodyPr/>
          <a:lstStyle/>
          <a:p>
            <a:r>
              <a:rPr sz="3200" b="1">
                <a:latin typeface="Times New Roman"/>
              </a:rPr>
              <a:t>Что делать, если...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60020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Ситуация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Consolas"/>
                        </a:rPr>
                        <a:t>Команда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забыл файл в коммите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onsolas"/>
                        </a:rPr>
                        <a:t>git add + git commit --amend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ошибся в сообщении коммита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onsolas"/>
                        </a:rPr>
                        <a:t>git commit --amend -m "..."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лишнее попало в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onsolas"/>
                        </a:rPr>
                        <a:t>git restore --staged &lt;файл&gt;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уже запушенный коммит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onsolas"/>
                        </a:rPr>
                        <a:t>git revert &lt;хэш&gt;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потерял коммит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onsolas"/>
                        </a:rPr>
                        <a:t>git reflog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Git version in binary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B3AD79-AE93-41C2-8089-A61CBD3FF639}"/>
              </a:ext>
            </a:extLst>
          </p:cNvPr>
          <p:cNvSpPr txBox="1"/>
          <p:nvPr/>
        </p:nvSpPr>
        <p:spPr>
          <a:xfrm>
            <a:off x="3283330" y="2933868"/>
            <a:ext cx="56253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git rev-parse --abbrev-ref HEAD</a:t>
            </a:r>
          </a:p>
          <a:p>
            <a:r>
              <a:rPr lang="en-US" sz="2800" dirty="0"/>
              <a:t>git log -1 --format=%h</a:t>
            </a:r>
          </a:p>
          <a:p>
            <a:r>
              <a:rPr lang="en-US" sz="2800" dirty="0"/>
              <a:t>git log -1 --format=%cd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3262237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5400" dirty="0"/>
              <a:t>Подмодули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B2BA3C-44A8-4D0A-B4AE-D2F6CE33C765}"/>
              </a:ext>
            </a:extLst>
          </p:cNvPr>
          <p:cNvSpPr txBox="1"/>
          <p:nvPr/>
        </p:nvSpPr>
        <p:spPr>
          <a:xfrm>
            <a:off x="3047431" y="564036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https://git-scm.com/docs/git-submodule</a:t>
            </a:r>
            <a:endParaRPr lang="en-US" dirty="0"/>
          </a:p>
          <a:p>
            <a:r>
              <a:rPr lang="ru-RU" dirty="0"/>
              <a:t>https://git-scm.com/book/en/v2/Git-Tools-Submodules</a:t>
            </a:r>
          </a:p>
        </p:txBody>
      </p:sp>
      <p:pic>
        <p:nvPicPr>
          <p:cNvPr id="5122" name="Picture 2" descr="Git Submodule: Add, Remove, Uses &amp; More (With Examples) // Unstop">
            <a:extLst>
              <a:ext uri="{FF2B5EF4-FFF2-40B4-BE49-F238E27FC236}">
                <a16:creationId xmlns:a16="http://schemas.microsoft.com/office/drawing/2014/main" id="{6F889074-AEBE-47EB-A049-AAE975A3FD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03" r="13795"/>
          <a:stretch/>
        </p:blipFill>
        <p:spPr bwMode="auto">
          <a:xfrm>
            <a:off x="3211771" y="1442537"/>
            <a:ext cx="5537011" cy="3972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61980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Stash</a:t>
            </a:r>
            <a:r>
              <a:rPr lang="ru-RU" sz="5400" dirty="0"/>
              <a:t> (тайник)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3396-313F-4C63-93B9-8902F8514CAB}"/>
              </a:ext>
            </a:extLst>
          </p:cNvPr>
          <p:cNvSpPr txBox="1"/>
          <p:nvPr/>
        </p:nvSpPr>
        <p:spPr>
          <a:xfrm>
            <a:off x="4610098" y="2890391"/>
            <a:ext cx="297180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stash</a:t>
            </a:r>
          </a:p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stash pop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93686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GitLens Tutorial: How to use the VS Code Extension">
            <a:extLst>
              <a:ext uri="{FF2B5EF4-FFF2-40B4-BE49-F238E27FC236}">
                <a16:creationId xmlns:a16="http://schemas.microsoft.com/office/drawing/2014/main" id="{6F83F53E-0BA0-4C19-BBD0-E48C4088DF9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0" t="13806" r="896"/>
          <a:stretch/>
        </p:blipFill>
        <p:spPr bwMode="auto">
          <a:xfrm>
            <a:off x="2486872" y="891951"/>
            <a:ext cx="8169405" cy="5435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30255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 err="1"/>
              <a:t>VSCode</a:t>
            </a:r>
            <a:r>
              <a:rPr lang="en-US" sz="5400" dirty="0"/>
              <a:t> </a:t>
            </a:r>
            <a:r>
              <a:rPr lang="ru-RU" sz="5400" dirty="0"/>
              <a:t>в </a:t>
            </a:r>
            <a:r>
              <a:rPr lang="en-US" sz="5400" dirty="0"/>
              <a:t>Github.com</a:t>
            </a:r>
            <a:endParaRPr lang="ru-RU" sz="5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67252D-4C0C-45ED-BE7D-7DC2556B3EB0}"/>
              </a:ext>
            </a:extLst>
          </p:cNvPr>
          <p:cNvSpPr txBox="1"/>
          <p:nvPr/>
        </p:nvSpPr>
        <p:spPr>
          <a:xfrm>
            <a:off x="2696021" y="2879018"/>
            <a:ext cx="679995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Откройте свой репозиторий, например</a:t>
            </a: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https://github.dev/kruffka/C-Programming</a:t>
            </a: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вместо .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введите .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7724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Gitlab</a:t>
            </a:r>
            <a:endParaRPr lang="ru-RU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997BA0-B876-44D1-8F6C-5015603614CE}"/>
              </a:ext>
            </a:extLst>
          </p:cNvPr>
          <p:cNvSpPr txBox="1"/>
          <p:nvPr/>
        </p:nvSpPr>
        <p:spPr>
          <a:xfrm>
            <a:off x="1022443" y="3059668"/>
            <a:ext cx="1014711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 теперь рассмотрим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Gitlab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красивые графы коммитов из реальных проектов.. </a:t>
            </a:r>
          </a:p>
        </p:txBody>
      </p:sp>
    </p:spTree>
    <p:extLst>
      <p:ext uri="{BB962C8B-B14F-4D97-AF65-F5344CB8AC3E}">
        <p14:creationId xmlns:p14="http://schemas.microsoft.com/office/powerpoint/2010/main" val="26637945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2777152" y="1689275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8406" y="2240060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2930</TotalTime>
  <Words>2178</Words>
  <Application>Microsoft Office PowerPoint</Application>
  <PresentationFormat>Широкоэкранный</PresentationFormat>
  <Paragraphs>263</Paragraphs>
  <Slides>35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35</vt:i4>
      </vt:variant>
    </vt:vector>
  </HeadingPairs>
  <TitlesOfParts>
    <vt:vector size="43" baseType="lpstr">
      <vt:lpstr>-apple-system</vt:lpstr>
      <vt:lpstr>Arial</vt:lpstr>
      <vt:lpstr>Calibri</vt:lpstr>
      <vt:lpstr>Calibri Light</vt:lpstr>
      <vt:lpstr>Consolas</vt:lpstr>
      <vt:lpstr>Helvetica Neue</vt:lpstr>
      <vt:lpstr>Times New Roman</vt:lpstr>
      <vt:lpstr>Office Theme</vt:lpstr>
      <vt:lpstr>Programming 9_git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Три области Git</vt:lpstr>
      <vt:lpstr>Презентация PowerPoint</vt:lpstr>
      <vt:lpstr>Презентация PowerPoint</vt:lpstr>
      <vt:lpstr>Презентация PowerPoint</vt:lpstr>
      <vt:lpstr>Презентация PowerPoint</vt:lpstr>
      <vt:lpstr>Сообщения коммитов</vt:lpstr>
      <vt:lpstr>Презентация PowerPoint</vt:lpstr>
      <vt:lpstr>Презентация PowerPoint</vt:lpstr>
      <vt:lpstr>push, pull и fetch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Что делать, если...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950</cp:revision>
  <dcterms:created xsi:type="dcterms:W3CDTF">2019-12-17T14:15:21Z</dcterms:created>
  <dcterms:modified xsi:type="dcterms:W3CDTF">2026-10-20T14:08:56Z</dcterms:modified>
</cp:coreProperties>
</file>