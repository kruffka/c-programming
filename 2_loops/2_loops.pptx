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74" r:id="rId3"/>
    <p:sldId id="268" r:id="rId4"/>
    <p:sldId id="295" r:id="rId5"/>
    <p:sldId id="275" r:id="rId6"/>
    <p:sldId id="267" r:id="rId7"/>
    <p:sldId id="278" r:id="rId8"/>
    <p:sldId id="284" r:id="rId9"/>
    <p:sldId id="283" r:id="rId10"/>
    <p:sldId id="285" r:id="rId11"/>
    <p:sldId id="288" r:id="rId12"/>
    <p:sldId id="279" r:id="rId13"/>
    <p:sldId id="293" r:id="rId14"/>
    <p:sldId id="294" r:id="rId15"/>
    <p:sldId id="282" r:id="rId16"/>
    <p:sldId id="290" r:id="rId1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y Veyler" initials="AV" lastIdx="1" clrIdx="0">
    <p:extLst>
      <p:ext uri="{19B8F6BF-5375-455C-9EA6-DF929625EA0E}">
        <p15:presenceInfo xmlns:p15="http://schemas.microsoft.com/office/powerpoint/2012/main" userId="3d9934d1e83c21f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Стиль из темы 1 - акцент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Средний стиль 4 — акцент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Средний стиль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52" autoAdjust="0"/>
    <p:restoredTop sz="94630" autoAdjust="0"/>
  </p:normalViewPr>
  <p:slideViewPr>
    <p:cSldViewPr snapToGrid="0">
      <p:cViewPr varScale="1">
        <p:scale>
          <a:sx n="152" d="100"/>
          <a:sy n="152" d="100"/>
        </p:scale>
        <p:origin x="2796" y="15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EF5437-F444-4613-A039-4AD69D91C86A}" type="datetimeFigureOut">
              <a:rPr lang="ru-RU" smtClean="0"/>
              <a:t>15.09.2026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7EAB29-8E86-49C7-96F5-7C9D72076108}" type="slidenum">
              <a:rPr lang="ru-RU" smtClean="0"/>
              <a:t>‹#›</a:t>
            </a:fld>
            <a:endParaRPr lang="ru-RU"/>
          </a:p>
        </p:txBody>
      </p:sp>
    </p:spTree>
    <p:extLst>
      <p:ext uri="{BB962C8B-B14F-4D97-AF65-F5344CB8AC3E}">
        <p14:creationId xmlns:p14="http://schemas.microsoft.com/office/powerpoint/2010/main" val="3165886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a:t>
            </a:fld>
            <a:endParaRPr lang="ru-RU"/>
          </a:p>
        </p:txBody>
      </p:sp>
    </p:spTree>
    <p:extLst>
      <p:ext uri="{BB962C8B-B14F-4D97-AF65-F5344CB8AC3E}">
        <p14:creationId xmlns:p14="http://schemas.microsoft.com/office/powerpoint/2010/main" val="1829856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Helvetica Neue"/>
              </a:rPr>
              <a:t>Циклы (</a:t>
            </a:r>
            <a:r>
              <a:rPr lang="ru-RU" b="0" i="0" dirty="0" err="1">
                <a:solidFill>
                  <a:srgbClr val="333333"/>
                </a:solidFill>
                <a:effectLst/>
                <a:latin typeface="Helvetica Neue"/>
              </a:rPr>
              <a:t>loops</a:t>
            </a:r>
            <a:r>
              <a:rPr lang="ru-RU" b="0" i="0" dirty="0">
                <a:solidFill>
                  <a:srgbClr val="333333"/>
                </a:solidFill>
                <a:effectLst/>
                <a:latin typeface="Helvetica Neue"/>
              </a:rPr>
              <a:t>) позволяют выполнять инструкцию столько раз сколько попросим</a:t>
            </a:r>
          </a:p>
          <a:p>
            <a:r>
              <a:rPr lang="ru-RU" b="0" i="0" dirty="0">
                <a:solidFill>
                  <a:srgbClr val="333333"/>
                </a:solidFill>
                <a:effectLst/>
                <a:latin typeface="Helvetica Neue"/>
              </a:rPr>
              <a:t>Циклы позволяют сократить количество кода и время на программирование, а также делают код более читаемым</a:t>
            </a:r>
            <a:br>
              <a:rPr lang="ru-RU" dirty="0"/>
            </a:br>
            <a:r>
              <a:rPr lang="ru-RU" b="0" i="0" dirty="0">
                <a:solidFill>
                  <a:srgbClr val="333333"/>
                </a:solidFill>
                <a:effectLst/>
                <a:latin typeface="Helvetica Neue"/>
              </a:rPr>
              <a:t>В программирование обычно можно встретить циклы </a:t>
            </a:r>
            <a:r>
              <a:rPr lang="ru-RU" b="1" i="0" dirty="0" err="1">
                <a:solidFill>
                  <a:srgbClr val="000000"/>
                </a:solidFill>
                <a:effectLst/>
                <a:latin typeface="Helvetica Neue"/>
              </a:rPr>
              <a:t>for</a:t>
            </a:r>
            <a:r>
              <a:rPr lang="ru-RU" b="0" i="0" dirty="0">
                <a:solidFill>
                  <a:srgbClr val="333333"/>
                </a:solidFill>
                <a:effectLst/>
                <a:latin typeface="Helvetica Neue"/>
              </a:rPr>
              <a:t> и </a:t>
            </a:r>
            <a:r>
              <a:rPr lang="ru-RU" b="1" i="0" dirty="0" err="1">
                <a:solidFill>
                  <a:srgbClr val="000000"/>
                </a:solidFill>
                <a:effectLst/>
                <a:latin typeface="Helvetica Neue"/>
              </a:rPr>
              <a:t>while</a:t>
            </a:r>
            <a:r>
              <a:rPr lang="ru-RU" b="0" i="0" dirty="0">
                <a:solidFill>
                  <a:srgbClr val="333333"/>
                </a:solidFill>
                <a:effectLst/>
                <a:latin typeface="Helvetica Neue"/>
              </a:rPr>
              <a:t>. В языке Си помимо них еще есть </a:t>
            </a:r>
            <a:r>
              <a:rPr lang="ru-RU" b="1" i="0" dirty="0" err="1">
                <a:solidFill>
                  <a:srgbClr val="000000"/>
                </a:solidFill>
                <a:effectLst/>
                <a:latin typeface="Helvetica Neue"/>
              </a:rPr>
              <a:t>do</a:t>
            </a:r>
            <a:r>
              <a:rPr lang="ru-RU" b="1" i="0" dirty="0">
                <a:solidFill>
                  <a:srgbClr val="000000"/>
                </a:solidFill>
                <a:effectLst/>
                <a:latin typeface="Helvetica Neue"/>
              </a:rPr>
              <a:t>/</a:t>
            </a:r>
            <a:r>
              <a:rPr lang="ru-RU" b="1" i="0" dirty="0" err="1">
                <a:solidFill>
                  <a:srgbClr val="000000"/>
                </a:solidFill>
                <a:effectLst/>
                <a:latin typeface="Helvetica Neue"/>
              </a:rPr>
              <a:t>while</a:t>
            </a:r>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a:t>
            </a:fld>
            <a:endParaRPr lang="ru-RU"/>
          </a:p>
        </p:txBody>
      </p:sp>
    </p:spTree>
    <p:extLst>
      <p:ext uri="{BB962C8B-B14F-4D97-AF65-F5344CB8AC3E}">
        <p14:creationId xmlns:p14="http://schemas.microsoft.com/office/powerpoint/2010/main" val="3144920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1" dirty="0">
                <a:solidFill>
                  <a:srgbClr val="569CD6"/>
                </a:solidFill>
                <a:effectLst/>
                <a:latin typeface="Consolas" panose="020B0609020204030204" pitchFamily="49" charset="0"/>
              </a:rPr>
              <a:t>Цикл </a:t>
            </a:r>
            <a:r>
              <a:rPr lang="ru-RU" b="1" dirty="0" err="1">
                <a:solidFill>
                  <a:srgbClr val="569CD6"/>
                </a:solidFill>
                <a:effectLst/>
                <a:latin typeface="Consolas" panose="020B0609020204030204" pitchFamily="49" charset="0"/>
              </a:rPr>
              <a:t>while</a:t>
            </a:r>
            <a:r>
              <a:rPr lang="ru-RU" b="1" dirty="0">
                <a:solidFill>
                  <a:srgbClr val="569CD6"/>
                </a:solidFill>
                <a:effectLst/>
                <a:latin typeface="Consolas" panose="020B0609020204030204" pitchFamily="49" charset="0"/>
              </a:rPr>
              <a:t> (пока)</a:t>
            </a:r>
            <a:r>
              <a:rPr lang="ru-RU" b="0" dirty="0">
                <a:solidFill>
                  <a:srgbClr val="CCCCCC"/>
                </a:solidFill>
                <a:effectLst/>
                <a:latin typeface="Consolas" panose="020B0609020204030204" pitchFamily="49" charset="0"/>
              </a:rPr>
              <a:t> - проверяем условие и если оно истинно, то выполняем код внутри блока цикла. Такой цикл называют еще </a:t>
            </a:r>
            <a:r>
              <a:rPr lang="ru-RU" b="1" dirty="0">
                <a:solidFill>
                  <a:srgbClr val="569CD6"/>
                </a:solidFill>
                <a:effectLst/>
                <a:latin typeface="Consolas" panose="020B0609020204030204" pitchFamily="49" charset="0"/>
              </a:rPr>
              <a:t>цикл с предусловием</a:t>
            </a:r>
            <a:r>
              <a:rPr lang="ru-RU" b="0" dirty="0">
                <a:solidFill>
                  <a:srgbClr val="CCCCCC"/>
                </a:solidFill>
                <a:effectLst/>
                <a:latin typeface="Consolas" panose="020B0609020204030204" pitchFamily="49" charset="0"/>
              </a:rPr>
              <a:t>, т.к. сначала проверяем условие</a:t>
            </a:r>
          </a:p>
          <a:p>
            <a:endParaRPr lang="ru-RU" dirty="0"/>
          </a:p>
          <a:p>
            <a:r>
              <a:rPr lang="ru-RU" dirty="0"/>
              <a:t>Пробуем мяукнуть на экран 3 раза</a:t>
            </a:r>
          </a:p>
          <a:p>
            <a:endParaRPr lang="ru-RU" dirty="0"/>
          </a:p>
          <a:p>
            <a:r>
              <a:rPr lang="ru-RU" dirty="0"/>
              <a:t>Почему </a:t>
            </a:r>
            <a:r>
              <a:rPr lang="en-US" dirty="0" err="1"/>
              <a:t>i</a:t>
            </a:r>
            <a:r>
              <a:rPr lang="en-US" dirty="0"/>
              <a:t>? index/iterator. CTRL+C – </a:t>
            </a:r>
            <a:r>
              <a:rPr lang="ru-RU" dirty="0"/>
              <a:t>остановить программу</a:t>
            </a:r>
          </a:p>
        </p:txBody>
      </p:sp>
      <p:sp>
        <p:nvSpPr>
          <p:cNvPr id="4" name="Номер слайда 3"/>
          <p:cNvSpPr>
            <a:spLocks noGrp="1"/>
          </p:cNvSpPr>
          <p:nvPr>
            <p:ph type="sldNum" sz="quarter" idx="10"/>
          </p:nvPr>
        </p:nvSpPr>
        <p:spPr/>
        <p:txBody>
          <a:bodyPr/>
          <a:lstStyle/>
          <a:p>
            <a:fld id="{207EAB29-8E86-49C7-96F5-7C9D72076108}" type="slidenum">
              <a:rPr lang="ru-RU" smtClean="0"/>
              <a:t>3</a:t>
            </a:fld>
            <a:endParaRPr lang="ru-RU"/>
          </a:p>
        </p:txBody>
      </p:sp>
    </p:spTree>
    <p:extLst>
      <p:ext uri="{BB962C8B-B14F-4D97-AF65-F5344CB8AC3E}">
        <p14:creationId xmlns:p14="http://schemas.microsoft.com/office/powerpoint/2010/main" val="3316928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1" dirty="0">
                <a:solidFill>
                  <a:srgbClr val="569CD6"/>
                </a:solidFill>
                <a:effectLst/>
                <a:latin typeface="Consolas" panose="020B0609020204030204" pitchFamily="49" charset="0"/>
              </a:rPr>
              <a:t>Цикл </a:t>
            </a:r>
            <a:r>
              <a:rPr lang="ru-RU" b="1" dirty="0" err="1">
                <a:solidFill>
                  <a:srgbClr val="569CD6"/>
                </a:solidFill>
                <a:effectLst/>
                <a:latin typeface="Consolas" panose="020B0609020204030204" pitchFamily="49" charset="0"/>
              </a:rPr>
              <a:t>while</a:t>
            </a:r>
            <a:r>
              <a:rPr lang="ru-RU" b="1" dirty="0">
                <a:solidFill>
                  <a:srgbClr val="569CD6"/>
                </a:solidFill>
                <a:effectLst/>
                <a:latin typeface="Consolas" panose="020B0609020204030204" pitchFamily="49" charset="0"/>
              </a:rPr>
              <a:t> (пока)</a:t>
            </a:r>
            <a:r>
              <a:rPr lang="ru-RU" b="0" dirty="0">
                <a:solidFill>
                  <a:srgbClr val="CCCCCC"/>
                </a:solidFill>
                <a:effectLst/>
                <a:latin typeface="Consolas" panose="020B0609020204030204" pitchFamily="49" charset="0"/>
              </a:rPr>
              <a:t> - проверяем условие и если оно истинно, то выполняем код внутри блока цикла. Такой цикл называют еще </a:t>
            </a:r>
            <a:r>
              <a:rPr lang="ru-RU" b="1" dirty="0">
                <a:solidFill>
                  <a:srgbClr val="569CD6"/>
                </a:solidFill>
                <a:effectLst/>
                <a:latin typeface="Consolas" panose="020B0609020204030204" pitchFamily="49" charset="0"/>
              </a:rPr>
              <a:t>цикл с предусловием</a:t>
            </a:r>
            <a:r>
              <a:rPr lang="ru-RU" b="0" dirty="0">
                <a:solidFill>
                  <a:srgbClr val="CCCCCC"/>
                </a:solidFill>
                <a:effectLst/>
                <a:latin typeface="Consolas" panose="020B0609020204030204" pitchFamily="49" charset="0"/>
              </a:rPr>
              <a:t>, т.к. сначала проверяем условие</a:t>
            </a:r>
          </a:p>
          <a:p>
            <a:endParaRPr lang="ru-RU" dirty="0"/>
          </a:p>
          <a:p>
            <a:r>
              <a:rPr lang="ru-RU" dirty="0"/>
              <a:t>Пробуем мяукнуть на экран 3 раза</a:t>
            </a:r>
          </a:p>
          <a:p>
            <a:endParaRPr lang="ru-RU" dirty="0"/>
          </a:p>
          <a:p>
            <a:r>
              <a:rPr lang="ru-RU" dirty="0"/>
              <a:t>Почему </a:t>
            </a:r>
            <a:r>
              <a:rPr lang="en-US" dirty="0" err="1"/>
              <a:t>i</a:t>
            </a:r>
            <a:r>
              <a:rPr lang="en-US" dirty="0"/>
              <a:t>? index/iterator. CTRL+C – </a:t>
            </a:r>
            <a:r>
              <a:rPr lang="ru-RU" dirty="0"/>
              <a:t>остановить программу</a:t>
            </a:r>
          </a:p>
        </p:txBody>
      </p:sp>
      <p:sp>
        <p:nvSpPr>
          <p:cNvPr id="4" name="Номер слайда 3"/>
          <p:cNvSpPr>
            <a:spLocks noGrp="1"/>
          </p:cNvSpPr>
          <p:nvPr>
            <p:ph type="sldNum" sz="quarter" idx="10"/>
          </p:nvPr>
        </p:nvSpPr>
        <p:spPr/>
        <p:txBody>
          <a:bodyPr/>
          <a:lstStyle/>
          <a:p>
            <a:fld id="{207EAB29-8E86-49C7-96F5-7C9D72076108}" type="slidenum">
              <a:rPr lang="ru-RU" smtClean="0"/>
              <a:t>4</a:t>
            </a:fld>
            <a:endParaRPr lang="ru-RU"/>
          </a:p>
        </p:txBody>
      </p:sp>
    </p:spTree>
    <p:extLst>
      <p:ext uri="{BB962C8B-B14F-4D97-AF65-F5344CB8AC3E}">
        <p14:creationId xmlns:p14="http://schemas.microsoft.com/office/powerpoint/2010/main" val="3504407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solidFill>
                  <a:srgbClr val="CCCCCC"/>
                </a:solidFill>
                <a:effectLst/>
                <a:latin typeface="Consolas" panose="020B0609020204030204" pitchFamily="49" charset="0"/>
              </a:rPr>
              <a:t>Когда в любом случае нужно выполнить код </a:t>
            </a:r>
            <a:r>
              <a:rPr lang="ru-RU" b="1" dirty="0">
                <a:solidFill>
                  <a:srgbClr val="569CD6"/>
                </a:solidFill>
                <a:effectLst/>
                <a:latin typeface="Consolas" panose="020B0609020204030204" pitchFamily="49" charset="0"/>
              </a:rPr>
              <a:t>хотя бы один раз</a:t>
            </a:r>
            <a:r>
              <a:rPr lang="ru-RU" b="0" dirty="0">
                <a:solidFill>
                  <a:srgbClr val="CCCCCC"/>
                </a:solidFill>
                <a:effectLst/>
                <a:latin typeface="Consolas" panose="020B0609020204030204" pitchFamily="49" charset="0"/>
              </a:rPr>
              <a:t>, полезно бывает когда хочется сначала сделать, а потом проверить что сделали</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b="0" dirty="0">
              <a:solidFill>
                <a:srgbClr val="CCCCCC"/>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solidFill>
                  <a:srgbClr val="CCCCCC"/>
                </a:solidFill>
                <a:effectLst/>
                <a:latin typeface="Consolas" panose="020B0609020204030204" pitchFamily="49" charset="0"/>
              </a:rPr>
              <a:t>Пробуем ввод с клавиатуры положительного числа</a:t>
            </a:r>
          </a:p>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5</a:t>
            </a:fld>
            <a:endParaRPr lang="ru-RU"/>
          </a:p>
        </p:txBody>
      </p:sp>
    </p:spTree>
    <p:extLst>
      <p:ext uri="{BB962C8B-B14F-4D97-AF65-F5344CB8AC3E}">
        <p14:creationId xmlns:p14="http://schemas.microsoft.com/office/powerpoint/2010/main" val="688836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Выводим цифры на экран</a:t>
            </a:r>
          </a:p>
          <a:p>
            <a:endParaRPr lang="ru-RU" dirty="0"/>
          </a:p>
          <a:p>
            <a:r>
              <a:rPr lang="en-US" dirty="0"/>
              <a:t>Int I </a:t>
            </a:r>
            <a:r>
              <a:rPr lang="ru-RU" dirty="0"/>
              <a:t>перед </a:t>
            </a:r>
            <a:r>
              <a:rPr lang="en-US" dirty="0"/>
              <a:t>for </a:t>
            </a:r>
            <a:r>
              <a:rPr lang="ru-RU" dirty="0"/>
              <a:t>и в </a:t>
            </a:r>
            <a:r>
              <a:rPr lang="en-US" dirty="0"/>
              <a:t>for</a:t>
            </a:r>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6</a:t>
            </a:fld>
            <a:endParaRPr lang="ru-RU"/>
          </a:p>
        </p:txBody>
      </p:sp>
    </p:spTree>
    <p:extLst>
      <p:ext uri="{BB962C8B-B14F-4D97-AF65-F5344CB8AC3E}">
        <p14:creationId xmlns:p14="http://schemas.microsoft.com/office/powerpoint/2010/main" val="41731251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solidFill>
                  <a:srgbClr val="CCCCCC"/>
                </a:solidFill>
                <a:effectLst/>
                <a:latin typeface="Consolas" panose="020B0609020204030204" pitchFamily="49" charset="0"/>
              </a:rPr>
              <a:t>Но тогда эти блоки необходимо разместить где-то до или в </a:t>
            </a:r>
            <a:r>
              <a:rPr lang="ru-RU" b="0" dirty="0" err="1">
                <a:solidFill>
                  <a:srgbClr val="CCCCCC"/>
                </a:solidFill>
                <a:effectLst/>
                <a:latin typeface="Consolas" panose="020B0609020204030204" pitchFamily="49" charset="0"/>
              </a:rPr>
              <a:t>for</a:t>
            </a:r>
            <a:r>
              <a:rPr lang="ru-RU" b="0" dirty="0">
                <a:solidFill>
                  <a:srgbClr val="CCCCCC"/>
                </a:solidFill>
                <a:effectLst/>
                <a:latin typeface="Consolas" panose="020B0609020204030204" pitchFamily="49" charset="0"/>
              </a:rPr>
              <a:t> если не хотим получить бесконечный цикл.  </a:t>
            </a:r>
          </a:p>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7</a:t>
            </a:fld>
            <a:endParaRPr lang="ru-RU"/>
          </a:p>
        </p:txBody>
      </p:sp>
    </p:spTree>
    <p:extLst>
      <p:ext uri="{BB962C8B-B14F-4D97-AF65-F5344CB8AC3E}">
        <p14:creationId xmlns:p14="http://schemas.microsoft.com/office/powerpoint/2010/main" val="403083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Пробуем с </a:t>
            </a:r>
            <a:r>
              <a:rPr lang="en-US" dirty="0"/>
              <a:t>while </a:t>
            </a:r>
            <a:r>
              <a:rPr lang="ru-RU" dirty="0"/>
              <a:t>и выводом целых</a:t>
            </a:r>
          </a:p>
        </p:txBody>
      </p:sp>
      <p:sp>
        <p:nvSpPr>
          <p:cNvPr id="4" name="Номер слайда 3"/>
          <p:cNvSpPr>
            <a:spLocks noGrp="1"/>
          </p:cNvSpPr>
          <p:nvPr>
            <p:ph type="sldNum" sz="quarter" idx="10"/>
          </p:nvPr>
        </p:nvSpPr>
        <p:spPr/>
        <p:txBody>
          <a:bodyPr/>
          <a:lstStyle/>
          <a:p>
            <a:fld id="{207EAB29-8E86-49C7-96F5-7C9D72076108}" type="slidenum">
              <a:rPr lang="ru-RU" smtClean="0"/>
              <a:t>8</a:t>
            </a:fld>
            <a:endParaRPr lang="ru-RU"/>
          </a:p>
        </p:txBody>
      </p:sp>
    </p:spTree>
    <p:extLst>
      <p:ext uri="{BB962C8B-B14F-4D97-AF65-F5344CB8AC3E}">
        <p14:creationId xmlns:p14="http://schemas.microsoft.com/office/powerpoint/2010/main" val="913135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9</a:t>
            </a:fld>
            <a:endParaRPr lang="ru-RU"/>
          </a:p>
        </p:txBody>
      </p:sp>
    </p:spTree>
    <p:extLst>
      <p:ext uri="{BB962C8B-B14F-4D97-AF65-F5344CB8AC3E}">
        <p14:creationId xmlns:p14="http://schemas.microsoft.com/office/powerpoint/2010/main" val="2916898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ru-RU" b="0" dirty="0">
                <a:solidFill>
                  <a:srgbClr val="CCCCCC"/>
                </a:solidFill>
                <a:effectLst/>
                <a:latin typeface="Consolas" panose="020B0609020204030204" pitchFamily="49" charset="0"/>
              </a:rPr>
            </a:br>
            <a:r>
              <a:rPr lang="ru-RU" b="1" dirty="0">
                <a:solidFill>
                  <a:srgbClr val="569CD6"/>
                </a:solidFill>
                <a:effectLst/>
                <a:latin typeface="Consolas" panose="020B0609020204030204" pitchFamily="49" charset="0"/>
              </a:rPr>
              <a:t>**Самостоятельно:**</a:t>
            </a:r>
            <a:r>
              <a:rPr lang="ru-RU" b="0" dirty="0">
                <a:solidFill>
                  <a:srgbClr val="CCCCCC"/>
                </a:solidFill>
                <a:effectLst/>
                <a:latin typeface="Consolas" panose="020B0609020204030204" pitchFamily="49" charset="0"/>
              </a:rPr>
              <a:t> Поменять число итераций в j так, чтобы с каждой новой строкой i выполнялось на одну итерацию меньше, чтобы получился треугольник из цифр</a:t>
            </a:r>
          </a:p>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10</a:t>
            </a:fld>
            <a:endParaRPr lang="ru-RU"/>
          </a:p>
        </p:txBody>
      </p:sp>
    </p:spTree>
    <p:extLst>
      <p:ext uri="{BB962C8B-B14F-4D97-AF65-F5344CB8AC3E}">
        <p14:creationId xmlns:p14="http://schemas.microsoft.com/office/powerpoint/2010/main" val="1088169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11</a:t>
            </a:fld>
            <a:endParaRPr lang="ru-RU"/>
          </a:p>
        </p:txBody>
      </p:sp>
    </p:spTree>
    <p:extLst>
      <p:ext uri="{BB962C8B-B14F-4D97-AF65-F5344CB8AC3E}">
        <p14:creationId xmlns:p14="http://schemas.microsoft.com/office/powerpoint/2010/main" val="1037507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12</a:t>
            </a:fld>
            <a:endParaRPr lang="ru-RU"/>
          </a:p>
        </p:txBody>
      </p:sp>
    </p:spTree>
    <p:extLst>
      <p:ext uri="{BB962C8B-B14F-4D97-AF65-F5344CB8AC3E}">
        <p14:creationId xmlns:p14="http://schemas.microsoft.com/office/powerpoint/2010/main" val="1307866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13</a:t>
            </a:fld>
            <a:endParaRPr lang="ru-RU"/>
          </a:p>
        </p:txBody>
      </p:sp>
    </p:spTree>
    <p:extLst>
      <p:ext uri="{BB962C8B-B14F-4D97-AF65-F5344CB8AC3E}">
        <p14:creationId xmlns:p14="http://schemas.microsoft.com/office/powerpoint/2010/main" val="31469619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14</a:t>
            </a:fld>
            <a:endParaRPr lang="ru-RU"/>
          </a:p>
        </p:txBody>
      </p:sp>
    </p:spTree>
    <p:extLst>
      <p:ext uri="{BB962C8B-B14F-4D97-AF65-F5344CB8AC3E}">
        <p14:creationId xmlns:p14="http://schemas.microsoft.com/office/powerpoint/2010/main" val="1068981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br>
              <a:rPr lang="ru-RU" b="0" dirty="0">
                <a:solidFill>
                  <a:srgbClr val="CCCCCC"/>
                </a:solidFill>
                <a:effectLst/>
                <a:latin typeface="Consolas" panose="020B0609020204030204" pitchFamily="49" charset="0"/>
              </a:rPr>
            </a:br>
            <a:r>
              <a:rPr lang="ru-RU" b="0" dirty="0">
                <a:solidFill>
                  <a:srgbClr val="CCCCCC"/>
                </a:solidFill>
                <a:effectLst/>
                <a:latin typeface="Consolas" panose="020B0609020204030204" pitchFamily="49" charset="0"/>
              </a:rPr>
              <a:t>Таким образом, мы сократили количество инструкций, которое будет выполнять процессор почти на 1/3. Мы могли бы "развернуть" цикл еще больше, сделав сравнений в 4 раза меньше и т.д..</a:t>
            </a:r>
          </a:p>
          <a:p>
            <a:r>
              <a:rPr lang="ru-RU" b="0" dirty="0">
                <a:solidFill>
                  <a:srgbClr val="CCCCCC"/>
                </a:solidFill>
                <a:effectLst/>
                <a:latin typeface="Consolas" panose="020B0609020204030204" pitchFamily="49" charset="0"/>
              </a:rPr>
              <a:t>           </a:t>
            </a:r>
          </a:p>
          <a:p>
            <a:r>
              <a:rPr lang="ru-RU" b="0" dirty="0">
                <a:solidFill>
                  <a:srgbClr val="CCCCCC"/>
                </a:solidFill>
                <a:effectLst/>
                <a:latin typeface="Consolas" panose="020B0609020204030204" pitchFamily="49" charset="0"/>
              </a:rPr>
              <a:t>Называется все это дело </a:t>
            </a:r>
            <a:r>
              <a:rPr lang="ru-RU" b="1" dirty="0">
                <a:solidFill>
                  <a:srgbClr val="569CD6"/>
                </a:solidFill>
                <a:effectLst/>
                <a:latin typeface="Consolas" panose="020B0609020204030204" pitchFamily="49" charset="0"/>
              </a:rPr>
              <a:t>**</a:t>
            </a:r>
            <a:r>
              <a:rPr lang="ru-RU" b="1" dirty="0" err="1">
                <a:solidFill>
                  <a:srgbClr val="569CD6"/>
                </a:solidFill>
                <a:effectLst/>
                <a:latin typeface="Consolas" panose="020B0609020204030204" pitchFamily="49" charset="0"/>
              </a:rPr>
              <a:t>loop</a:t>
            </a:r>
            <a:r>
              <a:rPr lang="ru-RU" b="1" dirty="0">
                <a:solidFill>
                  <a:srgbClr val="569CD6"/>
                </a:solidFill>
                <a:effectLst/>
                <a:latin typeface="Consolas" panose="020B0609020204030204" pitchFamily="49" charset="0"/>
              </a:rPr>
              <a:t> </a:t>
            </a:r>
            <a:r>
              <a:rPr lang="ru-RU" b="1" dirty="0" err="1">
                <a:solidFill>
                  <a:srgbClr val="569CD6"/>
                </a:solidFill>
                <a:effectLst/>
                <a:latin typeface="Consolas" panose="020B0609020204030204" pitchFamily="49" charset="0"/>
              </a:rPr>
              <a:t>unrolling</a:t>
            </a:r>
            <a:r>
              <a:rPr lang="ru-RU" b="1" dirty="0">
                <a:solidFill>
                  <a:srgbClr val="569CD6"/>
                </a:solidFill>
                <a:effectLst/>
                <a:latin typeface="Consolas" panose="020B0609020204030204" pitchFamily="49" charset="0"/>
              </a:rPr>
              <a:t> (разворачивание циклов)**</a:t>
            </a:r>
            <a:r>
              <a:rPr lang="ru-RU" b="0" dirty="0">
                <a:solidFill>
                  <a:srgbClr val="CCCCCC"/>
                </a:solidFill>
                <a:effectLst/>
                <a:latin typeface="Consolas" panose="020B0609020204030204" pitchFamily="49" charset="0"/>
              </a:rPr>
              <a:t>. Оно позволяет оптимизировать работу циклов за счет уменьшения числа инструкций сравнения, которые есть во всех циклах.                   </a:t>
            </a:r>
          </a:p>
          <a:p>
            <a:br>
              <a:rPr lang="ru-RU" b="0" dirty="0">
                <a:solidFill>
                  <a:srgbClr val="CCCCCC"/>
                </a:solidFill>
                <a:effectLst/>
                <a:latin typeface="Consolas" panose="020B0609020204030204" pitchFamily="49" charset="0"/>
              </a:rPr>
            </a:br>
            <a:r>
              <a:rPr lang="ru-RU" b="1" dirty="0">
                <a:solidFill>
                  <a:srgbClr val="569CD6"/>
                </a:solidFill>
                <a:effectLst/>
                <a:latin typeface="Consolas" panose="020B0609020204030204" pitchFamily="49" charset="0"/>
              </a:rPr>
              <a:t>**Важно:**</a:t>
            </a:r>
            <a:r>
              <a:rPr lang="ru-RU" b="0" dirty="0">
                <a:solidFill>
                  <a:srgbClr val="CCCCCC"/>
                </a:solidFill>
                <a:effectLst/>
                <a:latin typeface="Consolas" panose="020B0609020204030204" pitchFamily="49" charset="0"/>
              </a:rPr>
              <a:t> </a:t>
            </a:r>
            <a:r>
              <a:rPr lang="ru-RU" b="0" dirty="0" err="1">
                <a:solidFill>
                  <a:srgbClr val="CCCCCC"/>
                </a:solidFill>
                <a:effectLst/>
                <a:latin typeface="Consolas" panose="020B0609020204030204" pitchFamily="49" charset="0"/>
              </a:rPr>
              <a:t>loop</a:t>
            </a:r>
            <a:r>
              <a:rPr lang="ru-RU" b="0" dirty="0">
                <a:solidFill>
                  <a:srgbClr val="CCCCCC"/>
                </a:solidFill>
                <a:effectLst/>
                <a:latin typeface="Consolas" panose="020B0609020204030204" pitchFamily="49" charset="0"/>
              </a:rPr>
              <a:t> </a:t>
            </a:r>
            <a:r>
              <a:rPr lang="ru-RU" b="0" dirty="0" err="1">
                <a:solidFill>
                  <a:srgbClr val="CCCCCC"/>
                </a:solidFill>
                <a:effectLst/>
                <a:latin typeface="Consolas" panose="020B0609020204030204" pitchFamily="49" charset="0"/>
              </a:rPr>
              <a:t>unroll</a:t>
            </a:r>
            <a:r>
              <a:rPr lang="ru-RU" b="0" dirty="0">
                <a:solidFill>
                  <a:srgbClr val="CCCCCC"/>
                </a:solidFill>
                <a:effectLst/>
                <a:latin typeface="Consolas" panose="020B0609020204030204" pitchFamily="49" charset="0"/>
              </a:rPr>
              <a:t> лучше всего использовать когда в цикле </a:t>
            </a:r>
            <a:r>
              <a:rPr lang="ru-RU" b="1" dirty="0">
                <a:solidFill>
                  <a:srgbClr val="569CD6"/>
                </a:solidFill>
                <a:effectLst/>
                <a:latin typeface="Consolas" panose="020B0609020204030204" pitchFamily="49" charset="0"/>
              </a:rPr>
              <a:t>**достаточно много итераций**</a:t>
            </a:r>
            <a:r>
              <a:rPr lang="ru-RU" b="0" dirty="0">
                <a:solidFill>
                  <a:srgbClr val="CCCCCC"/>
                </a:solidFill>
                <a:effectLst/>
                <a:latin typeface="Consolas" panose="020B0609020204030204" pitchFamily="49" charset="0"/>
              </a:rPr>
              <a:t> и сам блок цикла возможно развернуть, обычно по возможности это делает за нас компилятор на этапе оптимизаций. Нет смысла выворачивать каждый цикл, что мы пишем, т.к. это только будет ухудшать читаемость кода.             </a:t>
            </a:r>
          </a:p>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15</a:t>
            </a:fld>
            <a:endParaRPr lang="ru-RU"/>
          </a:p>
        </p:txBody>
      </p:sp>
    </p:spTree>
    <p:extLst>
      <p:ext uri="{BB962C8B-B14F-4D97-AF65-F5344CB8AC3E}">
        <p14:creationId xmlns:p14="http://schemas.microsoft.com/office/powerpoint/2010/main" val="32115140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16</a:t>
            </a:fld>
            <a:endParaRPr lang="ru-RU"/>
          </a:p>
        </p:txBody>
      </p:sp>
    </p:spTree>
    <p:extLst>
      <p:ext uri="{BB962C8B-B14F-4D97-AF65-F5344CB8AC3E}">
        <p14:creationId xmlns:p14="http://schemas.microsoft.com/office/powerpoint/2010/main" val="1218560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58BF7D01-7D49-4F37-AA30-F04C65571A4A}" type="datetimeFigureOut">
              <a:rPr lang="ru-RU" smtClean="0"/>
              <a:t>15.09.2026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3804783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BF7D01-7D49-4F37-AA30-F04C65571A4A}" type="datetimeFigureOut">
              <a:rPr lang="ru-RU" smtClean="0"/>
              <a:t>15.09.2026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496502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58BF7D01-7D49-4F37-AA30-F04C65571A4A}" type="datetimeFigureOut">
              <a:rPr lang="ru-RU" smtClean="0"/>
              <a:t>15.09.2026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1181211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58BF7D01-7D49-4F37-AA30-F04C65571A4A}" type="datetimeFigureOut">
              <a:rPr lang="ru-RU" smtClean="0"/>
              <a:t>15.09.2026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1799404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58BF7D01-7D49-4F37-AA30-F04C65571A4A}" type="datetimeFigureOut">
              <a:rPr lang="ru-RU" smtClean="0"/>
              <a:t>15.09.2026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500888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58BF7D01-7D49-4F37-AA30-F04C65571A4A}" type="datetimeFigureOut">
              <a:rPr lang="ru-RU" smtClean="0"/>
              <a:t>15.09.2026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1482053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BF7D01-7D49-4F37-AA30-F04C65571A4A}" type="datetimeFigureOut">
              <a:rPr lang="ru-RU" smtClean="0"/>
              <a:t>15.09.2026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2989032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8BF7D01-7D49-4F37-AA30-F04C65571A4A}" type="datetimeFigureOut">
              <a:rPr lang="ru-RU" smtClean="0"/>
              <a:t>15.09.2026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340629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8BF7D01-7D49-4F37-AA30-F04C65571A4A}" type="datetimeFigureOut">
              <a:rPr lang="ru-RU" smtClean="0"/>
              <a:t>15.09.2026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1120088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BF7D01-7D49-4F37-AA30-F04C65571A4A}" type="datetimeFigureOut">
              <a:rPr lang="ru-RU" smtClean="0"/>
              <a:t>15.09.2026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2836095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BF7D01-7D49-4F37-AA30-F04C65571A4A}" type="datetimeFigureOut">
              <a:rPr lang="ru-RU" smtClean="0"/>
              <a:t>15.09.2026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2000999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BF7D01-7D49-4F37-AA30-F04C65571A4A}" type="datetimeFigureOut">
              <a:rPr lang="ru-RU" smtClean="0"/>
              <a:t>15.09.2026</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6C3A23-AFCE-4B49-9CB1-3B0B6D1FEC45}" type="slidenum">
              <a:rPr lang="ru-RU" smtClean="0"/>
              <a:t>‹#›</a:t>
            </a:fld>
            <a:endParaRPr lang="ru-RU"/>
          </a:p>
        </p:txBody>
      </p:sp>
    </p:spTree>
    <p:extLst>
      <p:ext uri="{BB962C8B-B14F-4D97-AF65-F5344CB8AC3E}">
        <p14:creationId xmlns:p14="http://schemas.microsoft.com/office/powerpoint/2010/main" val="225179066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2151883"/>
            <a:ext cx="9144000" cy="2387600"/>
          </a:xfrm>
        </p:spPr>
        <p:txBody>
          <a:bodyPr/>
          <a:lstStyle/>
          <a:p>
            <a:r>
              <a:rPr lang="en-US" dirty="0">
                <a:latin typeface="Times New Roman" panose="02020603050405020304" pitchFamily="18" charset="0"/>
                <a:cs typeface="Times New Roman" panose="02020603050405020304" pitchFamily="18" charset="0"/>
              </a:rPr>
              <a:t>C Programming</a:t>
            </a:r>
            <a:br>
              <a:rPr lang="ru-RU"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ru-RU" sz="32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_loops</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8762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3">
            <a:extLst>
              <a:ext uri="{FF2B5EF4-FFF2-40B4-BE49-F238E27FC236}">
                <a16:creationId xmlns:a16="http://schemas.microsoft.com/office/drawing/2014/main" id="{8259CF3A-AC4E-4FB4-B194-DC7CBFC75277}"/>
              </a:ext>
            </a:extLst>
          </p:cNvPr>
          <p:cNvSpPr txBox="1">
            <a:spLocks/>
          </p:cNvSpPr>
          <p:nvPr/>
        </p:nvSpPr>
        <p:spPr>
          <a:xfrm>
            <a:off x="1589312" y="1531091"/>
            <a:ext cx="9013371" cy="11648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loops</a:t>
            </a:r>
            <a:endParaRPr lang="ru-RU" dirty="0"/>
          </a:p>
        </p:txBody>
      </p:sp>
      <p:sp>
        <p:nvSpPr>
          <p:cNvPr id="6" name="TextBox 5">
            <a:extLst>
              <a:ext uri="{FF2B5EF4-FFF2-40B4-BE49-F238E27FC236}">
                <a16:creationId xmlns:a16="http://schemas.microsoft.com/office/drawing/2014/main" id="{F0EE0EE5-DE0C-43F4-A2F0-5A4B9B862F11}"/>
              </a:ext>
            </a:extLst>
          </p:cNvPr>
          <p:cNvSpPr txBox="1"/>
          <p:nvPr/>
        </p:nvSpPr>
        <p:spPr>
          <a:xfrm>
            <a:off x="4356040" y="3164305"/>
            <a:ext cx="3709121" cy="2246769"/>
          </a:xfrm>
          <a:prstGeom prst="rect">
            <a:avLst/>
          </a:prstGeom>
          <a:noFill/>
        </p:spPr>
        <p:txBody>
          <a:bodyPr wrap="square">
            <a:spAutoFit/>
          </a:bodyPr>
          <a:lstStyle/>
          <a:p>
            <a:r>
              <a:rPr lang="pt-BR" sz="2800" b="0" dirty="0">
                <a:solidFill>
                  <a:srgbClr val="D2A8FF"/>
                </a:solidFill>
                <a:effectLst/>
                <a:latin typeface="Consolas" panose="020B0609020204030204" pitchFamily="49" charset="0"/>
              </a:rPr>
              <a:t>printf</a:t>
            </a:r>
            <a:r>
              <a:rPr lang="pt-BR" sz="2800" b="0" dirty="0">
                <a:solidFill>
                  <a:srgbClr val="BBBEBF"/>
                </a:solidFill>
                <a:effectLst/>
                <a:latin typeface="Consolas" panose="020B0609020204030204" pitchFamily="49" charset="0"/>
              </a:rPr>
              <a:t>(</a:t>
            </a:r>
            <a:r>
              <a:rPr lang="pt-BR" sz="2800" b="0" dirty="0">
                <a:solidFill>
                  <a:srgbClr val="A5D6FF"/>
                </a:solidFill>
                <a:effectLst/>
                <a:latin typeface="Consolas" panose="020B0609020204030204" pitchFamily="49" charset="0"/>
              </a:rPr>
              <a:t>"meow</a:t>
            </a:r>
            <a:r>
              <a:rPr lang="pt-BR" sz="2800" b="0" dirty="0">
                <a:solidFill>
                  <a:srgbClr val="D7BA7D"/>
                </a:solidFill>
                <a:effectLst/>
                <a:latin typeface="Consolas" panose="020B0609020204030204" pitchFamily="49" charset="0"/>
              </a:rPr>
              <a:t>\n</a:t>
            </a:r>
            <a:r>
              <a:rPr lang="pt-BR" sz="2800" b="0" dirty="0">
                <a:solidFill>
                  <a:srgbClr val="A5D6FF"/>
                </a:solidFill>
                <a:effectLst/>
                <a:latin typeface="Consolas" panose="020B0609020204030204" pitchFamily="49" charset="0"/>
              </a:rPr>
              <a:t>"</a:t>
            </a:r>
            <a:r>
              <a:rPr lang="pt-BR" sz="2800" b="0" dirty="0">
                <a:solidFill>
                  <a:srgbClr val="BBBEBF"/>
                </a:solidFill>
                <a:effectLst/>
                <a:latin typeface="Consolas" panose="020B0609020204030204" pitchFamily="49" charset="0"/>
              </a:rPr>
              <a:t>); </a:t>
            </a:r>
          </a:p>
          <a:p>
            <a:r>
              <a:rPr lang="pt-BR" sz="2800" b="0" dirty="0">
                <a:solidFill>
                  <a:srgbClr val="D2A8FF"/>
                </a:solidFill>
                <a:effectLst/>
                <a:latin typeface="Consolas" panose="020B0609020204030204" pitchFamily="49" charset="0"/>
              </a:rPr>
              <a:t>printf</a:t>
            </a:r>
            <a:r>
              <a:rPr lang="pt-BR" sz="2800" b="0" dirty="0">
                <a:solidFill>
                  <a:srgbClr val="BBBEBF"/>
                </a:solidFill>
                <a:effectLst/>
                <a:latin typeface="Consolas" panose="020B0609020204030204" pitchFamily="49" charset="0"/>
              </a:rPr>
              <a:t>(</a:t>
            </a:r>
            <a:r>
              <a:rPr lang="pt-BR" sz="2800" b="0" dirty="0">
                <a:solidFill>
                  <a:srgbClr val="A5D6FF"/>
                </a:solidFill>
                <a:effectLst/>
                <a:latin typeface="Consolas" panose="020B0609020204030204" pitchFamily="49" charset="0"/>
              </a:rPr>
              <a:t>"meow</a:t>
            </a:r>
            <a:r>
              <a:rPr lang="pt-BR" sz="2800" b="0" dirty="0">
                <a:solidFill>
                  <a:srgbClr val="D7BA7D"/>
                </a:solidFill>
                <a:effectLst/>
                <a:latin typeface="Consolas" panose="020B0609020204030204" pitchFamily="49" charset="0"/>
              </a:rPr>
              <a:t>\n</a:t>
            </a:r>
            <a:r>
              <a:rPr lang="pt-BR" sz="2800" b="0" dirty="0">
                <a:solidFill>
                  <a:srgbClr val="A5D6FF"/>
                </a:solidFill>
                <a:effectLst/>
                <a:latin typeface="Consolas" panose="020B0609020204030204" pitchFamily="49" charset="0"/>
              </a:rPr>
              <a:t>"</a:t>
            </a:r>
            <a:r>
              <a:rPr lang="pt-BR" sz="2800" b="0" dirty="0">
                <a:solidFill>
                  <a:srgbClr val="BBBEBF"/>
                </a:solidFill>
                <a:effectLst/>
                <a:latin typeface="Consolas" panose="020B0609020204030204" pitchFamily="49" charset="0"/>
              </a:rPr>
              <a:t>);</a:t>
            </a:r>
          </a:p>
          <a:p>
            <a:r>
              <a:rPr lang="pt-BR" sz="2800" b="0" dirty="0">
                <a:solidFill>
                  <a:srgbClr val="D2A8FF"/>
                </a:solidFill>
                <a:effectLst/>
                <a:latin typeface="Consolas" panose="020B0609020204030204" pitchFamily="49" charset="0"/>
              </a:rPr>
              <a:t>printf</a:t>
            </a:r>
            <a:r>
              <a:rPr lang="pt-BR" sz="2800" b="0" dirty="0">
                <a:solidFill>
                  <a:srgbClr val="BBBEBF"/>
                </a:solidFill>
                <a:effectLst/>
                <a:latin typeface="Consolas" panose="020B0609020204030204" pitchFamily="49" charset="0"/>
              </a:rPr>
              <a:t>(</a:t>
            </a:r>
            <a:r>
              <a:rPr lang="pt-BR" sz="2800" b="0" dirty="0">
                <a:solidFill>
                  <a:srgbClr val="A5D6FF"/>
                </a:solidFill>
                <a:effectLst/>
                <a:latin typeface="Consolas" panose="020B0609020204030204" pitchFamily="49" charset="0"/>
              </a:rPr>
              <a:t>"meow</a:t>
            </a:r>
            <a:r>
              <a:rPr lang="pt-BR" sz="2800" b="0" dirty="0">
                <a:solidFill>
                  <a:srgbClr val="D7BA7D"/>
                </a:solidFill>
                <a:effectLst/>
                <a:latin typeface="Consolas" panose="020B0609020204030204" pitchFamily="49" charset="0"/>
              </a:rPr>
              <a:t>\n</a:t>
            </a:r>
            <a:r>
              <a:rPr lang="pt-BR" sz="2800" b="0" dirty="0">
                <a:solidFill>
                  <a:srgbClr val="A5D6FF"/>
                </a:solidFill>
                <a:effectLst/>
                <a:latin typeface="Consolas" panose="020B0609020204030204" pitchFamily="49" charset="0"/>
              </a:rPr>
              <a:t>"</a:t>
            </a:r>
            <a:r>
              <a:rPr lang="pt-BR" sz="2800" b="0" dirty="0">
                <a:solidFill>
                  <a:srgbClr val="BBBEBF"/>
                </a:solidFill>
                <a:effectLst/>
                <a:latin typeface="Consolas" panose="020B0609020204030204" pitchFamily="49" charset="0"/>
              </a:rPr>
              <a:t>);</a:t>
            </a:r>
          </a:p>
          <a:p>
            <a:br>
              <a:rPr lang="pt-BR" sz="2800" b="0" dirty="0">
                <a:solidFill>
                  <a:srgbClr val="BBBEBF"/>
                </a:solidFill>
                <a:effectLst/>
                <a:latin typeface="Consolas" panose="020B0609020204030204" pitchFamily="49" charset="0"/>
              </a:rPr>
            </a:br>
            <a:endParaRPr lang="pt-BR" sz="2800" b="0" dirty="0">
              <a:solidFill>
                <a:srgbClr val="BBBEBF"/>
              </a:solidFill>
              <a:effectLst/>
              <a:latin typeface="Consolas" panose="020B0609020204030204" pitchFamily="49" charset="0"/>
            </a:endParaRPr>
          </a:p>
        </p:txBody>
      </p:sp>
      <p:pic>
        <p:nvPicPr>
          <p:cNvPr id="6148" name="Picture 4" descr="Monsters | MSM: GAU: The Missing Gyatt Wiki | Fandom">
            <a:extLst>
              <a:ext uri="{FF2B5EF4-FFF2-40B4-BE49-F238E27FC236}">
                <a16:creationId xmlns:a16="http://schemas.microsoft.com/office/drawing/2014/main" id="{8328AA13-FB8B-4B79-A26D-86B276A912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15212" y="2253923"/>
            <a:ext cx="2911620" cy="291162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Chinese Cat Side Eye GIF - Chinese cat Side eye Cat - Discover &amp; Share GIFs">
            <a:extLst>
              <a:ext uri="{FF2B5EF4-FFF2-40B4-BE49-F238E27FC236}">
                <a16:creationId xmlns:a16="http://schemas.microsoft.com/office/drawing/2014/main" id="{F3645CB7-AFF9-4CB9-93E2-C16E760AAC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5162" y="2253923"/>
            <a:ext cx="2911621" cy="2911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995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3">
            <a:extLst>
              <a:ext uri="{FF2B5EF4-FFF2-40B4-BE49-F238E27FC236}">
                <a16:creationId xmlns:a16="http://schemas.microsoft.com/office/drawing/2014/main" id="{8259CF3A-AC4E-4FB4-B194-DC7CBFC75277}"/>
              </a:ext>
            </a:extLst>
          </p:cNvPr>
          <p:cNvSpPr txBox="1">
            <a:spLocks/>
          </p:cNvSpPr>
          <p:nvPr/>
        </p:nvSpPr>
        <p:spPr>
          <a:xfrm>
            <a:off x="1589314" y="436217"/>
            <a:ext cx="9013371" cy="1164869"/>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while loop</a:t>
            </a:r>
            <a:r>
              <a:rPr lang="ru-RU" dirty="0"/>
              <a:t> (цикл с предусловием)</a:t>
            </a:r>
          </a:p>
        </p:txBody>
      </p:sp>
      <p:sp>
        <p:nvSpPr>
          <p:cNvPr id="22" name="TextBox 21">
            <a:extLst>
              <a:ext uri="{FF2B5EF4-FFF2-40B4-BE49-F238E27FC236}">
                <a16:creationId xmlns:a16="http://schemas.microsoft.com/office/drawing/2014/main" id="{AC3AFFEF-CF25-45AC-90A7-920955B7E9DE}"/>
              </a:ext>
            </a:extLst>
          </p:cNvPr>
          <p:cNvSpPr txBox="1"/>
          <p:nvPr/>
        </p:nvSpPr>
        <p:spPr>
          <a:xfrm>
            <a:off x="1266825" y="3270412"/>
            <a:ext cx="5416599" cy="1569660"/>
          </a:xfrm>
          <a:prstGeom prst="rect">
            <a:avLst/>
          </a:prstGeom>
          <a:noFill/>
        </p:spPr>
        <p:txBody>
          <a:bodyPr wrap="square">
            <a:spAutoFit/>
          </a:bodyPr>
          <a:lstStyle/>
          <a:p>
            <a:r>
              <a:rPr lang="en-US" sz="2400" b="0" dirty="0">
                <a:solidFill>
                  <a:srgbClr val="C586C0"/>
                </a:solidFill>
                <a:effectLst/>
                <a:latin typeface="Consolas" panose="020B0609020204030204" pitchFamily="49" charset="0"/>
              </a:rPr>
              <a:t>while</a:t>
            </a:r>
            <a:r>
              <a:rPr lang="en-US" sz="2400" b="0" dirty="0">
                <a:solidFill>
                  <a:srgbClr val="D4D4D4"/>
                </a:solidFill>
                <a:effectLst/>
                <a:latin typeface="Consolas" panose="020B0609020204030204" pitchFamily="49" charset="0"/>
              </a:rPr>
              <a:t> (condition)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6A9955"/>
                </a:solidFill>
                <a:effectLst/>
                <a:latin typeface="Consolas" panose="020B0609020204030204" pitchFamily="49" charset="0"/>
              </a:rPr>
              <a:t>// code block to be executed</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a:t>
            </a:r>
            <a:endParaRPr lang="en-US" sz="2400" b="0" dirty="0">
              <a:solidFill>
                <a:srgbClr val="CCCCCC"/>
              </a:solidFill>
              <a:effectLst/>
              <a:latin typeface="Consolas" panose="020B0609020204030204" pitchFamily="49" charset="0"/>
            </a:endParaRPr>
          </a:p>
          <a:p>
            <a:endParaRPr lang="ru-RU" sz="2400" dirty="0">
              <a:latin typeface="Times New Roman" panose="02020603050405020304" pitchFamily="18" charset="0"/>
              <a:cs typeface="Times New Roman" panose="02020603050405020304" pitchFamily="18" charset="0"/>
            </a:endParaRPr>
          </a:p>
        </p:txBody>
      </p:sp>
      <p:sp>
        <p:nvSpPr>
          <p:cNvPr id="3" name="Ромб 2">
            <a:extLst>
              <a:ext uri="{FF2B5EF4-FFF2-40B4-BE49-F238E27FC236}">
                <a16:creationId xmlns:a16="http://schemas.microsoft.com/office/drawing/2014/main" id="{45F22FC9-2563-4559-9468-A02D3D9BC7BC}"/>
              </a:ext>
            </a:extLst>
          </p:cNvPr>
          <p:cNvSpPr/>
          <p:nvPr/>
        </p:nvSpPr>
        <p:spPr>
          <a:xfrm>
            <a:off x="7428866" y="2009038"/>
            <a:ext cx="2125192" cy="1322580"/>
          </a:xfrm>
          <a:prstGeom prst="diamon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Условие</a:t>
            </a:r>
          </a:p>
        </p:txBody>
      </p:sp>
      <p:sp>
        <p:nvSpPr>
          <p:cNvPr id="4" name="Прямоугольник 3">
            <a:extLst>
              <a:ext uri="{FF2B5EF4-FFF2-40B4-BE49-F238E27FC236}">
                <a16:creationId xmlns:a16="http://schemas.microsoft.com/office/drawing/2014/main" id="{DA54F6B5-35C2-46F9-B7BF-61E4C41960C4}"/>
              </a:ext>
            </a:extLst>
          </p:cNvPr>
          <p:cNvSpPr/>
          <p:nvPr/>
        </p:nvSpPr>
        <p:spPr>
          <a:xfrm>
            <a:off x="7428866" y="4055242"/>
            <a:ext cx="2125192" cy="59793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Тело цикла </a:t>
            </a:r>
            <a:r>
              <a:rPr lang="en-US" dirty="0"/>
              <a:t>while</a:t>
            </a:r>
            <a:endParaRPr lang="ru-RU" dirty="0"/>
          </a:p>
        </p:txBody>
      </p:sp>
      <p:cxnSp>
        <p:nvCxnSpPr>
          <p:cNvPr id="7" name="Прямая со стрелкой 6">
            <a:extLst>
              <a:ext uri="{FF2B5EF4-FFF2-40B4-BE49-F238E27FC236}">
                <a16:creationId xmlns:a16="http://schemas.microsoft.com/office/drawing/2014/main" id="{3BAFA846-0F5B-4BF3-8E16-C19A9899FF33}"/>
              </a:ext>
            </a:extLst>
          </p:cNvPr>
          <p:cNvCxnSpPr>
            <a:cxnSpLocks/>
            <a:stCxn id="3" idx="2"/>
            <a:endCxn id="4" idx="0"/>
          </p:cNvCxnSpPr>
          <p:nvPr/>
        </p:nvCxnSpPr>
        <p:spPr>
          <a:xfrm>
            <a:off x="8491462" y="3331618"/>
            <a:ext cx="0" cy="723624"/>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13" name="Прямая со стрелкой 12">
            <a:extLst>
              <a:ext uri="{FF2B5EF4-FFF2-40B4-BE49-F238E27FC236}">
                <a16:creationId xmlns:a16="http://schemas.microsoft.com/office/drawing/2014/main" id="{6221537B-EEFE-49B2-B47D-33B60D5C4E28}"/>
              </a:ext>
            </a:extLst>
          </p:cNvPr>
          <p:cNvCxnSpPr>
            <a:cxnSpLocks/>
            <a:stCxn id="4" idx="2"/>
            <a:endCxn id="3" idx="1"/>
          </p:cNvCxnSpPr>
          <p:nvPr/>
        </p:nvCxnSpPr>
        <p:spPr>
          <a:xfrm rot="5400000" flipH="1">
            <a:off x="6968742" y="3130452"/>
            <a:ext cx="1982844" cy="1062596"/>
          </a:xfrm>
          <a:prstGeom prst="bentConnector4">
            <a:avLst>
              <a:gd name="adj1" fmla="val -11529"/>
              <a:gd name="adj2" fmla="val 154747"/>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20" name="Прямая со стрелкой 12">
            <a:extLst>
              <a:ext uri="{FF2B5EF4-FFF2-40B4-BE49-F238E27FC236}">
                <a16:creationId xmlns:a16="http://schemas.microsoft.com/office/drawing/2014/main" id="{DF5CF9D4-FB52-4A57-BEAE-B5287C05C93F}"/>
              </a:ext>
            </a:extLst>
          </p:cNvPr>
          <p:cNvCxnSpPr>
            <a:cxnSpLocks/>
            <a:stCxn id="3" idx="3"/>
          </p:cNvCxnSpPr>
          <p:nvPr/>
        </p:nvCxnSpPr>
        <p:spPr>
          <a:xfrm flipH="1">
            <a:off x="8491464" y="2670328"/>
            <a:ext cx="1062594" cy="3030482"/>
          </a:xfrm>
          <a:prstGeom prst="bentConnector4">
            <a:avLst>
              <a:gd name="adj1" fmla="val -41098"/>
              <a:gd name="adj2" fmla="val 84634"/>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23" name="TextBox 22">
            <a:extLst>
              <a:ext uri="{FF2B5EF4-FFF2-40B4-BE49-F238E27FC236}">
                <a16:creationId xmlns:a16="http://schemas.microsoft.com/office/drawing/2014/main" id="{E0AB2B54-CE4B-46EF-8407-1901093F6F94}"/>
              </a:ext>
            </a:extLst>
          </p:cNvPr>
          <p:cNvSpPr txBox="1"/>
          <p:nvPr/>
        </p:nvSpPr>
        <p:spPr>
          <a:xfrm>
            <a:off x="9453005" y="2262376"/>
            <a:ext cx="713144" cy="369332"/>
          </a:xfrm>
          <a:prstGeom prst="rect">
            <a:avLst/>
          </a:prstGeom>
          <a:noFill/>
        </p:spPr>
        <p:txBody>
          <a:bodyPr wrap="none" rtlCol="0">
            <a:spAutoFit/>
          </a:bodyPr>
          <a:lstStyle/>
          <a:p>
            <a:r>
              <a:rPr lang="ru-RU" dirty="0"/>
              <a:t>Ложь</a:t>
            </a:r>
          </a:p>
        </p:txBody>
      </p:sp>
      <p:sp>
        <p:nvSpPr>
          <p:cNvPr id="26" name="TextBox 25">
            <a:extLst>
              <a:ext uri="{FF2B5EF4-FFF2-40B4-BE49-F238E27FC236}">
                <a16:creationId xmlns:a16="http://schemas.microsoft.com/office/drawing/2014/main" id="{43573A7E-C313-4703-9D92-FDBC59ECAC42}"/>
              </a:ext>
            </a:extLst>
          </p:cNvPr>
          <p:cNvSpPr txBox="1"/>
          <p:nvPr/>
        </p:nvSpPr>
        <p:spPr>
          <a:xfrm>
            <a:off x="8527919" y="3309686"/>
            <a:ext cx="878767" cy="369332"/>
          </a:xfrm>
          <a:prstGeom prst="rect">
            <a:avLst/>
          </a:prstGeom>
          <a:noFill/>
        </p:spPr>
        <p:txBody>
          <a:bodyPr wrap="none" rtlCol="0">
            <a:spAutoFit/>
          </a:bodyPr>
          <a:lstStyle/>
          <a:p>
            <a:r>
              <a:rPr lang="ru-RU" dirty="0"/>
              <a:t>Истина</a:t>
            </a:r>
          </a:p>
        </p:txBody>
      </p:sp>
      <p:cxnSp>
        <p:nvCxnSpPr>
          <p:cNvPr id="27" name="Прямая со стрелкой 26">
            <a:extLst>
              <a:ext uri="{FF2B5EF4-FFF2-40B4-BE49-F238E27FC236}">
                <a16:creationId xmlns:a16="http://schemas.microsoft.com/office/drawing/2014/main" id="{36CC0C42-E307-4820-BE2A-B2DA01490BB5}"/>
              </a:ext>
            </a:extLst>
          </p:cNvPr>
          <p:cNvCxnSpPr>
            <a:cxnSpLocks/>
            <a:endCxn id="3" idx="0"/>
          </p:cNvCxnSpPr>
          <p:nvPr/>
        </p:nvCxnSpPr>
        <p:spPr>
          <a:xfrm>
            <a:off x="8491462" y="1727901"/>
            <a:ext cx="0" cy="281137"/>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633952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3">
            <a:extLst>
              <a:ext uri="{FF2B5EF4-FFF2-40B4-BE49-F238E27FC236}">
                <a16:creationId xmlns:a16="http://schemas.microsoft.com/office/drawing/2014/main" id="{8259CF3A-AC4E-4FB4-B194-DC7CBFC75277}"/>
              </a:ext>
            </a:extLst>
          </p:cNvPr>
          <p:cNvSpPr txBox="1">
            <a:spLocks/>
          </p:cNvSpPr>
          <p:nvPr/>
        </p:nvSpPr>
        <p:spPr>
          <a:xfrm>
            <a:off x="1589314" y="436217"/>
            <a:ext cx="9013371" cy="11648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CTRL+C</a:t>
            </a:r>
            <a:endParaRPr lang="ru-RU" dirty="0"/>
          </a:p>
        </p:txBody>
      </p:sp>
      <p:pic>
        <p:nvPicPr>
          <p:cNvPr id="9" name="Рисунок 8">
            <a:extLst>
              <a:ext uri="{FF2B5EF4-FFF2-40B4-BE49-F238E27FC236}">
                <a16:creationId xmlns:a16="http://schemas.microsoft.com/office/drawing/2014/main" id="{128C75A2-8F8F-4E8C-BDBB-BF0721C58E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4131" y="1867488"/>
            <a:ext cx="3648075" cy="3648075"/>
          </a:xfrm>
          <a:prstGeom prst="rect">
            <a:avLst/>
          </a:prstGeom>
        </p:spPr>
      </p:pic>
      <p:sp>
        <p:nvSpPr>
          <p:cNvPr id="19" name="TextBox 18">
            <a:extLst>
              <a:ext uri="{FF2B5EF4-FFF2-40B4-BE49-F238E27FC236}">
                <a16:creationId xmlns:a16="http://schemas.microsoft.com/office/drawing/2014/main" id="{E13AC558-34B2-4FD7-AA78-1CB996F73FE7}"/>
              </a:ext>
            </a:extLst>
          </p:cNvPr>
          <p:cNvSpPr txBox="1"/>
          <p:nvPr/>
        </p:nvSpPr>
        <p:spPr>
          <a:xfrm>
            <a:off x="1175146" y="5924840"/>
            <a:ext cx="10783491" cy="461665"/>
          </a:xfrm>
          <a:prstGeom prst="rect">
            <a:avLst/>
          </a:prstGeom>
          <a:noFill/>
        </p:spPr>
        <p:txBody>
          <a:bodyPr wrap="square">
            <a:spAutoFit/>
          </a:bodyPr>
          <a:lstStyle/>
          <a:p>
            <a:r>
              <a:rPr lang="ru-RU" sz="2400" dirty="0">
                <a:latin typeface="Times New Roman" panose="02020603050405020304" pitchFamily="18" charset="0"/>
                <a:cs typeface="Times New Roman" panose="02020603050405020304" pitchFamily="18" charset="0"/>
              </a:rPr>
              <a:t>В любой непонятной ситуации жмем </a:t>
            </a:r>
            <a:r>
              <a:rPr lang="en-US" sz="2400" dirty="0">
                <a:latin typeface="Times New Roman" panose="02020603050405020304" pitchFamily="18" charset="0"/>
                <a:cs typeface="Times New Roman" panose="02020603050405020304" pitchFamily="18" charset="0"/>
              </a:rPr>
              <a:t>CTRL+C </a:t>
            </a:r>
            <a:r>
              <a:rPr lang="ru-RU" sz="2400" dirty="0">
                <a:latin typeface="Times New Roman" panose="02020603050405020304" pitchFamily="18" charset="0"/>
                <a:cs typeface="Times New Roman" panose="02020603050405020304" pitchFamily="18" charset="0"/>
              </a:rPr>
              <a:t>чтобы остановить программу</a:t>
            </a:r>
            <a:endParaRPr lang="ru-RU" sz="2400" dirty="0"/>
          </a:p>
        </p:txBody>
      </p:sp>
      <p:pic>
        <p:nvPicPr>
          <p:cNvPr id="1026" name="Picture 2" descr="13 Purrfectly Looped Cat GIFs To Get You Through Quarantine – Meowingtons">
            <a:extLst>
              <a:ext uri="{FF2B5EF4-FFF2-40B4-BE49-F238E27FC236}">
                <a16:creationId xmlns:a16="http://schemas.microsoft.com/office/drawing/2014/main" id="{4FE0CC10-F71C-447A-B9EF-AD01B9CAA6B2}"/>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323314" y="2010363"/>
            <a:ext cx="4688868" cy="3133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973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3">
            <a:extLst>
              <a:ext uri="{FF2B5EF4-FFF2-40B4-BE49-F238E27FC236}">
                <a16:creationId xmlns:a16="http://schemas.microsoft.com/office/drawing/2014/main" id="{8259CF3A-AC4E-4FB4-B194-DC7CBFC75277}"/>
              </a:ext>
            </a:extLst>
          </p:cNvPr>
          <p:cNvSpPr txBox="1">
            <a:spLocks/>
          </p:cNvSpPr>
          <p:nvPr/>
        </p:nvSpPr>
        <p:spPr>
          <a:xfrm>
            <a:off x="1721744" y="484186"/>
            <a:ext cx="9673572" cy="1164869"/>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do .. while loop</a:t>
            </a:r>
            <a:r>
              <a:rPr lang="ru-RU" dirty="0"/>
              <a:t> (цикл с постусловием)</a:t>
            </a:r>
          </a:p>
        </p:txBody>
      </p:sp>
      <p:sp>
        <p:nvSpPr>
          <p:cNvPr id="6" name="Ромб 5">
            <a:extLst>
              <a:ext uri="{FF2B5EF4-FFF2-40B4-BE49-F238E27FC236}">
                <a16:creationId xmlns:a16="http://schemas.microsoft.com/office/drawing/2014/main" id="{DFD323B4-0582-43C3-AA68-479C8A916DD8}"/>
              </a:ext>
            </a:extLst>
          </p:cNvPr>
          <p:cNvSpPr/>
          <p:nvPr/>
        </p:nvSpPr>
        <p:spPr>
          <a:xfrm>
            <a:off x="7737715" y="3856940"/>
            <a:ext cx="2125192" cy="1322580"/>
          </a:xfrm>
          <a:prstGeom prst="diamon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Условие</a:t>
            </a:r>
          </a:p>
        </p:txBody>
      </p:sp>
      <p:sp>
        <p:nvSpPr>
          <p:cNvPr id="7" name="Прямоугольник 6">
            <a:extLst>
              <a:ext uri="{FF2B5EF4-FFF2-40B4-BE49-F238E27FC236}">
                <a16:creationId xmlns:a16="http://schemas.microsoft.com/office/drawing/2014/main" id="{7150FB6F-E42B-4600-9DC2-8F11DE128BC1}"/>
              </a:ext>
            </a:extLst>
          </p:cNvPr>
          <p:cNvSpPr/>
          <p:nvPr/>
        </p:nvSpPr>
        <p:spPr>
          <a:xfrm>
            <a:off x="7662040" y="2530454"/>
            <a:ext cx="2276541" cy="59793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Тело цикла </a:t>
            </a:r>
            <a:r>
              <a:rPr lang="en-US" dirty="0"/>
              <a:t>do .. while</a:t>
            </a:r>
            <a:endParaRPr lang="ru-RU" dirty="0"/>
          </a:p>
        </p:txBody>
      </p:sp>
      <p:cxnSp>
        <p:nvCxnSpPr>
          <p:cNvPr id="8" name="Прямая со стрелкой 7">
            <a:extLst>
              <a:ext uri="{FF2B5EF4-FFF2-40B4-BE49-F238E27FC236}">
                <a16:creationId xmlns:a16="http://schemas.microsoft.com/office/drawing/2014/main" id="{83D8E32C-A2DC-449F-8CEB-9DD0B089AD0C}"/>
              </a:ext>
            </a:extLst>
          </p:cNvPr>
          <p:cNvCxnSpPr>
            <a:cxnSpLocks/>
            <a:stCxn id="7" idx="2"/>
            <a:endCxn id="6" idx="0"/>
          </p:cNvCxnSpPr>
          <p:nvPr/>
        </p:nvCxnSpPr>
        <p:spPr>
          <a:xfrm>
            <a:off x="8800311" y="3128384"/>
            <a:ext cx="0" cy="728556"/>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9" name="Прямая со стрелкой 12">
            <a:extLst>
              <a:ext uri="{FF2B5EF4-FFF2-40B4-BE49-F238E27FC236}">
                <a16:creationId xmlns:a16="http://schemas.microsoft.com/office/drawing/2014/main" id="{A8DA9EAF-BFEE-44D7-A011-3C736B260200}"/>
              </a:ext>
            </a:extLst>
          </p:cNvPr>
          <p:cNvCxnSpPr>
            <a:cxnSpLocks/>
            <a:stCxn id="6" idx="1"/>
            <a:endCxn id="7" idx="1"/>
          </p:cNvCxnSpPr>
          <p:nvPr/>
        </p:nvCxnSpPr>
        <p:spPr>
          <a:xfrm rot="10800000">
            <a:off x="7662041" y="2829420"/>
            <a:ext cx="75675" cy="1688811"/>
          </a:xfrm>
          <a:prstGeom prst="bentConnector3">
            <a:avLst>
              <a:gd name="adj1" fmla="val 40208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10" name="Прямая со стрелкой 12">
            <a:extLst>
              <a:ext uri="{FF2B5EF4-FFF2-40B4-BE49-F238E27FC236}">
                <a16:creationId xmlns:a16="http://schemas.microsoft.com/office/drawing/2014/main" id="{E4A9B2C1-14BD-40E9-8123-94A04ED097F6}"/>
              </a:ext>
            </a:extLst>
          </p:cNvPr>
          <p:cNvCxnSpPr>
            <a:cxnSpLocks/>
            <a:stCxn id="6" idx="2"/>
          </p:cNvCxnSpPr>
          <p:nvPr/>
        </p:nvCxnSpPr>
        <p:spPr>
          <a:xfrm rot="16200000" flipH="1">
            <a:off x="8517815" y="5462015"/>
            <a:ext cx="564992" cy="1"/>
          </a:xfrm>
          <a:prstGeom prst="bentConnector3">
            <a:avLst>
              <a:gd name="adj1" fmla="val 50000"/>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11" name="TextBox 10">
            <a:extLst>
              <a:ext uri="{FF2B5EF4-FFF2-40B4-BE49-F238E27FC236}">
                <a16:creationId xmlns:a16="http://schemas.microsoft.com/office/drawing/2014/main" id="{EB12C5A4-8D4A-402B-957D-57A5A504936B}"/>
              </a:ext>
            </a:extLst>
          </p:cNvPr>
          <p:cNvSpPr txBox="1"/>
          <p:nvPr/>
        </p:nvSpPr>
        <p:spPr>
          <a:xfrm>
            <a:off x="8800310" y="5092684"/>
            <a:ext cx="713144" cy="369332"/>
          </a:xfrm>
          <a:prstGeom prst="rect">
            <a:avLst/>
          </a:prstGeom>
          <a:noFill/>
        </p:spPr>
        <p:txBody>
          <a:bodyPr wrap="none" rtlCol="0">
            <a:spAutoFit/>
          </a:bodyPr>
          <a:lstStyle/>
          <a:p>
            <a:r>
              <a:rPr lang="ru-RU" dirty="0"/>
              <a:t>Ложь</a:t>
            </a:r>
          </a:p>
        </p:txBody>
      </p:sp>
      <p:sp>
        <p:nvSpPr>
          <p:cNvPr id="12" name="TextBox 11">
            <a:extLst>
              <a:ext uri="{FF2B5EF4-FFF2-40B4-BE49-F238E27FC236}">
                <a16:creationId xmlns:a16="http://schemas.microsoft.com/office/drawing/2014/main" id="{6E06361D-B8AF-49B4-9CA4-7FB48FF4928C}"/>
              </a:ext>
            </a:extLst>
          </p:cNvPr>
          <p:cNvSpPr txBox="1"/>
          <p:nvPr/>
        </p:nvSpPr>
        <p:spPr>
          <a:xfrm>
            <a:off x="6928381" y="4479543"/>
            <a:ext cx="878767" cy="369332"/>
          </a:xfrm>
          <a:prstGeom prst="rect">
            <a:avLst/>
          </a:prstGeom>
          <a:noFill/>
        </p:spPr>
        <p:txBody>
          <a:bodyPr wrap="none" rtlCol="0">
            <a:spAutoFit/>
          </a:bodyPr>
          <a:lstStyle/>
          <a:p>
            <a:r>
              <a:rPr lang="ru-RU" dirty="0"/>
              <a:t>Истина</a:t>
            </a:r>
          </a:p>
        </p:txBody>
      </p:sp>
      <p:cxnSp>
        <p:nvCxnSpPr>
          <p:cNvPr id="28" name="Прямая со стрелкой 27">
            <a:extLst>
              <a:ext uri="{FF2B5EF4-FFF2-40B4-BE49-F238E27FC236}">
                <a16:creationId xmlns:a16="http://schemas.microsoft.com/office/drawing/2014/main" id="{7E46B19D-6B64-4FE3-8088-E1FBA11C509C}"/>
              </a:ext>
            </a:extLst>
          </p:cNvPr>
          <p:cNvCxnSpPr>
            <a:cxnSpLocks/>
            <a:endCxn id="7" idx="0"/>
          </p:cNvCxnSpPr>
          <p:nvPr/>
        </p:nvCxnSpPr>
        <p:spPr>
          <a:xfrm>
            <a:off x="8800311" y="2136577"/>
            <a:ext cx="0" cy="393877"/>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13" name="TextBox 12">
            <a:extLst>
              <a:ext uri="{FF2B5EF4-FFF2-40B4-BE49-F238E27FC236}">
                <a16:creationId xmlns:a16="http://schemas.microsoft.com/office/drawing/2014/main" id="{0F9D3F41-2043-4FB3-8391-659B9B8603E9}"/>
              </a:ext>
            </a:extLst>
          </p:cNvPr>
          <p:cNvSpPr txBox="1"/>
          <p:nvPr/>
        </p:nvSpPr>
        <p:spPr>
          <a:xfrm>
            <a:off x="1266825" y="3270412"/>
            <a:ext cx="5416599" cy="1200329"/>
          </a:xfrm>
          <a:prstGeom prst="rect">
            <a:avLst/>
          </a:prstGeom>
          <a:noFill/>
        </p:spPr>
        <p:txBody>
          <a:bodyPr wrap="square">
            <a:spAutoFit/>
          </a:bodyPr>
          <a:lstStyle/>
          <a:p>
            <a:r>
              <a:rPr lang="en-US" sz="2400" b="0" dirty="0">
                <a:solidFill>
                  <a:srgbClr val="C586C0"/>
                </a:solidFill>
                <a:effectLst/>
                <a:latin typeface="Consolas" panose="020B0609020204030204" pitchFamily="49" charset="0"/>
              </a:rPr>
              <a:t>do</a:t>
            </a:r>
            <a:r>
              <a:rPr lang="en-US" sz="2400" b="0" dirty="0">
                <a:solidFill>
                  <a:srgbClr val="D4D4D4"/>
                </a:solidFill>
                <a:effectLst/>
                <a:latin typeface="Consolas" panose="020B0609020204030204" pitchFamily="49" charset="0"/>
              </a:rPr>
              <a:t>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6A9955"/>
                </a:solidFill>
                <a:effectLst/>
                <a:latin typeface="Consolas" panose="020B0609020204030204" pitchFamily="49" charset="0"/>
              </a:rPr>
              <a:t>// code block to be executed</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C586C0"/>
                </a:solidFill>
                <a:effectLst/>
                <a:latin typeface="Consolas" panose="020B0609020204030204" pitchFamily="49" charset="0"/>
              </a:rPr>
              <a:t>while</a:t>
            </a:r>
            <a:r>
              <a:rPr lang="en-US" sz="2400" b="0" dirty="0">
                <a:solidFill>
                  <a:srgbClr val="D4D4D4"/>
                </a:solidFill>
                <a:effectLst/>
                <a:latin typeface="Consolas" panose="020B0609020204030204" pitchFamily="49" charset="0"/>
              </a:rPr>
              <a:t> (condition);</a:t>
            </a:r>
            <a:endParaRPr lang="en-US" sz="24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929263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3">
            <a:extLst>
              <a:ext uri="{FF2B5EF4-FFF2-40B4-BE49-F238E27FC236}">
                <a16:creationId xmlns:a16="http://schemas.microsoft.com/office/drawing/2014/main" id="{8259CF3A-AC4E-4FB4-B194-DC7CBFC75277}"/>
              </a:ext>
            </a:extLst>
          </p:cNvPr>
          <p:cNvSpPr txBox="1">
            <a:spLocks/>
          </p:cNvSpPr>
          <p:nvPr/>
        </p:nvSpPr>
        <p:spPr>
          <a:xfrm>
            <a:off x="1532558" y="269608"/>
            <a:ext cx="9013371" cy="11648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for loop</a:t>
            </a:r>
            <a:r>
              <a:rPr lang="ru-RU" dirty="0"/>
              <a:t> (цикл </a:t>
            </a:r>
            <a:r>
              <a:rPr lang="en-US" dirty="0"/>
              <a:t>for)</a:t>
            </a:r>
            <a:endParaRPr lang="ru-RU" dirty="0"/>
          </a:p>
        </p:txBody>
      </p:sp>
      <p:sp>
        <p:nvSpPr>
          <p:cNvPr id="6" name="Ромб 5">
            <a:extLst>
              <a:ext uri="{FF2B5EF4-FFF2-40B4-BE49-F238E27FC236}">
                <a16:creationId xmlns:a16="http://schemas.microsoft.com/office/drawing/2014/main" id="{BE21306B-B558-4FA3-B955-198E1726CD19}"/>
              </a:ext>
            </a:extLst>
          </p:cNvPr>
          <p:cNvSpPr/>
          <p:nvPr/>
        </p:nvSpPr>
        <p:spPr>
          <a:xfrm>
            <a:off x="7744086" y="2583252"/>
            <a:ext cx="2276541" cy="1322580"/>
          </a:xfrm>
          <a:prstGeom prst="diamon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Условие</a:t>
            </a:r>
          </a:p>
        </p:txBody>
      </p:sp>
      <p:sp>
        <p:nvSpPr>
          <p:cNvPr id="7" name="Прямоугольник 6">
            <a:extLst>
              <a:ext uri="{FF2B5EF4-FFF2-40B4-BE49-F238E27FC236}">
                <a16:creationId xmlns:a16="http://schemas.microsoft.com/office/drawing/2014/main" id="{604FAB7C-C93E-4320-A59F-11B0026AFDB1}"/>
              </a:ext>
            </a:extLst>
          </p:cNvPr>
          <p:cNvSpPr/>
          <p:nvPr/>
        </p:nvSpPr>
        <p:spPr>
          <a:xfrm>
            <a:off x="7744082" y="4210271"/>
            <a:ext cx="2276541" cy="59793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Тело цикла </a:t>
            </a:r>
            <a:r>
              <a:rPr lang="en-US" dirty="0"/>
              <a:t>for</a:t>
            </a:r>
            <a:endParaRPr lang="ru-RU" dirty="0"/>
          </a:p>
        </p:txBody>
      </p:sp>
      <p:cxnSp>
        <p:nvCxnSpPr>
          <p:cNvPr id="10" name="Прямая со стрелкой 12">
            <a:extLst>
              <a:ext uri="{FF2B5EF4-FFF2-40B4-BE49-F238E27FC236}">
                <a16:creationId xmlns:a16="http://schemas.microsoft.com/office/drawing/2014/main" id="{E29758DD-5D19-4B5A-9C5D-48B5D0293C9D}"/>
              </a:ext>
            </a:extLst>
          </p:cNvPr>
          <p:cNvCxnSpPr>
            <a:cxnSpLocks/>
            <a:stCxn id="6" idx="2"/>
            <a:endCxn id="7" idx="0"/>
          </p:cNvCxnSpPr>
          <p:nvPr/>
        </p:nvCxnSpPr>
        <p:spPr>
          <a:xfrm rot="5400000">
            <a:off x="8730136" y="4058049"/>
            <a:ext cx="304439" cy="4"/>
          </a:xfrm>
          <a:prstGeom prst="bentConnector3">
            <a:avLst>
              <a:gd name="adj1" fmla="val 50000"/>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11" name="TextBox 10">
            <a:extLst>
              <a:ext uri="{FF2B5EF4-FFF2-40B4-BE49-F238E27FC236}">
                <a16:creationId xmlns:a16="http://schemas.microsoft.com/office/drawing/2014/main" id="{C4ABDF63-895F-4686-916F-E8FAE383464F}"/>
              </a:ext>
            </a:extLst>
          </p:cNvPr>
          <p:cNvSpPr txBox="1"/>
          <p:nvPr/>
        </p:nvSpPr>
        <p:spPr>
          <a:xfrm>
            <a:off x="9970177" y="2875210"/>
            <a:ext cx="713144" cy="369332"/>
          </a:xfrm>
          <a:prstGeom prst="rect">
            <a:avLst/>
          </a:prstGeom>
          <a:noFill/>
        </p:spPr>
        <p:txBody>
          <a:bodyPr wrap="none" rtlCol="0">
            <a:spAutoFit/>
          </a:bodyPr>
          <a:lstStyle/>
          <a:p>
            <a:r>
              <a:rPr lang="ru-RU" dirty="0"/>
              <a:t>Ложь</a:t>
            </a:r>
          </a:p>
        </p:txBody>
      </p:sp>
      <p:sp>
        <p:nvSpPr>
          <p:cNvPr id="12" name="TextBox 11">
            <a:extLst>
              <a:ext uri="{FF2B5EF4-FFF2-40B4-BE49-F238E27FC236}">
                <a16:creationId xmlns:a16="http://schemas.microsoft.com/office/drawing/2014/main" id="{E370B4DC-DB9C-4FED-8D8D-44E6B65B50A9}"/>
              </a:ext>
            </a:extLst>
          </p:cNvPr>
          <p:cNvSpPr txBox="1"/>
          <p:nvPr/>
        </p:nvSpPr>
        <p:spPr>
          <a:xfrm>
            <a:off x="8933899" y="3816384"/>
            <a:ext cx="878767" cy="369332"/>
          </a:xfrm>
          <a:prstGeom prst="rect">
            <a:avLst/>
          </a:prstGeom>
          <a:noFill/>
        </p:spPr>
        <p:txBody>
          <a:bodyPr wrap="none" rtlCol="0">
            <a:spAutoFit/>
          </a:bodyPr>
          <a:lstStyle/>
          <a:p>
            <a:r>
              <a:rPr lang="ru-RU" dirty="0"/>
              <a:t>Истина</a:t>
            </a:r>
          </a:p>
        </p:txBody>
      </p:sp>
      <p:sp>
        <p:nvSpPr>
          <p:cNvPr id="14" name="Прямоугольник 13">
            <a:extLst>
              <a:ext uri="{FF2B5EF4-FFF2-40B4-BE49-F238E27FC236}">
                <a16:creationId xmlns:a16="http://schemas.microsoft.com/office/drawing/2014/main" id="{4BF93FBA-60BF-4244-A964-86D3D890E054}"/>
              </a:ext>
            </a:extLst>
          </p:cNvPr>
          <p:cNvSpPr/>
          <p:nvPr/>
        </p:nvSpPr>
        <p:spPr>
          <a:xfrm>
            <a:off x="7750327" y="1586697"/>
            <a:ext cx="2276541" cy="59793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Инициализация</a:t>
            </a:r>
          </a:p>
        </p:txBody>
      </p:sp>
      <p:cxnSp>
        <p:nvCxnSpPr>
          <p:cNvPr id="15" name="Прямая со стрелкой 14">
            <a:extLst>
              <a:ext uri="{FF2B5EF4-FFF2-40B4-BE49-F238E27FC236}">
                <a16:creationId xmlns:a16="http://schemas.microsoft.com/office/drawing/2014/main" id="{CD8F7A07-5033-4AEE-877B-CD7E37AB7E91}"/>
              </a:ext>
            </a:extLst>
          </p:cNvPr>
          <p:cNvCxnSpPr>
            <a:cxnSpLocks/>
            <a:endCxn id="14" idx="0"/>
          </p:cNvCxnSpPr>
          <p:nvPr/>
        </p:nvCxnSpPr>
        <p:spPr>
          <a:xfrm>
            <a:off x="8888598" y="1263059"/>
            <a:ext cx="0" cy="323638"/>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32" name="Прямая со стрелкой 31">
            <a:extLst>
              <a:ext uri="{FF2B5EF4-FFF2-40B4-BE49-F238E27FC236}">
                <a16:creationId xmlns:a16="http://schemas.microsoft.com/office/drawing/2014/main" id="{F97E9EBA-BBC9-4F3C-8B5C-E6968AD09CAC}"/>
              </a:ext>
            </a:extLst>
          </p:cNvPr>
          <p:cNvCxnSpPr>
            <a:cxnSpLocks/>
            <a:stCxn id="14" idx="2"/>
            <a:endCxn id="6" idx="0"/>
          </p:cNvCxnSpPr>
          <p:nvPr/>
        </p:nvCxnSpPr>
        <p:spPr>
          <a:xfrm flipH="1">
            <a:off x="8882357" y="2184627"/>
            <a:ext cx="6241" cy="398625"/>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39" name="Прямоугольник 38">
            <a:extLst>
              <a:ext uri="{FF2B5EF4-FFF2-40B4-BE49-F238E27FC236}">
                <a16:creationId xmlns:a16="http://schemas.microsoft.com/office/drawing/2014/main" id="{1B58D53C-1626-4C59-A36E-97CF657E154C}"/>
              </a:ext>
            </a:extLst>
          </p:cNvPr>
          <p:cNvSpPr/>
          <p:nvPr/>
        </p:nvSpPr>
        <p:spPr>
          <a:xfrm>
            <a:off x="7744085" y="5076097"/>
            <a:ext cx="2276541" cy="59793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Шаг цикла</a:t>
            </a:r>
          </a:p>
        </p:txBody>
      </p:sp>
      <p:cxnSp>
        <p:nvCxnSpPr>
          <p:cNvPr id="40" name="Прямая со стрелкой 39">
            <a:extLst>
              <a:ext uri="{FF2B5EF4-FFF2-40B4-BE49-F238E27FC236}">
                <a16:creationId xmlns:a16="http://schemas.microsoft.com/office/drawing/2014/main" id="{F80E058C-7D73-4CB4-B439-FD2C82D2C4D9}"/>
              </a:ext>
            </a:extLst>
          </p:cNvPr>
          <p:cNvCxnSpPr>
            <a:cxnSpLocks/>
            <a:stCxn id="6" idx="3"/>
          </p:cNvCxnSpPr>
          <p:nvPr/>
        </p:nvCxnSpPr>
        <p:spPr>
          <a:xfrm flipH="1">
            <a:off x="8980039" y="3244542"/>
            <a:ext cx="1040588" cy="3049053"/>
          </a:xfrm>
          <a:prstGeom prst="bentConnector4">
            <a:avLst>
              <a:gd name="adj1" fmla="val -38937"/>
              <a:gd name="adj2" fmla="val 88145"/>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63" name="Прямая со стрелкой 62">
            <a:extLst>
              <a:ext uri="{FF2B5EF4-FFF2-40B4-BE49-F238E27FC236}">
                <a16:creationId xmlns:a16="http://schemas.microsoft.com/office/drawing/2014/main" id="{5617C2AD-EC1E-4FA6-AAAA-210C1DAB91D2}"/>
              </a:ext>
            </a:extLst>
          </p:cNvPr>
          <p:cNvCxnSpPr>
            <a:cxnSpLocks/>
            <a:stCxn id="7" idx="2"/>
            <a:endCxn id="39" idx="0"/>
          </p:cNvCxnSpPr>
          <p:nvPr/>
        </p:nvCxnSpPr>
        <p:spPr>
          <a:xfrm>
            <a:off x="8882353" y="4808201"/>
            <a:ext cx="3" cy="267896"/>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66" name="Прямая со стрелкой 39">
            <a:extLst>
              <a:ext uri="{FF2B5EF4-FFF2-40B4-BE49-F238E27FC236}">
                <a16:creationId xmlns:a16="http://schemas.microsoft.com/office/drawing/2014/main" id="{F66A226C-441B-4149-954E-4D8FD5286826}"/>
              </a:ext>
            </a:extLst>
          </p:cNvPr>
          <p:cNvCxnSpPr>
            <a:cxnSpLocks/>
            <a:stCxn id="39" idx="1"/>
            <a:endCxn id="6" idx="1"/>
          </p:cNvCxnSpPr>
          <p:nvPr/>
        </p:nvCxnSpPr>
        <p:spPr>
          <a:xfrm rot="10800000" flipH="1">
            <a:off x="7744084" y="3244542"/>
            <a:ext cx="1" cy="2130520"/>
          </a:xfrm>
          <a:prstGeom prst="bentConnector3">
            <a:avLst>
              <a:gd name="adj1" fmla="val -22860000000"/>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16" name="TextBox 15">
            <a:extLst>
              <a:ext uri="{FF2B5EF4-FFF2-40B4-BE49-F238E27FC236}">
                <a16:creationId xmlns:a16="http://schemas.microsoft.com/office/drawing/2014/main" id="{C5000FAF-9DBF-495F-A7CA-C681BE0C189F}"/>
              </a:ext>
            </a:extLst>
          </p:cNvPr>
          <p:cNvSpPr txBox="1"/>
          <p:nvPr/>
        </p:nvSpPr>
        <p:spPr>
          <a:xfrm>
            <a:off x="1266825" y="3270412"/>
            <a:ext cx="6010275" cy="1200329"/>
          </a:xfrm>
          <a:prstGeom prst="rect">
            <a:avLst/>
          </a:prstGeom>
          <a:noFill/>
        </p:spPr>
        <p:txBody>
          <a:bodyPr wrap="square">
            <a:spAutoFit/>
          </a:bodyPr>
          <a:lstStyle/>
          <a:p>
            <a:r>
              <a:rPr lang="en-US" sz="2400" b="0" dirty="0">
                <a:solidFill>
                  <a:srgbClr val="C586C0"/>
                </a:solidFill>
                <a:effectLst/>
                <a:latin typeface="Consolas" panose="020B0609020204030204" pitchFamily="49" charset="0"/>
              </a:rPr>
              <a:t>for</a:t>
            </a:r>
            <a:r>
              <a:rPr lang="en-US" sz="2400" b="0" dirty="0">
                <a:solidFill>
                  <a:srgbClr val="D4D4D4"/>
                </a:solidFill>
                <a:effectLst/>
                <a:latin typeface="Consolas" panose="020B0609020204030204" pitchFamily="49" charset="0"/>
              </a:rPr>
              <a:t> (s1; s2; s3) {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6A9955"/>
                </a:solidFill>
                <a:effectLst/>
                <a:latin typeface="Consolas" panose="020B0609020204030204" pitchFamily="49" charset="0"/>
              </a:rPr>
              <a:t>// code block to be executed</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a:t>
            </a:r>
            <a:endParaRPr lang="en-US" sz="2400" b="0" dirty="0">
              <a:solidFill>
                <a:srgbClr val="CCCCCC"/>
              </a:solidFill>
              <a:effectLst/>
              <a:latin typeface="Consolas" panose="020B0609020204030204" pitchFamily="49" charset="0"/>
            </a:endParaRPr>
          </a:p>
        </p:txBody>
      </p:sp>
      <p:sp>
        <p:nvSpPr>
          <p:cNvPr id="20" name="TextBox 19">
            <a:extLst>
              <a:ext uri="{FF2B5EF4-FFF2-40B4-BE49-F238E27FC236}">
                <a16:creationId xmlns:a16="http://schemas.microsoft.com/office/drawing/2014/main" id="{A5C97946-186B-42E2-AAEA-32C0301C230D}"/>
              </a:ext>
            </a:extLst>
          </p:cNvPr>
          <p:cNvSpPr txBox="1"/>
          <p:nvPr/>
        </p:nvSpPr>
        <p:spPr>
          <a:xfrm>
            <a:off x="1266825" y="4769068"/>
            <a:ext cx="6096000" cy="1200329"/>
          </a:xfrm>
          <a:prstGeom prst="rect">
            <a:avLst/>
          </a:prstGeom>
          <a:noFill/>
        </p:spPr>
        <p:txBody>
          <a:bodyPr wrap="square">
            <a:spAutoFit/>
          </a:bodyPr>
          <a:lstStyle/>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s1 – блок инициализации</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s2 – логическое выражение</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s3 – шаг цикла</a:t>
            </a:r>
          </a:p>
        </p:txBody>
      </p:sp>
    </p:spTree>
    <p:extLst>
      <p:ext uri="{BB962C8B-B14F-4D97-AF65-F5344CB8AC3E}">
        <p14:creationId xmlns:p14="http://schemas.microsoft.com/office/powerpoint/2010/main" val="1388803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3">
            <a:extLst>
              <a:ext uri="{FF2B5EF4-FFF2-40B4-BE49-F238E27FC236}">
                <a16:creationId xmlns:a16="http://schemas.microsoft.com/office/drawing/2014/main" id="{8259CF3A-AC4E-4FB4-B194-DC7CBFC75277}"/>
              </a:ext>
            </a:extLst>
          </p:cNvPr>
          <p:cNvSpPr txBox="1">
            <a:spLocks/>
          </p:cNvSpPr>
          <p:nvPr/>
        </p:nvSpPr>
        <p:spPr>
          <a:xfrm>
            <a:off x="1589314" y="280536"/>
            <a:ext cx="9013371" cy="11648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for loop variations</a:t>
            </a:r>
            <a:endParaRPr lang="ru-RU" dirty="0"/>
          </a:p>
        </p:txBody>
      </p:sp>
      <p:sp>
        <p:nvSpPr>
          <p:cNvPr id="22" name="TextBox 21">
            <a:extLst>
              <a:ext uri="{FF2B5EF4-FFF2-40B4-BE49-F238E27FC236}">
                <a16:creationId xmlns:a16="http://schemas.microsoft.com/office/drawing/2014/main" id="{AC3AFFEF-CF25-45AC-90A7-920955B7E9DE}"/>
              </a:ext>
            </a:extLst>
          </p:cNvPr>
          <p:cNvSpPr txBox="1"/>
          <p:nvPr/>
        </p:nvSpPr>
        <p:spPr>
          <a:xfrm>
            <a:off x="3358646" y="1830735"/>
            <a:ext cx="6234694" cy="3539430"/>
          </a:xfrm>
          <a:prstGeom prst="rect">
            <a:avLst/>
          </a:prstGeom>
          <a:noFill/>
        </p:spPr>
        <p:txBody>
          <a:bodyPr wrap="square">
            <a:spAutoFit/>
          </a:bodyPr>
          <a:lstStyle/>
          <a:p>
            <a:r>
              <a:rPr lang="en-US" sz="2800" b="0" dirty="0">
                <a:solidFill>
                  <a:srgbClr val="B5CEA8"/>
                </a:solidFill>
                <a:effectLst/>
                <a:latin typeface="Consolas" panose="020B0609020204030204" pitchFamily="49" charset="0"/>
              </a:rPr>
              <a:t>1.</a:t>
            </a:r>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(s1; s2; s3) { ... }</a:t>
            </a:r>
            <a:endParaRPr lang="en-US" sz="2800" b="0" dirty="0">
              <a:solidFill>
                <a:srgbClr val="CCCCCC"/>
              </a:solidFill>
              <a:effectLst/>
              <a:latin typeface="Consolas" panose="020B0609020204030204" pitchFamily="49" charset="0"/>
            </a:endParaRPr>
          </a:p>
          <a:p>
            <a:r>
              <a:rPr lang="en-US" sz="2800" b="0" dirty="0">
                <a:solidFill>
                  <a:srgbClr val="B5CEA8"/>
                </a:solidFill>
                <a:effectLst/>
                <a:latin typeface="Consolas" panose="020B0609020204030204" pitchFamily="49" charset="0"/>
              </a:rPr>
              <a:t>2.</a:t>
            </a:r>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 s2; s3) { ... }</a:t>
            </a:r>
            <a:endParaRPr lang="en-US" sz="2800" b="0" dirty="0">
              <a:solidFill>
                <a:srgbClr val="CCCCCC"/>
              </a:solidFill>
              <a:effectLst/>
              <a:latin typeface="Consolas" panose="020B0609020204030204" pitchFamily="49" charset="0"/>
            </a:endParaRPr>
          </a:p>
          <a:p>
            <a:r>
              <a:rPr lang="en-US" sz="2800" b="0" dirty="0">
                <a:solidFill>
                  <a:srgbClr val="B5CEA8"/>
                </a:solidFill>
                <a:effectLst/>
                <a:latin typeface="Consolas" panose="020B0609020204030204" pitchFamily="49" charset="0"/>
              </a:rPr>
              <a:t>3.</a:t>
            </a:r>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(s1;; s3) { ... }</a:t>
            </a:r>
            <a:endParaRPr lang="en-US" sz="2800" b="0" dirty="0">
              <a:solidFill>
                <a:srgbClr val="CCCCCC"/>
              </a:solidFill>
              <a:effectLst/>
              <a:latin typeface="Consolas" panose="020B0609020204030204" pitchFamily="49" charset="0"/>
            </a:endParaRPr>
          </a:p>
          <a:p>
            <a:r>
              <a:rPr lang="en-US" sz="2800" b="0" dirty="0">
                <a:solidFill>
                  <a:srgbClr val="B5CEA8"/>
                </a:solidFill>
                <a:effectLst/>
                <a:latin typeface="Consolas" panose="020B0609020204030204" pitchFamily="49" charset="0"/>
              </a:rPr>
              <a:t>4.</a:t>
            </a:r>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(s1; s2;) { ... }</a:t>
            </a:r>
            <a:endParaRPr lang="en-US" sz="2800" b="0" dirty="0">
              <a:solidFill>
                <a:srgbClr val="CCCCCC"/>
              </a:solidFill>
              <a:effectLst/>
              <a:latin typeface="Consolas" panose="020B0609020204030204" pitchFamily="49" charset="0"/>
            </a:endParaRPr>
          </a:p>
          <a:p>
            <a:r>
              <a:rPr lang="en-US" sz="2800" b="0" dirty="0">
                <a:solidFill>
                  <a:srgbClr val="B5CEA8"/>
                </a:solidFill>
                <a:effectLst/>
                <a:latin typeface="Consolas" panose="020B0609020204030204" pitchFamily="49" charset="0"/>
              </a:rPr>
              <a:t>5.</a:t>
            </a:r>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 s2;) { ... }</a:t>
            </a:r>
            <a:endParaRPr lang="en-US" sz="2800" b="0" dirty="0">
              <a:solidFill>
                <a:srgbClr val="CCCCCC"/>
              </a:solidFill>
              <a:effectLst/>
              <a:latin typeface="Consolas" panose="020B0609020204030204" pitchFamily="49" charset="0"/>
            </a:endParaRPr>
          </a:p>
          <a:p>
            <a:r>
              <a:rPr lang="en-US" sz="2800" b="0" dirty="0">
                <a:solidFill>
                  <a:srgbClr val="B5CEA8"/>
                </a:solidFill>
                <a:effectLst/>
                <a:latin typeface="Consolas" panose="020B0609020204030204" pitchFamily="49" charset="0"/>
              </a:rPr>
              <a:t>6.</a:t>
            </a:r>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(s1;;) { ... }</a:t>
            </a:r>
            <a:endParaRPr lang="en-US" sz="2800" b="0" dirty="0">
              <a:solidFill>
                <a:srgbClr val="CCCCCC"/>
              </a:solidFill>
              <a:effectLst/>
              <a:latin typeface="Consolas" panose="020B0609020204030204" pitchFamily="49" charset="0"/>
            </a:endParaRPr>
          </a:p>
          <a:p>
            <a:r>
              <a:rPr lang="en-US" sz="2800" b="0" dirty="0">
                <a:solidFill>
                  <a:srgbClr val="B5CEA8"/>
                </a:solidFill>
                <a:effectLst/>
                <a:latin typeface="Consolas" panose="020B0609020204030204" pitchFamily="49" charset="0"/>
              </a:rPr>
              <a:t>7.</a:t>
            </a:r>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 s3) { ... }</a:t>
            </a:r>
            <a:endParaRPr lang="en-US" sz="2800" b="0" dirty="0">
              <a:solidFill>
                <a:srgbClr val="CCCCCC"/>
              </a:solidFill>
              <a:effectLst/>
              <a:latin typeface="Consolas" panose="020B0609020204030204" pitchFamily="49" charset="0"/>
            </a:endParaRPr>
          </a:p>
          <a:p>
            <a:r>
              <a:rPr lang="en-US" sz="2800" b="0" dirty="0">
                <a:solidFill>
                  <a:srgbClr val="B5CEA8"/>
                </a:solidFill>
                <a:effectLst/>
                <a:latin typeface="Consolas" panose="020B0609020204030204" pitchFamily="49" charset="0"/>
              </a:rPr>
              <a:t>8.</a:t>
            </a:r>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 { ... }</a:t>
            </a:r>
            <a:endParaRPr lang="en-US" sz="2800" b="0" dirty="0">
              <a:solidFill>
                <a:srgbClr val="CCCCCC"/>
              </a:solidFill>
              <a:effectLst/>
              <a:latin typeface="Consolas" panose="020B0609020204030204" pitchFamily="49" charset="0"/>
            </a:endParaRPr>
          </a:p>
        </p:txBody>
      </p:sp>
      <p:sp>
        <p:nvSpPr>
          <p:cNvPr id="7" name="TextBox 6">
            <a:extLst>
              <a:ext uri="{FF2B5EF4-FFF2-40B4-BE49-F238E27FC236}">
                <a16:creationId xmlns:a16="http://schemas.microsoft.com/office/drawing/2014/main" id="{7E32761D-2690-4C2E-9FB3-08639F17475A}"/>
              </a:ext>
            </a:extLst>
          </p:cNvPr>
          <p:cNvSpPr txBox="1"/>
          <p:nvPr/>
        </p:nvSpPr>
        <p:spPr>
          <a:xfrm>
            <a:off x="7991475" y="5198715"/>
            <a:ext cx="4114800" cy="1200329"/>
          </a:xfrm>
          <a:prstGeom prst="rect">
            <a:avLst/>
          </a:prstGeom>
          <a:noFill/>
        </p:spPr>
        <p:txBody>
          <a:bodyPr wrap="square">
            <a:spAutoFit/>
          </a:bodyPr>
          <a:lstStyle/>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s1 – блок инициализации</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s2 – логическое выражение</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s3 – шаг цикла</a:t>
            </a:r>
          </a:p>
        </p:txBody>
      </p:sp>
    </p:spTree>
    <p:extLst>
      <p:ext uri="{BB962C8B-B14F-4D97-AF65-F5344CB8AC3E}">
        <p14:creationId xmlns:p14="http://schemas.microsoft.com/office/powerpoint/2010/main" val="2250868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3">
            <a:extLst>
              <a:ext uri="{FF2B5EF4-FFF2-40B4-BE49-F238E27FC236}">
                <a16:creationId xmlns:a16="http://schemas.microsoft.com/office/drawing/2014/main" id="{8259CF3A-AC4E-4FB4-B194-DC7CBFC75277}"/>
              </a:ext>
            </a:extLst>
          </p:cNvPr>
          <p:cNvSpPr txBox="1">
            <a:spLocks/>
          </p:cNvSpPr>
          <p:nvPr/>
        </p:nvSpPr>
        <p:spPr>
          <a:xfrm>
            <a:off x="1589314" y="136157"/>
            <a:ext cx="9013371" cy="11648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break</a:t>
            </a:r>
            <a:endParaRPr lang="ru-RU" dirty="0"/>
          </a:p>
        </p:txBody>
      </p:sp>
      <p:sp>
        <p:nvSpPr>
          <p:cNvPr id="2" name="TextBox 1">
            <a:extLst>
              <a:ext uri="{FF2B5EF4-FFF2-40B4-BE49-F238E27FC236}">
                <a16:creationId xmlns:a16="http://schemas.microsoft.com/office/drawing/2014/main" id="{339D0FE2-A696-49A8-A636-A21CE9304E7B}"/>
              </a:ext>
            </a:extLst>
          </p:cNvPr>
          <p:cNvSpPr txBox="1"/>
          <p:nvPr/>
        </p:nvSpPr>
        <p:spPr>
          <a:xfrm>
            <a:off x="2074590" y="1301028"/>
            <a:ext cx="3518912" cy="2246769"/>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while (expr) {</a:t>
            </a:r>
          </a:p>
          <a:p>
            <a:r>
              <a:rPr lang="en-US" sz="2800" dirty="0">
                <a:latin typeface="Times New Roman" panose="02020603050405020304" pitchFamily="18" charset="0"/>
                <a:cs typeface="Times New Roman" panose="02020603050405020304" pitchFamily="18" charset="0"/>
              </a:rPr>
              <a:t>    if (</a:t>
            </a:r>
            <a:r>
              <a:rPr lang="en-US" sz="2800" dirty="0" err="1">
                <a:latin typeface="Times New Roman" panose="02020603050405020304" pitchFamily="18" charset="0"/>
                <a:cs typeface="Times New Roman" panose="02020603050405020304" pitchFamily="18" charset="0"/>
              </a:rPr>
              <a:t>expr_to_break</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        </a:t>
            </a:r>
            <a:r>
              <a:rPr lang="en-US" sz="2800" b="1" dirty="0">
                <a:solidFill>
                  <a:schemeClr val="accent6"/>
                </a:solidFill>
                <a:latin typeface="Times New Roman" panose="02020603050405020304" pitchFamily="18" charset="0"/>
                <a:cs typeface="Times New Roman" panose="02020603050405020304" pitchFamily="18" charset="0"/>
              </a:rPr>
              <a:t>break</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A32D6D41-69E0-487E-BFEE-3FD06558A39D}"/>
              </a:ext>
            </a:extLst>
          </p:cNvPr>
          <p:cNvSpPr txBox="1"/>
          <p:nvPr/>
        </p:nvSpPr>
        <p:spPr>
          <a:xfrm>
            <a:off x="7304612" y="1301028"/>
            <a:ext cx="3518912" cy="2246769"/>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do {</a:t>
            </a:r>
          </a:p>
          <a:p>
            <a:r>
              <a:rPr lang="en-US" sz="2800" dirty="0">
                <a:latin typeface="Times New Roman" panose="02020603050405020304" pitchFamily="18" charset="0"/>
                <a:cs typeface="Times New Roman" panose="02020603050405020304" pitchFamily="18" charset="0"/>
              </a:rPr>
              <a:t>    if (</a:t>
            </a:r>
            <a:r>
              <a:rPr lang="en-US" sz="2800" dirty="0" err="1">
                <a:latin typeface="Times New Roman" panose="02020603050405020304" pitchFamily="18" charset="0"/>
                <a:cs typeface="Times New Roman" panose="02020603050405020304" pitchFamily="18" charset="0"/>
              </a:rPr>
              <a:t>expr_to_break</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        </a:t>
            </a:r>
            <a:r>
              <a:rPr lang="en-US" sz="2800" b="1" dirty="0">
                <a:solidFill>
                  <a:schemeClr val="accent6"/>
                </a:solidFill>
                <a:latin typeface="Times New Roman" panose="02020603050405020304" pitchFamily="18" charset="0"/>
                <a:cs typeface="Times New Roman" panose="02020603050405020304" pitchFamily="18" charset="0"/>
              </a:rPr>
              <a:t>break</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 while (expr);</a:t>
            </a:r>
            <a:endParaRPr lang="ru-RU" sz="2800" dirty="0">
              <a:latin typeface="Times New Roman" panose="02020603050405020304" pitchFamily="18" charset="0"/>
              <a:cs typeface="Times New Roman" panose="02020603050405020304" pitchFamily="18" charset="0"/>
            </a:endParaRPr>
          </a:p>
        </p:txBody>
      </p:sp>
      <p:cxnSp>
        <p:nvCxnSpPr>
          <p:cNvPr id="24" name="Прямая со стрелкой 39">
            <a:extLst>
              <a:ext uri="{FF2B5EF4-FFF2-40B4-BE49-F238E27FC236}">
                <a16:creationId xmlns:a16="http://schemas.microsoft.com/office/drawing/2014/main" id="{7D4DEAD1-6BD3-48DA-880A-BEBCAEB84672}"/>
              </a:ext>
            </a:extLst>
          </p:cNvPr>
          <p:cNvCxnSpPr>
            <a:cxnSpLocks/>
            <a:stCxn id="23" idx="1"/>
          </p:cNvCxnSpPr>
          <p:nvPr/>
        </p:nvCxnSpPr>
        <p:spPr>
          <a:xfrm rot="10800000" flipH="1" flipV="1">
            <a:off x="7304611" y="2424413"/>
            <a:ext cx="237611" cy="1390842"/>
          </a:xfrm>
          <a:prstGeom prst="bentConnector4">
            <a:avLst>
              <a:gd name="adj1" fmla="val -96208"/>
              <a:gd name="adj2" fmla="val 99907"/>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26" name="TextBox 25">
            <a:extLst>
              <a:ext uri="{FF2B5EF4-FFF2-40B4-BE49-F238E27FC236}">
                <a16:creationId xmlns:a16="http://schemas.microsoft.com/office/drawing/2014/main" id="{9C686510-B40D-4674-9E3B-087D7C6ED69A}"/>
              </a:ext>
            </a:extLst>
          </p:cNvPr>
          <p:cNvSpPr txBox="1"/>
          <p:nvPr/>
        </p:nvSpPr>
        <p:spPr>
          <a:xfrm>
            <a:off x="3289611" y="3815255"/>
            <a:ext cx="3518912" cy="2246769"/>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for (</a:t>
            </a:r>
            <a:r>
              <a:rPr lang="en-US" sz="2800" dirty="0" err="1">
                <a:latin typeface="Times New Roman" panose="02020603050405020304" pitchFamily="18" charset="0"/>
                <a:cs typeface="Times New Roman" panose="02020603050405020304" pitchFamily="18" charset="0"/>
              </a:rPr>
              <a:t>init</a:t>
            </a:r>
            <a:r>
              <a:rPr lang="en-US" sz="2800" dirty="0">
                <a:latin typeface="Times New Roman" panose="02020603050405020304" pitchFamily="18" charset="0"/>
                <a:cs typeface="Times New Roman" panose="02020603050405020304" pitchFamily="18" charset="0"/>
              </a:rPr>
              <a:t>; expr; step) {</a:t>
            </a:r>
          </a:p>
          <a:p>
            <a:r>
              <a:rPr lang="en-US" sz="2800" dirty="0">
                <a:latin typeface="Times New Roman" panose="02020603050405020304" pitchFamily="18" charset="0"/>
                <a:cs typeface="Times New Roman" panose="02020603050405020304" pitchFamily="18" charset="0"/>
              </a:rPr>
              <a:t>    if (</a:t>
            </a:r>
            <a:r>
              <a:rPr lang="en-US" sz="2800" dirty="0" err="1">
                <a:latin typeface="Times New Roman" panose="02020603050405020304" pitchFamily="18" charset="0"/>
                <a:cs typeface="Times New Roman" panose="02020603050405020304" pitchFamily="18" charset="0"/>
              </a:rPr>
              <a:t>expr_to_break</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        </a:t>
            </a:r>
            <a:r>
              <a:rPr lang="en-US" sz="2800" b="1" dirty="0">
                <a:solidFill>
                  <a:schemeClr val="accent6"/>
                </a:solidFill>
                <a:latin typeface="Times New Roman" panose="02020603050405020304" pitchFamily="18" charset="0"/>
                <a:cs typeface="Times New Roman" panose="02020603050405020304" pitchFamily="18" charset="0"/>
              </a:rPr>
              <a:t>break</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cxnSp>
        <p:nvCxnSpPr>
          <p:cNvPr id="27" name="Прямая со стрелкой 39">
            <a:extLst>
              <a:ext uri="{FF2B5EF4-FFF2-40B4-BE49-F238E27FC236}">
                <a16:creationId xmlns:a16="http://schemas.microsoft.com/office/drawing/2014/main" id="{4F779D52-15B7-4CE5-9A9D-405FE9BE96CA}"/>
              </a:ext>
            </a:extLst>
          </p:cNvPr>
          <p:cNvCxnSpPr>
            <a:cxnSpLocks/>
            <a:stCxn id="26" idx="1"/>
          </p:cNvCxnSpPr>
          <p:nvPr/>
        </p:nvCxnSpPr>
        <p:spPr>
          <a:xfrm rot="10800000" flipH="1" flipV="1">
            <a:off x="3289611" y="4938640"/>
            <a:ext cx="393214" cy="1390842"/>
          </a:xfrm>
          <a:prstGeom prst="bentConnector4">
            <a:avLst>
              <a:gd name="adj1" fmla="val -58136"/>
              <a:gd name="adj2" fmla="val 99907"/>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40" name="Прямая со стрелкой 39">
            <a:extLst>
              <a:ext uri="{FF2B5EF4-FFF2-40B4-BE49-F238E27FC236}">
                <a16:creationId xmlns:a16="http://schemas.microsoft.com/office/drawing/2014/main" id="{D2C0AC43-BAA1-44CE-BB6F-55D83BE0B33F}"/>
              </a:ext>
            </a:extLst>
          </p:cNvPr>
          <p:cNvCxnSpPr>
            <a:cxnSpLocks/>
            <a:stCxn id="2" idx="1"/>
          </p:cNvCxnSpPr>
          <p:nvPr/>
        </p:nvCxnSpPr>
        <p:spPr>
          <a:xfrm rot="10800000" flipH="1" flipV="1">
            <a:off x="2074589" y="2424413"/>
            <a:ext cx="346993" cy="1390842"/>
          </a:xfrm>
          <a:prstGeom prst="bentConnector4">
            <a:avLst>
              <a:gd name="adj1" fmla="val -65880"/>
              <a:gd name="adj2" fmla="val 100360"/>
            </a:avLst>
          </a:prstGeom>
          <a:ln w="38100">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1581478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3">
            <a:extLst>
              <a:ext uri="{FF2B5EF4-FFF2-40B4-BE49-F238E27FC236}">
                <a16:creationId xmlns:a16="http://schemas.microsoft.com/office/drawing/2014/main" id="{8259CF3A-AC4E-4FB4-B194-DC7CBFC75277}"/>
              </a:ext>
            </a:extLst>
          </p:cNvPr>
          <p:cNvSpPr txBox="1">
            <a:spLocks/>
          </p:cNvSpPr>
          <p:nvPr/>
        </p:nvSpPr>
        <p:spPr>
          <a:xfrm>
            <a:off x="1589314" y="136157"/>
            <a:ext cx="9013371" cy="11648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continue</a:t>
            </a:r>
            <a:endParaRPr lang="ru-RU" dirty="0"/>
          </a:p>
        </p:txBody>
      </p:sp>
      <p:sp>
        <p:nvSpPr>
          <p:cNvPr id="2" name="TextBox 1">
            <a:extLst>
              <a:ext uri="{FF2B5EF4-FFF2-40B4-BE49-F238E27FC236}">
                <a16:creationId xmlns:a16="http://schemas.microsoft.com/office/drawing/2014/main" id="{339D0FE2-A696-49A8-A636-A21CE9304E7B}"/>
              </a:ext>
            </a:extLst>
          </p:cNvPr>
          <p:cNvSpPr txBox="1"/>
          <p:nvPr/>
        </p:nvSpPr>
        <p:spPr>
          <a:xfrm>
            <a:off x="2074590" y="1301028"/>
            <a:ext cx="3956532" cy="2246769"/>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while (expr) {</a:t>
            </a:r>
          </a:p>
          <a:p>
            <a:r>
              <a:rPr lang="en-US" sz="2800" dirty="0">
                <a:latin typeface="Times New Roman" panose="02020603050405020304" pitchFamily="18" charset="0"/>
                <a:cs typeface="Times New Roman" panose="02020603050405020304" pitchFamily="18" charset="0"/>
              </a:rPr>
              <a:t>    if (</a:t>
            </a:r>
            <a:r>
              <a:rPr lang="en-US" sz="2800" dirty="0" err="1">
                <a:latin typeface="Times New Roman" panose="02020603050405020304" pitchFamily="18" charset="0"/>
                <a:cs typeface="Times New Roman" panose="02020603050405020304" pitchFamily="18" charset="0"/>
              </a:rPr>
              <a:t>expr_to_continue</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        </a:t>
            </a:r>
            <a:r>
              <a:rPr lang="en-US" sz="2800" b="1" dirty="0">
                <a:solidFill>
                  <a:schemeClr val="accent6"/>
                </a:solidFill>
                <a:latin typeface="Times New Roman" panose="02020603050405020304" pitchFamily="18" charset="0"/>
                <a:cs typeface="Times New Roman" panose="02020603050405020304" pitchFamily="18" charset="0"/>
              </a:rPr>
              <a:t>continue</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A32D6D41-69E0-487E-BFEE-3FD06558A39D}"/>
              </a:ext>
            </a:extLst>
          </p:cNvPr>
          <p:cNvSpPr txBox="1"/>
          <p:nvPr/>
        </p:nvSpPr>
        <p:spPr>
          <a:xfrm>
            <a:off x="7304612" y="1301028"/>
            <a:ext cx="3956532" cy="2246769"/>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do {</a:t>
            </a:r>
          </a:p>
          <a:p>
            <a:r>
              <a:rPr lang="en-US" sz="2800" dirty="0">
                <a:latin typeface="Times New Roman" panose="02020603050405020304" pitchFamily="18" charset="0"/>
                <a:cs typeface="Times New Roman" panose="02020603050405020304" pitchFamily="18" charset="0"/>
              </a:rPr>
              <a:t>    if (</a:t>
            </a:r>
            <a:r>
              <a:rPr lang="en-US" sz="2800" dirty="0" err="1">
                <a:latin typeface="Times New Roman" panose="02020603050405020304" pitchFamily="18" charset="0"/>
                <a:cs typeface="Times New Roman" panose="02020603050405020304" pitchFamily="18" charset="0"/>
              </a:rPr>
              <a:t>expr_to_continue</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 	</a:t>
            </a:r>
            <a:r>
              <a:rPr lang="en-US" sz="2800" b="1" dirty="0">
                <a:solidFill>
                  <a:schemeClr val="accent6"/>
                </a:solidFill>
                <a:latin typeface="Times New Roman" panose="02020603050405020304" pitchFamily="18" charset="0"/>
                <a:cs typeface="Times New Roman" panose="02020603050405020304" pitchFamily="18" charset="0"/>
              </a:rPr>
              <a:t>continue</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 while (expr);</a:t>
            </a:r>
            <a:endParaRPr lang="ru-RU" sz="2800" dirty="0">
              <a:latin typeface="Times New Roman" panose="02020603050405020304" pitchFamily="18" charset="0"/>
              <a:cs typeface="Times New Roman" panose="02020603050405020304" pitchFamily="18" charset="0"/>
            </a:endParaRPr>
          </a:p>
        </p:txBody>
      </p:sp>
      <p:cxnSp>
        <p:nvCxnSpPr>
          <p:cNvPr id="24" name="Прямая со стрелкой 39">
            <a:extLst>
              <a:ext uri="{FF2B5EF4-FFF2-40B4-BE49-F238E27FC236}">
                <a16:creationId xmlns:a16="http://schemas.microsoft.com/office/drawing/2014/main" id="{7D4DEAD1-6BD3-48DA-880A-BEBCAEB84672}"/>
              </a:ext>
            </a:extLst>
          </p:cNvPr>
          <p:cNvCxnSpPr>
            <a:cxnSpLocks/>
            <a:stCxn id="23" idx="1"/>
          </p:cNvCxnSpPr>
          <p:nvPr/>
        </p:nvCxnSpPr>
        <p:spPr>
          <a:xfrm rot="10800000" flipH="1" flipV="1">
            <a:off x="7304612" y="2424412"/>
            <a:ext cx="325898" cy="924183"/>
          </a:xfrm>
          <a:prstGeom prst="bentConnector4">
            <a:avLst>
              <a:gd name="adj1" fmla="val -70145"/>
              <a:gd name="adj2" fmla="val 101405"/>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26" name="TextBox 25">
            <a:extLst>
              <a:ext uri="{FF2B5EF4-FFF2-40B4-BE49-F238E27FC236}">
                <a16:creationId xmlns:a16="http://schemas.microsoft.com/office/drawing/2014/main" id="{9C686510-B40D-4674-9E3B-087D7C6ED69A}"/>
              </a:ext>
            </a:extLst>
          </p:cNvPr>
          <p:cNvSpPr txBox="1"/>
          <p:nvPr/>
        </p:nvSpPr>
        <p:spPr>
          <a:xfrm>
            <a:off x="3258080" y="3613457"/>
            <a:ext cx="3956532" cy="2246769"/>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for (</a:t>
            </a:r>
            <a:r>
              <a:rPr lang="en-US" sz="2800" dirty="0" err="1">
                <a:latin typeface="Times New Roman" panose="02020603050405020304" pitchFamily="18" charset="0"/>
                <a:cs typeface="Times New Roman" panose="02020603050405020304" pitchFamily="18" charset="0"/>
              </a:rPr>
              <a:t>init</a:t>
            </a:r>
            <a:r>
              <a:rPr lang="en-US" sz="2800" dirty="0">
                <a:latin typeface="Times New Roman" panose="02020603050405020304" pitchFamily="18" charset="0"/>
                <a:cs typeface="Times New Roman" panose="02020603050405020304" pitchFamily="18" charset="0"/>
              </a:rPr>
              <a:t>; expr; step) {</a:t>
            </a:r>
          </a:p>
          <a:p>
            <a:r>
              <a:rPr lang="en-US" sz="2800" dirty="0">
                <a:latin typeface="Times New Roman" panose="02020603050405020304" pitchFamily="18" charset="0"/>
                <a:cs typeface="Times New Roman" panose="02020603050405020304" pitchFamily="18" charset="0"/>
              </a:rPr>
              <a:t>    if (</a:t>
            </a:r>
            <a:r>
              <a:rPr lang="en-US" sz="2800" dirty="0" err="1">
                <a:latin typeface="Times New Roman" panose="02020603050405020304" pitchFamily="18" charset="0"/>
                <a:cs typeface="Times New Roman" panose="02020603050405020304" pitchFamily="18" charset="0"/>
              </a:rPr>
              <a:t>expr_to_continue</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 	</a:t>
            </a:r>
            <a:r>
              <a:rPr lang="en-US" sz="2800" b="1" dirty="0">
                <a:solidFill>
                  <a:schemeClr val="accent6"/>
                </a:solidFill>
                <a:latin typeface="Times New Roman" panose="02020603050405020304" pitchFamily="18" charset="0"/>
                <a:cs typeface="Times New Roman" panose="02020603050405020304" pitchFamily="18" charset="0"/>
              </a:rPr>
              <a:t>continue</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cxnSp>
        <p:nvCxnSpPr>
          <p:cNvPr id="27" name="Прямая со стрелкой 39">
            <a:extLst>
              <a:ext uri="{FF2B5EF4-FFF2-40B4-BE49-F238E27FC236}">
                <a16:creationId xmlns:a16="http://schemas.microsoft.com/office/drawing/2014/main" id="{4F779D52-15B7-4CE5-9A9D-405FE9BE96CA}"/>
              </a:ext>
            </a:extLst>
          </p:cNvPr>
          <p:cNvCxnSpPr>
            <a:cxnSpLocks/>
            <a:stCxn id="26" idx="1"/>
            <a:endCxn id="26" idx="0"/>
          </p:cNvCxnSpPr>
          <p:nvPr/>
        </p:nvCxnSpPr>
        <p:spPr>
          <a:xfrm rot="10800000" flipH="1">
            <a:off x="3258080" y="3613458"/>
            <a:ext cx="1978266" cy="1123385"/>
          </a:xfrm>
          <a:prstGeom prst="bentConnector4">
            <a:avLst>
              <a:gd name="adj1" fmla="val -11556"/>
              <a:gd name="adj2" fmla="val 120349"/>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40" name="Прямая со стрелкой 39">
            <a:extLst>
              <a:ext uri="{FF2B5EF4-FFF2-40B4-BE49-F238E27FC236}">
                <a16:creationId xmlns:a16="http://schemas.microsoft.com/office/drawing/2014/main" id="{D2C0AC43-BAA1-44CE-BB6F-55D83BE0B33F}"/>
              </a:ext>
            </a:extLst>
          </p:cNvPr>
          <p:cNvCxnSpPr>
            <a:cxnSpLocks/>
            <a:stCxn id="2" idx="1"/>
          </p:cNvCxnSpPr>
          <p:nvPr/>
        </p:nvCxnSpPr>
        <p:spPr>
          <a:xfrm rot="10800000" flipH="1">
            <a:off x="2074590" y="1608083"/>
            <a:ext cx="69520" cy="816330"/>
          </a:xfrm>
          <a:prstGeom prst="bentConnector4">
            <a:avLst>
              <a:gd name="adj1" fmla="val -328826"/>
              <a:gd name="adj2" fmla="val 99352"/>
            </a:avLst>
          </a:prstGeom>
          <a:ln w="38100">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4149975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3">
            <a:extLst>
              <a:ext uri="{FF2B5EF4-FFF2-40B4-BE49-F238E27FC236}">
                <a16:creationId xmlns:a16="http://schemas.microsoft.com/office/drawing/2014/main" id="{8259CF3A-AC4E-4FB4-B194-DC7CBFC75277}"/>
              </a:ext>
            </a:extLst>
          </p:cNvPr>
          <p:cNvSpPr txBox="1">
            <a:spLocks/>
          </p:cNvSpPr>
          <p:nvPr/>
        </p:nvSpPr>
        <p:spPr>
          <a:xfrm>
            <a:off x="1589313" y="576927"/>
            <a:ext cx="9013371" cy="1164869"/>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Nested loops (</a:t>
            </a:r>
            <a:r>
              <a:rPr lang="ru-RU" dirty="0"/>
              <a:t>Вложенные циклы)</a:t>
            </a:r>
          </a:p>
        </p:txBody>
      </p:sp>
      <p:sp>
        <p:nvSpPr>
          <p:cNvPr id="6" name="TextBox 5">
            <a:extLst>
              <a:ext uri="{FF2B5EF4-FFF2-40B4-BE49-F238E27FC236}">
                <a16:creationId xmlns:a16="http://schemas.microsoft.com/office/drawing/2014/main" id="{E7BEEAD3-4246-4B32-9A53-9161A456CCC1}"/>
              </a:ext>
            </a:extLst>
          </p:cNvPr>
          <p:cNvSpPr txBox="1"/>
          <p:nvPr/>
        </p:nvSpPr>
        <p:spPr>
          <a:xfrm>
            <a:off x="1589313" y="2580412"/>
            <a:ext cx="10029828" cy="2677656"/>
          </a:xfrm>
          <a:prstGeom prst="rect">
            <a:avLst/>
          </a:prstGeom>
          <a:noFill/>
        </p:spPr>
        <p:txBody>
          <a:bodyPr wrap="square">
            <a:spAutoFit/>
          </a:bodyPr>
          <a:lstStyle/>
          <a:p>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a:t>
            </a:r>
            <a:r>
              <a:rPr lang="en-US" sz="2800" b="0" dirty="0">
                <a:solidFill>
                  <a:srgbClr val="569CD6"/>
                </a:solidFill>
                <a:effectLst/>
                <a:latin typeface="Consolas" panose="020B0609020204030204" pitchFamily="49" charset="0"/>
              </a:rPr>
              <a:t>int</a:t>
            </a:r>
            <a:r>
              <a:rPr lang="en-US" sz="2800" b="0" dirty="0">
                <a:solidFill>
                  <a:srgbClr val="D4D4D4"/>
                </a:solidFill>
                <a:effectLst/>
                <a:latin typeface="Consolas" panose="020B0609020204030204" pitchFamily="49" charset="0"/>
              </a:rPr>
              <a:t>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 </a:t>
            </a:r>
            <a:r>
              <a:rPr lang="en-US" sz="2800" b="0" dirty="0">
                <a:solidFill>
                  <a:srgbClr val="B5CEA8"/>
                </a:solidFill>
                <a:effectLst/>
                <a:latin typeface="Consolas" panose="020B0609020204030204" pitchFamily="49" charset="0"/>
              </a:rPr>
              <a:t>1</a:t>
            </a:r>
            <a:r>
              <a:rPr lang="en-US" sz="2800" b="0" dirty="0">
                <a:solidFill>
                  <a:srgbClr val="D4D4D4"/>
                </a:solidFill>
                <a:effectLst/>
                <a:latin typeface="Consolas" panose="020B0609020204030204" pitchFamily="49" charset="0"/>
              </a:rPr>
              <a:t>;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&lt;= </a:t>
            </a:r>
            <a:r>
              <a:rPr lang="en-US" sz="2800" b="0" dirty="0">
                <a:solidFill>
                  <a:srgbClr val="B5CEA8"/>
                </a:solidFill>
                <a:effectLst/>
                <a:latin typeface="Consolas" panose="020B0609020204030204" pitchFamily="49" charset="0"/>
              </a:rPr>
              <a:t>3</a:t>
            </a:r>
            <a:r>
              <a:rPr lang="en-US" sz="2800" b="0" dirty="0">
                <a:solidFill>
                  <a:srgbClr val="D4D4D4"/>
                </a:solidFill>
                <a:effectLst/>
                <a:latin typeface="Consolas" panose="020B0609020204030204" pitchFamily="49" charset="0"/>
              </a:rPr>
              <a:t>;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a:t>
            </a:r>
            <a:r>
              <a:rPr lang="en-US" sz="2800" b="0" dirty="0">
                <a:solidFill>
                  <a:srgbClr val="6A9955"/>
                </a:solidFill>
                <a:effectLst/>
                <a:latin typeface="Consolas" panose="020B0609020204030204" pitchFamily="49" charset="0"/>
              </a:rPr>
              <a:t> // </a:t>
            </a:r>
            <a:r>
              <a:rPr lang="ru-RU" sz="2800" b="0" dirty="0">
                <a:solidFill>
                  <a:srgbClr val="6A9955"/>
                </a:solidFill>
                <a:effectLst/>
                <a:latin typeface="Consolas" panose="020B0609020204030204" pitchFamily="49" charset="0"/>
              </a:rPr>
              <a:t>Внешний</a:t>
            </a:r>
            <a:endParaRPr lang="ru-RU" sz="2800" b="0" dirty="0">
              <a:solidFill>
                <a:srgbClr val="CCCCCC"/>
              </a:solidFill>
              <a:effectLst/>
              <a:latin typeface="Consolas" panose="020B0609020204030204" pitchFamily="49" charset="0"/>
            </a:endParaRPr>
          </a:p>
          <a:p>
            <a:r>
              <a:rPr lang="ru-RU"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a:t>
            </a:r>
            <a:r>
              <a:rPr lang="en-US" sz="2800" b="0" dirty="0">
                <a:solidFill>
                  <a:srgbClr val="569CD6"/>
                </a:solidFill>
                <a:effectLst/>
                <a:latin typeface="Consolas" panose="020B0609020204030204" pitchFamily="49" charset="0"/>
              </a:rPr>
              <a:t>int</a:t>
            </a:r>
            <a:r>
              <a:rPr lang="en-US" sz="2800" b="0" dirty="0">
                <a:solidFill>
                  <a:srgbClr val="D4D4D4"/>
                </a:solidFill>
                <a:effectLst/>
                <a:latin typeface="Consolas" panose="020B0609020204030204" pitchFamily="49" charset="0"/>
              </a:rPr>
              <a:t> j = </a:t>
            </a:r>
            <a:r>
              <a:rPr lang="en-US" sz="2800" b="0" dirty="0">
                <a:solidFill>
                  <a:srgbClr val="B5CEA8"/>
                </a:solidFill>
                <a:effectLst/>
                <a:latin typeface="Consolas" panose="020B0609020204030204" pitchFamily="49" charset="0"/>
              </a:rPr>
              <a:t>1</a:t>
            </a:r>
            <a:r>
              <a:rPr lang="en-US" sz="2800" b="0" dirty="0">
                <a:solidFill>
                  <a:srgbClr val="D4D4D4"/>
                </a:solidFill>
                <a:effectLst/>
                <a:latin typeface="Consolas" panose="020B0609020204030204" pitchFamily="49" charset="0"/>
              </a:rPr>
              <a:t>; j &lt;= </a:t>
            </a:r>
            <a:r>
              <a:rPr lang="en-US" sz="2800" b="0" dirty="0">
                <a:solidFill>
                  <a:srgbClr val="B5CEA8"/>
                </a:solidFill>
                <a:effectLst/>
                <a:latin typeface="Consolas" panose="020B0609020204030204" pitchFamily="49" charset="0"/>
              </a:rPr>
              <a:t>3</a:t>
            </a:r>
            <a:r>
              <a:rPr lang="en-US" sz="2800" b="0" dirty="0">
                <a:solidFill>
                  <a:srgbClr val="D4D4D4"/>
                </a:solidFill>
                <a:effectLst/>
                <a:latin typeface="Consolas" panose="020B0609020204030204" pitchFamily="49" charset="0"/>
              </a:rPr>
              <a:t>; </a:t>
            </a:r>
            <a:r>
              <a:rPr lang="en-US" sz="2800" b="0" dirty="0" err="1">
                <a:solidFill>
                  <a:srgbClr val="D4D4D4"/>
                </a:solidFill>
                <a:effectLst/>
                <a:latin typeface="Consolas" panose="020B0609020204030204" pitchFamily="49" charset="0"/>
              </a:rPr>
              <a:t>j++</a:t>
            </a:r>
            <a:r>
              <a:rPr lang="en-US" sz="2800" b="0" dirty="0">
                <a:solidFill>
                  <a:srgbClr val="D4D4D4"/>
                </a:solidFill>
                <a:effectLst/>
                <a:latin typeface="Consolas" panose="020B0609020204030204" pitchFamily="49" charset="0"/>
              </a:rPr>
              <a:t>) {</a:t>
            </a:r>
            <a:r>
              <a:rPr lang="en-US" sz="2800" b="0" dirty="0">
                <a:solidFill>
                  <a:srgbClr val="6A9955"/>
                </a:solidFill>
                <a:effectLst/>
                <a:latin typeface="Consolas" panose="020B0609020204030204" pitchFamily="49" charset="0"/>
              </a:rPr>
              <a:t> // </a:t>
            </a:r>
            <a:r>
              <a:rPr lang="ru-RU" sz="2800" b="0" dirty="0">
                <a:solidFill>
                  <a:srgbClr val="6A9955"/>
                </a:solidFill>
                <a:effectLst/>
                <a:latin typeface="Consolas" panose="020B0609020204030204" pitchFamily="49" charset="0"/>
              </a:rPr>
              <a:t>Внутренний</a:t>
            </a:r>
            <a:endParaRPr lang="ru-RU" sz="2800" b="0" dirty="0">
              <a:solidFill>
                <a:srgbClr val="CCCCCC"/>
              </a:solidFill>
              <a:effectLst/>
              <a:latin typeface="Consolas" panose="020B0609020204030204" pitchFamily="49" charset="0"/>
            </a:endParaRPr>
          </a:p>
          <a:p>
            <a:r>
              <a:rPr lang="ru-RU" sz="2800" b="0" dirty="0">
                <a:solidFill>
                  <a:srgbClr val="D4D4D4"/>
                </a:solidFill>
                <a:effectLst/>
                <a:latin typeface="Consolas" panose="020B0609020204030204" pitchFamily="49" charset="0"/>
              </a:rPr>
              <a:t>        </a:t>
            </a:r>
            <a:r>
              <a:rPr lang="en-US" sz="2800" b="0" dirty="0" err="1">
                <a:solidFill>
                  <a:srgbClr val="DCDCAA"/>
                </a:solidFill>
                <a:effectLst/>
                <a:latin typeface="Consolas" panose="020B0609020204030204" pitchFamily="49" charset="0"/>
              </a:rPr>
              <a:t>printf</a:t>
            </a:r>
            <a:r>
              <a:rPr lang="en-US" sz="2800" b="0" dirty="0">
                <a:solidFill>
                  <a:srgbClr val="D4D4D4"/>
                </a:solidFill>
                <a:effectLst/>
                <a:latin typeface="Consolas" panose="020B0609020204030204" pitchFamily="49" charset="0"/>
              </a:rPr>
              <a:t>(</a:t>
            </a:r>
            <a:r>
              <a:rPr lang="en-US" sz="2800" b="0" dirty="0">
                <a:solidFill>
                  <a:srgbClr val="CE9178"/>
                </a:solidFill>
                <a:effectLst/>
                <a:latin typeface="Consolas" panose="020B0609020204030204" pitchFamily="49" charset="0"/>
              </a:rPr>
              <a:t>"</a:t>
            </a:r>
            <a:r>
              <a:rPr lang="en-US" sz="2800" b="0" dirty="0">
                <a:solidFill>
                  <a:srgbClr val="9CDCFE"/>
                </a:solidFill>
                <a:effectLst/>
                <a:latin typeface="Consolas" panose="020B0609020204030204" pitchFamily="49" charset="0"/>
              </a:rPr>
              <a:t>%d</a:t>
            </a:r>
            <a:r>
              <a:rPr lang="en-US" sz="2800" b="0" dirty="0">
                <a:solidFill>
                  <a:srgbClr val="CE9178"/>
                </a:solidFill>
                <a:effectLst/>
                <a:latin typeface="Consolas" panose="020B0609020204030204" pitchFamily="49" charset="0"/>
              </a:rPr>
              <a:t> "</a:t>
            </a:r>
            <a:r>
              <a:rPr lang="en-US" sz="2800" b="0" dirty="0">
                <a:solidFill>
                  <a:srgbClr val="D4D4D4"/>
                </a:solidFill>
                <a:effectLst/>
                <a:latin typeface="Consolas" panose="020B0609020204030204" pitchFamily="49" charset="0"/>
              </a:rPr>
              <a:t>,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 j);</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err="1">
                <a:solidFill>
                  <a:srgbClr val="DCDCAA"/>
                </a:solidFill>
                <a:effectLst/>
                <a:latin typeface="Consolas" panose="020B0609020204030204" pitchFamily="49" charset="0"/>
              </a:rPr>
              <a:t>printf</a:t>
            </a:r>
            <a:r>
              <a:rPr lang="en-US" sz="2800" b="0" dirty="0">
                <a:solidFill>
                  <a:srgbClr val="D4D4D4"/>
                </a:solidFill>
                <a:effectLst/>
                <a:latin typeface="Consolas" panose="020B0609020204030204" pitchFamily="49" charset="0"/>
              </a:rPr>
              <a:t>(</a:t>
            </a:r>
            <a:r>
              <a:rPr lang="en-US" sz="2800" b="0" dirty="0">
                <a:solidFill>
                  <a:srgbClr val="CE9178"/>
                </a:solidFill>
                <a:effectLst/>
                <a:latin typeface="Consolas" panose="020B0609020204030204" pitchFamily="49" charset="0"/>
              </a:rPr>
              <a:t>"</a:t>
            </a:r>
            <a:r>
              <a:rPr lang="en-US" sz="2800" b="0" dirty="0">
                <a:solidFill>
                  <a:srgbClr val="D7BA7D"/>
                </a:solidFill>
                <a:effectLst/>
                <a:latin typeface="Consolas" panose="020B0609020204030204" pitchFamily="49" charset="0"/>
              </a:rPr>
              <a:t>\n</a:t>
            </a:r>
            <a:r>
              <a:rPr lang="en-US" sz="2800" b="0" dirty="0">
                <a:solidFill>
                  <a:srgbClr val="CE9178"/>
                </a:solidFill>
                <a:effectLst/>
                <a:latin typeface="Consolas" panose="020B0609020204030204" pitchFamily="49" charset="0"/>
              </a:rPr>
              <a:t>"</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993251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3">
            <a:extLst>
              <a:ext uri="{FF2B5EF4-FFF2-40B4-BE49-F238E27FC236}">
                <a16:creationId xmlns:a16="http://schemas.microsoft.com/office/drawing/2014/main" id="{8259CF3A-AC4E-4FB4-B194-DC7CBFC75277}"/>
              </a:ext>
            </a:extLst>
          </p:cNvPr>
          <p:cNvSpPr txBox="1">
            <a:spLocks/>
          </p:cNvSpPr>
          <p:nvPr/>
        </p:nvSpPr>
        <p:spPr>
          <a:xfrm>
            <a:off x="1589314" y="280536"/>
            <a:ext cx="9013371" cy="11648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Nested loops break/continue</a:t>
            </a:r>
            <a:endParaRPr lang="ru-RU" dirty="0"/>
          </a:p>
        </p:txBody>
      </p:sp>
      <p:sp>
        <p:nvSpPr>
          <p:cNvPr id="4" name="TextBox 3">
            <a:extLst>
              <a:ext uri="{FF2B5EF4-FFF2-40B4-BE49-F238E27FC236}">
                <a16:creationId xmlns:a16="http://schemas.microsoft.com/office/drawing/2014/main" id="{2F93C8BC-7BA4-4FE8-BB46-BEF95DD601ED}"/>
              </a:ext>
            </a:extLst>
          </p:cNvPr>
          <p:cNvSpPr txBox="1"/>
          <p:nvPr/>
        </p:nvSpPr>
        <p:spPr>
          <a:xfrm>
            <a:off x="1309093" y="2267514"/>
            <a:ext cx="5113900" cy="2677656"/>
          </a:xfrm>
          <a:prstGeom prst="rect">
            <a:avLst/>
          </a:prstGeom>
          <a:noFill/>
        </p:spPr>
        <p:txBody>
          <a:bodyPr wrap="none" rtlCol="0">
            <a:spAutoFit/>
          </a:bodyPr>
          <a:lstStyle/>
          <a:p>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(s11; s12; s13)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(s21; s22; s23)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continue</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6A9955"/>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E08198BF-A362-499A-9967-3E2C05782E96}"/>
              </a:ext>
            </a:extLst>
          </p:cNvPr>
          <p:cNvSpPr txBox="1"/>
          <p:nvPr/>
        </p:nvSpPr>
        <p:spPr>
          <a:xfrm>
            <a:off x="6422993" y="2090172"/>
            <a:ext cx="5483257" cy="2677656"/>
          </a:xfrm>
          <a:prstGeom prst="rect">
            <a:avLst/>
          </a:prstGeom>
          <a:noFill/>
        </p:spPr>
        <p:txBody>
          <a:bodyPr wrap="square">
            <a:spAutoFit/>
          </a:bodyPr>
          <a:lstStyle/>
          <a:p>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(s11; s12; s13)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(s21; s22; s23)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6A9955"/>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break</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4057813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AC3AFFEF-CF25-45AC-90A7-920955B7E9DE}"/>
              </a:ext>
            </a:extLst>
          </p:cNvPr>
          <p:cNvSpPr txBox="1"/>
          <p:nvPr/>
        </p:nvSpPr>
        <p:spPr>
          <a:xfrm>
            <a:off x="2111080" y="2729845"/>
            <a:ext cx="8903289" cy="2308324"/>
          </a:xfrm>
          <a:prstGeom prst="rect">
            <a:avLst/>
          </a:prstGeom>
          <a:noFill/>
        </p:spPr>
        <p:txBody>
          <a:bodyPr wrap="square">
            <a:spAutoFit/>
          </a:bodyPr>
          <a:lstStyle/>
          <a:p>
            <a:r>
              <a:rPr lang="en-US" sz="3600" b="0" dirty="0">
                <a:solidFill>
                  <a:srgbClr val="C586C0"/>
                </a:solidFill>
                <a:effectLst/>
                <a:latin typeface="Consolas" panose="020B0609020204030204" pitchFamily="49" charset="0"/>
              </a:rPr>
              <a:t>for</a:t>
            </a:r>
            <a:r>
              <a:rPr lang="en-US" sz="3600" b="0" dirty="0">
                <a:solidFill>
                  <a:srgbClr val="D4D4D4"/>
                </a:solidFill>
                <a:effectLst/>
                <a:latin typeface="Consolas" panose="020B0609020204030204" pitchFamily="49" charset="0"/>
              </a:rPr>
              <a:t> (</a:t>
            </a:r>
            <a:r>
              <a:rPr lang="en-US" sz="3600" b="0" dirty="0">
                <a:solidFill>
                  <a:srgbClr val="569CD6"/>
                </a:solidFill>
                <a:effectLst/>
                <a:latin typeface="Consolas" panose="020B0609020204030204" pitchFamily="49" charset="0"/>
              </a:rPr>
              <a:t>int</a:t>
            </a:r>
            <a:r>
              <a:rPr lang="en-US" sz="3600" b="0" dirty="0">
                <a:solidFill>
                  <a:srgbClr val="D4D4D4"/>
                </a:solidFill>
                <a:effectLst/>
                <a:latin typeface="Consolas" panose="020B0609020204030204" pitchFamily="49" charset="0"/>
              </a:rPr>
              <a:t> </a:t>
            </a:r>
            <a:r>
              <a:rPr lang="en-US" sz="3600" b="0" dirty="0" err="1">
                <a:solidFill>
                  <a:srgbClr val="D4D4D4"/>
                </a:solidFill>
                <a:effectLst/>
                <a:latin typeface="Consolas" panose="020B0609020204030204" pitchFamily="49" charset="0"/>
              </a:rPr>
              <a:t>i</a:t>
            </a:r>
            <a:r>
              <a:rPr lang="en-US" sz="3600" b="0" dirty="0">
                <a:solidFill>
                  <a:srgbClr val="D4D4D4"/>
                </a:solidFill>
                <a:effectLst/>
                <a:latin typeface="Consolas" panose="020B0609020204030204" pitchFamily="49" charset="0"/>
              </a:rPr>
              <a:t> = </a:t>
            </a:r>
            <a:r>
              <a:rPr lang="en-US" sz="3600" b="0" dirty="0">
                <a:solidFill>
                  <a:srgbClr val="B5CEA8"/>
                </a:solidFill>
                <a:effectLst/>
                <a:latin typeface="Consolas" panose="020B0609020204030204" pitchFamily="49" charset="0"/>
              </a:rPr>
              <a:t>1</a:t>
            </a:r>
            <a:r>
              <a:rPr lang="en-US" sz="3600" b="0" dirty="0">
                <a:solidFill>
                  <a:srgbClr val="D4D4D4"/>
                </a:solidFill>
                <a:effectLst/>
                <a:latin typeface="Consolas" panose="020B0609020204030204" pitchFamily="49" charset="0"/>
              </a:rPr>
              <a:t>; </a:t>
            </a:r>
            <a:r>
              <a:rPr lang="en-US" sz="3600" b="0" dirty="0" err="1">
                <a:solidFill>
                  <a:srgbClr val="D4D4D4"/>
                </a:solidFill>
                <a:effectLst/>
                <a:latin typeface="Consolas" panose="020B0609020204030204" pitchFamily="49" charset="0"/>
              </a:rPr>
              <a:t>i</a:t>
            </a:r>
            <a:r>
              <a:rPr lang="en-US" sz="3600" b="0" dirty="0">
                <a:solidFill>
                  <a:srgbClr val="D4D4D4"/>
                </a:solidFill>
                <a:effectLst/>
                <a:latin typeface="Consolas" panose="020B0609020204030204" pitchFamily="49" charset="0"/>
              </a:rPr>
              <a:t> &lt;= </a:t>
            </a:r>
            <a:r>
              <a:rPr lang="en-US" sz="3600" b="0" dirty="0">
                <a:solidFill>
                  <a:srgbClr val="B5CEA8"/>
                </a:solidFill>
                <a:effectLst/>
                <a:latin typeface="Consolas" panose="020B0609020204030204" pitchFamily="49" charset="0"/>
              </a:rPr>
              <a:t>10</a:t>
            </a:r>
            <a:r>
              <a:rPr lang="en-US" sz="3600" b="0" dirty="0">
                <a:solidFill>
                  <a:srgbClr val="D4D4D4"/>
                </a:solidFill>
                <a:effectLst/>
                <a:latin typeface="Consolas" panose="020B0609020204030204" pitchFamily="49" charset="0"/>
              </a:rPr>
              <a:t>; </a:t>
            </a:r>
            <a:r>
              <a:rPr lang="en-US" sz="3600" b="0" dirty="0" err="1">
                <a:solidFill>
                  <a:srgbClr val="D4D4D4"/>
                </a:solidFill>
                <a:effectLst/>
                <a:latin typeface="Consolas" panose="020B0609020204030204" pitchFamily="49" charset="0"/>
              </a:rPr>
              <a:t>i</a:t>
            </a:r>
            <a:r>
              <a:rPr lang="en-US" sz="3600" b="0" dirty="0">
                <a:solidFill>
                  <a:srgbClr val="D4D4D4"/>
                </a:solidFill>
                <a:effectLst/>
                <a:latin typeface="Consolas" panose="020B0609020204030204" pitchFamily="49" charset="0"/>
              </a:rPr>
              <a:t>++)</a:t>
            </a:r>
          </a:p>
          <a:p>
            <a:r>
              <a:rPr lang="en-US" sz="3600" b="0" dirty="0">
                <a:solidFill>
                  <a:srgbClr val="D4D4D4"/>
                </a:solidFill>
                <a:effectLst/>
                <a:latin typeface="Consolas" panose="020B0609020204030204" pitchFamily="49" charset="0"/>
              </a:rPr>
              <a:t>{</a:t>
            </a:r>
            <a:endParaRPr lang="en-US" sz="3600" b="0" dirty="0">
              <a:solidFill>
                <a:srgbClr val="CCCCCC"/>
              </a:solidFill>
              <a:effectLst/>
              <a:latin typeface="Consolas" panose="020B0609020204030204" pitchFamily="49" charset="0"/>
            </a:endParaRPr>
          </a:p>
          <a:p>
            <a:r>
              <a:rPr lang="en-US" sz="3600" b="0" dirty="0">
                <a:solidFill>
                  <a:srgbClr val="D4D4D4"/>
                </a:solidFill>
                <a:effectLst/>
                <a:latin typeface="Consolas" panose="020B0609020204030204" pitchFamily="49" charset="0"/>
              </a:rPr>
              <a:t>    a = a + </a:t>
            </a:r>
            <a:r>
              <a:rPr lang="en-US" sz="3600" b="0" dirty="0" err="1">
                <a:solidFill>
                  <a:srgbClr val="D4D4D4"/>
                </a:solidFill>
                <a:effectLst/>
                <a:latin typeface="Consolas" panose="020B0609020204030204" pitchFamily="49" charset="0"/>
              </a:rPr>
              <a:t>i</a:t>
            </a:r>
            <a:r>
              <a:rPr lang="en-US" sz="3600" b="0" dirty="0">
                <a:solidFill>
                  <a:srgbClr val="D4D4D4"/>
                </a:solidFill>
                <a:effectLst/>
                <a:latin typeface="Consolas" panose="020B0609020204030204" pitchFamily="49" charset="0"/>
              </a:rPr>
              <a:t>;</a:t>
            </a:r>
            <a:r>
              <a:rPr lang="en-US" sz="3600" b="0" dirty="0">
                <a:solidFill>
                  <a:srgbClr val="6A9955"/>
                </a:solidFill>
                <a:effectLst/>
                <a:latin typeface="Consolas" panose="020B0609020204030204" pitchFamily="49" charset="0"/>
              </a:rPr>
              <a:t> // </a:t>
            </a:r>
            <a:r>
              <a:rPr lang="ru-RU" sz="3600" b="0" dirty="0">
                <a:solidFill>
                  <a:srgbClr val="6A9955"/>
                </a:solidFill>
                <a:effectLst/>
                <a:latin typeface="Consolas" panose="020B0609020204030204" pitchFamily="49" charset="0"/>
              </a:rPr>
              <a:t>Считаем за одну</a:t>
            </a:r>
            <a:endParaRPr lang="ru-RU" sz="3600" b="0" dirty="0">
              <a:solidFill>
                <a:srgbClr val="CCCCCC"/>
              </a:solidFill>
              <a:effectLst/>
              <a:latin typeface="Consolas" panose="020B0609020204030204" pitchFamily="49" charset="0"/>
            </a:endParaRPr>
          </a:p>
          <a:p>
            <a:r>
              <a:rPr lang="ru-RU" sz="3600" b="0" dirty="0">
                <a:solidFill>
                  <a:srgbClr val="D4D4D4"/>
                </a:solidFill>
                <a:effectLst/>
                <a:latin typeface="Consolas" panose="020B0609020204030204" pitchFamily="49" charset="0"/>
              </a:rPr>
              <a:t>}</a:t>
            </a:r>
            <a:endParaRPr lang="ru-RU" sz="36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75A95499-8098-4210-96ED-5791C55C448E}"/>
              </a:ext>
            </a:extLst>
          </p:cNvPr>
          <p:cNvSpPr txBox="1"/>
          <p:nvPr/>
        </p:nvSpPr>
        <p:spPr>
          <a:xfrm>
            <a:off x="3514725" y="400735"/>
            <a:ext cx="6096000" cy="646331"/>
          </a:xfrm>
          <a:prstGeom prst="rect">
            <a:avLst/>
          </a:prstGeom>
          <a:noFill/>
        </p:spPr>
        <p:txBody>
          <a:bodyPr wrap="square">
            <a:spAutoFit/>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7" name="Заголовок 3">
            <a:extLst>
              <a:ext uri="{FF2B5EF4-FFF2-40B4-BE49-F238E27FC236}">
                <a16:creationId xmlns:a16="http://schemas.microsoft.com/office/drawing/2014/main" id="{A0679448-85FE-4A0E-AF0D-6C11AB15F273}"/>
              </a:ext>
            </a:extLst>
          </p:cNvPr>
          <p:cNvSpPr txBox="1">
            <a:spLocks/>
          </p:cNvSpPr>
          <p:nvPr/>
        </p:nvSpPr>
        <p:spPr>
          <a:xfrm>
            <a:off x="1589314" y="280536"/>
            <a:ext cx="9013371" cy="11648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Количество инструкций?</a:t>
            </a:r>
          </a:p>
        </p:txBody>
      </p:sp>
    </p:spTree>
    <p:extLst>
      <p:ext uri="{BB962C8B-B14F-4D97-AF65-F5344CB8AC3E}">
        <p14:creationId xmlns:p14="http://schemas.microsoft.com/office/powerpoint/2010/main" val="2673484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AC3AFFEF-CF25-45AC-90A7-920955B7E9DE}"/>
              </a:ext>
            </a:extLst>
          </p:cNvPr>
          <p:cNvSpPr txBox="1"/>
          <p:nvPr/>
        </p:nvSpPr>
        <p:spPr>
          <a:xfrm>
            <a:off x="4062955" y="3409950"/>
            <a:ext cx="3633246" cy="2862322"/>
          </a:xfrm>
          <a:prstGeom prst="rect">
            <a:avLst/>
          </a:prstGeom>
          <a:noFill/>
        </p:spPr>
        <p:txBody>
          <a:bodyPr wrap="square">
            <a:spAutoFit/>
          </a:bodyPr>
          <a:lstStyle/>
          <a:p>
            <a:r>
              <a:rPr lang="en-US" sz="3600" dirty="0" err="1">
                <a:latin typeface="Times New Roman" panose="02020603050405020304" pitchFamily="18" charset="0"/>
                <a:cs typeface="Times New Roman" panose="02020603050405020304" pitchFamily="18" charset="0"/>
              </a:rPr>
              <a:t>i</a:t>
            </a:r>
            <a:r>
              <a:rPr lang="en-US" sz="3600" dirty="0">
                <a:latin typeface="Times New Roman" panose="02020603050405020304" pitchFamily="18" charset="0"/>
                <a:cs typeface="Times New Roman" panose="02020603050405020304" pitchFamily="18" charset="0"/>
              </a:rPr>
              <a:t> = 1:        	1</a:t>
            </a:r>
          </a:p>
          <a:p>
            <a:r>
              <a:rPr lang="en-US" sz="3600" dirty="0" err="1">
                <a:latin typeface="Times New Roman" panose="02020603050405020304" pitchFamily="18" charset="0"/>
                <a:cs typeface="Times New Roman" panose="02020603050405020304" pitchFamily="18" charset="0"/>
              </a:rPr>
              <a:t>i</a:t>
            </a:r>
            <a:r>
              <a:rPr lang="en-US" sz="3600" dirty="0">
                <a:latin typeface="Times New Roman" panose="02020603050405020304" pitchFamily="18" charset="0"/>
                <a:cs typeface="Times New Roman" panose="02020603050405020304" pitchFamily="18" charset="0"/>
              </a:rPr>
              <a:t> &lt;= 10:    	11 </a:t>
            </a:r>
          </a:p>
          <a:p>
            <a:r>
              <a:rPr lang="en-US" sz="3600" dirty="0" err="1">
                <a:latin typeface="Times New Roman" panose="02020603050405020304" pitchFamily="18" charset="0"/>
                <a:cs typeface="Times New Roman" panose="02020603050405020304" pitchFamily="18" charset="0"/>
              </a:rPr>
              <a:t>i</a:t>
            </a:r>
            <a:r>
              <a:rPr lang="en-US" sz="3600" dirty="0">
                <a:latin typeface="Times New Roman" panose="02020603050405020304" pitchFamily="18" charset="0"/>
                <a:cs typeface="Times New Roman" panose="02020603050405020304" pitchFamily="18" charset="0"/>
              </a:rPr>
              <a:t>++:          	10</a:t>
            </a:r>
          </a:p>
          <a:p>
            <a:r>
              <a:rPr lang="en-US" sz="3600" dirty="0">
                <a:latin typeface="Times New Roman" panose="02020603050405020304" pitchFamily="18" charset="0"/>
                <a:cs typeface="Times New Roman" panose="02020603050405020304" pitchFamily="18" charset="0"/>
              </a:rPr>
              <a:t>a=</a:t>
            </a:r>
            <a:r>
              <a:rPr lang="en-US" sz="3600" dirty="0" err="1">
                <a:latin typeface="Times New Roman" panose="02020603050405020304" pitchFamily="18" charset="0"/>
                <a:cs typeface="Times New Roman" panose="02020603050405020304" pitchFamily="18" charset="0"/>
              </a:rPr>
              <a:t>a+i</a:t>
            </a:r>
            <a:r>
              <a:rPr lang="en-US" sz="3600" dirty="0">
                <a:latin typeface="Times New Roman" panose="02020603050405020304" pitchFamily="18" charset="0"/>
                <a:cs typeface="Times New Roman" panose="02020603050405020304" pitchFamily="18" charset="0"/>
              </a:rPr>
              <a:t>:      	10</a:t>
            </a:r>
            <a:endParaRPr lang="ru-RU" sz="3600" dirty="0">
              <a:latin typeface="Times New Roman" panose="02020603050405020304" pitchFamily="18" charset="0"/>
              <a:cs typeface="Times New Roman" panose="02020603050405020304" pitchFamily="18" charset="0"/>
            </a:endParaRPr>
          </a:p>
          <a:p>
            <a:r>
              <a:rPr lang="ru-RU" sz="3600" dirty="0">
                <a:latin typeface="Times New Roman" panose="02020603050405020304" pitchFamily="18" charset="0"/>
                <a:cs typeface="Times New Roman" panose="02020603050405020304" pitchFamily="18" charset="0"/>
              </a:rPr>
              <a:t>Всего</a:t>
            </a:r>
            <a:r>
              <a:rPr lang="en-US" sz="3600" dirty="0">
                <a:latin typeface="Times New Roman" panose="02020603050405020304" pitchFamily="18" charset="0"/>
                <a:cs typeface="Times New Roman" panose="02020603050405020304" pitchFamily="18" charset="0"/>
              </a:rPr>
              <a:t>: </a:t>
            </a:r>
            <a:r>
              <a:rPr lang="ru-RU" sz="36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3</a:t>
            </a:r>
            <a:r>
              <a:rPr lang="ru-RU" sz="3600" dirty="0">
                <a:latin typeface="Times New Roman" panose="02020603050405020304" pitchFamily="18" charset="0"/>
                <a:cs typeface="Times New Roman" panose="02020603050405020304" pitchFamily="18" charset="0"/>
              </a:rPr>
              <a:t>2 </a:t>
            </a:r>
            <a:endParaRPr lang="en-US" sz="3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7894752-B5D6-4322-86AD-8B435BADCE99}"/>
              </a:ext>
            </a:extLst>
          </p:cNvPr>
          <p:cNvSpPr txBox="1"/>
          <p:nvPr/>
        </p:nvSpPr>
        <p:spPr>
          <a:xfrm>
            <a:off x="1958680" y="1224895"/>
            <a:ext cx="8903289" cy="2308324"/>
          </a:xfrm>
          <a:prstGeom prst="rect">
            <a:avLst/>
          </a:prstGeom>
          <a:noFill/>
        </p:spPr>
        <p:txBody>
          <a:bodyPr wrap="square">
            <a:spAutoFit/>
          </a:bodyPr>
          <a:lstStyle/>
          <a:p>
            <a:r>
              <a:rPr lang="en-US" sz="3600" b="0" dirty="0">
                <a:solidFill>
                  <a:srgbClr val="C586C0"/>
                </a:solidFill>
                <a:effectLst/>
                <a:latin typeface="Consolas" panose="020B0609020204030204" pitchFamily="49" charset="0"/>
              </a:rPr>
              <a:t>for</a:t>
            </a:r>
            <a:r>
              <a:rPr lang="en-US" sz="3600" b="0" dirty="0">
                <a:solidFill>
                  <a:srgbClr val="D4D4D4"/>
                </a:solidFill>
                <a:effectLst/>
                <a:latin typeface="Consolas" panose="020B0609020204030204" pitchFamily="49" charset="0"/>
              </a:rPr>
              <a:t> (</a:t>
            </a:r>
            <a:r>
              <a:rPr lang="en-US" sz="3600" b="0" dirty="0">
                <a:solidFill>
                  <a:srgbClr val="569CD6"/>
                </a:solidFill>
                <a:effectLst/>
                <a:latin typeface="Consolas" panose="020B0609020204030204" pitchFamily="49" charset="0"/>
              </a:rPr>
              <a:t>int</a:t>
            </a:r>
            <a:r>
              <a:rPr lang="en-US" sz="3600" b="0" dirty="0">
                <a:solidFill>
                  <a:srgbClr val="D4D4D4"/>
                </a:solidFill>
                <a:effectLst/>
                <a:latin typeface="Consolas" panose="020B0609020204030204" pitchFamily="49" charset="0"/>
              </a:rPr>
              <a:t> </a:t>
            </a:r>
            <a:r>
              <a:rPr lang="en-US" sz="3600" b="0" dirty="0" err="1">
                <a:solidFill>
                  <a:srgbClr val="D4D4D4"/>
                </a:solidFill>
                <a:effectLst/>
                <a:latin typeface="Consolas" panose="020B0609020204030204" pitchFamily="49" charset="0"/>
              </a:rPr>
              <a:t>i</a:t>
            </a:r>
            <a:r>
              <a:rPr lang="en-US" sz="3600" b="0" dirty="0">
                <a:solidFill>
                  <a:srgbClr val="D4D4D4"/>
                </a:solidFill>
                <a:effectLst/>
                <a:latin typeface="Consolas" panose="020B0609020204030204" pitchFamily="49" charset="0"/>
              </a:rPr>
              <a:t> = </a:t>
            </a:r>
            <a:r>
              <a:rPr lang="en-US" sz="3600" b="0" dirty="0">
                <a:solidFill>
                  <a:srgbClr val="B5CEA8"/>
                </a:solidFill>
                <a:effectLst/>
                <a:latin typeface="Consolas" panose="020B0609020204030204" pitchFamily="49" charset="0"/>
              </a:rPr>
              <a:t>1</a:t>
            </a:r>
            <a:r>
              <a:rPr lang="en-US" sz="3600" b="0" dirty="0">
                <a:solidFill>
                  <a:srgbClr val="D4D4D4"/>
                </a:solidFill>
                <a:effectLst/>
                <a:latin typeface="Consolas" panose="020B0609020204030204" pitchFamily="49" charset="0"/>
              </a:rPr>
              <a:t>; </a:t>
            </a:r>
            <a:r>
              <a:rPr lang="en-US" sz="3600" b="0" dirty="0" err="1">
                <a:solidFill>
                  <a:srgbClr val="D4D4D4"/>
                </a:solidFill>
                <a:effectLst/>
                <a:latin typeface="Consolas" panose="020B0609020204030204" pitchFamily="49" charset="0"/>
              </a:rPr>
              <a:t>i</a:t>
            </a:r>
            <a:r>
              <a:rPr lang="en-US" sz="3600" b="0" dirty="0">
                <a:solidFill>
                  <a:srgbClr val="D4D4D4"/>
                </a:solidFill>
                <a:effectLst/>
                <a:latin typeface="Consolas" panose="020B0609020204030204" pitchFamily="49" charset="0"/>
              </a:rPr>
              <a:t> &lt;= </a:t>
            </a:r>
            <a:r>
              <a:rPr lang="en-US" sz="3600" b="0" dirty="0">
                <a:solidFill>
                  <a:srgbClr val="B5CEA8"/>
                </a:solidFill>
                <a:effectLst/>
                <a:latin typeface="Consolas" panose="020B0609020204030204" pitchFamily="49" charset="0"/>
              </a:rPr>
              <a:t>10</a:t>
            </a:r>
            <a:r>
              <a:rPr lang="en-US" sz="3600" b="0" dirty="0">
                <a:solidFill>
                  <a:srgbClr val="D4D4D4"/>
                </a:solidFill>
                <a:effectLst/>
                <a:latin typeface="Consolas" panose="020B0609020204030204" pitchFamily="49" charset="0"/>
              </a:rPr>
              <a:t>; </a:t>
            </a:r>
            <a:r>
              <a:rPr lang="en-US" sz="3600" b="0" dirty="0" err="1">
                <a:solidFill>
                  <a:srgbClr val="D4D4D4"/>
                </a:solidFill>
                <a:effectLst/>
                <a:latin typeface="Consolas" panose="020B0609020204030204" pitchFamily="49" charset="0"/>
              </a:rPr>
              <a:t>i</a:t>
            </a:r>
            <a:r>
              <a:rPr lang="en-US" sz="3600" b="0" dirty="0">
                <a:solidFill>
                  <a:srgbClr val="D4D4D4"/>
                </a:solidFill>
                <a:effectLst/>
                <a:latin typeface="Consolas" panose="020B0609020204030204" pitchFamily="49" charset="0"/>
              </a:rPr>
              <a:t>++)</a:t>
            </a:r>
          </a:p>
          <a:p>
            <a:r>
              <a:rPr lang="en-US" sz="3600" b="0" dirty="0">
                <a:solidFill>
                  <a:srgbClr val="D4D4D4"/>
                </a:solidFill>
                <a:effectLst/>
                <a:latin typeface="Consolas" panose="020B0609020204030204" pitchFamily="49" charset="0"/>
              </a:rPr>
              <a:t>{</a:t>
            </a:r>
            <a:endParaRPr lang="en-US" sz="3600" b="0" dirty="0">
              <a:solidFill>
                <a:srgbClr val="CCCCCC"/>
              </a:solidFill>
              <a:effectLst/>
              <a:latin typeface="Consolas" panose="020B0609020204030204" pitchFamily="49" charset="0"/>
            </a:endParaRPr>
          </a:p>
          <a:p>
            <a:r>
              <a:rPr lang="en-US" sz="3600" b="0" dirty="0">
                <a:solidFill>
                  <a:srgbClr val="D4D4D4"/>
                </a:solidFill>
                <a:effectLst/>
                <a:latin typeface="Consolas" panose="020B0609020204030204" pitchFamily="49" charset="0"/>
              </a:rPr>
              <a:t>    a = a + </a:t>
            </a:r>
            <a:r>
              <a:rPr lang="en-US" sz="3600" b="0" dirty="0" err="1">
                <a:solidFill>
                  <a:srgbClr val="D4D4D4"/>
                </a:solidFill>
                <a:effectLst/>
                <a:latin typeface="Consolas" panose="020B0609020204030204" pitchFamily="49" charset="0"/>
              </a:rPr>
              <a:t>i</a:t>
            </a:r>
            <a:r>
              <a:rPr lang="en-US" sz="3600" b="0" dirty="0">
                <a:solidFill>
                  <a:srgbClr val="D4D4D4"/>
                </a:solidFill>
                <a:effectLst/>
                <a:latin typeface="Consolas" panose="020B0609020204030204" pitchFamily="49" charset="0"/>
              </a:rPr>
              <a:t>;</a:t>
            </a:r>
            <a:r>
              <a:rPr lang="en-US" sz="3600" b="0" dirty="0">
                <a:solidFill>
                  <a:srgbClr val="6A9955"/>
                </a:solidFill>
                <a:effectLst/>
                <a:latin typeface="Consolas" panose="020B0609020204030204" pitchFamily="49" charset="0"/>
              </a:rPr>
              <a:t> // </a:t>
            </a:r>
            <a:r>
              <a:rPr lang="ru-RU" sz="3600" b="0" dirty="0">
                <a:solidFill>
                  <a:srgbClr val="6A9955"/>
                </a:solidFill>
                <a:effectLst/>
                <a:latin typeface="Consolas" panose="020B0609020204030204" pitchFamily="49" charset="0"/>
              </a:rPr>
              <a:t>Считаем за одну</a:t>
            </a:r>
            <a:endParaRPr lang="ru-RU" sz="3600" b="0" dirty="0">
              <a:solidFill>
                <a:srgbClr val="CCCCCC"/>
              </a:solidFill>
              <a:effectLst/>
              <a:latin typeface="Consolas" panose="020B0609020204030204" pitchFamily="49" charset="0"/>
            </a:endParaRPr>
          </a:p>
          <a:p>
            <a:r>
              <a:rPr lang="ru-RU" sz="3600" b="0" dirty="0">
                <a:solidFill>
                  <a:srgbClr val="D4D4D4"/>
                </a:solidFill>
                <a:effectLst/>
                <a:latin typeface="Consolas" panose="020B0609020204030204" pitchFamily="49" charset="0"/>
              </a:rPr>
              <a:t>}</a:t>
            </a:r>
            <a:endParaRPr lang="ru-RU" sz="3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587380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AC3AFFEF-CF25-45AC-90A7-920955B7E9DE}"/>
              </a:ext>
            </a:extLst>
          </p:cNvPr>
          <p:cNvSpPr txBox="1"/>
          <p:nvPr/>
        </p:nvSpPr>
        <p:spPr>
          <a:xfrm>
            <a:off x="1522265" y="2558395"/>
            <a:ext cx="10080920" cy="2862322"/>
          </a:xfrm>
          <a:prstGeom prst="rect">
            <a:avLst/>
          </a:prstGeom>
          <a:noFill/>
        </p:spPr>
        <p:txBody>
          <a:bodyPr wrap="square">
            <a:spAutoFit/>
          </a:bodyPr>
          <a:lstStyle/>
          <a:p>
            <a:r>
              <a:rPr lang="ru-RU" sz="3600" b="0" dirty="0" err="1">
                <a:solidFill>
                  <a:srgbClr val="C586C0"/>
                </a:solidFill>
                <a:effectLst/>
                <a:latin typeface="Consolas" panose="020B0609020204030204" pitchFamily="49" charset="0"/>
              </a:rPr>
              <a:t>for</a:t>
            </a:r>
            <a:r>
              <a:rPr lang="ru-RU" sz="3600" b="0" dirty="0">
                <a:solidFill>
                  <a:srgbClr val="D4D4D4"/>
                </a:solidFill>
                <a:effectLst/>
                <a:latin typeface="Consolas" panose="020B0609020204030204" pitchFamily="49" charset="0"/>
              </a:rPr>
              <a:t> (</a:t>
            </a:r>
            <a:r>
              <a:rPr lang="ru-RU" sz="3600" b="0" dirty="0" err="1">
                <a:solidFill>
                  <a:srgbClr val="569CD6"/>
                </a:solidFill>
                <a:effectLst/>
                <a:latin typeface="Consolas" panose="020B0609020204030204" pitchFamily="49" charset="0"/>
              </a:rPr>
              <a:t>int</a:t>
            </a:r>
            <a:r>
              <a:rPr lang="ru-RU" sz="3600" b="0" dirty="0">
                <a:solidFill>
                  <a:srgbClr val="D4D4D4"/>
                </a:solidFill>
                <a:effectLst/>
                <a:latin typeface="Consolas" panose="020B0609020204030204" pitchFamily="49" charset="0"/>
              </a:rPr>
              <a:t> i = </a:t>
            </a:r>
            <a:r>
              <a:rPr lang="ru-RU" sz="3600" b="0" dirty="0">
                <a:solidFill>
                  <a:srgbClr val="B5CEA8"/>
                </a:solidFill>
                <a:effectLst/>
                <a:latin typeface="Consolas" panose="020B0609020204030204" pitchFamily="49" charset="0"/>
              </a:rPr>
              <a:t>1</a:t>
            </a:r>
            <a:r>
              <a:rPr lang="ru-RU" sz="3600" b="0" dirty="0">
                <a:solidFill>
                  <a:srgbClr val="D4D4D4"/>
                </a:solidFill>
                <a:effectLst/>
                <a:latin typeface="Consolas" panose="020B0609020204030204" pitchFamily="49" charset="0"/>
              </a:rPr>
              <a:t>; i &lt;= </a:t>
            </a:r>
            <a:r>
              <a:rPr lang="ru-RU" sz="3600" b="0" dirty="0">
                <a:solidFill>
                  <a:srgbClr val="B5CEA8"/>
                </a:solidFill>
                <a:effectLst/>
                <a:latin typeface="Consolas" panose="020B0609020204030204" pitchFamily="49" charset="0"/>
              </a:rPr>
              <a:t>5</a:t>
            </a:r>
            <a:r>
              <a:rPr lang="ru-RU" sz="3600" b="0" dirty="0">
                <a:solidFill>
                  <a:srgbClr val="D4D4D4"/>
                </a:solidFill>
                <a:effectLst/>
                <a:latin typeface="Consolas" panose="020B0609020204030204" pitchFamily="49" charset="0"/>
              </a:rPr>
              <a:t>; i++)</a:t>
            </a:r>
            <a:endParaRPr lang="en-US" sz="3600" b="0" dirty="0">
              <a:solidFill>
                <a:srgbClr val="D4D4D4"/>
              </a:solidFill>
              <a:effectLst/>
              <a:latin typeface="Consolas" panose="020B0609020204030204" pitchFamily="49" charset="0"/>
            </a:endParaRPr>
          </a:p>
          <a:p>
            <a:r>
              <a:rPr lang="ru-RU" sz="3600" b="0" dirty="0">
                <a:solidFill>
                  <a:srgbClr val="D4D4D4"/>
                </a:solidFill>
                <a:effectLst/>
                <a:latin typeface="Consolas" panose="020B0609020204030204" pitchFamily="49" charset="0"/>
              </a:rPr>
              <a:t>{</a:t>
            </a:r>
            <a:endParaRPr lang="ru-RU" sz="3600" b="0" dirty="0">
              <a:solidFill>
                <a:srgbClr val="CCCCCC"/>
              </a:solidFill>
              <a:effectLst/>
              <a:latin typeface="Consolas" panose="020B0609020204030204" pitchFamily="49" charset="0"/>
            </a:endParaRPr>
          </a:p>
          <a:p>
            <a:r>
              <a:rPr lang="ru-RU" sz="3600" b="0" dirty="0">
                <a:solidFill>
                  <a:srgbClr val="D4D4D4"/>
                </a:solidFill>
                <a:effectLst/>
                <a:latin typeface="Consolas" panose="020B0609020204030204" pitchFamily="49" charset="0"/>
              </a:rPr>
              <a:t>    a = a + i;</a:t>
            </a:r>
            <a:r>
              <a:rPr lang="ru-RU" sz="3600" b="0" dirty="0">
                <a:solidFill>
                  <a:srgbClr val="6A9955"/>
                </a:solidFill>
                <a:effectLst/>
                <a:latin typeface="Consolas" panose="020B0609020204030204" pitchFamily="49" charset="0"/>
              </a:rPr>
              <a:t> // Считаем за одну</a:t>
            </a:r>
            <a:endParaRPr lang="ru-RU" sz="3600" b="0" dirty="0">
              <a:solidFill>
                <a:srgbClr val="CCCCCC"/>
              </a:solidFill>
              <a:effectLst/>
              <a:latin typeface="Consolas" panose="020B0609020204030204" pitchFamily="49" charset="0"/>
            </a:endParaRPr>
          </a:p>
          <a:p>
            <a:r>
              <a:rPr lang="ru-RU" sz="3600" b="0" dirty="0">
                <a:solidFill>
                  <a:srgbClr val="D4D4D4"/>
                </a:solidFill>
                <a:effectLst/>
                <a:latin typeface="Consolas" panose="020B0609020204030204" pitchFamily="49" charset="0"/>
              </a:rPr>
              <a:t>    a = a + (</a:t>
            </a:r>
            <a:r>
              <a:rPr lang="ru-RU" sz="3600" b="0" dirty="0">
                <a:solidFill>
                  <a:srgbClr val="B5CEA8"/>
                </a:solidFill>
                <a:effectLst/>
                <a:latin typeface="Consolas" panose="020B0609020204030204" pitchFamily="49" charset="0"/>
              </a:rPr>
              <a:t>5</a:t>
            </a:r>
            <a:r>
              <a:rPr lang="ru-RU" sz="3600" b="0" dirty="0">
                <a:solidFill>
                  <a:srgbClr val="D4D4D4"/>
                </a:solidFill>
                <a:effectLst/>
                <a:latin typeface="Consolas" panose="020B0609020204030204" pitchFamily="49" charset="0"/>
              </a:rPr>
              <a:t> + i);</a:t>
            </a:r>
            <a:r>
              <a:rPr lang="ru-RU" sz="3600" b="0" dirty="0">
                <a:solidFill>
                  <a:srgbClr val="6A9955"/>
                </a:solidFill>
                <a:effectLst/>
                <a:latin typeface="Consolas" panose="020B0609020204030204" pitchFamily="49" charset="0"/>
              </a:rPr>
              <a:t> // Считаем за одну</a:t>
            </a:r>
            <a:endParaRPr lang="ru-RU" sz="3600" b="0" dirty="0">
              <a:solidFill>
                <a:srgbClr val="CCCCCC"/>
              </a:solidFill>
              <a:effectLst/>
              <a:latin typeface="Consolas" panose="020B0609020204030204" pitchFamily="49" charset="0"/>
            </a:endParaRPr>
          </a:p>
          <a:p>
            <a:r>
              <a:rPr lang="ru-RU" sz="3600" b="0" dirty="0">
                <a:solidFill>
                  <a:srgbClr val="D4D4D4"/>
                </a:solidFill>
                <a:effectLst/>
                <a:latin typeface="Consolas" panose="020B0609020204030204" pitchFamily="49" charset="0"/>
              </a:rPr>
              <a:t>}</a:t>
            </a:r>
            <a:endParaRPr lang="ru-RU" sz="36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75A95499-8098-4210-96ED-5791C55C448E}"/>
              </a:ext>
            </a:extLst>
          </p:cNvPr>
          <p:cNvSpPr txBox="1"/>
          <p:nvPr/>
        </p:nvSpPr>
        <p:spPr>
          <a:xfrm>
            <a:off x="3514725" y="400735"/>
            <a:ext cx="6096000" cy="646331"/>
          </a:xfrm>
          <a:prstGeom prst="rect">
            <a:avLst/>
          </a:prstGeom>
          <a:noFill/>
        </p:spPr>
        <p:txBody>
          <a:bodyPr wrap="square">
            <a:spAutoFit/>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7" name="Заголовок 3">
            <a:extLst>
              <a:ext uri="{FF2B5EF4-FFF2-40B4-BE49-F238E27FC236}">
                <a16:creationId xmlns:a16="http://schemas.microsoft.com/office/drawing/2014/main" id="{A0679448-85FE-4A0E-AF0D-6C11AB15F273}"/>
              </a:ext>
            </a:extLst>
          </p:cNvPr>
          <p:cNvSpPr txBox="1">
            <a:spLocks/>
          </p:cNvSpPr>
          <p:nvPr/>
        </p:nvSpPr>
        <p:spPr>
          <a:xfrm>
            <a:off x="1589314" y="280536"/>
            <a:ext cx="9013371" cy="11648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Количество инструкций?</a:t>
            </a:r>
          </a:p>
        </p:txBody>
      </p:sp>
    </p:spTree>
    <p:extLst>
      <p:ext uri="{BB962C8B-B14F-4D97-AF65-F5344CB8AC3E}">
        <p14:creationId xmlns:p14="http://schemas.microsoft.com/office/powerpoint/2010/main" val="1552213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3">
            <a:extLst>
              <a:ext uri="{FF2B5EF4-FFF2-40B4-BE49-F238E27FC236}">
                <a16:creationId xmlns:a16="http://schemas.microsoft.com/office/drawing/2014/main" id="{8259CF3A-AC4E-4FB4-B194-DC7CBFC75277}"/>
              </a:ext>
            </a:extLst>
          </p:cNvPr>
          <p:cNvSpPr txBox="1">
            <a:spLocks/>
          </p:cNvSpPr>
          <p:nvPr/>
        </p:nvSpPr>
        <p:spPr>
          <a:xfrm>
            <a:off x="1871846" y="563537"/>
            <a:ext cx="9013371" cy="11648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for loop unroll</a:t>
            </a:r>
            <a:endParaRPr lang="ru-RU" dirty="0"/>
          </a:p>
        </p:txBody>
      </p:sp>
      <p:sp>
        <p:nvSpPr>
          <p:cNvPr id="22" name="TextBox 21">
            <a:extLst>
              <a:ext uri="{FF2B5EF4-FFF2-40B4-BE49-F238E27FC236}">
                <a16:creationId xmlns:a16="http://schemas.microsoft.com/office/drawing/2014/main" id="{AC3AFFEF-CF25-45AC-90A7-920955B7E9DE}"/>
              </a:ext>
            </a:extLst>
          </p:cNvPr>
          <p:cNvSpPr txBox="1"/>
          <p:nvPr/>
        </p:nvSpPr>
        <p:spPr>
          <a:xfrm>
            <a:off x="878160" y="2258208"/>
            <a:ext cx="5217840" cy="3539430"/>
          </a:xfrm>
          <a:prstGeom prst="rect">
            <a:avLst/>
          </a:prstGeom>
          <a:noFill/>
        </p:spPr>
        <p:txBody>
          <a:bodyPr wrap="square">
            <a:spAutoFit/>
          </a:bodyPr>
          <a:lstStyle/>
          <a:p>
            <a:r>
              <a:rPr lang="en-US" sz="2400" b="0" dirty="0">
                <a:solidFill>
                  <a:srgbClr val="C586C0"/>
                </a:solidFill>
                <a:effectLst/>
                <a:latin typeface="Consolas" panose="020B0609020204030204" pitchFamily="49" charset="0"/>
              </a:rPr>
              <a:t>for</a:t>
            </a:r>
            <a:r>
              <a:rPr lang="en-US" sz="2400" b="0" dirty="0">
                <a:solidFill>
                  <a:srgbClr val="D4D4D4"/>
                </a:solidFill>
                <a:effectLst/>
                <a:latin typeface="Consolas" panose="020B0609020204030204" pitchFamily="49" charset="0"/>
              </a:rPr>
              <a:t> (</a:t>
            </a: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 = </a:t>
            </a:r>
            <a:r>
              <a:rPr lang="en-US" sz="2400" b="0" dirty="0">
                <a:solidFill>
                  <a:srgbClr val="B5CEA8"/>
                </a:solidFill>
                <a:effectLst/>
                <a:latin typeface="Consolas" panose="020B0609020204030204" pitchFamily="49" charset="0"/>
              </a:rPr>
              <a:t>1</a:t>
            </a:r>
            <a:r>
              <a:rPr lang="en-US" sz="2400" b="0" dirty="0">
                <a:solidFill>
                  <a:srgbClr val="D4D4D4"/>
                </a:solidFill>
                <a:effectLst/>
                <a:latin typeface="Consolas" panose="020B0609020204030204" pitchFamily="49" charset="0"/>
              </a:rPr>
              <a:t>; </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 &lt;= </a:t>
            </a:r>
            <a:r>
              <a:rPr lang="en-US" sz="2400" b="0" dirty="0">
                <a:solidFill>
                  <a:srgbClr val="B5CEA8"/>
                </a:solidFill>
                <a:effectLst/>
                <a:latin typeface="Consolas" panose="020B0609020204030204" pitchFamily="49" charset="0"/>
              </a:rPr>
              <a:t>10</a:t>
            </a:r>
            <a:r>
              <a:rPr lang="en-US" sz="2400" b="0" dirty="0">
                <a:solidFill>
                  <a:srgbClr val="D4D4D4"/>
                </a:solidFill>
                <a:effectLst/>
                <a:latin typeface="Consolas" panose="020B0609020204030204" pitchFamily="49" charset="0"/>
              </a:rPr>
              <a:t>; </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a:t>
            </a:r>
          </a:p>
          <a:p>
            <a:r>
              <a:rPr lang="en-US" sz="2400" b="0" dirty="0">
                <a:solidFill>
                  <a:srgbClr val="D4D4D4"/>
                </a:solidFill>
                <a:effectLst/>
                <a:latin typeface="Consolas" panose="020B0609020204030204" pitchFamily="49" charset="0"/>
              </a:rPr>
              <a:t>{</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 = a + </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a:t>
            </a:r>
          </a:p>
          <a:p>
            <a:r>
              <a:rPr lang="ru-RU" sz="2400" b="0" dirty="0">
                <a:solidFill>
                  <a:srgbClr val="D4D4D4"/>
                </a:solidFill>
                <a:effectLst/>
                <a:latin typeface="Consolas" panose="020B0609020204030204" pitchFamily="49" charset="0"/>
              </a:rPr>
              <a:t>}</a:t>
            </a:r>
            <a:endParaRPr lang="ru-RU" sz="2400" b="0" dirty="0">
              <a:solidFill>
                <a:srgbClr val="CCCCCC"/>
              </a:solidFill>
              <a:effectLst/>
              <a:latin typeface="Consolas" panose="020B0609020204030204" pitchFamily="49" charset="0"/>
            </a:endParaRPr>
          </a:p>
          <a:p>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r>
              <a:rPr lang="ru-RU" sz="3200" dirty="0">
                <a:latin typeface="Times New Roman" panose="02020603050405020304" pitchFamily="18" charset="0"/>
                <a:cs typeface="Times New Roman" panose="02020603050405020304" pitchFamily="18" charset="0"/>
              </a:rPr>
              <a:t>Количество инструкций </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1 + 11 + 10 + 10 = 32</a:t>
            </a:r>
          </a:p>
        </p:txBody>
      </p:sp>
      <p:sp>
        <p:nvSpPr>
          <p:cNvPr id="4" name="TextBox 3">
            <a:extLst>
              <a:ext uri="{FF2B5EF4-FFF2-40B4-BE49-F238E27FC236}">
                <a16:creationId xmlns:a16="http://schemas.microsoft.com/office/drawing/2014/main" id="{A2C3B530-79A5-4B2C-938C-1AE83FB2168D}"/>
              </a:ext>
            </a:extLst>
          </p:cNvPr>
          <p:cNvSpPr txBox="1"/>
          <p:nvPr/>
        </p:nvSpPr>
        <p:spPr>
          <a:xfrm>
            <a:off x="6655970" y="2258208"/>
            <a:ext cx="5307430" cy="3908762"/>
          </a:xfrm>
          <a:prstGeom prst="rect">
            <a:avLst/>
          </a:prstGeom>
          <a:noFill/>
        </p:spPr>
        <p:txBody>
          <a:bodyPr wrap="square">
            <a:spAutoFit/>
          </a:bodyPr>
          <a:lstStyle/>
          <a:p>
            <a:r>
              <a:rPr lang="ru-RU" sz="2400" b="0" dirty="0" err="1">
                <a:solidFill>
                  <a:srgbClr val="C586C0"/>
                </a:solidFill>
                <a:effectLst/>
                <a:latin typeface="Consolas" panose="020B0609020204030204" pitchFamily="49" charset="0"/>
              </a:rPr>
              <a:t>for</a:t>
            </a:r>
            <a:r>
              <a:rPr lang="ru-RU" sz="2400" b="0" dirty="0">
                <a:solidFill>
                  <a:srgbClr val="D4D4D4"/>
                </a:solidFill>
                <a:effectLst/>
                <a:latin typeface="Consolas" panose="020B0609020204030204" pitchFamily="49" charset="0"/>
              </a:rPr>
              <a:t> (</a:t>
            </a:r>
            <a:r>
              <a:rPr lang="ru-RU" sz="2400" b="0" dirty="0" err="1">
                <a:solidFill>
                  <a:srgbClr val="569CD6"/>
                </a:solidFill>
                <a:effectLst/>
                <a:latin typeface="Consolas" panose="020B0609020204030204" pitchFamily="49" charset="0"/>
              </a:rPr>
              <a:t>int</a:t>
            </a:r>
            <a:r>
              <a:rPr lang="ru-RU" sz="2400" b="0" dirty="0">
                <a:solidFill>
                  <a:srgbClr val="D4D4D4"/>
                </a:solidFill>
                <a:effectLst/>
                <a:latin typeface="Consolas" panose="020B0609020204030204" pitchFamily="49" charset="0"/>
              </a:rPr>
              <a:t> i = </a:t>
            </a:r>
            <a:r>
              <a:rPr lang="ru-RU" sz="2400" b="0" dirty="0">
                <a:solidFill>
                  <a:srgbClr val="B5CEA8"/>
                </a:solidFill>
                <a:effectLst/>
                <a:latin typeface="Consolas" panose="020B0609020204030204" pitchFamily="49" charset="0"/>
              </a:rPr>
              <a:t>1</a:t>
            </a:r>
            <a:r>
              <a:rPr lang="ru-RU" sz="2400" b="0" dirty="0">
                <a:solidFill>
                  <a:srgbClr val="D4D4D4"/>
                </a:solidFill>
                <a:effectLst/>
                <a:latin typeface="Consolas" panose="020B0609020204030204" pitchFamily="49" charset="0"/>
              </a:rPr>
              <a:t>; i &lt;= </a:t>
            </a:r>
            <a:r>
              <a:rPr lang="ru-RU" sz="2400" b="0" dirty="0">
                <a:solidFill>
                  <a:srgbClr val="B5CEA8"/>
                </a:solidFill>
                <a:effectLst/>
                <a:latin typeface="Consolas" panose="020B0609020204030204" pitchFamily="49" charset="0"/>
              </a:rPr>
              <a:t>5</a:t>
            </a:r>
            <a:r>
              <a:rPr lang="ru-RU" sz="2400" b="0" dirty="0">
                <a:solidFill>
                  <a:srgbClr val="D4D4D4"/>
                </a:solidFill>
                <a:effectLst/>
                <a:latin typeface="Consolas" panose="020B0609020204030204" pitchFamily="49" charset="0"/>
              </a:rPr>
              <a:t>; i++)</a:t>
            </a:r>
            <a:endParaRPr lang="en-US" sz="2400" b="0" dirty="0">
              <a:solidFill>
                <a:srgbClr val="D4D4D4"/>
              </a:solidFill>
              <a:effectLst/>
              <a:latin typeface="Consolas" panose="020B0609020204030204" pitchFamily="49" charset="0"/>
            </a:endParaRPr>
          </a:p>
          <a:p>
            <a:r>
              <a:rPr lang="ru-RU" sz="2400" b="0" dirty="0">
                <a:solidFill>
                  <a:srgbClr val="D4D4D4"/>
                </a:solidFill>
                <a:effectLst/>
                <a:latin typeface="Consolas" panose="020B0609020204030204" pitchFamily="49" charset="0"/>
              </a:rPr>
              <a:t>{</a:t>
            </a:r>
            <a:endParaRPr lang="ru-RU" sz="2400" b="0" dirty="0">
              <a:solidFill>
                <a:srgbClr val="CCCCCC"/>
              </a:solidFill>
              <a:effectLst/>
              <a:latin typeface="Consolas" panose="020B0609020204030204" pitchFamily="49" charset="0"/>
            </a:endParaRPr>
          </a:p>
          <a:p>
            <a:r>
              <a:rPr lang="ru-RU" sz="2400" b="0" dirty="0">
                <a:solidFill>
                  <a:srgbClr val="D4D4D4"/>
                </a:solidFill>
                <a:effectLst/>
                <a:latin typeface="Consolas" panose="020B0609020204030204" pitchFamily="49" charset="0"/>
              </a:rPr>
              <a:t>    a = a + i;</a:t>
            </a:r>
            <a:r>
              <a:rPr lang="ru-RU" sz="2400" b="0" dirty="0">
                <a:solidFill>
                  <a:srgbClr val="6A9955"/>
                </a:solidFill>
                <a:effectLst/>
                <a:latin typeface="Consolas" panose="020B0609020204030204" pitchFamily="49" charset="0"/>
              </a:rPr>
              <a:t> </a:t>
            </a:r>
            <a:endParaRPr lang="ru-RU" sz="2400" b="0" dirty="0">
              <a:solidFill>
                <a:srgbClr val="CCCCCC"/>
              </a:solidFill>
              <a:effectLst/>
              <a:latin typeface="Consolas" panose="020B0609020204030204" pitchFamily="49" charset="0"/>
            </a:endParaRPr>
          </a:p>
          <a:p>
            <a:r>
              <a:rPr lang="ru-RU" sz="2400" b="0" dirty="0">
                <a:solidFill>
                  <a:srgbClr val="D4D4D4"/>
                </a:solidFill>
                <a:effectLst/>
                <a:latin typeface="Consolas" panose="020B0609020204030204" pitchFamily="49" charset="0"/>
              </a:rPr>
              <a:t>    a = a + (</a:t>
            </a:r>
            <a:r>
              <a:rPr lang="ru-RU" sz="2400" b="0" dirty="0">
                <a:solidFill>
                  <a:srgbClr val="B5CEA8"/>
                </a:solidFill>
                <a:effectLst/>
                <a:latin typeface="Consolas" panose="020B0609020204030204" pitchFamily="49" charset="0"/>
              </a:rPr>
              <a:t>5</a:t>
            </a:r>
            <a:r>
              <a:rPr lang="ru-RU" sz="2400" b="0" dirty="0">
                <a:solidFill>
                  <a:srgbClr val="D4D4D4"/>
                </a:solidFill>
                <a:effectLst/>
                <a:latin typeface="Consolas" panose="020B0609020204030204" pitchFamily="49" charset="0"/>
              </a:rPr>
              <a:t> + i);</a:t>
            </a:r>
            <a:r>
              <a:rPr lang="ru-RU" sz="2400" b="0" dirty="0">
                <a:solidFill>
                  <a:srgbClr val="6A9955"/>
                </a:solidFill>
                <a:effectLst/>
                <a:latin typeface="Consolas" panose="020B0609020204030204" pitchFamily="49" charset="0"/>
              </a:rPr>
              <a:t> </a:t>
            </a:r>
            <a:endParaRPr lang="ru-RU" sz="2400" b="0" dirty="0">
              <a:solidFill>
                <a:srgbClr val="CCCCCC"/>
              </a:solidFill>
              <a:effectLst/>
              <a:latin typeface="Consolas" panose="020B0609020204030204" pitchFamily="49" charset="0"/>
            </a:endParaRPr>
          </a:p>
          <a:p>
            <a:r>
              <a:rPr lang="ru-RU" sz="2400" b="0" dirty="0">
                <a:solidFill>
                  <a:srgbClr val="D4D4D4"/>
                </a:solidFill>
                <a:effectLst/>
                <a:latin typeface="Consolas" panose="020B0609020204030204" pitchFamily="49" charset="0"/>
              </a:rPr>
              <a:t>}</a:t>
            </a:r>
            <a:endParaRPr lang="ru-RU" sz="2400" b="0" dirty="0">
              <a:solidFill>
                <a:srgbClr val="CCCCCC"/>
              </a:solidFill>
              <a:effectLst/>
              <a:latin typeface="Consolas" panose="020B0609020204030204" pitchFamily="49" charset="0"/>
            </a:endParaRPr>
          </a:p>
          <a:p>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r>
              <a:rPr lang="ru-RU" sz="3200" dirty="0">
                <a:latin typeface="Times New Roman" panose="02020603050405020304" pitchFamily="18" charset="0"/>
                <a:cs typeface="Times New Roman" panose="02020603050405020304" pitchFamily="18" charset="0"/>
              </a:rPr>
              <a:t>Количество инструкций </a:t>
            </a:r>
            <a:r>
              <a:rPr lang="en-US" sz="3200" dirty="0">
                <a:latin typeface="Times New Roman" panose="02020603050405020304" pitchFamily="18" charset="0"/>
                <a:cs typeface="Times New Roman" panose="02020603050405020304" pitchFamily="18" charset="0"/>
              </a:rPr>
              <a:t>1 + 6 + 5 + 10 = 22</a:t>
            </a:r>
          </a:p>
        </p:txBody>
      </p:sp>
    </p:spTree>
    <p:extLst>
      <p:ext uri="{BB962C8B-B14F-4D97-AF65-F5344CB8AC3E}">
        <p14:creationId xmlns:p14="http://schemas.microsoft.com/office/powerpoint/2010/main" val="3506853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A813CAB2-2AD3-CBC2-8DE8-2FF5AB76B7A0}"/>
              </a:ext>
            </a:extLst>
          </p:cNvPr>
          <p:cNvSpPr>
            <a:spLocks noGrp="1"/>
          </p:cNvSpPr>
          <p:nvPr>
            <p:ph type="ctrTitle"/>
          </p:nvPr>
        </p:nvSpPr>
        <p:spPr>
          <a:xfrm>
            <a:off x="5114708" y="732353"/>
            <a:ext cx="2503404" cy="927688"/>
          </a:xfrm>
        </p:spPr>
        <p:txBody>
          <a:bodyPr/>
          <a:lstStyle/>
          <a:p>
            <a:r>
              <a:rPr lang="en-US" dirty="0" err="1"/>
              <a:t>Github</a:t>
            </a:r>
            <a:endParaRPr lang="ru-RU" dirty="0"/>
          </a:p>
        </p:txBody>
      </p:sp>
      <p:pic>
        <p:nvPicPr>
          <p:cNvPr id="13314" name="Picture 2" descr="GitHub - Apps on Google Play">
            <a:extLst>
              <a:ext uri="{FF2B5EF4-FFF2-40B4-BE49-F238E27FC236}">
                <a16:creationId xmlns:a16="http://schemas.microsoft.com/office/drawing/2014/main" id="{73638D15-9EFA-B53C-910B-8E54944796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1645" y="2761214"/>
            <a:ext cx="3354355" cy="3354355"/>
          </a:xfrm>
          <a:prstGeom prst="rect">
            <a:avLst/>
          </a:prstGeom>
          <a:noFill/>
          <a:extLst>
            <a:ext uri="{909E8E84-426E-40DD-AFC4-6F175D3DCCD1}">
              <a14:hiddenFill xmlns:a14="http://schemas.microsoft.com/office/drawing/2010/main">
                <a:solidFill>
                  <a:srgbClr val="FFFFFF"/>
                </a:solidFill>
              </a14:hiddenFill>
            </a:ext>
          </a:extLst>
        </p:spPr>
      </p:pic>
      <p:pic>
        <p:nvPicPr>
          <p:cNvPr id="4" name="Рисунок 3">
            <a:extLst>
              <a:ext uri="{FF2B5EF4-FFF2-40B4-BE49-F238E27FC236}">
                <a16:creationId xmlns:a16="http://schemas.microsoft.com/office/drawing/2014/main" id="{46C90E63-E5A3-4470-AD6D-63EB1FD9D1A1}"/>
              </a:ext>
            </a:extLst>
          </p:cNvPr>
          <p:cNvPicPr>
            <a:picLocks noChangeAspect="1"/>
          </p:cNvPicPr>
          <p:nvPr/>
        </p:nvPicPr>
        <p:blipFill>
          <a:blip r:embed="rId4"/>
          <a:stretch>
            <a:fillRect/>
          </a:stretch>
        </p:blipFill>
        <p:spPr>
          <a:xfrm>
            <a:off x="6477000" y="2805521"/>
            <a:ext cx="3280547" cy="3265742"/>
          </a:xfrm>
          <a:prstGeom prst="rect">
            <a:avLst/>
          </a:prstGeom>
        </p:spPr>
      </p:pic>
      <p:sp>
        <p:nvSpPr>
          <p:cNvPr id="6" name="TextBox 5">
            <a:extLst>
              <a:ext uri="{FF2B5EF4-FFF2-40B4-BE49-F238E27FC236}">
                <a16:creationId xmlns:a16="http://schemas.microsoft.com/office/drawing/2014/main" id="{ED8EE967-943B-407F-8E78-2668FBEBC15D}"/>
              </a:ext>
            </a:extLst>
          </p:cNvPr>
          <p:cNvSpPr txBox="1"/>
          <p:nvPr/>
        </p:nvSpPr>
        <p:spPr>
          <a:xfrm>
            <a:off x="3105916" y="1867461"/>
            <a:ext cx="6520988" cy="523220"/>
          </a:xfrm>
          <a:prstGeom prst="rect">
            <a:avLst/>
          </a:prstGeom>
          <a:noFill/>
        </p:spPr>
        <p:txBody>
          <a:bodyPr wrap="square">
            <a:spAutoFit/>
          </a:bodyPr>
          <a:lstStyle/>
          <a:p>
            <a:r>
              <a:rPr lang="ru-RU" sz="2800" dirty="0"/>
              <a:t>https://github.com/kruffka/C-Programming</a:t>
            </a:r>
          </a:p>
        </p:txBody>
      </p:sp>
    </p:spTree>
    <p:extLst>
      <p:ext uri="{BB962C8B-B14F-4D97-AF65-F5344CB8AC3E}">
        <p14:creationId xmlns:p14="http://schemas.microsoft.com/office/powerpoint/2010/main" val="244768081"/>
      </p:ext>
    </p:extLst>
  </p:cSld>
  <p:clrMapOvr>
    <a:masterClrMapping/>
  </p:clrMapOvr>
</p:sld>
</file>

<file path=ppt/theme/theme1.xml><?xml version="1.0" encoding="utf-8"?>
<a:theme xmlns:a="http://schemas.openxmlformats.org/drawingml/2006/main" name="Office Them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1842</TotalTime>
  <Words>1189</Words>
  <Application>Microsoft Office PowerPoint</Application>
  <PresentationFormat>Широкоэкранный</PresentationFormat>
  <Paragraphs>181</Paragraphs>
  <Slides>16</Slides>
  <Notes>16</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16</vt:i4>
      </vt:variant>
    </vt:vector>
  </HeadingPairs>
  <TitlesOfParts>
    <vt:vector size="23" baseType="lpstr">
      <vt:lpstr>Arial</vt:lpstr>
      <vt:lpstr>Calibri</vt:lpstr>
      <vt:lpstr>Calibri Light</vt:lpstr>
      <vt:lpstr>Consolas</vt:lpstr>
      <vt:lpstr>Helvetica Neue</vt:lpstr>
      <vt:lpstr>Times New Roman</vt:lpstr>
      <vt:lpstr>Office Theme</vt:lpstr>
      <vt:lpstr>C Programming  2_loops</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Andrey Veyler</dc:creator>
  <cp:lastModifiedBy>Andrey Veyler</cp:lastModifiedBy>
  <cp:revision>408</cp:revision>
  <dcterms:created xsi:type="dcterms:W3CDTF">2019-12-17T14:15:21Z</dcterms:created>
  <dcterms:modified xsi:type="dcterms:W3CDTF">2026-09-15T04:33:20Z</dcterms:modified>
</cp:coreProperties>
</file>