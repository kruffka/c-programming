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352" r:id="rId3"/>
    <p:sldId id="391" r:id="rId4"/>
    <p:sldId id="392" r:id="rId5"/>
    <p:sldId id="393" r:id="rId6"/>
    <p:sldId id="394" r:id="rId7"/>
    <p:sldId id="396" r:id="rId8"/>
    <p:sldId id="395" r:id="rId9"/>
    <p:sldId id="397" r:id="rId10"/>
    <p:sldId id="398" r:id="rId11"/>
    <p:sldId id="400" r:id="rId12"/>
    <p:sldId id="401" r:id="rId13"/>
    <p:sldId id="402" r:id="rId14"/>
    <p:sldId id="399" r:id="rId15"/>
    <p:sldId id="403" r:id="rId16"/>
    <p:sldId id="404" r:id="rId17"/>
    <p:sldId id="405" r:id="rId18"/>
    <p:sldId id="290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y Veyler" initials="AV" lastIdx="1" clrIdx="0">
    <p:extLst>
      <p:ext uri="{19B8F6BF-5375-455C-9EA6-DF929625EA0E}">
        <p15:presenceInfo xmlns:p15="http://schemas.microsoft.com/office/powerpoint/2012/main" userId="3d9934d1e83c21f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6D9F66E-5EB9-4882-86FB-DCBF35E3C3E4}" styleName="Средний стиль 4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01" autoAdjust="0"/>
    <p:restoredTop sz="94630" autoAdjust="0"/>
  </p:normalViewPr>
  <p:slideViewPr>
    <p:cSldViewPr snapToGrid="0">
      <p:cViewPr varScale="1">
        <p:scale>
          <a:sx n="92" d="100"/>
          <a:sy n="92" d="100"/>
        </p:scale>
        <p:origin x="996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F5437-F444-4613-A039-4AD69D91C86A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7EAB29-8E86-49C7-96F5-7C9D720761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886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9856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866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1858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198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66386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4001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33221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21842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94800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77102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48515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72560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75549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818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55443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832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53359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560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4783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6502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211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9404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0888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2053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9032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29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088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095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999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F7D01-7D49-4F37-AA30-F04C65571A4A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17906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lassian.com/ru/continuous-delivery/software-testing/types-of-software-testin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lassian.com/ru/continuous-delivery/software-testing/types-of-software-testing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kruffka/C-Programming/blob/2025-2026/17_testing/src/test_example.c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521262"/>
            <a:ext cx="9144000" cy="2387600"/>
          </a:xfrm>
        </p:spPr>
        <p:txBody>
          <a:bodyPr/>
          <a:lstStyle/>
          <a:p>
            <a:r>
              <a:rPr lang="en-US" dirty="0"/>
              <a:t>C Programming</a:t>
            </a:r>
            <a:br>
              <a:rPr lang="en-US" dirty="0"/>
            </a:br>
            <a:r>
              <a:rPr lang="en-US" sz="3200" dirty="0"/>
              <a:t>17_testing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8762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Тестирование ПО</a:t>
            </a:r>
            <a:endParaRPr lang="en-US" dirty="0"/>
          </a:p>
        </p:txBody>
      </p:sp>
      <p:pic>
        <p:nvPicPr>
          <p:cNvPr id="6" name="Picture 2" descr="alt text">
            <a:extLst>
              <a:ext uri="{FF2B5EF4-FFF2-40B4-BE49-F238E27FC236}">
                <a16:creationId xmlns:a16="http://schemas.microsoft.com/office/drawing/2014/main" id="{52BE60C4-BC19-449D-BA60-50AAF2E96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971" y="1626111"/>
            <a:ext cx="8159868" cy="4086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alt text">
            <a:extLst>
              <a:ext uri="{FF2B5EF4-FFF2-40B4-BE49-F238E27FC236}">
                <a16:creationId xmlns:a16="http://schemas.microsoft.com/office/drawing/2014/main" id="{42A0A1E3-6582-4944-8023-1AA5EF963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2847" y="4859676"/>
            <a:ext cx="3935370" cy="1883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8937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8A2057EE-4298-40AC-95E2-E8B1E63960A3}"/>
              </a:ext>
            </a:extLst>
          </p:cNvPr>
          <p:cNvSpPr txBox="1">
            <a:spLocks/>
          </p:cNvSpPr>
          <p:nvPr/>
        </p:nvSpPr>
        <p:spPr>
          <a:xfrm>
            <a:off x="1348603" y="207142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Жизненный цикл разработки ПО (SDLC)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D2A1AA-FE15-49A5-9B48-D3F4EF0F2F6C}"/>
              </a:ext>
            </a:extLst>
          </p:cNvPr>
          <p:cNvSpPr txBox="1"/>
          <p:nvPr/>
        </p:nvSpPr>
        <p:spPr>
          <a:xfrm>
            <a:off x="885970" y="1536174"/>
            <a:ext cx="542549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SDLC (Software Development Life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Cycle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это процесс, которому следуют для создания программного обеспечения в организациях. SDLC состоит из некоторого плана, который описывает, как разрабатывать, поддерживать, заменять и улучшать программное обеспечение.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каждом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этапе обычно есть свои должности: разработчик, тестировщик (QA-инженер),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инженер, бизнес-аналитик, руководитель проекта, архитектор, тех.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пис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т.д.</a:t>
            </a:r>
          </a:p>
        </p:txBody>
      </p:sp>
      <p:pic>
        <p:nvPicPr>
          <p:cNvPr id="6150" name="Picture 6">
            <a:extLst>
              <a:ext uri="{FF2B5EF4-FFF2-40B4-BE49-F238E27FC236}">
                <a16:creationId xmlns:a16="http://schemas.microsoft.com/office/drawing/2014/main" id="{D9BFA080-BD8E-4B34-8852-124342E09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7172" y="1536174"/>
            <a:ext cx="4914320" cy="491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Заголовок 2">
            <a:extLst>
              <a:ext uri="{FF2B5EF4-FFF2-40B4-BE49-F238E27FC236}">
                <a16:creationId xmlns:a16="http://schemas.microsoft.com/office/drawing/2014/main" id="{84E0653A-F2A7-4EC4-89A5-9D4AEB1EEEA2}"/>
              </a:ext>
            </a:extLst>
          </p:cNvPr>
          <p:cNvSpPr txBox="1">
            <a:spLocks/>
          </p:cNvSpPr>
          <p:nvPr/>
        </p:nvSpPr>
        <p:spPr>
          <a:xfrm>
            <a:off x="1133141" y="238577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032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8A2057EE-4298-40AC-95E2-E8B1E63960A3}"/>
              </a:ext>
            </a:extLst>
          </p:cNvPr>
          <p:cNvSpPr txBox="1">
            <a:spLocks/>
          </p:cNvSpPr>
          <p:nvPr/>
        </p:nvSpPr>
        <p:spPr>
          <a:xfrm>
            <a:off x="1348603" y="207142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Жизненный цикл разработки ПО (SDLC)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9DE5802-5C38-49E4-8B7D-88BFE32A2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3011" y="1475249"/>
            <a:ext cx="5452153" cy="4707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DED117-124E-4992-B4EA-37B37D710749}"/>
              </a:ext>
            </a:extLst>
          </p:cNvPr>
          <p:cNvSpPr txBox="1"/>
          <p:nvPr/>
        </p:nvSpPr>
        <p:spPr>
          <a:xfrm>
            <a:off x="475299" y="2178388"/>
            <a:ext cx="609771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1. Анализ требований</a:t>
            </a:r>
          </a:p>
          <a:p>
            <a:r>
              <a:rPr lang="ru-RU" sz="2400" dirty="0"/>
              <a:t>2. Планирование</a:t>
            </a:r>
          </a:p>
          <a:p>
            <a:r>
              <a:rPr lang="ru-RU" sz="2400" dirty="0"/>
              <a:t>3. Дизайн/Проектирование архитектуры </a:t>
            </a:r>
            <a:br>
              <a:rPr lang="ru-RU" sz="2400" dirty="0"/>
            </a:br>
            <a:r>
              <a:rPr lang="ru-RU" sz="2400" dirty="0"/>
              <a:t>	* HLD (High Level Design)</a:t>
            </a:r>
            <a:br>
              <a:rPr lang="ru-RU" sz="2400" dirty="0"/>
            </a:br>
            <a:r>
              <a:rPr lang="ru-RU" sz="2400" dirty="0"/>
              <a:t>	* LLD (</a:t>
            </a:r>
            <a:r>
              <a:rPr lang="ru-RU" sz="2400" dirty="0" err="1"/>
              <a:t>Low</a:t>
            </a:r>
            <a:r>
              <a:rPr lang="ru-RU" sz="2400" dirty="0"/>
              <a:t> Level Design)</a:t>
            </a:r>
          </a:p>
          <a:p>
            <a:r>
              <a:rPr lang="ru-RU" sz="2400" dirty="0"/>
              <a:t>4. Разработка продукта</a:t>
            </a:r>
          </a:p>
          <a:p>
            <a:r>
              <a:rPr lang="ru-RU" sz="2400" dirty="0"/>
              <a:t>5. Тестирование и интеграция продукта </a:t>
            </a:r>
          </a:p>
          <a:p>
            <a:r>
              <a:rPr lang="ru-RU" sz="2400" dirty="0"/>
              <a:t>6. Развертывание и обслуживание продуктов</a:t>
            </a:r>
          </a:p>
        </p:txBody>
      </p:sp>
    </p:spTree>
    <p:extLst>
      <p:ext uri="{BB962C8B-B14F-4D97-AF65-F5344CB8AC3E}">
        <p14:creationId xmlns:p14="http://schemas.microsoft.com/office/powerpoint/2010/main" val="1705386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8A2057EE-4298-40AC-95E2-E8B1E63960A3}"/>
              </a:ext>
            </a:extLst>
          </p:cNvPr>
          <p:cNvSpPr txBox="1">
            <a:spLocks/>
          </p:cNvSpPr>
          <p:nvPr/>
        </p:nvSpPr>
        <p:spPr>
          <a:xfrm>
            <a:off x="1348603" y="155771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Тестирование ПО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23EC14-8ADA-4B0E-8F46-8A9B58500DB2}"/>
              </a:ext>
            </a:extLst>
          </p:cNvPr>
          <p:cNvSpPr txBox="1"/>
          <p:nvPr/>
        </p:nvSpPr>
        <p:spPr>
          <a:xfrm>
            <a:off x="605954" y="1399633"/>
            <a:ext cx="109800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ПО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это процесс проверки и подтверждения того, работает ли приложение так, как ожидалось, включает в себя выявление ошибок и неполадок, которые в будущем могут вызвать проблемы у пользователей приложения.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42EFDA-86D6-481A-BB28-375827949B04}"/>
              </a:ext>
            </a:extLst>
          </p:cNvPr>
          <p:cNvSpPr txBox="1"/>
          <p:nvPr/>
        </p:nvSpPr>
        <p:spPr>
          <a:xfrm>
            <a:off x="8178229" y="6308333"/>
            <a:ext cx="40137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См. в </a:t>
            </a:r>
            <a:r>
              <a:rPr lang="ru-RU" dirty="0" err="1"/>
              <a:t>гугле</a:t>
            </a:r>
            <a:r>
              <a:rPr lang="ru-RU" dirty="0"/>
              <a:t> </a:t>
            </a:r>
            <a:r>
              <a:rPr lang="en-US" dirty="0"/>
              <a:t>"software errors in history"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FCA255-576B-4B42-8500-4669E141C09C}"/>
              </a:ext>
            </a:extLst>
          </p:cNvPr>
          <p:cNvSpPr txBox="1"/>
          <p:nvPr/>
        </p:nvSpPr>
        <p:spPr>
          <a:xfrm>
            <a:off x="605954" y="2781959"/>
            <a:ext cx="1130179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Ручное тестирование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(manual)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тестирование приложения вручную. Тестировщик напрямую взаимодействует с приложением и смотрит работает ли как надо. Если работает не как надо - есть баги, то заводит задачи на разработчиков. В любом случае дает фидбек (обратную связь)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Автоматизированное тестирование (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Automation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значит написать код, в котором ожидаемые сценарии сравниваются с тем, что действительно получил пользователь. Простыми словами - тестировщик пишет код/скрипты, которые тестируют программу.</a:t>
            </a:r>
          </a:p>
        </p:txBody>
      </p:sp>
    </p:spTree>
    <p:extLst>
      <p:ext uri="{BB962C8B-B14F-4D97-AF65-F5344CB8AC3E}">
        <p14:creationId xmlns:p14="http://schemas.microsoft.com/office/powerpoint/2010/main" val="2411477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8A2057EE-4298-40AC-95E2-E8B1E63960A3}"/>
              </a:ext>
            </a:extLst>
          </p:cNvPr>
          <p:cNvSpPr txBox="1">
            <a:spLocks/>
          </p:cNvSpPr>
          <p:nvPr/>
        </p:nvSpPr>
        <p:spPr>
          <a:xfrm>
            <a:off x="1348603" y="0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Виды</a:t>
            </a:r>
            <a:r>
              <a:rPr lang="en-US" dirty="0"/>
              <a:t>/</a:t>
            </a:r>
            <a:r>
              <a:rPr lang="ru-RU" dirty="0"/>
              <a:t>типы тестов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5EEE65-3173-41BA-A1F2-759B36E9C546}"/>
              </a:ext>
            </a:extLst>
          </p:cNvPr>
          <p:cNvSpPr txBox="1"/>
          <p:nvPr/>
        </p:nvSpPr>
        <p:spPr>
          <a:xfrm>
            <a:off x="1528841" y="6281525"/>
            <a:ext cx="121357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sng" dirty="0">
                <a:solidFill>
                  <a:srgbClr val="0969DA"/>
                </a:solidFill>
                <a:effectLst/>
                <a:latin typeface="-apple-system"/>
                <a:hlinkClick r:id="rId3"/>
              </a:rPr>
              <a:t>https://www.atlassian.com/ru/continuous-delivery/software-testing/types-of-software-testing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7923F7-C547-4B79-94D6-2FBD45DC7243}"/>
              </a:ext>
            </a:extLst>
          </p:cNvPr>
          <p:cNvSpPr txBox="1"/>
          <p:nvPr/>
        </p:nvSpPr>
        <p:spPr>
          <a:xfrm>
            <a:off x="227007" y="942339"/>
            <a:ext cx="11730399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Модульные тесты (Unit-тесты)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Модульные тесты работают на очень низком уровне. Они заключаются в тестировании отдельных функций, компонентов или модулей, используемых в ПО. Модульные тесты обычно легковесны и выполняются быстро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Интеграционные тесты (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ходе интеграционного тестирования проверяется, хорошо ли работают вместе различные модули, используемые приложением. Например, можно протестировать взаимодействие с базой данных.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тесты (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Functional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функциональных тестах основное внимание уделяется бизнес-требованиям к приложению. Они проверяют только результат некоторого действия и не проверяют промежуточные состояния системы при выполнении этого действия.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Иногда возникает путаница между понятиями интеграционных и функциональных тестов, так как и те и другие требуют взаимодействия нескольких компонентов друг с другом. Разница в том, что интеграционный тест нужен просто чтобы убедиться, что вы можете отправлять запросы к базе данных, тогда как функциональный тест будет ожидать получения из базы данных определенного значения в соответствии с требованиями продукта.</a:t>
            </a:r>
          </a:p>
        </p:txBody>
      </p:sp>
    </p:spTree>
    <p:extLst>
      <p:ext uri="{BB962C8B-B14F-4D97-AF65-F5344CB8AC3E}">
        <p14:creationId xmlns:p14="http://schemas.microsoft.com/office/powerpoint/2010/main" val="531384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8A2057EE-4298-40AC-95E2-E8B1E63960A3}"/>
              </a:ext>
            </a:extLst>
          </p:cNvPr>
          <p:cNvSpPr txBox="1">
            <a:spLocks/>
          </p:cNvSpPr>
          <p:nvPr/>
        </p:nvSpPr>
        <p:spPr>
          <a:xfrm>
            <a:off x="1348603" y="0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Виды</a:t>
            </a:r>
            <a:r>
              <a:rPr lang="en-US" dirty="0"/>
              <a:t>/</a:t>
            </a:r>
            <a:r>
              <a:rPr lang="ru-RU" dirty="0"/>
              <a:t>типы тестов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5EEE65-3173-41BA-A1F2-759B36E9C546}"/>
              </a:ext>
            </a:extLst>
          </p:cNvPr>
          <p:cNvSpPr txBox="1"/>
          <p:nvPr/>
        </p:nvSpPr>
        <p:spPr>
          <a:xfrm>
            <a:off x="1528841" y="6281525"/>
            <a:ext cx="121357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sng" dirty="0">
                <a:solidFill>
                  <a:srgbClr val="0969DA"/>
                </a:solidFill>
                <a:effectLst/>
                <a:latin typeface="-apple-system"/>
                <a:hlinkClick r:id="rId3"/>
              </a:rPr>
              <a:t>https://www.atlassian.com/ru/continuous-delivery/software-testing/types-of-software-testing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7923F7-C547-4B79-94D6-2FBD45DC7243}"/>
              </a:ext>
            </a:extLst>
          </p:cNvPr>
          <p:cNvSpPr txBox="1"/>
          <p:nvPr/>
        </p:nvSpPr>
        <p:spPr>
          <a:xfrm>
            <a:off x="230799" y="927688"/>
            <a:ext cx="11730399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Сквозные тесты (End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End или E2E)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Сквозное тестирование копирует поведение пользователя при работе с ПО в контексте всего приложения. Оно обеспечивает контроль того, что различные схемы действий пользователя работают должным образом. Сценарии могут быть как очень простыми (загрузка веб-страницы или вход в систему), так и гораздо более сложными (проверка почтовых уведомлений, онлайн-платежей и т. д.).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Приемочное тестирование (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Acceptance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Приемочные тесты — это формальные тесты, которые проверяют, отвечает ли система требованиям бизнеса. При этом во время тестирования должно быть запущено само приложение, и основное внимание уделяется воспроизведению поведения пользователей.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производительности (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тестах производительности оценивается работа системы при определенной рабочей нагрузке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Smoke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-тестирование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Smoke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-тесты — это базовые тесты, которые проверяют основные функциональные возможности приложения. Они должны выполняться быстро, поскольку цель таких тестов — убедиться, что основные возможности системы работают как запланировано.</a:t>
            </a:r>
          </a:p>
        </p:txBody>
      </p:sp>
    </p:spTree>
    <p:extLst>
      <p:ext uri="{BB962C8B-B14F-4D97-AF65-F5344CB8AC3E}">
        <p14:creationId xmlns:p14="http://schemas.microsoft.com/office/powerpoint/2010/main" val="1416313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8A2057EE-4298-40AC-95E2-E8B1E63960A3}"/>
              </a:ext>
            </a:extLst>
          </p:cNvPr>
          <p:cNvSpPr txBox="1">
            <a:spLocks/>
          </p:cNvSpPr>
          <p:nvPr/>
        </p:nvSpPr>
        <p:spPr>
          <a:xfrm>
            <a:off x="1348603" y="155771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Фазы тестирования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6DAC08-3F8F-4FB2-B019-72D3D182E5AD}"/>
              </a:ext>
            </a:extLst>
          </p:cNvPr>
          <p:cNvSpPr txBox="1"/>
          <p:nvPr/>
        </p:nvSpPr>
        <p:spPr>
          <a:xfrm>
            <a:off x="328772" y="1351508"/>
            <a:ext cx="1153445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-Alpha: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прототип, в котором всё ещё присутствует много ошибок и наверняка неполный функционал. Необходим для ознакомления с будущими возможностями программ.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является ранней версией программного продукта, тестирование которой проводится внутри фирмы-разработчика.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Beta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практически готовый продукт, который разработан в первую очередь для тестирования конечными пользователями.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Release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Candidate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(RC):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возможные ошибки в каждой из фичей уже устранены и разработчики выпускают версию на которой проводится регрессионное тестирование.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Release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финальная версия программы, которая готова к использованию.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73EBDE-6C87-4A53-8085-C14AD9FD9311}"/>
              </a:ext>
            </a:extLst>
          </p:cNvPr>
          <p:cNvSpPr txBox="1"/>
          <p:nvPr/>
        </p:nvSpPr>
        <p:spPr>
          <a:xfrm>
            <a:off x="328772" y="6189193"/>
            <a:ext cx="61182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https://habr.com/ru/articles/549054/</a:t>
            </a:r>
          </a:p>
        </p:txBody>
      </p:sp>
    </p:spTree>
    <p:extLst>
      <p:ext uri="{BB962C8B-B14F-4D97-AF65-F5344CB8AC3E}">
        <p14:creationId xmlns:p14="http://schemas.microsoft.com/office/powerpoint/2010/main" val="1104759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8A2057EE-4298-40AC-95E2-E8B1E63960A3}"/>
              </a:ext>
            </a:extLst>
          </p:cNvPr>
          <p:cNvSpPr txBox="1">
            <a:spLocks/>
          </p:cNvSpPr>
          <p:nvPr/>
        </p:nvSpPr>
        <p:spPr>
          <a:xfrm>
            <a:off x="1348603" y="207142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Behavior-driven development (BDD)</a:t>
            </a:r>
          </a:p>
        </p:txBody>
      </p:sp>
      <p:pic>
        <p:nvPicPr>
          <p:cNvPr id="10244" name="Picture 4" descr="alt text">
            <a:extLst>
              <a:ext uri="{FF2B5EF4-FFF2-40B4-BE49-F238E27FC236}">
                <a16:creationId xmlns:a16="http://schemas.microsoft.com/office/drawing/2014/main" id="{9A5CC8D1-7B87-4870-ABD1-29F6C779D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2594" y="1394976"/>
            <a:ext cx="2555975" cy="5074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775AF9-51E5-42BD-A1ED-7C986FDB0DC2}"/>
              </a:ext>
            </a:extLst>
          </p:cNvPr>
          <p:cNvSpPr txBox="1"/>
          <p:nvPr/>
        </p:nvSpPr>
        <p:spPr>
          <a:xfrm>
            <a:off x="743882" y="1394976"/>
            <a:ext cx="856179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повышения качества кода программисты довольно давно придумали немного иной метод разработки, что обозвали BDD -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Behavior-driven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дословно «разработка через поведение».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мы сначала пишем тесты, а для них код?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Дело в том, что такая практика позволяет сфокусироваться на какой-то мелкой задаче и писать тот код, что решает только ее и не задумываться о том, что мой код должен решать сразу все мировые проблемы. Мой код должен решать этот тест и на этом все.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Написание требований и тестов покрывает также документацию кода, которую разработчики так не любят писать</a:t>
            </a:r>
          </a:p>
        </p:txBody>
      </p:sp>
    </p:spTree>
    <p:extLst>
      <p:ext uri="{BB962C8B-B14F-4D97-AF65-F5344CB8AC3E}">
        <p14:creationId xmlns:p14="http://schemas.microsoft.com/office/powerpoint/2010/main" val="3646677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8A2057EE-4298-40AC-95E2-E8B1E63960A3}"/>
              </a:ext>
            </a:extLst>
          </p:cNvPr>
          <p:cNvSpPr txBox="1">
            <a:spLocks/>
          </p:cNvSpPr>
          <p:nvPr/>
        </p:nvSpPr>
        <p:spPr>
          <a:xfrm>
            <a:off x="1348603" y="207142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Gherkin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D051C2-1684-43A1-8D72-E08E28DA2456}"/>
              </a:ext>
            </a:extLst>
          </p:cNvPr>
          <p:cNvSpPr txBox="1"/>
          <p:nvPr/>
        </p:nvSpPr>
        <p:spPr>
          <a:xfrm>
            <a:off x="472170" y="1811765"/>
            <a:ext cx="7569070" cy="3551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Page</a:t>
            </a:r>
          </a:p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enters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user_login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And User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enters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password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user_password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</a:p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‘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Welcome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site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message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displayed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Допустим пользователь находится на странице логина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Когда пользователь вводит логин '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user_login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И пользователь вводит пароль '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user_password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появляется сообщение ‘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Welcome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site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</a:p>
        </p:txBody>
      </p:sp>
      <p:pic>
        <p:nvPicPr>
          <p:cNvPr id="9218" name="Picture 2" descr="alt text">
            <a:extLst>
              <a:ext uri="{FF2B5EF4-FFF2-40B4-BE49-F238E27FC236}">
                <a16:creationId xmlns:a16="http://schemas.microsoft.com/office/drawing/2014/main" id="{83006544-77A0-4813-AF69-F297F5315C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1240" y="1561725"/>
            <a:ext cx="4051443" cy="4051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3703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8A2057EE-4298-40AC-95E2-E8B1E63960A3}"/>
              </a:ext>
            </a:extLst>
          </p:cNvPr>
          <p:cNvSpPr txBox="1">
            <a:spLocks/>
          </p:cNvSpPr>
          <p:nvPr/>
        </p:nvSpPr>
        <p:spPr>
          <a:xfrm>
            <a:off x="1348603" y="207142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Тесты – это программа</a:t>
            </a:r>
            <a:endParaRPr lang="en-US" dirty="0"/>
          </a:p>
        </p:txBody>
      </p:sp>
      <p:pic>
        <p:nvPicPr>
          <p:cNvPr id="13314" name="Picture 2" descr="alt text">
            <a:extLst>
              <a:ext uri="{FF2B5EF4-FFF2-40B4-BE49-F238E27FC236}">
                <a16:creationId xmlns:a16="http://schemas.microsoft.com/office/drawing/2014/main" id="{4C1B034B-4B55-455E-9B20-5E1FC52B0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6834" y="1298537"/>
            <a:ext cx="2307349" cy="5263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ABFCC4-53E2-46D8-BF92-0550C84E620D}"/>
              </a:ext>
            </a:extLst>
          </p:cNvPr>
          <p:cNvSpPr txBox="1"/>
          <p:nvPr/>
        </p:nvSpPr>
        <p:spPr>
          <a:xfrm>
            <a:off x="1061516" y="1222921"/>
            <a:ext cx="8189856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Тесты - есть программа, чаще всего написанная на том же языке, на котором написан целевой код (Программы на Си обычно покрывают кодом на Си и т.д.)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тесты довольно похожи друг на друга, поэтому была придумана типовая архитектура фреймворка для тестирования –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xUnit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Упрощенная схема того как обычно выглядит тестовая программа: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Фикстура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некоторая конфигурация (настройки) тестирования. Например настройки в каком состоянии должна находиться система для тестирования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Arrange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подготовить входные данные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 - Отработка теста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Assert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Проверка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Formatter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форматирование в красивом для человека вида с результатами тестов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Runner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тот, кто запускает программу</a:t>
            </a:r>
          </a:p>
        </p:txBody>
      </p:sp>
    </p:spTree>
    <p:extLst>
      <p:ext uri="{BB962C8B-B14F-4D97-AF65-F5344CB8AC3E}">
        <p14:creationId xmlns:p14="http://schemas.microsoft.com/office/powerpoint/2010/main" val="3033759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8A2057EE-4298-40AC-95E2-E8B1E63960A3}"/>
              </a:ext>
            </a:extLst>
          </p:cNvPr>
          <p:cNvSpPr txBox="1">
            <a:spLocks/>
          </p:cNvSpPr>
          <p:nvPr/>
        </p:nvSpPr>
        <p:spPr>
          <a:xfrm>
            <a:off x="1348603" y="207142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AAA</a:t>
            </a:r>
          </a:p>
        </p:txBody>
      </p:sp>
      <p:pic>
        <p:nvPicPr>
          <p:cNvPr id="12290" name="Picture 2" descr="alt text">
            <a:extLst>
              <a:ext uri="{FF2B5EF4-FFF2-40B4-BE49-F238E27FC236}">
                <a16:creationId xmlns:a16="http://schemas.microsoft.com/office/drawing/2014/main" id="{B9178C96-A6E3-4BAF-B2FF-A554C4977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120" y="1134830"/>
            <a:ext cx="9030681" cy="5427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7966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8A2057EE-4298-40AC-95E2-E8B1E63960A3}"/>
              </a:ext>
            </a:extLst>
          </p:cNvPr>
          <p:cNvSpPr txBox="1">
            <a:spLocks/>
          </p:cNvSpPr>
          <p:nvPr/>
        </p:nvSpPr>
        <p:spPr>
          <a:xfrm>
            <a:off x="1348601" y="90859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Фреймворки для тестирования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83EBE-3FD5-4021-B1EC-628F49AD98D5}"/>
              </a:ext>
            </a:extLst>
          </p:cNvPr>
          <p:cNvSpPr txBox="1"/>
          <p:nvPr/>
        </p:nvSpPr>
        <p:spPr>
          <a:xfrm>
            <a:off x="998437" y="1134830"/>
            <a:ext cx="1062604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фрейморков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тестов: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https://en.wikipedia.org/wiki/List_of_unit_testing_frameworks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языка Си как и для других языков есть очень много разных фреймворков для тестирования, но мы рассмотрим пару примеров на элегантном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CMocka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Ссылки на доки: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https://cmocka.org/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https://cmocka.org/talks/cmocka_unit_testing_and_mocking.pdf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https://api.cmocka.org/index.html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Установить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Cmocka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можно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так: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apt install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libcmocka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-dev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компиляции линкуем с библиотекой флагом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lcmocka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761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8A2057EE-4298-40AC-95E2-E8B1E63960A3}"/>
              </a:ext>
            </a:extLst>
          </p:cNvPr>
          <p:cNvSpPr txBox="1">
            <a:spLocks/>
          </p:cNvSpPr>
          <p:nvPr/>
        </p:nvSpPr>
        <p:spPr>
          <a:xfrm>
            <a:off x="1348603" y="125561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Ура</a:t>
            </a:r>
            <a:r>
              <a:rPr lang="en-US" dirty="0"/>
              <a:t>, </a:t>
            </a:r>
            <a:r>
              <a:rPr lang="ru-RU" dirty="0"/>
              <a:t>программировать</a:t>
            </a:r>
            <a:endParaRPr lang="en-US" dirty="0"/>
          </a:p>
        </p:txBody>
      </p:sp>
      <p:pic>
        <p:nvPicPr>
          <p:cNvPr id="8194" name="Picture 2" descr="alt text">
            <a:extLst>
              <a:ext uri="{FF2B5EF4-FFF2-40B4-BE49-F238E27FC236}">
                <a16:creationId xmlns:a16="http://schemas.microsoft.com/office/drawing/2014/main" id="{6A1DE12D-5DA0-4A8B-AE78-2BCD0D93F0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61"/>
          <a:stretch/>
        </p:blipFill>
        <p:spPr bwMode="auto">
          <a:xfrm>
            <a:off x="1645281" y="1146809"/>
            <a:ext cx="6922503" cy="5421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A085142-566B-4F01-BC23-67964C39C95F}"/>
              </a:ext>
            </a:extLst>
          </p:cNvPr>
          <p:cNvSpPr txBox="1"/>
          <p:nvPr/>
        </p:nvSpPr>
        <p:spPr>
          <a:xfrm>
            <a:off x="8960528" y="5244613"/>
            <a:ext cx="343582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Пару примеров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17_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code_quality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src/test_example.c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17_code_quality/src/test_file.c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243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8A2057EE-4298-40AC-95E2-E8B1E63960A3}"/>
              </a:ext>
            </a:extLst>
          </p:cNvPr>
          <p:cNvSpPr txBox="1">
            <a:spLocks/>
          </p:cNvSpPr>
          <p:nvPr/>
        </p:nvSpPr>
        <p:spPr>
          <a:xfrm>
            <a:off x="1348603" y="207142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err="1"/>
              <a:t>Форматтер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61BBEC-D2DA-49C9-A03B-83F03B2B8057}"/>
              </a:ext>
            </a:extLst>
          </p:cNvPr>
          <p:cNvSpPr txBox="1"/>
          <p:nvPr/>
        </p:nvSpPr>
        <p:spPr>
          <a:xfrm>
            <a:off x="1450116" y="1134830"/>
            <a:ext cx="60977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Cmocka</a:t>
            </a:r>
            <a:r>
              <a:rPr lang="en-US" b="1" dirty="0"/>
              <a:t>:</a:t>
            </a:r>
          </a:p>
          <a:p>
            <a:endParaRPr lang="en-US" dirty="0"/>
          </a:p>
          <a:p>
            <a:r>
              <a:rPr lang="ru-RU" dirty="0"/>
              <a:t>CMOCKA_MESSAGE_OUTPUT=</a:t>
            </a:r>
            <a:r>
              <a:rPr lang="ru-RU" dirty="0" err="1"/>
              <a:t>stdout</a:t>
            </a:r>
            <a:r>
              <a:rPr lang="ru-RU" dirty="0"/>
              <a:t> ./</a:t>
            </a:r>
            <a:r>
              <a:rPr lang="ru-RU" dirty="0" err="1"/>
              <a:t>test</a:t>
            </a:r>
            <a:r>
              <a:rPr lang="ru-RU" dirty="0"/>
              <a:t> CMOCKA_MESSAGE_OUTPUT=</a:t>
            </a:r>
            <a:r>
              <a:rPr lang="ru-RU" dirty="0" err="1"/>
              <a:t>xml</a:t>
            </a:r>
            <a:r>
              <a:rPr lang="ru-RU" dirty="0"/>
              <a:t> ./</a:t>
            </a:r>
            <a:r>
              <a:rPr lang="ru-RU" dirty="0" err="1"/>
              <a:t>test</a:t>
            </a:r>
            <a:endParaRPr lang="en-US" dirty="0"/>
          </a:p>
          <a:p>
            <a:endParaRPr lang="en-US" dirty="0"/>
          </a:p>
          <a:p>
            <a:r>
              <a:rPr lang="en-US" b="1" dirty="0" err="1"/>
              <a:t>Ctest</a:t>
            </a:r>
            <a:r>
              <a:rPr lang="en-US" b="1" dirty="0"/>
              <a:t> </a:t>
            </a:r>
            <a:r>
              <a:rPr lang="ru-RU" b="1" dirty="0"/>
              <a:t>и </a:t>
            </a:r>
            <a:r>
              <a:rPr lang="en-US" b="1" dirty="0" err="1"/>
              <a:t>Cmake</a:t>
            </a:r>
            <a:r>
              <a:rPr lang="en-US" b="1" dirty="0"/>
              <a:t>:</a:t>
            </a:r>
          </a:p>
          <a:p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9C3810F-754D-4E5C-BEDD-2C87A6871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116" y="3066989"/>
            <a:ext cx="6415460" cy="349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196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8A2057EE-4298-40AC-95E2-E8B1E63960A3}"/>
              </a:ext>
            </a:extLst>
          </p:cNvPr>
          <p:cNvSpPr txBox="1">
            <a:spLocks/>
          </p:cNvSpPr>
          <p:nvPr/>
        </p:nvSpPr>
        <p:spPr>
          <a:xfrm>
            <a:off x="1348603" y="207142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Code Coverage (</a:t>
            </a:r>
            <a:r>
              <a:rPr lang="ru-RU" dirty="0"/>
              <a:t>Покрытие кода)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171745-4C79-4C14-9080-6F3DD00AAB43}"/>
              </a:ext>
            </a:extLst>
          </p:cNvPr>
          <p:cNvSpPr txBox="1"/>
          <p:nvPr/>
        </p:nvSpPr>
        <p:spPr>
          <a:xfrm>
            <a:off x="1133141" y="1217636"/>
            <a:ext cx="106157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Coverage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это метрика покрытия кода, не метрика закрытия требований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Покрытие тестами на 100% != Качество кода</a:t>
            </a:r>
          </a:p>
        </p:txBody>
      </p:sp>
      <p:pic>
        <p:nvPicPr>
          <p:cNvPr id="15362" name="Picture 2" descr="alt text">
            <a:extLst>
              <a:ext uri="{FF2B5EF4-FFF2-40B4-BE49-F238E27FC236}">
                <a16:creationId xmlns:a16="http://schemas.microsoft.com/office/drawing/2014/main" id="{0EAEC51B-A5DA-4A86-8C26-3B86D3AB2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691" y="2128677"/>
            <a:ext cx="8027540" cy="4522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1300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8A2057EE-4298-40AC-95E2-E8B1E63960A3}"/>
              </a:ext>
            </a:extLst>
          </p:cNvPr>
          <p:cNvSpPr txBox="1">
            <a:spLocks/>
          </p:cNvSpPr>
          <p:nvPr/>
        </p:nvSpPr>
        <p:spPr>
          <a:xfrm>
            <a:off x="1348603" y="207142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CI/CD</a:t>
            </a:r>
          </a:p>
        </p:txBody>
      </p:sp>
      <p:pic>
        <p:nvPicPr>
          <p:cNvPr id="14338" name="Picture 2" descr="alt text">
            <a:extLst>
              <a:ext uri="{FF2B5EF4-FFF2-40B4-BE49-F238E27FC236}">
                <a16:creationId xmlns:a16="http://schemas.microsoft.com/office/drawing/2014/main" id="{5D4FA978-F09F-4FB1-B5E5-6BEB37315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68" y="3689472"/>
            <a:ext cx="6573001" cy="3146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230A07-F99A-44FF-87E9-026FB2E42488}"/>
              </a:ext>
            </a:extLst>
          </p:cNvPr>
          <p:cNvSpPr txBox="1"/>
          <p:nvPr/>
        </p:nvSpPr>
        <p:spPr>
          <a:xfrm>
            <a:off x="296237" y="1216586"/>
            <a:ext cx="115995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Непрерывная интеграция (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Continuous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CI) и непрерывная поставка (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Continuous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Delivery, CD)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представляют собой культуру, набор принципов и практик, которые позволяют разработчикам чаще и надежнее развертывать изменения программного обеспечения.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Непрерывная интеграция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это методология разработки и набор практик, при которых в код вносятся небольшие изменения с частыми коммитами. И поскольку большинство современных приложений разрабатываются с использованием различных платформ и инструментов, то появляется необходимость в механизме интеграции и тестировании вносимых изменений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FC2651-0F17-4BD3-B573-71366DF21F16}"/>
              </a:ext>
            </a:extLst>
          </p:cNvPr>
          <p:cNvSpPr txBox="1"/>
          <p:nvPr/>
        </p:nvSpPr>
        <p:spPr>
          <a:xfrm>
            <a:off x="6809197" y="6055226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https://habr.com/ru/companies/otus/articles/515078/</a:t>
            </a:r>
          </a:p>
        </p:txBody>
      </p:sp>
    </p:spTree>
    <p:extLst>
      <p:ext uri="{BB962C8B-B14F-4D97-AF65-F5344CB8AC3E}">
        <p14:creationId xmlns:p14="http://schemas.microsoft.com/office/powerpoint/2010/main" val="793256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D8EE967-943B-407F-8E78-2668FBEBC15D}"/>
              </a:ext>
            </a:extLst>
          </p:cNvPr>
          <p:cNvSpPr txBox="1"/>
          <p:nvPr/>
        </p:nvSpPr>
        <p:spPr>
          <a:xfrm>
            <a:off x="2751955" y="1156540"/>
            <a:ext cx="65209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https://github.com/kruffka/C-Programming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A00CC5-DBBE-4494-A2EC-6CA07C6372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6760" y="1679760"/>
            <a:ext cx="3498480" cy="349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68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3339</TotalTime>
  <Words>1348</Words>
  <Application>Microsoft Office PowerPoint</Application>
  <PresentationFormat>Широкоэкранный</PresentationFormat>
  <Paragraphs>123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4" baseType="lpstr">
      <vt:lpstr>-apple-system</vt:lpstr>
      <vt:lpstr>Arial</vt:lpstr>
      <vt:lpstr>Calibri</vt:lpstr>
      <vt:lpstr>Calibri Light</vt:lpstr>
      <vt:lpstr>Times New Roman</vt:lpstr>
      <vt:lpstr>Office Theme</vt:lpstr>
      <vt:lpstr>C Programming 17_testing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Andrey Veyler</dc:creator>
  <cp:lastModifiedBy>Andrey Veyler</cp:lastModifiedBy>
  <cp:revision>1313</cp:revision>
  <dcterms:created xsi:type="dcterms:W3CDTF">2019-12-17T14:15:21Z</dcterms:created>
  <dcterms:modified xsi:type="dcterms:W3CDTF">2026-04-18T10:00:47Z</dcterms:modified>
</cp:coreProperties>
</file>