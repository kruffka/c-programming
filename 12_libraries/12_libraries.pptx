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352" r:id="rId3"/>
    <p:sldId id="367" r:id="rId4"/>
    <p:sldId id="368" r:id="rId5"/>
    <p:sldId id="369" r:id="rId6"/>
    <p:sldId id="353" r:id="rId7"/>
    <p:sldId id="354" r:id="rId8"/>
    <p:sldId id="370" r:id="rId9"/>
    <p:sldId id="366" r:id="rId10"/>
    <p:sldId id="357" r:id="rId11"/>
    <p:sldId id="361" r:id="rId12"/>
    <p:sldId id="358" r:id="rId13"/>
    <p:sldId id="362" r:id="rId14"/>
    <p:sldId id="360" r:id="rId15"/>
    <p:sldId id="359" r:id="rId16"/>
    <p:sldId id="363" r:id="rId17"/>
    <p:sldId id="364" r:id="rId18"/>
    <p:sldId id="290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54" autoAdjust="0"/>
    <p:restoredTop sz="94630" autoAdjust="0"/>
  </p:normalViewPr>
  <p:slideViewPr>
    <p:cSldViewPr snapToGrid="0">
      <p:cViewPr varScale="1">
        <p:scale>
          <a:sx n="106" d="100"/>
          <a:sy n="106" d="100"/>
        </p:scale>
        <p:origin x="126" y="11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08669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8782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5612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7780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799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1605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06131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21124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69596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11753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6206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86449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38208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39220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02165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7918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07.02.2026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 Programming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12_libraries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0" y="0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Многофайловый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проект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8EACA5-512A-4693-A1DF-4D2D060E9510}"/>
              </a:ext>
            </a:extLst>
          </p:cNvPr>
          <p:cNvSpPr txBox="1"/>
          <p:nvPr/>
        </p:nvSpPr>
        <p:spPr>
          <a:xfrm>
            <a:off x="518096" y="1327985"/>
            <a:ext cx="1139119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Многофайловый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проект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это подход к организации исходного кода, при котором программа разделяется на несколько отдельных файлов. С точки зрения структуры и процесса сборки, это позволяет логически изолировать компоненты, ускорить компиляцию и упростить совместную разработку. 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компилируемых языках (например, Си)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многофайловость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обычно реализуется через разделение на: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Заголовочные файлы (.h) — "интерфейс" модуля. Здесь мы пишем прототипы функций и объявляем структуры, чтобы другие части программы знали, как с ними взаимодействовать.           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Файлы с исходным кодом (реализации) (.c/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cpp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cc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"логика" модуля. Здесь пишется сам код функций.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интерпретируемых языках (например, Python) каждый файл `.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 автоматически является модулем.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Чтобы использовать код из файла logic.py в файле main.py, мы пишем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logic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Интерпретатор находит файл, исполняет его и дает доступ к его объектам через пространство имен.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D172CE-9B46-4543-A1BC-03C0EA39A5E9}"/>
              </a:ext>
            </a:extLst>
          </p:cNvPr>
          <p:cNvSpPr txBox="1"/>
          <p:nvPr/>
        </p:nvSpPr>
        <p:spPr>
          <a:xfrm>
            <a:off x="142593" y="6361683"/>
            <a:ext cx="88474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ядра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Linux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2017 год содержал около 18кк (18 373 471) строк кода </a:t>
            </a:r>
          </a:p>
        </p:txBody>
      </p:sp>
    </p:spTree>
    <p:extLst>
      <p:ext uri="{BB962C8B-B14F-4D97-AF65-F5344CB8AC3E}">
        <p14:creationId xmlns:p14="http://schemas.microsoft.com/office/powerpoint/2010/main" val="10189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117695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Зачем</a:t>
            </a:r>
            <a:r>
              <a:rPr lang="ru-RU" dirty="0"/>
              <a:t>?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193475-23B4-4B02-A379-2954F91FE131}"/>
              </a:ext>
            </a:extLst>
          </p:cNvPr>
          <p:cNvSpPr txBox="1"/>
          <p:nvPr/>
        </p:nvSpPr>
        <p:spPr>
          <a:xfrm>
            <a:off x="461727" y="1308568"/>
            <a:ext cx="1163370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Один раз хорошо написанный модуль можно подключать к десяткам разных проектов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изменении одного файла компилятору не нужно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пересобирать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всю программу целиком —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пересобирается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только измененный модуль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537F967-1F6B-4D0C-B547-432FC650BD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63025"/>
          <a:stretch/>
        </p:blipFill>
        <p:spPr>
          <a:xfrm>
            <a:off x="8763754" y="2273559"/>
            <a:ext cx="2966519" cy="441994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CDA789B-259C-4DF7-8F12-59EE4650056A}"/>
              </a:ext>
            </a:extLst>
          </p:cNvPr>
          <p:cNvSpPr txBox="1"/>
          <p:nvPr/>
        </p:nvSpPr>
        <p:spPr>
          <a:xfrm>
            <a:off x="461727" y="2253537"/>
            <a:ext cx="799647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Проще ориентироваться в проекте, где все блоки разделены разложены по разным папкам и файлам по смыслу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Если над проектом работает больше одного программиста, то в проекте с одним файлом у вас будут вечно возникать конфликты с версиями кода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B24481C1-476D-4784-BA28-0798935313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74" y="4395422"/>
            <a:ext cx="3206397" cy="2163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59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117695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разделять</a:t>
            </a:r>
            <a:r>
              <a:rPr lang="ru-RU" dirty="0"/>
              <a:t>?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C3CC0-ED3C-4BB7-B323-EF43337191B7}"/>
              </a:ext>
            </a:extLst>
          </p:cNvPr>
          <p:cNvSpPr txBox="1"/>
          <p:nvPr/>
        </p:nvSpPr>
        <p:spPr>
          <a:xfrm>
            <a:off x="486624" y="1103938"/>
            <a:ext cx="1150016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Один модуль - одна задача, если файл работает с сетью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network.c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то ему не нужно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отрисовывать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какой-нибудь графический интерфейс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возможности стоит делать так, чтобы модули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значи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как можно меньше друг о друге, тогда сохранится минимальная зависимость и такие модули легко удалять/добавлять в проекты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Соблюдать иерархию: модули высокоуровневые могут зависеть от низкоуровневых, но не наоборот. Например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core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log.c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есть реализация логирования, что будет нижнем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уровенем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верхний уровень это тот кто использует логику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core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/*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Нет смысла разделять проект на 100 файлов если всего в нем 200 строк кода, такая избыточность ни к чему хорошему не приведет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DRY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Don't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Repeat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Yourself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Если копируете один и тот же код в разные файлы, то значит, что его пора вынести в отдельный модуль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70F1E1-0A01-485D-BED2-A546149C25F2}"/>
              </a:ext>
            </a:extLst>
          </p:cNvPr>
          <p:cNvSpPr txBox="1"/>
          <p:nvPr/>
        </p:nvSpPr>
        <p:spPr>
          <a:xfrm>
            <a:off x="622426" y="5400119"/>
            <a:ext cx="68919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*Выделить модули или задачи в проекте - навык, что обычно приходит с практикой</a:t>
            </a:r>
          </a:p>
        </p:txBody>
      </p:sp>
      <p:sp>
        <p:nvSpPr>
          <p:cNvPr id="19" name="AutoShape 2" descr="Mobile Banking PNG Transparent Images Free Download | Vector Files | Pngtree">
            <a:extLst>
              <a:ext uri="{FF2B5EF4-FFF2-40B4-BE49-F238E27FC236}">
                <a16:creationId xmlns:a16="http://schemas.microsoft.com/office/drawing/2014/main" id="{0018DD91-8E7D-438E-A58E-8198B398DB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34" name="Picture 10" descr="Мобильный банкинг – Бесплатные иконки: бизнес и финансы">
            <a:extLst>
              <a:ext uri="{FF2B5EF4-FFF2-40B4-BE49-F238E27FC236}">
                <a16:creationId xmlns:a16="http://schemas.microsoft.com/office/drawing/2014/main" id="{6B2C98BB-88DE-417D-9FB8-BDEBA9E04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9844" y="4956223"/>
            <a:ext cx="1661312" cy="1661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Банковское дело – Бесплатные иконки: бизнес и финансы">
            <a:extLst>
              <a:ext uri="{FF2B5EF4-FFF2-40B4-BE49-F238E27FC236}">
                <a16:creationId xmlns:a16="http://schemas.microsoft.com/office/drawing/2014/main" id="{3D2FD421-3460-4BAE-8509-428F53E7BF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8531" y="4956223"/>
            <a:ext cx="1661312" cy="1661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0219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117695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Сборка</a:t>
            </a:r>
            <a:endParaRPr lang="en-US" dirty="0"/>
          </a:p>
        </p:txBody>
      </p:sp>
      <p:sp>
        <p:nvSpPr>
          <p:cNvPr id="19" name="AutoShape 2" descr="Mobile Banking PNG Transparent Images Free Download | Vector Files | Pngtree">
            <a:extLst>
              <a:ext uri="{FF2B5EF4-FFF2-40B4-BE49-F238E27FC236}">
                <a16:creationId xmlns:a16="http://schemas.microsoft.com/office/drawing/2014/main" id="{0018DD91-8E7D-438E-A58E-8198B398DB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4F665FF-823B-4926-BC28-0AB2C1DAF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48" y="1449699"/>
            <a:ext cx="4775576" cy="322179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3EE1AEB-6830-4649-94C5-1195EC6DD3BB}"/>
              </a:ext>
            </a:extLst>
          </p:cNvPr>
          <p:cNvSpPr txBox="1"/>
          <p:nvPr/>
        </p:nvSpPr>
        <p:spPr>
          <a:xfrm>
            <a:off x="1185439" y="5844942"/>
            <a:ext cx="101259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/>
              <a:t>gcc</a:t>
            </a:r>
            <a:r>
              <a:rPr lang="en-US" sz="2800" dirty="0"/>
              <a:t> </a:t>
            </a:r>
            <a:r>
              <a:rPr lang="ru-RU" sz="2800" dirty="0"/>
              <a:t> </a:t>
            </a:r>
            <a:r>
              <a:rPr lang="en-US" sz="2800" dirty="0"/>
              <a:t>./app/</a:t>
            </a:r>
            <a:r>
              <a:rPr lang="en-US" sz="2800" dirty="0" err="1"/>
              <a:t>main.c</a:t>
            </a:r>
            <a:r>
              <a:rPr lang="en-US" sz="2800" dirty="0"/>
              <a:t> </a:t>
            </a:r>
            <a:r>
              <a:rPr lang="ru-RU" sz="2800" dirty="0"/>
              <a:t> </a:t>
            </a:r>
            <a:r>
              <a:rPr lang="en-US" sz="2800" dirty="0"/>
              <a:t>./</a:t>
            </a:r>
            <a:r>
              <a:rPr lang="en-US" sz="2800" dirty="0" err="1"/>
              <a:t>src</a:t>
            </a:r>
            <a:r>
              <a:rPr lang="en-US" sz="2800" dirty="0"/>
              <a:t>/network/</a:t>
            </a:r>
            <a:r>
              <a:rPr lang="en-US" sz="2800" dirty="0" err="1"/>
              <a:t>socket.c</a:t>
            </a:r>
            <a:r>
              <a:rPr lang="en-US" sz="2800" dirty="0"/>
              <a:t> </a:t>
            </a:r>
            <a:r>
              <a:rPr lang="ru-RU" sz="2800" dirty="0"/>
              <a:t> </a:t>
            </a:r>
            <a:r>
              <a:rPr lang="en-US" sz="2800" dirty="0"/>
              <a:t>-I./</a:t>
            </a:r>
            <a:r>
              <a:rPr lang="en-US" sz="2800" dirty="0" err="1"/>
              <a:t>src</a:t>
            </a:r>
            <a:r>
              <a:rPr lang="en-US" sz="2800" dirty="0"/>
              <a:t>/network/</a:t>
            </a:r>
            <a:r>
              <a:rPr lang="ru-RU" sz="2800" dirty="0"/>
              <a:t> </a:t>
            </a:r>
            <a:r>
              <a:rPr lang="en-US" sz="2800" dirty="0"/>
              <a:t> -o </a:t>
            </a:r>
            <a:r>
              <a:rPr lang="ru-RU" sz="2800" dirty="0"/>
              <a:t> </a:t>
            </a:r>
            <a:r>
              <a:rPr lang="en-US" sz="2800" dirty="0"/>
              <a:t>app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970AEF-E39A-41C6-ABDD-AC1FDB55CAF4}"/>
              </a:ext>
            </a:extLst>
          </p:cNvPr>
          <p:cNvSpPr txBox="1"/>
          <p:nvPr/>
        </p:nvSpPr>
        <p:spPr>
          <a:xfrm>
            <a:off x="5672949" y="2368100"/>
            <a:ext cx="636325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/network/</a:t>
            </a:r>
            <a:r>
              <a:rPr lang="en-US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socket.h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8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endParaRPr lang="ru-RU" sz="2800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socket.h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99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Compilation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0D1B5EF-F3CB-4B68-9296-EED6FBB06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5743" y="1217636"/>
            <a:ext cx="6760511" cy="524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39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28164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Object files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E0C2241-EAFD-4136-8A80-2325408D53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4501" y="1155852"/>
            <a:ext cx="7582995" cy="30344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184477F-DAB2-47DA-8D26-5D58B8BDB65C}"/>
              </a:ext>
            </a:extLst>
          </p:cNvPr>
          <p:cNvSpPr txBox="1"/>
          <p:nvPr/>
        </p:nvSpPr>
        <p:spPr>
          <a:xfrm>
            <a:off x="1133141" y="4297946"/>
            <a:ext cx="887524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Объектный файл состоит из: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таблицы символов - таблица с именами всех глобальных переменных и функций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таблицы релокаций - адреса (указатели) на заглушки в коде куда нужно подставить адрес вызова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undefined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функции когда мы найдем такую в других таблицах символов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секции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код самих функций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секции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глобальные (и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static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инициализированные переменные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*Команда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nm,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nm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main.o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D -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секция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Data, U - undefined, T -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секция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9257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28164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Linker errors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A5ECC-94BA-4ACD-AD3F-BF9E058F1E5D}"/>
              </a:ext>
            </a:extLst>
          </p:cNvPr>
          <p:cNvSpPr txBox="1"/>
          <p:nvPr/>
        </p:nvSpPr>
        <p:spPr>
          <a:xfrm>
            <a:off x="541698" y="2274838"/>
            <a:ext cx="1110860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функции нет в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sort.c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тогда линковщик выдаст ошибку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undefined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'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sort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 и завершит свою работу, т.к. не смог найти код функции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sort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определение функции или две глобальных переменных с одним именем встречаются в нескольких объектных файлах, то линковщик также выдаст сообщение об ошибке: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multiple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definition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'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sort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 и завершит работу с ошибкой </a:t>
            </a:r>
          </a:p>
        </p:txBody>
      </p:sp>
    </p:spTree>
    <p:extLst>
      <p:ext uri="{BB962C8B-B14F-4D97-AF65-F5344CB8AC3E}">
        <p14:creationId xmlns:p14="http://schemas.microsoft.com/office/powerpoint/2010/main" val="3832565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Library (</a:t>
            </a:r>
            <a:r>
              <a:rPr lang="ru-RU" dirty="0"/>
              <a:t>Библиотека)</a:t>
            </a:r>
            <a:endParaRPr lang="en-US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4D1E33-60E3-459E-9F2F-098110480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2978363"/>
            <a:ext cx="5271990" cy="350587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98EACA5-512A-4693-A1DF-4D2D060E9510}"/>
              </a:ext>
            </a:extLst>
          </p:cNvPr>
          <p:cNvSpPr txBox="1"/>
          <p:nvPr/>
        </p:nvSpPr>
        <p:spPr>
          <a:xfrm>
            <a:off x="751439" y="1375101"/>
            <a:ext cx="1111053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Библиотека (от англ.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- это сборник готового кода (функций, объектов), который мы подключаем к своей программе, чтобы не изобретать велосипед.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C82242-ADF5-4315-A7EA-151DD95F8A12}"/>
              </a:ext>
            </a:extLst>
          </p:cNvPr>
          <p:cNvSpPr txBox="1"/>
          <p:nvPr/>
        </p:nvSpPr>
        <p:spPr>
          <a:xfrm>
            <a:off x="688063" y="2162040"/>
            <a:ext cx="5569272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интерпретируемых языков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например) библиотека — файл, содержащий либо код на исходном языке (.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либо байт-код для виртуальной машины. Пример библиотеки для Python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Tkinter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библиотеки компилируемых языков (Си например): стандартная Си библиотека с функцией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–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LibC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Реализация (логика) в библиотеке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в заголовочном файле.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Стандартные пути 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Linux: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/include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/lib/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4215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182989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Static library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F8D6F-1A53-455B-BDBB-84BE80C208D4}"/>
              </a:ext>
            </a:extLst>
          </p:cNvPr>
          <p:cNvSpPr txBox="1"/>
          <p:nvPr/>
        </p:nvSpPr>
        <p:spPr>
          <a:xfrm>
            <a:off x="7745629" y="5805632"/>
            <a:ext cx="31201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Linux/Mac: .a</a:t>
            </a:r>
            <a:br>
              <a:rPr lang="en-US" dirty="0"/>
            </a:br>
            <a:r>
              <a:rPr lang="en-US" dirty="0"/>
              <a:t>Windows: .lib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6CD84C-F733-41C4-BB98-1EA99997CCDF}"/>
              </a:ext>
            </a:extLst>
          </p:cNvPr>
          <p:cNvSpPr txBox="1"/>
          <p:nvPr/>
        </p:nvSpPr>
        <p:spPr>
          <a:xfrm>
            <a:off x="7745629" y="2181463"/>
            <a:ext cx="4203354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28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Все функции включаются в один исполняемый файл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который легко перемещается</a:t>
            </a:r>
            <a:endParaRPr lang="ru-RU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</a:p>
          <a:p>
            <a: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Исполняемый файл большой по весу.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</a:t>
            </a:r>
            <a: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ублирование кода. </a:t>
            </a:r>
          </a:p>
          <a:p>
            <a: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Ошибк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</a:t>
            </a:r>
            <a: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 библиотеке - </a:t>
            </a:r>
            <a:r>
              <a:rPr lang="ru-RU" b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пересборка</a:t>
            </a:r>
            <a: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всей программы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670A4D4-A669-4AED-9A28-4D6503F92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649" y="1853514"/>
            <a:ext cx="7302769" cy="470186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910A3D-A8A3-41D3-AEA1-AC17BD4DE3A6}"/>
              </a:ext>
            </a:extLst>
          </p:cNvPr>
          <p:cNvSpPr txBox="1"/>
          <p:nvPr/>
        </p:nvSpPr>
        <p:spPr>
          <a:xfrm>
            <a:off x="442860" y="1129095"/>
            <a:ext cx="114073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Статическая библиотека </a:t>
            </a:r>
            <a:r>
              <a:rPr lang="ru-RU" dirty="0"/>
              <a:t>- набор объектных файлов (архив) содержащий код функций. Стандартные библиотеки многих компилируемых языков программирования распространяются в виде объектных файлов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EE64A72-9D1E-4CBF-9B48-55C5589BE3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5555" y="4921976"/>
            <a:ext cx="1908039" cy="1860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34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Dynamic library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F8D6F-1A53-455B-BDBB-84BE80C208D4}"/>
              </a:ext>
            </a:extLst>
          </p:cNvPr>
          <p:cNvSpPr txBox="1"/>
          <p:nvPr/>
        </p:nvSpPr>
        <p:spPr>
          <a:xfrm>
            <a:off x="8639512" y="5717108"/>
            <a:ext cx="350000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Linux: .so (shared object)</a:t>
            </a:r>
          </a:p>
          <a:p>
            <a:r>
              <a:rPr lang="en-US" dirty="0"/>
              <a:t>Mac: .</a:t>
            </a:r>
            <a:r>
              <a:rPr lang="en-US" dirty="0" err="1"/>
              <a:t>dylib</a:t>
            </a:r>
            <a:r>
              <a:rPr lang="en-US" dirty="0"/>
              <a:t> (dynamic library)</a:t>
            </a:r>
            <a:br>
              <a:rPr lang="en-US" dirty="0"/>
            </a:br>
            <a:r>
              <a:rPr lang="en-US" dirty="0"/>
              <a:t>Windows: .</a:t>
            </a:r>
            <a:r>
              <a:rPr lang="en-US" dirty="0" err="1"/>
              <a:t>dll</a:t>
            </a:r>
            <a:r>
              <a:rPr lang="en-US" dirty="0"/>
              <a:t> (dynamic link library)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6CD84C-F733-41C4-BB98-1EA99997CCDF}"/>
              </a:ext>
            </a:extLst>
          </p:cNvPr>
          <p:cNvSpPr txBox="1"/>
          <p:nvPr/>
        </p:nvSpPr>
        <p:spPr>
          <a:xfrm>
            <a:off x="1802485" y="2275074"/>
            <a:ext cx="4442061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ru-RU" sz="2800" b="1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Экономия памяти за счёт использования одной библиотеки несколькими процессами</a:t>
            </a:r>
            <a:endParaRPr lang="en-US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исправления ошибок (достаточно заменить файл библиотеки и перезапустить работающие программы) без изменения кода основной программы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Подключение на горячую (плагин)</a:t>
            </a:r>
            <a:r>
              <a:rPr 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B3B566-DCA0-4B7A-B2A2-3569D2CDF68D}"/>
              </a:ext>
            </a:extLst>
          </p:cNvPr>
          <p:cNvSpPr txBox="1"/>
          <p:nvPr/>
        </p:nvSpPr>
        <p:spPr>
          <a:xfrm>
            <a:off x="1133140" y="1221603"/>
            <a:ext cx="10598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Динамическая библиотека </a:t>
            </a:r>
            <a:r>
              <a:rPr lang="ru-RU" dirty="0"/>
              <a:t>- исполняемый файл, содержащий машинный код. Код функций из такой библиотеки не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встраивается</a:t>
            </a:r>
            <a:r>
              <a:rPr lang="ru-RU" dirty="0"/>
              <a:t> в наш код. Является исполняемым файлом и загружается в память загрузчиком программ ОС либо при запуске программы, либо по запросу уже работающей программы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75F6F-73AB-4A28-99BA-00A16D0C4DDC}"/>
              </a:ext>
            </a:extLst>
          </p:cNvPr>
          <p:cNvSpPr txBox="1"/>
          <p:nvPr/>
        </p:nvSpPr>
        <p:spPr>
          <a:xfrm>
            <a:off x="6432237" y="2275074"/>
            <a:ext cx="529909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нарушения API — при внесении изменений в библиотеку существующие программы могут перестать работать (утратят совместимость по API);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Конфликт версий динамических библиотек, — разные программы могут нуждаться в разных версиях библиотеки (API)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Злоумышленник вместо вашей библиотеки может подсунуть вам свою библиотеку со своим кодом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 descr="Oia Uia Sticker - Oia Uia Oia cat - Discover &amp; Share GIFs">
            <a:extLst>
              <a:ext uri="{FF2B5EF4-FFF2-40B4-BE49-F238E27FC236}">
                <a16:creationId xmlns:a16="http://schemas.microsoft.com/office/drawing/2014/main" id="{5BC795FC-2951-4715-AC03-DE2EA5AF98B6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5554" y="4949961"/>
            <a:ext cx="1908039" cy="1908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672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Plug-in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89A186E-6F1B-477B-8BF2-18CB72C6F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0051" y="4260013"/>
            <a:ext cx="3935988" cy="24520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41BD256-7C52-4B0A-A899-91CF3FD774FB}"/>
              </a:ext>
            </a:extLst>
          </p:cNvPr>
          <p:cNvSpPr txBox="1"/>
          <p:nvPr/>
        </p:nvSpPr>
        <p:spPr>
          <a:xfrm>
            <a:off x="1133141" y="1280430"/>
            <a:ext cx="1034881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Плагин - дин. библиотека, которую разработчик специально оформил для возможности загружать и исполнять чужой код.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Разработчики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фотошопа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описывают правила по которым можно подключить библиотеку и вызывать из нее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функии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Любой программист, не имея доступа к исходному коду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фотошопа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пишет свою библиотеку (.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или .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с новой кистью или фильтром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Человек кладет файл библиотеки в папку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plugins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При запуске Photoshop сканирует эту папку и подтягивает новый код в себя.</a:t>
            </a:r>
          </a:p>
        </p:txBody>
      </p:sp>
      <p:pic>
        <p:nvPicPr>
          <p:cNvPr id="3076" name="Picture 4" descr="Adobe Photoshop CC 2017 Splash Screen :: Behance">
            <a:extLst>
              <a:ext uri="{FF2B5EF4-FFF2-40B4-BE49-F238E27FC236}">
                <a16:creationId xmlns:a16="http://schemas.microsoft.com/office/drawing/2014/main" id="{C0DE4751-1D53-4850-A9FC-9A698F7C90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8938" y="4314480"/>
            <a:ext cx="3935988" cy="239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9593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Dynamic linking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07449A-CD50-4103-9539-75CBCA486EF7}"/>
              </a:ext>
            </a:extLst>
          </p:cNvPr>
          <p:cNvSpPr txBox="1"/>
          <p:nvPr/>
        </p:nvSpPr>
        <p:spPr>
          <a:xfrm>
            <a:off x="1392194" y="1431637"/>
            <a:ext cx="966666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Динамическая линковка происходит во время выполнения программы: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этапе компиляции к исполняемому файлу записываются ссылки на динамическую библиотеку (имя/путь). Когда вы запускаете программу, загрузчик ОС (динамический линкер) находит эти файлы в системе, загружает их в память и связывает с вашей программой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 запускается и уже в процессе работы сама решает загрузить библиотеку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dlopen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(в Linux) или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LoadLibrary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(в Windows)). Именно так работают плагины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8AABB0-6CE6-4BAB-861C-A4C97563C338}"/>
              </a:ext>
            </a:extLst>
          </p:cNvPr>
          <p:cNvSpPr txBox="1"/>
          <p:nvPr/>
        </p:nvSpPr>
        <p:spPr>
          <a:xfrm>
            <a:off x="1133141" y="4641533"/>
            <a:ext cx="601510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dlfcn.h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dlopen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flags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   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dlclose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handler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   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dlerror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    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dlsym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symbol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  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EAC743-DB72-4ADF-8674-BECFF4B50699}"/>
              </a:ext>
            </a:extLst>
          </p:cNvPr>
          <p:cNvSpPr txBox="1"/>
          <p:nvPr/>
        </p:nvSpPr>
        <p:spPr>
          <a:xfrm>
            <a:off x="7121624" y="5056542"/>
            <a:ext cx="50703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*Кому интересно системное программирование и как происходит линковка динамических библиотек - идем читать в интернет или в книжках про PIC (</a:t>
            </a:r>
            <a:r>
              <a:rPr lang="ru-RU" sz="1600" dirty="0" err="1"/>
              <a:t>Position-independent</a:t>
            </a:r>
            <a:r>
              <a:rPr lang="ru-RU" sz="1600" dirty="0"/>
              <a:t> </a:t>
            </a:r>
            <a:r>
              <a:rPr lang="ru-RU" sz="1600" dirty="0" err="1"/>
              <a:t>code</a:t>
            </a:r>
            <a:r>
              <a:rPr lang="ru-RU" sz="1600" dirty="0"/>
              <a:t>) и таблицы GOT, PLT с интересными примерами на ассемблере.</a:t>
            </a:r>
          </a:p>
        </p:txBody>
      </p:sp>
    </p:spTree>
    <p:extLst>
      <p:ext uri="{BB962C8B-B14F-4D97-AF65-F5344CB8AC3E}">
        <p14:creationId xmlns:p14="http://schemas.microsoft.com/office/powerpoint/2010/main" val="1006103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28164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Библиотеки</a:t>
            </a:r>
            <a:endParaRPr lang="en-US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F7792F4-48AF-4600-B1D6-009F1B2E87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5473" y="3289786"/>
            <a:ext cx="3421053" cy="25657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220BF7-4AF0-459A-B066-CE25B138B9D5}"/>
              </a:ext>
            </a:extLst>
          </p:cNvPr>
          <p:cNvSpPr txBox="1"/>
          <p:nvPr/>
        </p:nvSpPr>
        <p:spPr>
          <a:xfrm>
            <a:off x="1133141" y="1728349"/>
            <a:ext cx="104319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Библиотеки имеют свои плюсы и минусы и нужно отталкиваться как и всегда от конкретных целей и задач</a:t>
            </a:r>
          </a:p>
        </p:txBody>
      </p:sp>
    </p:spTree>
    <p:extLst>
      <p:ext uri="{BB962C8B-B14F-4D97-AF65-F5344CB8AC3E}">
        <p14:creationId xmlns:p14="http://schemas.microsoft.com/office/powerpoint/2010/main" val="106767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Build Static Lib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050FB2-8906-40F1-A60C-1482023095B3}"/>
              </a:ext>
            </a:extLst>
          </p:cNvPr>
          <p:cNvSpPr txBox="1"/>
          <p:nvPr/>
        </p:nvSpPr>
        <p:spPr>
          <a:xfrm>
            <a:off x="3490971" y="2184684"/>
            <a:ext cx="504644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app.c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-c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log.c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-c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libMY_LOG.a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log.o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app.o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-o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static_exe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-L.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lMY_LOG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static_exe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20546F-A1F7-4347-8F6F-45227F7E3C4E}"/>
              </a:ext>
            </a:extLst>
          </p:cNvPr>
          <p:cNvSpPr txBox="1"/>
          <p:nvPr/>
        </p:nvSpPr>
        <p:spPr>
          <a:xfrm>
            <a:off x="182262" y="6198720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</a:t>
            </a:r>
            <a:r>
              <a:rPr lang="ru-RU" dirty="0"/>
              <a:t>Посмотреть таблицу символов</a:t>
            </a:r>
            <a:r>
              <a:rPr lang="en-US" dirty="0"/>
              <a:t> – </a:t>
            </a:r>
            <a:r>
              <a:rPr lang="ru-RU" dirty="0"/>
              <a:t>команда </a:t>
            </a:r>
            <a:r>
              <a:rPr lang="en-US" dirty="0"/>
              <a:t>nm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18022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Build Dynamic Lib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F152B-8A23-4D80-B05B-103BD5876A53}"/>
              </a:ext>
            </a:extLst>
          </p:cNvPr>
          <p:cNvSpPr txBox="1"/>
          <p:nvPr/>
        </p:nvSpPr>
        <p:spPr>
          <a:xfrm>
            <a:off x="2575849" y="2143667"/>
            <a:ext cx="80256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app.c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-c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log.c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fPIC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--shared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app.o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log.o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-o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libMY_LOG.so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B4BB2B-16E7-4A9D-9DD8-9E99DC68FAF5}"/>
              </a:ext>
            </a:extLst>
          </p:cNvPr>
          <p:cNvSpPr txBox="1"/>
          <p:nvPr/>
        </p:nvSpPr>
        <p:spPr>
          <a:xfrm>
            <a:off x="214601" y="4827200"/>
            <a:ext cx="65051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app.o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-o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dynamic_exe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-L.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lMY_LOG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Wl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,-</a:t>
            </a:r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rpath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,.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dynamic_exe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8BE07E-65D3-4B1B-A71C-F8B03C990C5F}"/>
              </a:ext>
            </a:extLst>
          </p:cNvPr>
          <p:cNvSpPr txBox="1"/>
          <p:nvPr/>
        </p:nvSpPr>
        <p:spPr>
          <a:xfrm>
            <a:off x="7378884" y="4827200"/>
            <a:ext cx="44072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app.o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-o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dynamic_exe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-L.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6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lMY_LOG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LD_LIBRARY_PATH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en-US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dynamic_exe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2BF426-223E-4CF7-98A5-E4B66530B940}"/>
              </a:ext>
            </a:extLst>
          </p:cNvPr>
          <p:cNvSpPr txBox="1"/>
          <p:nvPr/>
        </p:nvSpPr>
        <p:spPr>
          <a:xfrm>
            <a:off x="6201352" y="4312280"/>
            <a:ext cx="7746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ИЛИ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61F25E-C8F7-40F8-8027-30B36EB9834A}"/>
              </a:ext>
            </a:extLst>
          </p:cNvPr>
          <p:cNvSpPr txBox="1"/>
          <p:nvPr/>
        </p:nvSpPr>
        <p:spPr>
          <a:xfrm>
            <a:off x="214601" y="5988451"/>
            <a:ext cx="60980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</a:t>
            </a:r>
            <a:r>
              <a:rPr lang="ru-RU" dirty="0"/>
              <a:t>Посмотреть список дин. </a:t>
            </a:r>
            <a:r>
              <a:rPr lang="ru-RU" dirty="0" err="1"/>
              <a:t>либ</a:t>
            </a:r>
            <a:r>
              <a:rPr lang="ru-RU" dirty="0"/>
              <a:t> </a:t>
            </a:r>
            <a:r>
              <a:rPr lang="en-US" dirty="0"/>
              <a:t>– </a:t>
            </a:r>
            <a:r>
              <a:rPr lang="ru-RU" dirty="0"/>
              <a:t>команда </a:t>
            </a:r>
            <a:r>
              <a:rPr lang="en-US" dirty="0" err="1"/>
              <a:t>ldd</a:t>
            </a:r>
            <a:endParaRPr lang="ru-RU" dirty="0"/>
          </a:p>
          <a:p>
            <a:r>
              <a:rPr lang="ru-RU" dirty="0"/>
              <a:t>*</a:t>
            </a:r>
            <a:r>
              <a:rPr lang="ru-RU" dirty="0" err="1"/>
              <a:t>Предзагрузить</a:t>
            </a:r>
            <a:r>
              <a:rPr lang="ru-RU" dirty="0"/>
              <a:t> </a:t>
            </a:r>
            <a:r>
              <a:rPr lang="ru-RU" dirty="0" err="1"/>
              <a:t>либу</a:t>
            </a:r>
            <a:r>
              <a:rPr lang="en-US" dirty="0"/>
              <a:t>: LD_PRELOAD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62977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E627AF0-30EB-4DDF-ADF3-6C22571D55C0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Linux library version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54E635-8FD6-4922-AB4D-64F79F68D4AA}"/>
              </a:ext>
            </a:extLst>
          </p:cNvPr>
          <p:cNvSpPr txBox="1"/>
          <p:nvPr/>
        </p:nvSpPr>
        <p:spPr>
          <a:xfrm>
            <a:off x="712791" y="2296575"/>
            <a:ext cx="1076641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(Мажорная): 4.x.x — Критическое изменение API. Старый код не запустится с новой версией.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Minor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(Минорная): x.2.x — Добавление новых функций. Старый код будет работать.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Patch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(Патч): x.x.3 — Исправление багов внутри функций. API не меняется.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Такое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версионирование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еще называется семантическим:</a:t>
            </a:r>
          </a:p>
          <a:p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SemVer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Semantic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Versioning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23841E-F277-4BF5-B0D5-D0FF8FB1B15A}"/>
              </a:ext>
            </a:extLst>
          </p:cNvPr>
          <p:cNvSpPr txBox="1"/>
          <p:nvPr/>
        </p:nvSpPr>
        <p:spPr>
          <a:xfrm>
            <a:off x="341769" y="6053171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usr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/lib/x86_64-linux-gnu/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802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022531" y="102424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760" y="1679760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3171</TotalTime>
  <Words>1477</Words>
  <Application>Microsoft Office PowerPoint</Application>
  <PresentationFormat>Широкоэкранный</PresentationFormat>
  <Paragraphs>135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Consolas</vt:lpstr>
      <vt:lpstr>Times New Roman</vt:lpstr>
      <vt:lpstr>Office Theme</vt:lpstr>
      <vt:lpstr>C Programming 12_libraries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1181</cp:revision>
  <dcterms:created xsi:type="dcterms:W3CDTF">2019-12-17T14:15:21Z</dcterms:created>
  <dcterms:modified xsi:type="dcterms:W3CDTF">2026-02-06T19:44:34Z</dcterms:modified>
</cp:coreProperties>
</file>