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7" r:id="rId3"/>
    <p:sldId id="291" r:id="rId4"/>
    <p:sldId id="306" r:id="rId5"/>
    <p:sldId id="311" r:id="rId13"/>
    <p:sldId id="313" r:id="rId14"/>
    <p:sldId id="294" r:id="rId16"/>
    <p:sldId id="295" r:id="rId17"/>
    <p:sldId id="314" r:id="rId18"/>
    <p:sldId id="296" r:id="rId20"/>
    <p:sldId id="299" r:id="rId21"/>
    <p:sldId id="315" r:id="rId22"/>
    <p:sldId id="29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109" d="100"/>
          <a:sy n="109" d="100"/>
        </p:scale>
        <p:origin x="126" y="10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notesMaster" Target="notesMasters/notes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635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34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003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550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933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719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085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391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287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786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103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7</a:t>
            </a:r>
            <a:r>
              <a:rPr lang="en-US" sz="3200"/>
              <a:t>_functions_p2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3739459" y="508104"/>
            <a:ext cx="471308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DFFF2-84B5-4FA3-80E7-EEF31921082F}"/>
              </a:ext>
            </a:extLst>
          </p:cNvPr>
          <p:cNvSpPr txBox="1"/>
          <p:nvPr/>
        </p:nvSpPr>
        <p:spPr>
          <a:xfrm>
            <a:off x="2195345" y="1744821"/>
            <a:ext cx="8235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(arguments) 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function body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(value);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773F5-50A0-40A1-BCBD-0D2A81341495}"/>
              </a:ext>
            </a:extLst>
          </p:cNvPr>
          <p:cNvSpPr txBox="1"/>
          <p:nvPr/>
        </p:nvSpPr>
        <p:spPr>
          <a:xfrm>
            <a:off x="2195345" y="3632551"/>
            <a:ext cx="87214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типВозвращаемогоЗначения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имяФункции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Аргументы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Тело функции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(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Возвращаемое значение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101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3220309" y="173875"/>
            <a:ext cx="5751382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Recursion (</a:t>
            </a:r>
            <a:r>
              <a:rPr lang="ru-RU" dirty="0"/>
              <a:t>рекурсия)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67EE7-AB48-4DCC-AD41-4DE61A92DF40}"/>
              </a:ext>
            </a:extLst>
          </p:cNvPr>
          <p:cNvSpPr txBox="1"/>
          <p:nvPr/>
        </p:nvSpPr>
        <p:spPr>
          <a:xfrm>
            <a:off x="6538484" y="3446585"/>
            <a:ext cx="54316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 &lt;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*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 -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DACDE-97B8-4387-9F55-627FE56B7773}"/>
              </a:ext>
            </a:extLst>
          </p:cNvPr>
          <p:cNvSpPr txBox="1"/>
          <p:nvPr/>
        </p:nvSpPr>
        <p:spPr>
          <a:xfrm>
            <a:off x="800888" y="2554023"/>
            <a:ext cx="52951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factorial_non_recursive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res =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 = N; i &gt;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i--) {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res = res * i;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res;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pt-B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factorial_non_recursive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ED03A-A119-475F-8B53-ED176F276281}"/>
              </a:ext>
            </a:extLst>
          </p:cNvPr>
          <p:cNvSpPr txBox="1"/>
          <p:nvPr/>
        </p:nvSpPr>
        <p:spPr>
          <a:xfrm>
            <a:off x="6538484" y="2200080"/>
            <a:ext cx="5128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Рекурсия - это поведение функции, при котором она вызывает сама себя.</a:t>
            </a:r>
          </a:p>
        </p:txBody>
      </p:sp>
    </p:spTree>
    <p:extLst>
      <p:ext uri="{BB962C8B-B14F-4D97-AF65-F5344CB8AC3E}">
        <p14:creationId xmlns:p14="http://schemas.microsoft.com/office/powerpoint/2010/main" val="398506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967EE7-AB48-4DCC-AD41-4DE61A92DF40}"/>
              </a:ext>
            </a:extLst>
          </p:cNvPr>
          <p:cNvSpPr txBox="1"/>
          <p:nvPr/>
        </p:nvSpPr>
        <p:spPr>
          <a:xfrm>
            <a:off x="6548357" y="4611231"/>
            <a:ext cx="54316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 &lt;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*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 -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F5B11-AA59-4EC6-B82A-8FCFC1FF15B0}"/>
              </a:ext>
            </a:extLst>
          </p:cNvPr>
          <p:cNvSpPr txBox="1"/>
          <p:nvPr/>
        </p:nvSpPr>
        <p:spPr>
          <a:xfrm>
            <a:off x="1889613" y="1030041"/>
            <a:ext cx="77702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Раскрытие вычислений: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factorial(5) = 5 * factorial(4)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factorial(3))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factorial(2)))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(2 * factorial(1))))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(2 * (1 * factorial(0)))))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(2 * (1 * 1))))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(2 * 1)))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(3 * 2))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(4 * 6)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5 * 24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          = 120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2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211626-9533-4BAE-BFA2-23AC54BF31D6}"/>
              </a:ext>
            </a:extLst>
          </p:cNvPr>
          <p:cNvSpPr txBox="1"/>
          <p:nvPr/>
        </p:nvSpPr>
        <p:spPr>
          <a:xfrm>
            <a:off x="854684" y="4528094"/>
            <a:ext cx="104826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целое число, количество аргументов, всегда как минимум будет один нулевой аргумент - название исполняемого файла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массив строк, в нем будут аргументы в виде строк, индексы строк от 0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 включительно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0AB50-EB2C-4A84-AFB9-4937E50BD138}"/>
              </a:ext>
            </a:extLst>
          </p:cNvPr>
          <p:cNvSpPr txBox="1"/>
          <p:nvPr/>
        </p:nvSpPr>
        <p:spPr>
          <a:xfrm>
            <a:off x="1759558" y="1263722"/>
            <a:ext cx="86728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68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D1C3DD-9B1E-48BA-ADAD-21199F277A35}"/>
              </a:ext>
            </a:extLst>
          </p:cNvPr>
          <p:cNvSpPr txBox="1"/>
          <p:nvPr/>
        </p:nvSpPr>
        <p:spPr>
          <a:xfrm>
            <a:off x="1962333" y="2459504"/>
            <a:ext cx="82673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/>
              <a:t>cowsay</a:t>
            </a:r>
            <a:r>
              <a:rPr lang="en-US" sz="4000" dirty="0"/>
              <a:t> its the first day of the month</a:t>
            </a:r>
          </a:p>
          <a:p>
            <a:endParaRPr lang="en-US" sz="4000" dirty="0"/>
          </a:p>
          <a:p>
            <a:r>
              <a:rPr lang="en-US" sz="4000" dirty="0" err="1"/>
              <a:t>cowsay</a:t>
            </a:r>
            <a:r>
              <a:rPr lang="en-US" sz="4000" dirty="0"/>
              <a:t> -f dragon </a:t>
            </a:r>
            <a:r>
              <a:rPr lang="en-US" sz="4000" dirty="0" err="1"/>
              <a:t>rawr</a:t>
            </a:r>
            <a:endParaRPr lang="ru-RU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320040" y="4526280"/>
            <a:ext cx="5486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________________________________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&lt; its the first day of the month &gt;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--------------------------------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       \   ^__^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        \  (oo)\_______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           (__)\       )\/\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               ||----w |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22222"/>
                </a:solidFill>
                <a:latin typeface="Courier New"/>
              </a:rPr>
              <a:t>                ||     ||f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28600"/>
            <a:ext cx="6126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______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&lt; rawr &gt;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------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\                    / \  //\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\    |\___/|      /   \//  \\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 /0  0  \__  /    //  | \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/     /  \/_/    //   |  \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@_^_@'/   \/_   //    |   \ 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//_^_/     \/_ //     |    \  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( //) |        \///      |     \   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( / /) _|_ /   )  //       |      \     _\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( // /) '/,_ _ _/  ( ; -.    |    _ _\.-~        .-~~~^-.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(( / / )) ,-{        _      `-.|.-~-.           .~         `.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(( // / ))  '/\      /                 ~-. _ .-~      .-~^-.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(( /// ))      `.   {            }                   /      \  \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(( / ))     .----~-.\        \-'                 .~         \  `. \^-.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  ///.----..&gt;        \             _ -~             `.  ^-`  ^-_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    ///-._ _ _ _ _ _ _}^ - - - - ~                     ~-- ,.-~</a:t>
            </a:r>
          </a:p>
          <a:p>
            <a: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222222"/>
                </a:solidFill>
                <a:latin typeface="Courier New"/>
              </a:rPr>
              <a:t>                                                                  /.-~</a:t>
            </a:r>
          </a:p>
        </p:txBody>
      </p:sp>
    </p:spTree>
    <p:extLst>
      <p:ext uri="{BB962C8B-B14F-4D97-AF65-F5344CB8AC3E}">
        <p14:creationId xmlns:p14="http://schemas.microsoft.com/office/powerpoint/2010/main" val="276243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256453" y="-124547"/>
            <a:ext cx="11679094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Functions pointers</a:t>
            </a:r>
            <a:r>
              <a:rPr lang="ru-RU" dirty="0"/>
              <a:t> (указатель на функцию)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13933-68CC-4552-A49C-8FAE0C892547}"/>
              </a:ext>
            </a:extLst>
          </p:cNvPr>
          <p:cNvSpPr txBox="1"/>
          <p:nvPr/>
        </p:nvSpPr>
        <p:spPr>
          <a:xfrm>
            <a:off x="589858" y="5661793"/>
            <a:ext cx="115280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cipher_func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указатель 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функцию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аргументами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int, char *,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возвращающей тип данных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9E46C-6DA4-4754-8B14-854986D59334}"/>
              </a:ext>
            </a:extLst>
          </p:cNvPr>
          <p:cNvSpPr txBox="1"/>
          <p:nvPr/>
        </p:nvSpPr>
        <p:spPr>
          <a:xfrm>
            <a:off x="858710" y="2743199"/>
            <a:ext cx="4873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cipher_func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cipher_func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snow3g;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cipher_func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68419-E550-45C3-9BA1-6D8C64CB7018}"/>
              </a:ext>
            </a:extLst>
          </p:cNvPr>
          <p:cNvSpPr txBox="1"/>
          <p:nvPr/>
        </p:nvSpPr>
        <p:spPr>
          <a:xfrm>
            <a:off x="5838083" y="1819869"/>
            <a:ext cx="60974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snow3g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aes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grasshopper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1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2620198" y="230631"/>
            <a:ext cx="6951603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Function pointer array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B8235-296E-4AEE-8C38-4B4840728A3B}"/>
              </a:ext>
            </a:extLst>
          </p:cNvPr>
          <p:cNvSpPr txBox="1"/>
          <p:nvPr/>
        </p:nvSpPr>
        <p:spPr>
          <a:xfrm>
            <a:off x="1239716" y="2681348"/>
            <a:ext cx="100408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dfts_fun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 { dft128, dft256, dft512, dft1024 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dfts_fun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/*аргументы*/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вызовется ф-</a:t>
            </a:r>
            <a:r>
              <a:rPr lang="ru-RU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ия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dft256()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1D2CD-5A4B-4165-856E-E45E689B2CAE}"/>
              </a:ext>
            </a:extLst>
          </p:cNvPr>
          <p:cNvSpPr txBox="1"/>
          <p:nvPr/>
        </p:nvSpPr>
        <p:spPr>
          <a:xfrm>
            <a:off x="265600" y="5492905"/>
            <a:ext cx="116607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массив указателей на функцию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принимающей аргументы типа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возвращающей значение типа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9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BF2265-4EA9-4BBF-B356-422F9748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04" y="1846351"/>
            <a:ext cx="10829192" cy="21323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F87C5D-E171-480D-86C9-F38FBE8634D9}"/>
              </a:ext>
            </a:extLst>
          </p:cNvPr>
          <p:cNvSpPr txBox="1"/>
          <p:nvPr/>
        </p:nvSpPr>
        <p:spPr>
          <a:xfrm>
            <a:off x="4472720" y="4646682"/>
            <a:ext cx="3246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https://cdecl.org/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5469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2620198" y="104507"/>
            <a:ext cx="6951603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Callback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6DE21-D8B2-4E67-8E8D-A8E77F220727}"/>
              </a:ext>
            </a:extLst>
          </p:cNvPr>
          <p:cNvSpPr txBox="1"/>
          <p:nvPr/>
        </p:nvSpPr>
        <p:spPr>
          <a:xfrm>
            <a:off x="701615" y="1938475"/>
            <a:ext cx="107887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Callback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вызов, 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обратный) или функция обратного вызова в программировании - передача исполняемого кода в качестве одного из параметров другому коду.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Простыми словами это функция, которая передаётся в другую функцию как аргумент и вызывается позже (когда произойдёт какое-то событие или завершится операция)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CB84B-5E72-41C8-95E7-AFAD7C5F3BD2}"/>
              </a:ext>
            </a:extLst>
          </p:cNvPr>
          <p:cNvSpPr txBox="1"/>
          <p:nvPr/>
        </p:nvSpPr>
        <p:spPr>
          <a:xfrm>
            <a:off x="745149" y="6154588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7_functions_p2/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callback.c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721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981666" y="435128"/>
            <a:ext cx="10228667" cy="87839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API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57E87-B8BA-472A-B855-01AE9C06C9DC}"/>
              </a:ext>
            </a:extLst>
          </p:cNvPr>
          <p:cNvSpPr txBox="1"/>
          <p:nvPr/>
        </p:nvSpPr>
        <p:spPr>
          <a:xfrm>
            <a:off x="709405" y="1260487"/>
            <a:ext cx="107731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интерфейс приложения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описывает протокол взаимодействия между программами. Представляет собой набор классов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 или констант.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3A7025-8170-4858-B4E3-4034D38A4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5" y="2428702"/>
            <a:ext cx="5188618" cy="27334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B363CF-D7F8-4333-A721-FEAC13B378E3}"/>
              </a:ext>
            </a:extLst>
          </p:cNvPr>
          <p:cNvSpPr txBox="1"/>
          <p:nvPr/>
        </p:nvSpPr>
        <p:spPr>
          <a:xfrm>
            <a:off x="709405" y="5314690"/>
            <a:ext cx="106760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Простыми словами: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набор правил и инструкций, который позволяет одним программам общаться с другими.  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говорит: "Если ты хочешь получить от меня какие-то данные или выполнить действие, обратись ко мне вот таким способом, и я тебе вот так отвечу".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4D54F-5A76-4DA3-A7E9-FD8B9936869A}"/>
              </a:ext>
            </a:extLst>
          </p:cNvPr>
          <p:cNvSpPr txBox="1"/>
          <p:nvPr/>
        </p:nvSpPr>
        <p:spPr>
          <a:xfrm>
            <a:off x="6293979" y="3104523"/>
            <a:ext cx="50914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Погоды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Карты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Google maps, Yandex maps)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Боты в мессенджерах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VK, Telegram)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3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48BB881-C4D2-4184-84DC-7DA67E450B2C}"/>
              </a:ext>
            </a:extLst>
          </p:cNvPr>
          <p:cNvSpPr txBox="1">
            <a:spLocks/>
          </p:cNvSpPr>
          <p:nvPr/>
        </p:nvSpPr>
        <p:spPr>
          <a:xfrm>
            <a:off x="981666" y="435128"/>
            <a:ext cx="10228667" cy="87839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ABI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D37E4-0113-4A70-B776-69103555FF11}"/>
              </a:ext>
            </a:extLst>
          </p:cNvPr>
          <p:cNvSpPr txBox="1"/>
          <p:nvPr/>
        </p:nvSpPr>
        <p:spPr>
          <a:xfrm>
            <a:off x="586520" y="1454196"/>
            <a:ext cx="114058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(Application Binary Interface)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интерфейс приложения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описывает набор соглашений для доступа приложения к операционной системе и низкоуровневым сервисам.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передаются аргументы в функцию? (В регистры процессора или в стек? В каком порядке?)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функция возвращает результат?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данные располагаются в памяти?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формат исполняемого файла? (ELF в Linux)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происходит системный вызов (обращение к ядру)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Простыми словами: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низкоуровневое соглашение о том, как одна скомпилированная программа (уже в виде нулей и единиц) должна взаимодействовать с другой на уровне процессора и операционной системы. 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- общение программ между собой, ABI - общение программ с машиной</a:t>
            </a:r>
          </a:p>
        </p:txBody>
      </p:sp>
    </p:spTree>
    <p:extLst>
      <p:ext uri="{BB962C8B-B14F-4D97-AF65-F5344CB8AC3E}">
        <p14:creationId xmlns:p14="http://schemas.microsoft.com/office/powerpoint/2010/main" val="967819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2347</TotalTime>
  <Words>1739</Words>
  <Application>Microsoft Office PowerPoint</Application>
  <PresentationFormat>Широкоэкранный</PresentationFormat>
  <Paragraphs>223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Times New Roman</vt:lpstr>
      <vt:lpstr>Office Theme</vt:lpstr>
      <vt:lpstr>C Programming 7_functions_p2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713</cp:revision>
  <dcterms:created xsi:type="dcterms:W3CDTF">2019-12-17T14:15:21Z</dcterms:created>
  <dcterms:modified xsi:type="dcterms:W3CDTF">2025-10-22T04:05:34Z</dcterms:modified>
</cp:coreProperties>
</file>