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6" r:id="rId2"/>
    <p:sldId id="277" r:id="rId3"/>
    <p:sldId id="291" r:id="rId4"/>
    <p:sldId id="306" r:id="rId5"/>
    <p:sldId id="304" r:id="rId6"/>
    <p:sldId id="307" r:id="rId7"/>
    <p:sldId id="308" r:id="rId8"/>
    <p:sldId id="309" r:id="rId9"/>
    <p:sldId id="293" r:id="rId10"/>
    <p:sldId id="312" r:id="rId11"/>
    <p:sldId id="310" r:id="rId12"/>
    <p:sldId id="311" r:id="rId13"/>
    <p:sldId id="313" r:id="rId14"/>
    <p:sldId id="305" r:id="rId15"/>
    <p:sldId id="294" r:id="rId16"/>
    <p:sldId id="295" r:id="rId17"/>
    <p:sldId id="314" r:id="rId18"/>
    <p:sldId id="298" r:id="rId19"/>
    <p:sldId id="296" r:id="rId20"/>
    <p:sldId id="299" r:id="rId21"/>
    <p:sldId id="315" r:id="rId22"/>
    <p:sldId id="290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30" autoAdjust="0"/>
  </p:normalViewPr>
  <p:slideViewPr>
    <p:cSldViewPr snapToGrid="0">
      <p:cViewPr varScale="1">
        <p:scale>
          <a:sx n="109" d="100"/>
          <a:sy n="109" d="100"/>
        </p:scale>
        <p:origin x="126" y="10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9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56355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7346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00030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35613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5191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66408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6872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8874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92696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50735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05503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09330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58987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57199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00851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63915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8585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22875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786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1039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22.10.2025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/>
              <a:t>C Programming</a:t>
            </a:r>
            <a:br>
              <a:rPr lang="en-US" dirty="0"/>
            </a:br>
            <a:r>
              <a:rPr lang="en-US" sz="3200" dirty="0"/>
              <a:t>7</a:t>
            </a:r>
            <a:r>
              <a:rPr lang="en-US" sz="3200"/>
              <a:t>_functions_p2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B48BB881-C4D2-4184-84DC-7DA67E450B2C}"/>
              </a:ext>
            </a:extLst>
          </p:cNvPr>
          <p:cNvSpPr txBox="1">
            <a:spLocks/>
          </p:cNvSpPr>
          <p:nvPr/>
        </p:nvSpPr>
        <p:spPr>
          <a:xfrm>
            <a:off x="3739459" y="508104"/>
            <a:ext cx="471308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functions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7DFFF2-84B5-4FA3-80E7-EEF31921082F}"/>
              </a:ext>
            </a:extLst>
          </p:cNvPr>
          <p:cNvSpPr txBox="1"/>
          <p:nvPr/>
        </p:nvSpPr>
        <p:spPr>
          <a:xfrm>
            <a:off x="2195345" y="1744821"/>
            <a:ext cx="82351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returnType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functionName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(arguments) {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function body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return (value);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7773F5-50A0-40A1-BCBD-0D2A81341495}"/>
              </a:ext>
            </a:extLst>
          </p:cNvPr>
          <p:cNvSpPr txBox="1"/>
          <p:nvPr/>
        </p:nvSpPr>
        <p:spPr>
          <a:xfrm>
            <a:off x="2195345" y="3632551"/>
            <a:ext cx="872148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типВозвращаемогоЗначения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имяФункции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Аргументы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Тело функции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return (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Возвращаемое значение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41016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B48BB881-C4D2-4184-84DC-7DA67E450B2C}"/>
              </a:ext>
            </a:extLst>
          </p:cNvPr>
          <p:cNvSpPr txBox="1">
            <a:spLocks/>
          </p:cNvSpPr>
          <p:nvPr/>
        </p:nvSpPr>
        <p:spPr>
          <a:xfrm>
            <a:off x="3220309" y="173875"/>
            <a:ext cx="5751382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Recursion (</a:t>
            </a:r>
            <a:r>
              <a:rPr lang="ru-RU" dirty="0"/>
              <a:t>рекурсия)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67EE7-AB48-4DCC-AD41-4DE61A92DF40}"/>
              </a:ext>
            </a:extLst>
          </p:cNvPr>
          <p:cNvSpPr txBox="1"/>
          <p:nvPr/>
        </p:nvSpPr>
        <p:spPr>
          <a:xfrm>
            <a:off x="6538484" y="3446585"/>
            <a:ext cx="543160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(N &lt;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D4D4D4"/>
                </a:solidFill>
                <a:latin typeface="Consolas" panose="020B0609020204030204" pitchFamily="49" charset="0"/>
              </a:rPr>
              <a:t>	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*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-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=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FDACDE-97B8-4387-9F55-627FE56B7773}"/>
              </a:ext>
            </a:extLst>
          </p:cNvPr>
          <p:cNvSpPr txBox="1"/>
          <p:nvPr/>
        </p:nvSpPr>
        <p:spPr>
          <a:xfrm>
            <a:off x="800888" y="2554023"/>
            <a:ext cx="529511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factorial_non_recursive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pt-B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res = </a:t>
            </a:r>
            <a:r>
              <a:rPr lang="pt-BR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pt-BR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i = N; i &gt; </a:t>
            </a:r>
            <a:r>
              <a:rPr lang="pt-BR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i--) {</a:t>
            </a:r>
            <a:endParaRPr lang="pt-B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res = res * i;</a:t>
            </a:r>
            <a:endParaRPr lang="pt-B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pt-B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res;</a:t>
            </a:r>
            <a:endParaRPr lang="pt-B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pt-B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pt-B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= </a:t>
            </a:r>
            <a:r>
              <a:rPr lang="pt-BR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factorial_non_recursive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pt-B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pt-B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2ED03A-A119-475F-8B53-ED176F276281}"/>
              </a:ext>
            </a:extLst>
          </p:cNvPr>
          <p:cNvSpPr txBox="1"/>
          <p:nvPr/>
        </p:nvSpPr>
        <p:spPr>
          <a:xfrm>
            <a:off x="6538484" y="2200080"/>
            <a:ext cx="51289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Рекурсия — это поведение функции, при котором она вызывает сама себя.</a:t>
            </a:r>
          </a:p>
        </p:txBody>
      </p:sp>
    </p:spTree>
    <p:extLst>
      <p:ext uri="{BB962C8B-B14F-4D97-AF65-F5344CB8AC3E}">
        <p14:creationId xmlns:p14="http://schemas.microsoft.com/office/powerpoint/2010/main" val="3985068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E967EE7-AB48-4DCC-AD41-4DE61A92DF40}"/>
              </a:ext>
            </a:extLst>
          </p:cNvPr>
          <p:cNvSpPr txBox="1"/>
          <p:nvPr/>
        </p:nvSpPr>
        <p:spPr>
          <a:xfrm>
            <a:off x="6548357" y="4611231"/>
            <a:ext cx="543160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(N &lt;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D4D4D4"/>
                </a:solidFill>
                <a:latin typeface="Consolas" panose="020B0609020204030204" pitchFamily="49" charset="0"/>
              </a:rPr>
              <a:t>	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*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-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=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CF5B11-AA59-4EC6-B82A-8FCFC1FF15B0}"/>
              </a:ext>
            </a:extLst>
          </p:cNvPr>
          <p:cNvSpPr txBox="1"/>
          <p:nvPr/>
        </p:nvSpPr>
        <p:spPr>
          <a:xfrm>
            <a:off x="1889613" y="1030041"/>
            <a:ext cx="777020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/* 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Раскрытие вычислений: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factorial(5) = 5 * factorial(4)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          = 5 * (4 * factorial(3))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          = 5 * (4 * (3 * factorial(2)))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          = 5 * (4 * (3 * (2 * factorial(1))))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          = 5 * (4 * (3 * (2 * (1 * factorial(0)))))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          = 5 * (4 * (3 * (2 * (1 * 1))))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          = 5 * (4 * (3 * (2 * 1)))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          = 5 * (4 * (3 * 2))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          = 5 * (4 * 6)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          = 5 * 24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               = 120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129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B48BB881-C4D2-4184-84DC-7DA67E450B2C}"/>
              </a:ext>
            </a:extLst>
          </p:cNvPr>
          <p:cNvSpPr txBox="1">
            <a:spLocks/>
          </p:cNvSpPr>
          <p:nvPr/>
        </p:nvSpPr>
        <p:spPr>
          <a:xfrm>
            <a:off x="3220309" y="117120"/>
            <a:ext cx="5751382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Function frame</a:t>
            </a:r>
            <a:endParaRPr lang="ru-RU" dirty="0"/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003AFED3-B94B-4E21-AB4E-DBAAD31090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554" y="1489937"/>
            <a:ext cx="5577901" cy="4215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0A82FCD-A128-45D1-A636-1DE3387244AF}"/>
              </a:ext>
            </a:extLst>
          </p:cNvPr>
          <p:cNvSpPr txBox="1"/>
          <p:nvPr/>
        </p:nvSpPr>
        <p:spPr>
          <a:xfrm>
            <a:off x="932317" y="5807795"/>
            <a:ext cx="4575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https://ru.wikipedia.org/wiki/Стековый_кадр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8A7ABC-2802-4EC4-8647-ED94BA647CBC}"/>
              </a:ext>
            </a:extLst>
          </p:cNvPr>
          <p:cNvSpPr txBox="1"/>
          <p:nvPr/>
        </p:nvSpPr>
        <p:spPr>
          <a:xfrm>
            <a:off x="6157546" y="1596289"/>
            <a:ext cx="575138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 функции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состоит из локальных данных, входных аргументов в функцию, а также , некоторых важных адресов - один из них адрес возврата, который необходим примерно для того, чтобы после вызова функции мы могли вернуться в место откуда эту ф-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ию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вызывали, продолжив работу.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Во-первых, локальные переменные и аргументы они существуют только пока существует функция.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Во-вторых, вызывая ф-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ию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мы создаем кадр этой функции над кадром другой функции, занимая в памяти место, что если у нас будет ф-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бесконечно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рекурсировать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?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Ну и например, что у ф-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есть какие-то адреса?..</a:t>
            </a:r>
          </a:p>
        </p:txBody>
      </p:sp>
    </p:spTree>
    <p:extLst>
      <p:ext uri="{BB962C8B-B14F-4D97-AF65-F5344CB8AC3E}">
        <p14:creationId xmlns:p14="http://schemas.microsoft.com/office/powerpoint/2010/main" val="3227727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8600B1-20B6-438D-BC26-495421C37E8F}"/>
              </a:ext>
            </a:extLst>
          </p:cNvPr>
          <p:cNvSpPr txBox="1"/>
          <p:nvPr/>
        </p:nvSpPr>
        <p:spPr>
          <a:xfrm>
            <a:off x="3047268" y="1034958"/>
            <a:ext cx="6097464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a;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a = b;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b =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ru-RU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37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(a, b); </a:t>
            </a:r>
            <a:endParaRPr lang="ru-RU" sz="32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 = ? </a:t>
            </a:r>
            <a:r>
              <a:rPr lang="en-US" sz="3200" dirty="0">
                <a:solidFill>
                  <a:srgbClr val="6A9955"/>
                </a:solidFill>
                <a:latin typeface="Consolas" panose="020B0609020204030204" pitchFamily="49" charset="0"/>
              </a:rPr>
              <a:t>b = ?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3008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E66A74F-CAB9-44A1-85F7-49CE4EA902C0}"/>
              </a:ext>
            </a:extLst>
          </p:cNvPr>
          <p:cNvSpPr txBox="1"/>
          <p:nvPr/>
        </p:nvSpPr>
        <p:spPr>
          <a:xfrm>
            <a:off x="1540487" y="701005"/>
            <a:ext cx="965615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вызове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ии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мы передаем в нее в качестве аргументов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значения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переменных, а не сами переменные, т.е. при создании кадра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ии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swap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создаются локальные копии переменных a и b.</a:t>
            </a: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Получается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a и b в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swap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и a и b до вызова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swap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локальные переменные своих функций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2E1193-73A7-4E76-9DDB-993F8BB9845B}"/>
              </a:ext>
            </a:extLst>
          </p:cNvPr>
          <p:cNvSpPr txBox="1"/>
          <p:nvPr/>
        </p:nvSpPr>
        <p:spPr>
          <a:xfrm>
            <a:off x="3161567" y="3602450"/>
            <a:ext cx="609746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a;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a = b;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b =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0613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8E3F378-CD13-47C4-9C5E-847F22BFB8C6}"/>
              </a:ext>
            </a:extLst>
          </p:cNvPr>
          <p:cNvSpPr txBox="1"/>
          <p:nvPr/>
        </p:nvSpPr>
        <p:spPr>
          <a:xfrm>
            <a:off x="2750159" y="1166842"/>
            <a:ext cx="669168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*a;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*a = *b;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*b =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37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26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B48BB881-C4D2-4184-84DC-7DA67E450B2C}"/>
              </a:ext>
            </a:extLst>
          </p:cNvPr>
          <p:cNvSpPr txBox="1">
            <a:spLocks/>
          </p:cNvSpPr>
          <p:nvPr/>
        </p:nvSpPr>
        <p:spPr>
          <a:xfrm>
            <a:off x="3220309" y="173875"/>
            <a:ext cx="5751382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Return via pointer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16E8D1-9DB7-4F20-AB94-E8D2B9579C4D}"/>
              </a:ext>
            </a:extLst>
          </p:cNvPr>
          <p:cNvSpPr txBox="1"/>
          <p:nvPr/>
        </p:nvSpPr>
        <p:spPr>
          <a:xfrm>
            <a:off x="2148578" y="2090172"/>
            <a:ext cx="789484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*res = a + b;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res;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res = 8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45217-4E34-4872-93E3-FB12E4D5CC73}"/>
              </a:ext>
            </a:extLst>
          </p:cNvPr>
          <p:cNvSpPr txBox="1"/>
          <p:nvPr/>
        </p:nvSpPr>
        <p:spPr>
          <a:xfrm>
            <a:off x="488339" y="5398529"/>
            <a:ext cx="112153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Таким же образом можно из ф-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возвращать больше одного элемента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т. к.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умеет возвращать лишь одно значение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не копируются в функцию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передаются по адресу</a:t>
            </a:r>
          </a:p>
        </p:txBody>
      </p:sp>
    </p:spTree>
    <p:extLst>
      <p:ext uri="{BB962C8B-B14F-4D97-AF65-F5344CB8AC3E}">
        <p14:creationId xmlns:p14="http://schemas.microsoft.com/office/powerpoint/2010/main" val="1458133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26D545A-EEC4-46DA-A386-5039C3280087}"/>
              </a:ext>
            </a:extLst>
          </p:cNvPr>
          <p:cNvSpPr txBox="1"/>
          <p:nvPr/>
        </p:nvSpPr>
        <p:spPr>
          <a:xfrm>
            <a:off x="3022357" y="549204"/>
            <a:ext cx="744928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ptr2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"swap: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*ptr1);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5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ptr1 = ptr2;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"swap: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*ptr1);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37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// &amp;a = 1000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37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// &amp;b = 2000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// &amp;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= 3000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5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a);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5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5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622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B0586EA-04CD-45FE-BC41-028B6AD161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637" y="5010150"/>
            <a:ext cx="8086725" cy="1638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13601AC-8206-44A7-BD9A-85E74AEA61CA}"/>
              </a:ext>
            </a:extLst>
          </p:cNvPr>
          <p:cNvSpPr txBox="1"/>
          <p:nvPr/>
        </p:nvSpPr>
        <p:spPr>
          <a:xfrm>
            <a:off x="3047268" y="516649"/>
            <a:ext cx="6097464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"swap: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*ptr1);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5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ptr1 = ptr2;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"swap: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*ptr1);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37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// &amp;a = 1000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37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// &amp;b = 2000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// &amp;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= 3000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5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 =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a);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5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5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16277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E211626-9533-4BAE-BFA2-23AC54BF31D6}"/>
              </a:ext>
            </a:extLst>
          </p:cNvPr>
          <p:cNvSpPr txBox="1"/>
          <p:nvPr/>
        </p:nvSpPr>
        <p:spPr>
          <a:xfrm>
            <a:off x="854684" y="4528094"/>
            <a:ext cx="1048262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argc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целое число, количество аргументов, всегда как минимум будет один нулевой аргумент - название исполняемого файла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argv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массив строк, в нем будут аргументы в виде строк, индексы строк от 0 до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argc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- 1 включительно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70AB50-EB2C-4A84-AFB9-4937E50BD138}"/>
              </a:ext>
            </a:extLst>
          </p:cNvPr>
          <p:cNvSpPr txBox="1"/>
          <p:nvPr/>
        </p:nvSpPr>
        <p:spPr>
          <a:xfrm>
            <a:off x="1759558" y="1263722"/>
            <a:ext cx="867287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2368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D1C3DD-9B1E-48BA-ADAD-21199F277A35}"/>
              </a:ext>
            </a:extLst>
          </p:cNvPr>
          <p:cNvSpPr txBox="1"/>
          <p:nvPr/>
        </p:nvSpPr>
        <p:spPr>
          <a:xfrm>
            <a:off x="1962333" y="2459504"/>
            <a:ext cx="826733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 err="1"/>
              <a:t>cowsay</a:t>
            </a:r>
            <a:r>
              <a:rPr lang="en-US" sz="4000" dirty="0"/>
              <a:t> its the first day of the month</a:t>
            </a:r>
          </a:p>
          <a:p>
            <a:endParaRPr lang="en-US" sz="4000" dirty="0"/>
          </a:p>
          <a:p>
            <a:r>
              <a:rPr lang="en-US" sz="4000" dirty="0" err="1"/>
              <a:t>cowsay</a:t>
            </a:r>
            <a:r>
              <a:rPr lang="en-US" sz="4000" dirty="0"/>
              <a:t> -f dragon </a:t>
            </a:r>
            <a:r>
              <a:rPr lang="en-US" sz="4000" dirty="0" err="1"/>
              <a:t>rawr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7624326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B48BB881-C4D2-4184-84DC-7DA67E450B2C}"/>
              </a:ext>
            </a:extLst>
          </p:cNvPr>
          <p:cNvSpPr txBox="1">
            <a:spLocks/>
          </p:cNvSpPr>
          <p:nvPr/>
        </p:nvSpPr>
        <p:spPr>
          <a:xfrm>
            <a:off x="1443580" y="148651"/>
            <a:ext cx="9304839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Dangling pointer (</a:t>
            </a:r>
            <a:r>
              <a:rPr lang="ru-RU" dirty="0"/>
              <a:t>Висячий указатель)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3626C9-563F-4D79-8C68-6C383AF519A6}"/>
              </a:ext>
            </a:extLst>
          </p:cNvPr>
          <p:cNvSpPr txBox="1"/>
          <p:nvPr/>
        </p:nvSpPr>
        <p:spPr>
          <a:xfrm>
            <a:off x="3585856" y="2151727"/>
            <a:ext cx="502028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4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4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&amp;s;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5046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B48BB881-C4D2-4184-84DC-7DA67E450B2C}"/>
              </a:ext>
            </a:extLst>
          </p:cNvPr>
          <p:cNvSpPr txBox="1">
            <a:spLocks/>
          </p:cNvSpPr>
          <p:nvPr/>
        </p:nvSpPr>
        <p:spPr>
          <a:xfrm>
            <a:off x="256453" y="-124547"/>
            <a:ext cx="11679094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Functions pointers</a:t>
            </a:r>
            <a:r>
              <a:rPr lang="ru-RU" dirty="0"/>
              <a:t> (указатель на функцию)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C13933-68CC-4552-A49C-8FAE0C892547}"/>
              </a:ext>
            </a:extLst>
          </p:cNvPr>
          <p:cNvSpPr txBox="1"/>
          <p:nvPr/>
        </p:nvSpPr>
        <p:spPr>
          <a:xfrm>
            <a:off x="589858" y="5661793"/>
            <a:ext cx="1152809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cipher_func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указатель на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функцию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аргументами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int, char *, 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возвращающей тип данных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29E46C-6DA4-4754-8B14-854986D59334}"/>
              </a:ext>
            </a:extLst>
          </p:cNvPr>
          <p:cNvSpPr txBox="1"/>
          <p:nvPr/>
        </p:nvSpPr>
        <p:spPr>
          <a:xfrm>
            <a:off x="858710" y="2743199"/>
            <a:ext cx="487387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cipher_func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cipher_func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snow3g;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000" b="0" dirty="0">
              <a:solidFill>
                <a:srgbClr val="DCDCAA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cipher_func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C68419-E550-45C3-9BA1-6D8C64CB7018}"/>
              </a:ext>
            </a:extLst>
          </p:cNvPr>
          <p:cNvSpPr txBox="1"/>
          <p:nvPr/>
        </p:nvSpPr>
        <p:spPr>
          <a:xfrm>
            <a:off x="5838083" y="1819869"/>
            <a:ext cx="609746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snow3g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aes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grasshopper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19138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B48BB881-C4D2-4184-84DC-7DA67E450B2C}"/>
              </a:ext>
            </a:extLst>
          </p:cNvPr>
          <p:cNvSpPr txBox="1">
            <a:spLocks/>
          </p:cNvSpPr>
          <p:nvPr/>
        </p:nvSpPr>
        <p:spPr>
          <a:xfrm>
            <a:off x="2620198" y="230631"/>
            <a:ext cx="6951603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Function pointer array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6B8235-296E-4AEE-8C38-4B4840728A3B}"/>
              </a:ext>
            </a:extLst>
          </p:cNvPr>
          <p:cNvSpPr txBox="1"/>
          <p:nvPr/>
        </p:nvSpPr>
        <p:spPr>
          <a:xfrm>
            <a:off x="1239716" y="2681348"/>
            <a:ext cx="1004081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dfts_fun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= { dft128, dft256, dft512, dft1024 };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dfts_fun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](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/*аргументы*/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вызовется ф-</a:t>
            </a:r>
            <a:r>
              <a:rPr lang="ru-RU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ия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dft256()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1D2CD-5A4B-4165-856E-E45E689B2CAE}"/>
              </a:ext>
            </a:extLst>
          </p:cNvPr>
          <p:cNvSpPr txBox="1"/>
          <p:nvPr/>
        </p:nvSpPr>
        <p:spPr>
          <a:xfrm>
            <a:off x="265600" y="5492905"/>
            <a:ext cx="116607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dfts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 –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массив указателей на функцию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принимающей аргументы типа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возвращающей значение типа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919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BBF2265-4EA9-4BBF-B356-422F97481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04" y="1846351"/>
            <a:ext cx="10829192" cy="21323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1F87C5D-E171-480D-86C9-F38FBE8634D9}"/>
              </a:ext>
            </a:extLst>
          </p:cNvPr>
          <p:cNvSpPr txBox="1"/>
          <p:nvPr/>
        </p:nvSpPr>
        <p:spPr>
          <a:xfrm>
            <a:off x="4472720" y="4646682"/>
            <a:ext cx="3246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https://cdecl.org/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22546992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B48BB881-C4D2-4184-84DC-7DA67E450B2C}"/>
              </a:ext>
            </a:extLst>
          </p:cNvPr>
          <p:cNvSpPr txBox="1">
            <a:spLocks/>
          </p:cNvSpPr>
          <p:nvPr/>
        </p:nvSpPr>
        <p:spPr>
          <a:xfrm>
            <a:off x="981666" y="435128"/>
            <a:ext cx="10228667" cy="87839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Variadic functions (</a:t>
            </a:r>
            <a:r>
              <a:rPr lang="ru-RU" dirty="0"/>
              <a:t>Вариативные ф-</a:t>
            </a:r>
            <a:r>
              <a:rPr lang="ru-RU" dirty="0" err="1"/>
              <a:t>ии</a:t>
            </a:r>
            <a:r>
              <a:rPr lang="ru-RU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A3F5AA-FD23-423B-AB6C-8B48CA64BB23}"/>
              </a:ext>
            </a:extLst>
          </p:cNvPr>
          <p:cNvSpPr txBox="1"/>
          <p:nvPr/>
        </p:nvSpPr>
        <p:spPr>
          <a:xfrm>
            <a:off x="3785563" y="1742341"/>
            <a:ext cx="39584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#include &lt;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stdarg.h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my_log_print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(char *format, ...) {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va_list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args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va_start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args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format);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 ...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va_end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args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return 0;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4050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B48BB881-C4D2-4184-84DC-7DA67E450B2C}"/>
              </a:ext>
            </a:extLst>
          </p:cNvPr>
          <p:cNvSpPr txBox="1">
            <a:spLocks/>
          </p:cNvSpPr>
          <p:nvPr/>
        </p:nvSpPr>
        <p:spPr>
          <a:xfrm>
            <a:off x="2620198" y="104507"/>
            <a:ext cx="6951603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Callback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56DE21-D8B2-4E67-8E8D-A8E77F220727}"/>
              </a:ext>
            </a:extLst>
          </p:cNvPr>
          <p:cNvSpPr txBox="1"/>
          <p:nvPr/>
        </p:nvSpPr>
        <p:spPr>
          <a:xfrm>
            <a:off x="701615" y="1938475"/>
            <a:ext cx="1078876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Callback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(англ.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call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вызов, англ.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обратный) или функция обратного вызова в программировании — передача исполняемого кода в качестве одного из параметров другому коду. 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Простыми словами это функция, которая передаётся в другую функцию как аргумент и вызывается позже (когда произойдёт какое-то событие или завершится операция)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CCB84B-5E72-41C8-95E7-AFAD7C5F3BD2}"/>
              </a:ext>
            </a:extLst>
          </p:cNvPr>
          <p:cNvSpPr txBox="1"/>
          <p:nvPr/>
        </p:nvSpPr>
        <p:spPr>
          <a:xfrm>
            <a:off x="745149" y="6154588"/>
            <a:ext cx="6097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7_functions_p2/</a:t>
            </a:r>
            <a:r>
              <a:rPr lang="en-US" dirty="0" err="1"/>
              <a:t>src</a:t>
            </a:r>
            <a:r>
              <a:rPr lang="en-US" dirty="0"/>
              <a:t>/</a:t>
            </a:r>
            <a:r>
              <a:rPr lang="en-US" dirty="0" err="1"/>
              <a:t>callback.c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72172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B48BB881-C4D2-4184-84DC-7DA67E450B2C}"/>
              </a:ext>
            </a:extLst>
          </p:cNvPr>
          <p:cNvSpPr txBox="1">
            <a:spLocks/>
          </p:cNvSpPr>
          <p:nvPr/>
        </p:nvSpPr>
        <p:spPr>
          <a:xfrm>
            <a:off x="981666" y="435128"/>
            <a:ext cx="10228667" cy="878391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API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F57E87-B8BA-472A-B855-01AE9C06C9DC}"/>
              </a:ext>
            </a:extLst>
          </p:cNvPr>
          <p:cNvSpPr txBox="1"/>
          <p:nvPr/>
        </p:nvSpPr>
        <p:spPr>
          <a:xfrm>
            <a:off x="709405" y="1260487"/>
            <a:ext cx="1077318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(Application Programming Interface)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программный интерфейс приложения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описывает протокол взаимодействия между программами. Представляет собой набор классов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 или констант.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C3A7025-8170-4858-B4E3-4034D38A4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05" y="2428702"/>
            <a:ext cx="5188618" cy="273343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B363CF-D7F8-4333-A721-FEAC13B378E3}"/>
              </a:ext>
            </a:extLst>
          </p:cNvPr>
          <p:cNvSpPr txBox="1"/>
          <p:nvPr/>
        </p:nvSpPr>
        <p:spPr>
          <a:xfrm>
            <a:off x="709405" y="5314690"/>
            <a:ext cx="1067605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Простыми словами:</a:t>
            </a:r>
          </a:p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набор правил и инструкций, который позволяет одним программам общаться с другими.   </a:t>
            </a:r>
          </a:p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говорит: «Если ты хочешь получить от меня какие-то данные или выполнить действие, обратись ко мне вот таким способом, и я тебе вот так отвечу».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94D54F-5A76-4DA3-A7E9-FD8B9936869A}"/>
              </a:ext>
            </a:extLst>
          </p:cNvPr>
          <p:cNvSpPr txBox="1"/>
          <p:nvPr/>
        </p:nvSpPr>
        <p:spPr>
          <a:xfrm>
            <a:off x="6293979" y="3104523"/>
            <a:ext cx="509148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Сайты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приложения: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Погоды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Банковские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Карты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Google maps, Yandex maps)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Боты в мессенджерах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VK, Telegram)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5369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B48BB881-C4D2-4184-84DC-7DA67E450B2C}"/>
              </a:ext>
            </a:extLst>
          </p:cNvPr>
          <p:cNvSpPr txBox="1">
            <a:spLocks/>
          </p:cNvSpPr>
          <p:nvPr/>
        </p:nvSpPr>
        <p:spPr>
          <a:xfrm>
            <a:off x="981666" y="435128"/>
            <a:ext cx="10228667" cy="878391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ABI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5D37E4-0113-4A70-B776-69103555FF11}"/>
              </a:ext>
            </a:extLst>
          </p:cNvPr>
          <p:cNvSpPr txBox="1"/>
          <p:nvPr/>
        </p:nvSpPr>
        <p:spPr>
          <a:xfrm>
            <a:off x="586520" y="1454196"/>
            <a:ext cx="1140582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ABI (Application Binary Interface)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двоичный интерфейс приложения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описывает набор соглашений для доступа приложения к операционной системе и низкоуровневым сервисам.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передаются аргументы в функцию? (В регистры процессора или в стек? В каком порядке?)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функция возвращает результат?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данные располагаются в памяти?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Какой формат исполняемого файла? (ELF в Linux)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происходит системный вызов (обращение к ядру)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Простыми словами: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низкоуровневое соглашение о том, как одна скомпилированная программа (уже в виде нулей и единиц) должна взаимодействовать с другой на уровне процессора и операционной системы. 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- общение программ между собой, ABI - общение программ с машиной</a:t>
            </a:r>
          </a:p>
        </p:txBody>
      </p:sp>
    </p:spTree>
    <p:extLst>
      <p:ext uri="{BB962C8B-B14F-4D97-AF65-F5344CB8AC3E}">
        <p14:creationId xmlns:p14="http://schemas.microsoft.com/office/powerpoint/2010/main" val="9678196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4708" y="732353"/>
            <a:ext cx="2503404" cy="927688"/>
          </a:xfrm>
        </p:spPr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105916" y="1798093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551" y="2459365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2347</TotalTime>
  <Words>1739</Words>
  <Application>Microsoft Office PowerPoint</Application>
  <PresentationFormat>Широкоэкранный</PresentationFormat>
  <Paragraphs>223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Consolas</vt:lpstr>
      <vt:lpstr>Times New Roman</vt:lpstr>
      <vt:lpstr>Office Theme</vt:lpstr>
      <vt:lpstr>C Programming 7_functions_p2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713</cp:revision>
  <dcterms:created xsi:type="dcterms:W3CDTF">2019-12-17T14:15:21Z</dcterms:created>
  <dcterms:modified xsi:type="dcterms:W3CDTF">2025-10-22T04:05:34Z</dcterms:modified>
</cp:coreProperties>
</file>