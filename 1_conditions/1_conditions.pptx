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56" r:id="rId2"/>
    <p:sldId id="263" r:id="rId3"/>
    <p:sldId id="290" r:id="rId4"/>
    <p:sldId id="291" r:id="rId5"/>
    <p:sldId id="292" r:id="rId6"/>
    <p:sldId id="279" r:id="rId7"/>
    <p:sldId id="282" r:id="rId8"/>
    <p:sldId id="283" r:id="rId9"/>
    <p:sldId id="258" r:id="rId10"/>
    <p:sldId id="293" r:id="rId11"/>
    <p:sldId id="286" r:id="rId12"/>
    <p:sldId id="294" r:id="rId13"/>
    <p:sldId id="295" r:id="rId14"/>
    <p:sldId id="289" r:id="rId15"/>
    <p:sldId id="296" r:id="rId16"/>
    <p:sldId id="297" r:id="rId17"/>
    <p:sldId id="299" r:id="rId18"/>
    <p:sldId id="300" r:id="rId19"/>
    <p:sldId id="301" r:id="rId20"/>
    <p:sldId id="302" r:id="rId21"/>
    <p:sldId id="303" r:id="rId22"/>
    <p:sldId id="284" r:id="rId23"/>
    <p:sldId id="272" r:id="rId24"/>
    <p:sldId id="273" r:id="rId25"/>
    <p:sldId id="304" r:id="rId26"/>
    <p:sldId id="305" r:id="rId27"/>
    <p:sldId id="306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0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67" d="100"/>
          <a:sy n="67" d="100"/>
        </p:scale>
        <p:origin x="54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73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3519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788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6686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97565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405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78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0575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271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462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1275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8548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357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95441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4263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673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1143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83512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8561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99710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0010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931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95887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20444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78232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08.09.2025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406314"/>
            <a:ext cx="9144000" cy="1578811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1_conditions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A12355-4B5E-4F80-AF45-9947CFC9BCF4}"/>
              </a:ext>
            </a:extLst>
          </p:cNvPr>
          <p:cNvSpPr txBox="1"/>
          <p:nvPr/>
        </p:nvSpPr>
        <p:spPr>
          <a:xfrm>
            <a:off x="1299167" y="2214042"/>
            <a:ext cx="993716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ввода с клавиатуры, состоит из двух слов `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и `f`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записи в переменную значения введенного с клавиатуры в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перед переменной необходимо ставить знак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амперсанда '&amp;'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где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языке Си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операция взятия адреса переменной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248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3095507" y="2459476"/>
            <a:ext cx="60009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"type a:"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 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075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2066807" y="2701307"/>
            <a:ext cx="805838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x, y;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"Give me 2 numbers: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697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Comments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2066807" y="2551837"/>
            <a:ext cx="80583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E2EAA-C469-4DE4-8E6B-ED2126BC926B}"/>
              </a:ext>
            </a:extLst>
          </p:cNvPr>
          <p:cNvSpPr txBox="1"/>
          <p:nvPr/>
        </p:nvSpPr>
        <p:spPr>
          <a:xfrm>
            <a:off x="1231898" y="2020810"/>
            <a:ext cx="9728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программировании есть возможность комментировать код - такой код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компилятор/интерпретатор полностью игнорирует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т.е. комментарии используются разработчиками для разработчиков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// Вся эта строка будет игнорироваться компилятором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/* Такой комментарий открывается через слеш звездочку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 будет комментировать все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пока не встретим звездочку слеш */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756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3288" y="1106317"/>
            <a:ext cx="9465424" cy="1091779"/>
          </a:xfrm>
        </p:spPr>
        <p:txBody>
          <a:bodyPr>
            <a:noAutofit/>
          </a:bodyPr>
          <a:lstStyle/>
          <a:p>
            <a:r>
              <a:rPr lang="en-US" sz="4800" dirty="0"/>
              <a:t>Type casting (</a:t>
            </a:r>
            <a:r>
              <a:rPr lang="ru-RU" sz="4800" dirty="0"/>
              <a:t>Приведение типов)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565F0AC0-C3B4-4858-A9E9-AD1F7AFD2C7D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4534286" y="2198096"/>
            <a:ext cx="1561714" cy="62640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03F949E-4DF5-431E-8D20-F4176ECDBAB5}"/>
              </a:ext>
            </a:extLst>
          </p:cNvPr>
          <p:cNvSpPr txBox="1"/>
          <p:nvPr/>
        </p:nvSpPr>
        <p:spPr>
          <a:xfrm>
            <a:off x="3307027" y="2824498"/>
            <a:ext cx="2454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implicit (</a:t>
            </a:r>
            <a:r>
              <a:rPr lang="ru-RU" sz="2400" dirty="0"/>
              <a:t>неявное)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A8C0A8-4871-4718-AAFF-5D37C35FCFB5}"/>
              </a:ext>
            </a:extLst>
          </p:cNvPr>
          <p:cNvSpPr txBox="1"/>
          <p:nvPr/>
        </p:nvSpPr>
        <p:spPr>
          <a:xfrm>
            <a:off x="6522024" y="2812338"/>
            <a:ext cx="2334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explicit (</a:t>
            </a:r>
            <a:r>
              <a:rPr lang="ru-RU" sz="2400" dirty="0"/>
              <a:t>явное)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C01B7C5F-7E31-49CB-B635-981C1F32EA74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6096000" y="2198096"/>
            <a:ext cx="1593274" cy="61424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50760D2-E79A-47C6-8AA5-2E6184750DE0}"/>
              </a:ext>
            </a:extLst>
          </p:cNvPr>
          <p:cNvSpPr txBox="1"/>
          <p:nvPr/>
        </p:nvSpPr>
        <p:spPr>
          <a:xfrm>
            <a:off x="2014538" y="3274003"/>
            <a:ext cx="38385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y;</a:t>
            </a:r>
          </a:p>
          <a:p>
            <a:endParaRPr lang="en-US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r>
              <a:rPr lang="pl-PL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l-PL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 = x / </a:t>
            </a:r>
            <a:r>
              <a:rPr lang="pl-PL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l-PL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z = 2.0</a:t>
            </a: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3AF3A-4079-4860-8A16-DD73C0AD8BEB}"/>
              </a:ext>
            </a:extLst>
          </p:cNvPr>
          <p:cNvSpPr txBox="1"/>
          <p:nvPr/>
        </p:nvSpPr>
        <p:spPr>
          <a:xfrm>
            <a:off x="6638080" y="3274003"/>
            <a:ext cx="47805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a;</a:t>
            </a:r>
            <a:endParaRPr lang="ru-RU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b;</a:t>
            </a:r>
          </a:p>
          <a:p>
            <a:endParaRPr lang="en-US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 = (</a:t>
            </a:r>
            <a:r>
              <a:rPr lang="fr-F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)a / 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 = 2.5</a:t>
            </a:r>
            <a:endParaRPr lang="fr-F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92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CDAA855-3F1A-414C-A436-DE0E28B35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9061" y="876299"/>
            <a:ext cx="4902939" cy="5458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86596" y="330410"/>
            <a:ext cx="6418807" cy="1091779"/>
          </a:xfrm>
        </p:spPr>
        <p:txBody>
          <a:bodyPr>
            <a:normAutofit/>
          </a:bodyPr>
          <a:lstStyle/>
          <a:p>
            <a:r>
              <a:rPr lang="en-US" dirty="0"/>
              <a:t>Conditions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C974B-0D2D-4DD4-9A22-FF1563E9CF6F}"/>
              </a:ext>
            </a:extLst>
          </p:cNvPr>
          <p:cNvSpPr txBox="1"/>
          <p:nvPr/>
        </p:nvSpPr>
        <p:spPr>
          <a:xfrm>
            <a:off x="622300" y="1809749"/>
            <a:ext cx="69723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программировании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условия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позволяют контролировать ход выполнения программы на основе этих условий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/>
              <a:t>Чаще всего можно встретить следующие типы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условий</a:t>
            </a:r>
            <a:endParaRPr lang="ru-RU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if</a:t>
            </a:r>
            <a:r>
              <a:rPr lang="ru-RU" sz="2400" dirty="0"/>
              <a:t>, </a:t>
            </a:r>
            <a:r>
              <a:rPr lang="ru-RU" sz="2400" dirty="0" err="1"/>
              <a:t>if-else</a:t>
            </a:r>
            <a:r>
              <a:rPr lang="ru-RU" sz="2400" dirty="0"/>
              <a:t> и прочие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switch-case</a:t>
            </a:r>
            <a:endParaRPr lang="ru-RU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ternary</a:t>
            </a:r>
            <a:r>
              <a:rPr lang="ru-RU" sz="2400" dirty="0"/>
              <a:t> </a:t>
            </a:r>
            <a:r>
              <a:rPr lang="ru-RU" sz="2400" dirty="0" err="1"/>
              <a:t>operator</a:t>
            </a:r>
            <a:r>
              <a:rPr lang="ru-RU" sz="2400" dirty="0"/>
              <a:t> (тернарный оператор)</a:t>
            </a:r>
          </a:p>
        </p:txBody>
      </p:sp>
    </p:spTree>
    <p:extLst>
      <p:ext uri="{BB962C8B-B14F-4D97-AF65-F5344CB8AC3E}">
        <p14:creationId xmlns:p14="http://schemas.microsoft.com/office/powerpoint/2010/main" val="2582693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4" y="15562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 statement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E68F6-8ACF-47C6-AE47-82DF08B6DE79}"/>
              </a:ext>
            </a:extLst>
          </p:cNvPr>
          <p:cNvSpPr txBox="1"/>
          <p:nvPr/>
        </p:nvSpPr>
        <p:spPr>
          <a:xfrm>
            <a:off x="6778870" y="4172410"/>
            <a:ext cx="469509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&gt; 5!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836A62-86AA-4130-AA3F-FD1BAD8CCA90}"/>
              </a:ext>
            </a:extLst>
          </p:cNvPr>
          <p:cNvSpPr txBox="1"/>
          <p:nvPr/>
        </p:nvSpPr>
        <p:spPr>
          <a:xfrm>
            <a:off x="1061672" y="2255048"/>
            <a:ext cx="571719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(condition)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if condition is true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88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44048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If-else</a:t>
            </a:r>
            <a:endParaRPr lang="ru-RU" dirty="0"/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7ADA51D2-8515-4986-889A-2CC911020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932119"/>
              </p:ext>
            </p:extLst>
          </p:nvPr>
        </p:nvGraphicFramePr>
        <p:xfrm>
          <a:off x="2717798" y="2107670"/>
          <a:ext cx="8158748" cy="3291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79374">
                  <a:extLst>
                    <a:ext uri="{9D8B030D-6E8A-4147-A177-3AD203B41FA5}">
                      <a16:colId xmlns:a16="http://schemas.microsoft.com/office/drawing/2014/main" val="3801352832"/>
                    </a:ext>
                  </a:extLst>
                </a:gridCol>
                <a:gridCol w="4079374">
                  <a:extLst>
                    <a:ext uri="{9D8B030D-6E8A-4147-A177-3AD203B41FA5}">
                      <a16:colId xmlns:a16="http://schemas.microsoft.com/office/drawing/2014/main" val="338980184"/>
                    </a:ext>
                  </a:extLst>
                </a:gridCol>
              </a:tblGrid>
              <a:tr h="373204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 is true (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истина)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 is false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(ложь)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1553"/>
                  </a:ext>
                </a:extLst>
              </a:tr>
              <a:tr h="12796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= 555;</a:t>
                      </a:r>
                    </a:p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== 555)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// body of if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// body of 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= 123;</a:t>
                      </a:r>
                    </a:p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== 555)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// body of if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// body of 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0712219"/>
                  </a:ext>
                </a:extLst>
              </a:tr>
            </a:tbl>
          </a:graphicData>
        </a:graphic>
      </p:graphicFrame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D03A6B0B-4FF1-4FE1-941B-49A5373632B2}"/>
              </a:ext>
            </a:extLst>
          </p:cNvPr>
          <p:cNvGrpSpPr/>
          <p:nvPr/>
        </p:nvGrpSpPr>
        <p:grpSpPr>
          <a:xfrm>
            <a:off x="2378071" y="4148139"/>
            <a:ext cx="323850" cy="1476375"/>
            <a:chOff x="1708149" y="4486275"/>
            <a:chExt cx="323850" cy="1476375"/>
          </a:xfrm>
        </p:grpSpPr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B3E97A39-0559-4201-B7B6-0172600AC34F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49" y="5962650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786C836B-A931-4EBB-9883-CD9BEBFADD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8150" y="4486275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CC92B68A-9577-46F4-B4EE-DC9AE70A56B4}"/>
                </a:ext>
              </a:extLst>
            </p:cNvPr>
            <p:cNvCxnSpPr/>
            <p:nvPr/>
          </p:nvCxnSpPr>
          <p:spPr>
            <a:xfrm flipV="1">
              <a:off x="1708149" y="4486275"/>
              <a:ext cx="0" cy="14763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9D39193B-7728-416D-ABD5-B3CF8EAB0462}"/>
              </a:ext>
            </a:extLst>
          </p:cNvPr>
          <p:cNvGrpSpPr/>
          <p:nvPr/>
        </p:nvGrpSpPr>
        <p:grpSpPr>
          <a:xfrm>
            <a:off x="2378072" y="3286125"/>
            <a:ext cx="323850" cy="335880"/>
            <a:chOff x="1708149" y="3695700"/>
            <a:chExt cx="323850" cy="504826"/>
          </a:xfrm>
        </p:grpSpPr>
        <p:cxnSp>
          <p:nvCxnSpPr>
            <p:cNvPr id="13" name="Прямая со стрелкой 12">
              <a:extLst>
                <a:ext uri="{FF2B5EF4-FFF2-40B4-BE49-F238E27FC236}">
                  <a16:creationId xmlns:a16="http://schemas.microsoft.com/office/drawing/2014/main" id="{A599A7E3-F5EF-4725-BCA2-F399B7967949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49" y="4200525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>
              <a:extLst>
                <a:ext uri="{FF2B5EF4-FFF2-40B4-BE49-F238E27FC236}">
                  <a16:creationId xmlns:a16="http://schemas.microsoft.com/office/drawing/2014/main" id="{6478B19B-518B-4D12-81D7-C41D3CC3ED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8149" y="3695700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46C39B3F-8A28-492A-B01A-522D86EFC7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08149" y="3695700"/>
              <a:ext cx="0" cy="5048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A81304DF-ACF2-42A8-8245-C8EBAC131D9F}"/>
              </a:ext>
            </a:extLst>
          </p:cNvPr>
          <p:cNvGrpSpPr/>
          <p:nvPr/>
        </p:nvGrpSpPr>
        <p:grpSpPr>
          <a:xfrm>
            <a:off x="6534149" y="5231653"/>
            <a:ext cx="323850" cy="428627"/>
            <a:chOff x="5867400" y="5686425"/>
            <a:chExt cx="323850" cy="428627"/>
          </a:xfrm>
        </p:grpSpPr>
        <p:cxnSp>
          <p:nvCxnSpPr>
            <p:cNvPr id="12" name="Прямая со стрелкой 11">
              <a:extLst>
                <a:ext uri="{FF2B5EF4-FFF2-40B4-BE49-F238E27FC236}">
                  <a16:creationId xmlns:a16="http://schemas.microsoft.com/office/drawing/2014/main" id="{0EA72912-DC3F-40FB-985D-55C83FA7E4B4}"/>
                </a:ext>
              </a:extLst>
            </p:cNvPr>
            <p:cNvCxnSpPr>
              <a:cxnSpLocks/>
            </p:cNvCxnSpPr>
            <p:nvPr/>
          </p:nvCxnSpPr>
          <p:spPr>
            <a:xfrm>
              <a:off x="5867400" y="6115050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031EB678-5655-42D9-B4D6-5BF5A35162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7400" y="5686425"/>
              <a:ext cx="0" cy="42862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Прямая соединительная линия 25">
              <a:extLst>
                <a:ext uri="{FF2B5EF4-FFF2-40B4-BE49-F238E27FC236}">
                  <a16:creationId xmlns:a16="http://schemas.microsoft.com/office/drawing/2014/main" id="{04392C45-56CE-4AC1-B81E-A6574BC75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400" y="5686425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A9586272-B614-42BB-B1D2-6A20F760CFD9}"/>
              </a:ext>
            </a:extLst>
          </p:cNvPr>
          <p:cNvGrpSpPr/>
          <p:nvPr/>
        </p:nvGrpSpPr>
        <p:grpSpPr>
          <a:xfrm>
            <a:off x="6527798" y="3305175"/>
            <a:ext cx="330201" cy="1371600"/>
            <a:chOff x="5861049" y="3771900"/>
            <a:chExt cx="330201" cy="1247776"/>
          </a:xfrm>
        </p:grpSpPr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8C37BF57-DE80-415D-98EF-D0BFAE609CFF}"/>
                </a:ext>
              </a:extLst>
            </p:cNvPr>
            <p:cNvCxnSpPr>
              <a:cxnSpLocks/>
            </p:cNvCxnSpPr>
            <p:nvPr/>
          </p:nvCxnSpPr>
          <p:spPr>
            <a:xfrm>
              <a:off x="5867400" y="5019675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4EF0266C-0FBB-4B86-87BF-F40FDACF2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1049" y="3771900"/>
              <a:ext cx="0" cy="12477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9AA9B6D1-89D5-40C7-AB62-C91F0A639B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1049" y="3771900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393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4" y="15562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If-else-if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1CBB9-A224-4A2A-A2B6-0489A2775889}"/>
              </a:ext>
            </a:extLst>
          </p:cNvPr>
          <p:cNvSpPr txBox="1"/>
          <p:nvPr/>
        </p:nvSpPr>
        <p:spPr>
          <a:xfrm>
            <a:off x="2035491" y="2134105"/>
            <a:ext cx="88771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 ==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condition1 is true (c = 'y')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 ==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'n'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condition2 (c != 'y' and c = 'n')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else (c != 'y' and c != 'n')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708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3" y="233059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True and False (1 and 0)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D665F7-802F-4589-9608-1341F83F5351}"/>
              </a:ext>
            </a:extLst>
          </p:cNvPr>
          <p:cNvSpPr txBox="1"/>
          <p:nvPr/>
        </p:nvSpPr>
        <p:spPr>
          <a:xfrm>
            <a:off x="1589313" y="2148888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(1)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35C12E-845B-495C-86BD-1BAADF455157}"/>
              </a:ext>
            </a:extLst>
          </p:cNvPr>
          <p:cNvSpPr txBox="1"/>
          <p:nvPr/>
        </p:nvSpPr>
        <p:spPr>
          <a:xfrm>
            <a:off x="5105501" y="2075313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(0)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1E008-20F7-4185-8EE2-6F4AAADDF85F}"/>
              </a:ext>
            </a:extLst>
          </p:cNvPr>
          <p:cNvSpPr txBox="1"/>
          <p:nvPr/>
        </p:nvSpPr>
        <p:spPr>
          <a:xfrm>
            <a:off x="8621690" y="1997839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(-1)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E73912-4570-4820-B410-92D3EA7B5752}"/>
              </a:ext>
            </a:extLst>
          </p:cNvPr>
          <p:cNvSpPr txBox="1"/>
          <p:nvPr/>
        </p:nvSpPr>
        <p:spPr>
          <a:xfrm>
            <a:off x="1594241" y="5688595"/>
            <a:ext cx="609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== истина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0 ==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ложь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 = ?</a:t>
            </a:r>
          </a:p>
        </p:txBody>
      </p:sp>
    </p:spTree>
    <p:extLst>
      <p:ext uri="{BB962C8B-B14F-4D97-AF65-F5344CB8AC3E}">
        <p14:creationId xmlns:p14="http://schemas.microsoft.com/office/powerpoint/2010/main" val="278452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57961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Operators</a:t>
            </a:r>
            <a:endParaRPr lang="ru-RU" dirty="0"/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E254EB63-E563-4283-9B96-057DE566EB1D}"/>
              </a:ext>
            </a:extLst>
          </p:cNvPr>
          <p:cNvGraphicFramePr>
            <a:graphicFrameLocks noGrp="1"/>
          </p:cNvGraphicFramePr>
          <p:nvPr/>
        </p:nvGraphicFramePr>
        <p:xfrm>
          <a:off x="2625333" y="2240641"/>
          <a:ext cx="8078251" cy="33250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05232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6573019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</a:tblGrid>
              <a:tr h="39818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AND)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4888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ИЛИ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4888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!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428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==, !=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Равно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EQUAL),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равно 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(NOT EQUAL)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79767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&gt;, &lt;</a:t>
                      </a:r>
                    </a:p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&gt;=, &lt;=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Больше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Меньше</a:t>
                      </a:r>
                      <a:b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Больше либо равно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Меньше либо равно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9517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4505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Operators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F4EF9B-3D1F-45EF-8D6F-32A1896C5545}"/>
              </a:ext>
            </a:extLst>
          </p:cNvPr>
          <p:cNvSpPr txBox="1"/>
          <p:nvPr/>
        </p:nvSpPr>
        <p:spPr>
          <a:xfrm>
            <a:off x="1140802" y="2037281"/>
            <a:ext cx="98319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Операторы &amp;&amp; (И) и || (ИЛИ) позволяют проверять несколько условий внутри одного блока. Вариант слева заменяем на вариант справа.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57E6B-0A94-40B7-BDB1-2BD5E2BF2CF5}"/>
              </a:ext>
            </a:extLst>
          </p:cNvPr>
          <p:cNvSpPr txBox="1"/>
          <p:nvPr/>
        </p:nvSpPr>
        <p:spPr>
          <a:xfrm>
            <a:off x="1589314" y="3305906"/>
            <a:ext cx="3580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'y’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ABF05B-D62D-4403-A927-D24837EC0622}"/>
              </a:ext>
            </a:extLst>
          </p:cNvPr>
          <p:cNvSpPr txBox="1"/>
          <p:nvPr/>
        </p:nvSpPr>
        <p:spPr>
          <a:xfrm>
            <a:off x="6095999" y="3305906"/>
            <a:ext cx="40455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|| 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D9720F-580B-495A-9DD0-6DD1D265B78B}"/>
              </a:ext>
            </a:extLst>
          </p:cNvPr>
          <p:cNvSpPr txBox="1"/>
          <p:nvPr/>
        </p:nvSpPr>
        <p:spPr>
          <a:xfrm>
            <a:off x="801931" y="5589620"/>
            <a:ext cx="10588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Важно</a:t>
            </a:r>
            <a:r>
              <a:rPr lang="ru-RU" dirty="0"/>
              <a:t>: ставить ровно две палки `||` или ровно два амперсанда `&amp;&amp;`, т.к. в Си одна палка `|` и один амперсанд `&amp;` - это не</a:t>
            </a:r>
            <a:r>
              <a:rPr lang="ru-RU" b="1" dirty="0"/>
              <a:t> логические операторы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55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9C83711-8CB1-4EDD-AC80-01C8BF2DA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66" y="113640"/>
            <a:ext cx="5072576" cy="6199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94E16C-7EFD-453E-8349-7A31AF4D03AE}"/>
              </a:ext>
            </a:extLst>
          </p:cNvPr>
          <p:cNvSpPr txBox="1"/>
          <p:nvPr/>
        </p:nvSpPr>
        <p:spPr>
          <a:xfrm>
            <a:off x="1324528" y="6375028"/>
            <a:ext cx="4437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https://pvs-studio.com/en/blog/terms/0064/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2E1094-BF6D-4D6B-8CDB-8C47EF672EF7}"/>
              </a:ext>
            </a:extLst>
          </p:cNvPr>
          <p:cNvSpPr txBox="1"/>
          <p:nvPr/>
        </p:nvSpPr>
        <p:spPr>
          <a:xfrm>
            <a:off x="7026520" y="980274"/>
            <a:ext cx="45969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Если не знаете (или не уверены) в каком порядке будут выполнены действия - используйте `()` для обозначения задуманного вами порядка действий. </a:t>
            </a:r>
            <a:r>
              <a:rPr lang="ru-RU" sz="2400" b="1" dirty="0"/>
              <a:t>Лишняя пара скобок хуже не сделает</a:t>
            </a:r>
          </a:p>
        </p:txBody>
      </p:sp>
    </p:spTree>
    <p:extLst>
      <p:ext uri="{BB962C8B-B14F-4D97-AF65-F5344CB8AC3E}">
        <p14:creationId xmlns:p14="http://schemas.microsoft.com/office/powerpoint/2010/main" val="148696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BF9AC4A-D22B-4E46-8EDB-01256CC5470B}"/>
              </a:ext>
            </a:extLst>
          </p:cNvPr>
          <p:cNvSpPr txBox="1">
            <a:spLocks/>
          </p:cNvSpPr>
          <p:nvPr/>
        </p:nvSpPr>
        <p:spPr>
          <a:xfrm>
            <a:off x="1589314" y="34505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is even?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7E650-6184-4AD9-A37C-505EF778C6F1}"/>
              </a:ext>
            </a:extLst>
          </p:cNvPr>
          <p:cNvSpPr txBox="1"/>
          <p:nvPr/>
        </p:nvSpPr>
        <p:spPr>
          <a:xfrm>
            <a:off x="2727444" y="2090172"/>
            <a:ext cx="673710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(number %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is even.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number);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is odd.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number);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3034D-C295-4006-A5E0-97AE7521DE42}"/>
              </a:ext>
            </a:extLst>
          </p:cNvPr>
          <p:cNvSpPr txBox="1"/>
          <p:nvPr/>
        </p:nvSpPr>
        <p:spPr>
          <a:xfrm>
            <a:off x="1990905" y="5394400"/>
            <a:ext cx="8210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Символ </a:t>
            </a:r>
            <a:r>
              <a:rPr lang="ru-RU" b="1" dirty="0"/>
              <a:t>%</a:t>
            </a:r>
            <a:r>
              <a:rPr lang="ru-RU" dirty="0"/>
              <a:t> - арифметический оператор, дающий остаток от деления целых чисел</a:t>
            </a:r>
          </a:p>
          <a:p>
            <a:r>
              <a:rPr lang="ru-RU" dirty="0"/>
              <a:t>(1 % 2 = 1, 2 % 2 = 0, 3 % 2 = 1, 4 % 2 = 0 и т.д..) </a:t>
            </a:r>
          </a:p>
        </p:txBody>
      </p:sp>
    </p:spTree>
    <p:extLst>
      <p:ext uri="{BB962C8B-B14F-4D97-AF65-F5344CB8AC3E}">
        <p14:creationId xmlns:p14="http://schemas.microsoft.com/office/powerpoint/2010/main" val="1057955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BF9AC4A-D22B-4E46-8EDB-01256CC5470B}"/>
              </a:ext>
            </a:extLst>
          </p:cNvPr>
          <p:cNvSpPr txBox="1">
            <a:spLocks/>
          </p:cNvSpPr>
          <p:nvPr/>
        </p:nvSpPr>
        <p:spPr>
          <a:xfrm>
            <a:off x="1589314" y="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Так не надо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DE2786-AFF3-4CA7-BCE5-07ED29D057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4322"/>
          <a:stretch/>
        </p:blipFill>
        <p:spPr>
          <a:xfrm>
            <a:off x="3110279" y="1310420"/>
            <a:ext cx="6534150" cy="492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445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54456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3449322" y="2362118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bad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 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Условие всегда истинно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AE600B-FF98-4776-ACF0-12C47C784F7E}"/>
              </a:ext>
            </a:extLst>
          </p:cNvPr>
          <p:cNvSpPr txBox="1"/>
          <p:nvPr/>
        </p:nvSpPr>
        <p:spPr>
          <a:xfrm>
            <a:off x="3449322" y="4330975"/>
            <a:ext cx="493101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not bad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a) {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6 ==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оберегает от ошибок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4536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910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(!= ||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256037" y="2226658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любых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всегда истина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!= s1 ||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707676"/>
              </p:ext>
            </p:extLst>
          </p:nvPr>
        </p:nvGraphicFramePr>
        <p:xfrm>
          <a:off x="6195485" y="4123593"/>
          <a:ext cx="5357606" cy="20377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6311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472493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403919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274883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5731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57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57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7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6426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26468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</a:t>
            </a:r>
            <a:r>
              <a:rPr lang="ru-RU" dirty="0"/>
              <a:t>=</a:t>
            </a:r>
            <a:r>
              <a:rPr lang="en-US" dirty="0"/>
              <a:t>= &amp;&amp; ==)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265057" y="2090172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любых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всегда ложь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&amp;&amp; var ==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101128"/>
              </p:ext>
            </p:extLst>
          </p:nvPr>
        </p:nvGraphicFramePr>
        <p:xfrm>
          <a:off x="6175134" y="4173840"/>
          <a:ext cx="5703277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4141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567498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327638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0791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2" y="46095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(== ||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071623" y="2090172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не зависит от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== s1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||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068837"/>
              </p:ext>
            </p:extLst>
          </p:nvPr>
        </p:nvGraphicFramePr>
        <p:xfrm>
          <a:off x="6291538" y="4246359"/>
          <a:ext cx="5571736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4524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531344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684379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101489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261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66848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(== &amp;&amp;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983702" y="2179351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не зависит от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== s2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&amp;&amp;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476760"/>
              </p:ext>
            </p:extLst>
          </p:nvPr>
        </p:nvGraphicFramePr>
        <p:xfrm>
          <a:off x="6369997" y="4209009"/>
          <a:ext cx="5411695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8489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487359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393772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312075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7054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2507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{} </a:t>
            </a:r>
            <a:r>
              <a:rPr lang="ru-RU" dirty="0"/>
              <a:t>и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108A81-D3CF-469A-A112-82D8C30C4E56}"/>
              </a:ext>
            </a:extLst>
          </p:cNvPr>
          <p:cNvSpPr txBox="1"/>
          <p:nvPr/>
        </p:nvSpPr>
        <p:spPr>
          <a:xfrm>
            <a:off x="807094" y="2534947"/>
            <a:ext cx="10161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== 5!</a:t>
            </a:r>
            <a:r>
              <a:rPr lang="ru-RU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Выполниться если a равно 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Выполнится в любом случае (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табы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/пробелы не важны)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0650F-B919-49E1-86AD-0C63295B9809}"/>
              </a:ext>
            </a:extLst>
          </p:cNvPr>
          <p:cNvSpPr txBox="1"/>
          <p:nvPr/>
        </p:nvSpPr>
        <p:spPr>
          <a:xfrm>
            <a:off x="807094" y="4320038"/>
            <a:ext cx="108910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== 5!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"hello!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Ошибка! Больше одной инструкции без фигурных скобок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"else here"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77D67B-D456-48FE-B1CC-B37D55E6D9E8}"/>
              </a:ext>
            </a:extLst>
          </p:cNvPr>
          <p:cNvSpPr txBox="1"/>
          <p:nvPr/>
        </p:nvSpPr>
        <p:spPr>
          <a:xfrm>
            <a:off x="776320" y="1621290"/>
            <a:ext cx="109526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Фигурные скобки в условных выражениях на языке Си опциональны и если их не поставить, то это будет означать, что мы хотим выполнить самую первую ближайшую инструкцию под </a:t>
            </a:r>
            <a:r>
              <a:rPr lang="ru-RU" dirty="0" err="1"/>
              <a:t>if</a:t>
            </a:r>
            <a:r>
              <a:rPr lang="ru-RU" dirty="0"/>
              <a:t> (или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59756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14594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Ternary Operator</a:t>
            </a:r>
            <a:endParaRPr lang="ru-RU" dirty="0"/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6241942A-9108-41C2-9DC3-65FA16C4D1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684416"/>
              </p:ext>
            </p:extLst>
          </p:nvPr>
        </p:nvGraphicFramePr>
        <p:xfrm>
          <a:off x="2244968" y="2329962"/>
          <a:ext cx="7702061" cy="354036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36729">
                  <a:extLst>
                    <a:ext uri="{9D8B030D-6E8A-4147-A177-3AD203B41FA5}">
                      <a16:colId xmlns:a16="http://schemas.microsoft.com/office/drawing/2014/main" val="612971784"/>
                    </a:ext>
                  </a:extLst>
                </a:gridCol>
                <a:gridCol w="3965332">
                  <a:extLst>
                    <a:ext uri="{9D8B030D-6E8A-4147-A177-3AD203B41FA5}">
                      <a16:colId xmlns:a16="http://schemas.microsoft.com/office/drawing/2014/main" val="2096649484"/>
                    </a:ext>
                  </a:extLst>
                </a:gridCol>
              </a:tblGrid>
              <a:tr h="518847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.. else 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Ternary Operator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86829"/>
                  </a:ext>
                </a:extLst>
              </a:tr>
              <a:tr h="3021522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a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 b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max;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sz="2400" b="0" dirty="0">
                          <a:solidFill>
                            <a:srgbClr val="CCCCC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400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(a &gt; b) {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  max = a;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en-US" sz="2400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  max = b;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a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 b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max;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max = a &gt; b ? a : b;</a:t>
                      </a:r>
                      <a:endParaRPr lang="ru-RU" sz="2400" b="0" kern="120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3307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A64EF14-AFB6-48A4-8AE4-6924957D265A}"/>
              </a:ext>
            </a:extLst>
          </p:cNvPr>
          <p:cNvSpPr txBox="1"/>
          <p:nvPr/>
        </p:nvSpPr>
        <p:spPr>
          <a:xfrm>
            <a:off x="1589314" y="1688095"/>
            <a:ext cx="93043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Тернарный оператор (от латинского </a:t>
            </a:r>
            <a:r>
              <a:rPr lang="ru-RU" b="1" dirty="0"/>
              <a:t>тройной</a:t>
            </a:r>
            <a:r>
              <a:rPr lang="ru-RU" dirty="0"/>
              <a:t>)</a:t>
            </a:r>
            <a:r>
              <a:rPr lang="en-US" dirty="0"/>
              <a:t>. </a:t>
            </a:r>
            <a:r>
              <a:rPr lang="ru-RU" dirty="0"/>
              <a:t>Означает следующее: Если </a:t>
            </a:r>
            <a:r>
              <a:rPr lang="en-US" b="1" dirty="0"/>
              <a:t>Q</a:t>
            </a:r>
            <a:r>
              <a:rPr lang="ru-RU" dirty="0"/>
              <a:t>, то </a:t>
            </a:r>
            <a:r>
              <a:rPr lang="en-US" b="1" dirty="0"/>
              <a:t>P1</a:t>
            </a:r>
            <a:r>
              <a:rPr lang="ru-RU" dirty="0"/>
              <a:t>, иначе </a:t>
            </a:r>
            <a:r>
              <a:rPr lang="en-US" b="1" dirty="0"/>
              <a:t>P</a:t>
            </a:r>
            <a:r>
              <a:rPr lang="ru-RU" b="1" dirty="0"/>
              <a:t>2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4141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2" y="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switch .. case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1589312" y="1796366"/>
            <a:ext cx="411603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B50DB-57B9-45EE-9853-17CFEB019EF4}"/>
              </a:ext>
            </a:extLst>
          </p:cNvPr>
          <p:cNvSpPr txBox="1"/>
          <p:nvPr/>
        </p:nvSpPr>
        <p:spPr>
          <a:xfrm>
            <a:off x="7033724" y="1166842"/>
            <a:ext cx="275052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53889D-4B41-4B17-89B9-EB46964CE7E0}"/>
              </a:ext>
            </a:extLst>
          </p:cNvPr>
          <p:cNvSpPr txBox="1"/>
          <p:nvPr/>
        </p:nvSpPr>
        <p:spPr>
          <a:xfrm>
            <a:off x="900479" y="5691157"/>
            <a:ext cx="108636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Если не поставить </a:t>
            </a:r>
            <a:r>
              <a:rPr lang="ru-RU" b="1" dirty="0" err="1"/>
              <a:t>break</a:t>
            </a:r>
            <a:r>
              <a:rPr lang="ru-RU" dirty="0"/>
              <a:t>, то после выполнения кода текущего </a:t>
            </a:r>
            <a:r>
              <a:rPr lang="ru-RU" dirty="0" err="1"/>
              <a:t>case</a:t>
            </a:r>
            <a:r>
              <a:rPr lang="ru-RU" dirty="0"/>
              <a:t> вы провалитесь в нижестоящий </a:t>
            </a:r>
            <a:r>
              <a:rPr lang="ru-RU" dirty="0" err="1"/>
              <a:t>case</a:t>
            </a:r>
            <a:r>
              <a:rPr lang="en-US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break (</a:t>
            </a:r>
            <a:r>
              <a:rPr lang="ru-RU" dirty="0"/>
              <a:t>ломать) – остановить</a:t>
            </a:r>
            <a:r>
              <a:rPr lang="en-US" dirty="0"/>
              <a:t>/</a:t>
            </a:r>
            <a:r>
              <a:rPr lang="ru-RU" dirty="0"/>
              <a:t>выйти из </a:t>
            </a:r>
            <a:r>
              <a:rPr lang="en-US" dirty="0"/>
              <a:t>switch;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switch-case </a:t>
            </a:r>
            <a:r>
              <a:rPr lang="ru-RU" dirty="0"/>
              <a:t>использует</a:t>
            </a:r>
            <a:r>
              <a:rPr lang="en-US" dirty="0"/>
              <a:t> </a:t>
            </a:r>
            <a:r>
              <a:rPr lang="ru-RU" b="1" dirty="0"/>
              <a:t>хэш-таблицы</a:t>
            </a:r>
            <a:r>
              <a:rPr lang="ru-RU" dirty="0"/>
              <a:t> и </a:t>
            </a:r>
            <a:r>
              <a:rPr lang="ru-RU" b="1" dirty="0"/>
              <a:t>бинарный поиск</a:t>
            </a:r>
            <a:r>
              <a:rPr lang="ru-RU" dirty="0"/>
              <a:t> под капотом</a:t>
            </a:r>
            <a:r>
              <a:rPr lang="en-US" dirty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5264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/>
              <a:t>Branch prediction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890D43-D513-48E6-B98F-43CC74F5BC97}"/>
              </a:ext>
            </a:extLst>
          </p:cNvPr>
          <p:cNvSpPr txBox="1"/>
          <p:nvPr/>
        </p:nvSpPr>
        <p:spPr>
          <a:xfrm>
            <a:off x="3823416" y="2320789"/>
            <a:ext cx="45451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Предсказатель переходов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7C2922-F06A-4AA2-92EB-A2BEA8CCF560}"/>
              </a:ext>
            </a:extLst>
          </p:cNvPr>
          <p:cNvSpPr txBox="1"/>
          <p:nvPr/>
        </p:nvSpPr>
        <p:spPr>
          <a:xfrm>
            <a:off x="6542808" y="3671059"/>
            <a:ext cx="47553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Динамическое предсказание</a:t>
            </a:r>
          </a:p>
          <a:p>
            <a:endParaRPr lang="ru-RU" sz="2400" dirty="0"/>
          </a:p>
          <a:p>
            <a:r>
              <a:rPr lang="ru-RU" sz="2400" dirty="0"/>
              <a:t>Набираем статистику тех кто чаще выполняется</a:t>
            </a:r>
            <a:r>
              <a:rPr lang="en-US" sz="2400" dirty="0"/>
              <a:t> </a:t>
            </a:r>
            <a:r>
              <a:rPr lang="ru-RU" sz="2400" dirty="0"/>
              <a:t>и их кладем в кэш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00BF0B-9268-4159-A5DF-85A3B0F7DC8D}"/>
              </a:ext>
            </a:extLst>
          </p:cNvPr>
          <p:cNvSpPr txBox="1"/>
          <p:nvPr/>
        </p:nvSpPr>
        <p:spPr>
          <a:xfrm>
            <a:off x="1589314" y="3671059"/>
            <a:ext cx="406177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Статическое предсказание</a:t>
            </a:r>
          </a:p>
          <a:p>
            <a:endParaRPr lang="ru-RU" sz="2400" dirty="0"/>
          </a:p>
          <a:p>
            <a:r>
              <a:rPr lang="ru-RU" sz="2400" dirty="0"/>
              <a:t>Выбираем одну из веток и только она в кэш кладется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BEC571D9-E00D-472C-B4A1-22ED9B8F8A5F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flipH="1">
            <a:off x="3620201" y="2844009"/>
            <a:ext cx="2475798" cy="82705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54227B5-86A5-4E87-9535-01E35985136C}"/>
              </a:ext>
            </a:extLst>
          </p:cNvPr>
          <p:cNvCxnSpPr>
            <a:cxnSpLocks/>
            <a:stCxn id="11" idx="2"/>
            <a:endCxn id="6" idx="0"/>
          </p:cNvCxnSpPr>
          <p:nvPr/>
        </p:nvCxnSpPr>
        <p:spPr>
          <a:xfrm>
            <a:off x="6095999" y="2844009"/>
            <a:ext cx="2824463" cy="82705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41417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100922" y="307484"/>
            <a:ext cx="999015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Branch misprediction and cache misses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5D8F6-0FC8-4543-B3FD-EF5730DD398B}"/>
              </a:ext>
            </a:extLst>
          </p:cNvPr>
          <p:cNvSpPr txBox="1"/>
          <p:nvPr/>
        </p:nvSpPr>
        <p:spPr>
          <a:xfrm>
            <a:off x="827945" y="1735809"/>
            <a:ext cx="60974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(e1) { 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(e3) {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(e4) {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FC2035-78E9-4A47-B4A7-E4303DF7F786}"/>
              </a:ext>
            </a:extLst>
          </p:cNvPr>
          <p:cNvSpPr txBox="1"/>
          <p:nvPr/>
        </p:nvSpPr>
        <p:spPr>
          <a:xfrm>
            <a:off x="6884376" y="1764720"/>
            <a:ext cx="51257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Процессор такому не обрадуется (</a:t>
            </a:r>
            <a:r>
              <a:rPr lang="ru-RU" sz="2000" b="1" dirty="0"/>
              <a:t>особенно если такое условие проверяется много раз</a:t>
            </a:r>
            <a:r>
              <a:rPr lang="ru-RU" sz="2000" dirty="0"/>
              <a:t>) и будет частенько простаивать из-за промахов, поэтому обычно </a:t>
            </a:r>
            <a:r>
              <a:rPr lang="ru-RU" sz="2000" b="1" dirty="0"/>
              <a:t>хорошим тоном</a:t>
            </a:r>
            <a:r>
              <a:rPr lang="ru-RU" sz="2000" dirty="0"/>
              <a:t> является не писать много </a:t>
            </a:r>
            <a:r>
              <a:rPr lang="ru-RU" sz="2000" b="1" dirty="0"/>
              <a:t>вложенных условий</a:t>
            </a:r>
            <a:r>
              <a:rPr lang="ru-RU" sz="2000" dirty="0"/>
              <a:t> (условия в условиях), а ограничиваться до 3-4, если выходит больше, то возможно мы делаем что-то не правильно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ACE211-8FD0-4B8A-A8B7-05A06B6EC363}"/>
              </a:ext>
            </a:extLst>
          </p:cNvPr>
          <p:cNvSpPr txBox="1"/>
          <p:nvPr/>
        </p:nvSpPr>
        <p:spPr>
          <a:xfrm>
            <a:off x="3516605" y="5486509"/>
            <a:ext cx="84935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Подобные промахи процессора в кэше называют </a:t>
            </a:r>
            <a:r>
              <a:rPr lang="ru-RU" b="1" dirty="0" err="1"/>
              <a:t>cache</a:t>
            </a:r>
            <a:r>
              <a:rPr lang="ru-RU" b="1" dirty="0"/>
              <a:t> </a:t>
            </a:r>
            <a:r>
              <a:rPr lang="ru-RU" b="1" dirty="0" err="1"/>
              <a:t>miss</a:t>
            </a:r>
            <a:r>
              <a:rPr lang="ru-RU" b="1" dirty="0"/>
              <a:t> (промах кэша)</a:t>
            </a:r>
            <a:r>
              <a:rPr lang="ru-RU" dirty="0"/>
              <a:t>, когда процессор вынужден загрузить данные из более медленной памяти (например оперативной памяти), т.к. нужных данных не оказалось в кэше процессора</a:t>
            </a:r>
          </a:p>
        </p:txBody>
      </p:sp>
    </p:spTree>
    <p:extLst>
      <p:ext uri="{BB962C8B-B14F-4D97-AF65-F5344CB8AC3E}">
        <p14:creationId xmlns:p14="http://schemas.microsoft.com/office/powerpoint/2010/main" val="808897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pic>
        <p:nvPicPr>
          <p:cNvPr id="13314" name="Picture 2" descr="GitHub - Apps on Google Play">
            <a:extLst>
              <a:ext uri="{FF2B5EF4-FFF2-40B4-BE49-F238E27FC236}">
                <a16:creationId xmlns:a16="http://schemas.microsoft.com/office/drawing/2014/main" id="{73638D15-9EFA-B53C-910B-8E5494479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45" y="2761214"/>
            <a:ext cx="3354355" cy="335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6C90E63-E5A3-4470-AD6D-63EB1FD9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805521"/>
            <a:ext cx="3280547" cy="32657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867461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1944</TotalTime>
  <Words>1824</Words>
  <Application>Microsoft Office PowerPoint</Application>
  <PresentationFormat>Широкоэкранный</PresentationFormat>
  <Paragraphs>353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Consolas</vt:lpstr>
      <vt:lpstr>Times New Roman</vt:lpstr>
      <vt:lpstr>Office Theme</vt:lpstr>
      <vt:lpstr>C Programming 1_conditions</vt:lpstr>
      <vt:lpstr>Презентация PowerPoint</vt:lpstr>
      <vt:lpstr>Презентация PowerPoint</vt:lpstr>
      <vt:lpstr>Презентация PowerPoint</vt:lpstr>
      <vt:lpstr>Презентация PowerPoint</vt:lpstr>
      <vt:lpstr>Type casting (Приведение типов)</vt:lpstr>
      <vt:lpstr>Conditions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458</cp:revision>
  <dcterms:created xsi:type="dcterms:W3CDTF">2019-12-17T14:15:21Z</dcterms:created>
  <dcterms:modified xsi:type="dcterms:W3CDTF">2025-09-08T11:30:35Z</dcterms:modified>
</cp:coreProperties>
</file>