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8"/>
  </p:notesMasterIdLst>
  <p:sldIdLst>
    <p:sldId id="256" r:id="rId2"/>
    <p:sldId id="263" r:id="rId3"/>
    <p:sldId id="290" r:id="rId4"/>
    <p:sldId id="291" r:id="rId5"/>
    <p:sldId id="292" r:id="rId6"/>
    <p:sldId id="279" r:id="rId7"/>
    <p:sldId id="282" r:id="rId8"/>
    <p:sldId id="283" r:id="rId9"/>
    <p:sldId id="258" r:id="rId10"/>
    <p:sldId id="293" r:id="rId11"/>
    <p:sldId id="286" r:id="rId12"/>
    <p:sldId id="294" r:id="rId13"/>
    <p:sldId id="295" r:id="rId14"/>
    <p:sldId id="289" r:id="rId15"/>
    <p:sldId id="296" r:id="rId16"/>
    <p:sldId id="297" r:id="rId17"/>
    <p:sldId id="299" r:id="rId18"/>
    <p:sldId id="300" r:id="rId19"/>
    <p:sldId id="301" r:id="rId20"/>
    <p:sldId id="302" r:id="rId21"/>
    <p:sldId id="303" r:id="rId22"/>
    <p:sldId id="284" r:id="rId23"/>
    <p:sldId id="272" r:id="rId24"/>
    <p:sldId id="273" r:id="rId25"/>
    <p:sldId id="304" r:id="rId26"/>
    <p:sldId id="305" r:id="rId27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ndrey Veyler" initials="AV" lastIdx="0" clrIdx="0">
    <p:extLst>
      <p:ext uri="{19B8F6BF-5375-455C-9EA6-DF929625EA0E}">
        <p15:presenceInfo xmlns:p15="http://schemas.microsoft.com/office/powerpoint/2012/main" userId="3d9934d1e83c21f3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3C2FFA5D-87B4-456A-9821-1D502468CF0F}" styleName="Стиль из темы 1 - акцент 1">
    <a:tblBg>
      <a:fillRef idx="2">
        <a:schemeClr val="accent1"/>
      </a:fillRef>
      <a:effectRef idx="1">
        <a:schemeClr val="accent1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Ref idx="1">
              <a:schemeClr val="accent1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  <a:fill>
          <a:solidFill>
            <a:schemeClr val="accent1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1"/>
            </a:lnRef>
          </a:left>
          <a:right>
            <a:lnRef idx="2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Ref idx="1">
              <a:schemeClr val="accent1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2">
              <a:schemeClr val="accent1"/>
            </a:lnRef>
          </a:top>
          <a:bottom>
            <a:lnRef idx="2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1"/>
          </a:solidFill>
        </a:fill>
      </a:tcStyle>
    </a:firstRow>
  </a:tblStyle>
  <a:tblStyle styleId="{284E427A-3D55-4303-BF80-6455036E1DE7}" styleName="Стиль из темы 1 - акцент 2">
    <a:tblBg>
      <a:fillRef idx="2">
        <a:schemeClr val="accent2"/>
      </a:fillRef>
      <a:effectRef idx="1">
        <a:schemeClr val="accent2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Ref idx="1">
              <a:schemeClr val="accent2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  <a:fill>
          <a:solidFill>
            <a:schemeClr val="accent2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2"/>
            </a:lnRef>
          </a:left>
          <a:right>
            <a:lnRef idx="2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Ref idx="1">
              <a:schemeClr val="accent2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2">
              <a:schemeClr val="accent2"/>
            </a:lnRef>
          </a:top>
          <a:bottom>
            <a:lnRef idx="2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2"/>
          </a:solidFill>
        </a:fill>
      </a:tcStyle>
    </a:firstRow>
  </a:tblStyle>
  <a:tblStyle styleId="{2D5ABB26-0587-4C30-8999-92F81FD0307C}" styleName="Нет стиля, нет сетки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16D9F66E-5EB9-4882-86FB-DCBF35E3C3E4}" styleName="Средний стиль 4 — акцент 6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6"/>
              </a:solidFill>
            </a:ln>
          </a:top>
        </a:tcBdr>
        <a:fill>
          <a:solidFill>
            <a:schemeClr val="accent6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6">
              <a:tint val="20000"/>
            </a:schemeClr>
          </a:solidFill>
        </a:fill>
      </a:tcStyle>
    </a:firstRow>
  </a:tblStyle>
  <a:tblStyle styleId="{D7AC3CCA-C797-4891-BE02-D94E43425B78}" styleName="Средний стиль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Средний стиль 2 — акцент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E8B1032C-EA38-4F05-BA0D-38AFFFC7BED3}" styleName="Светлый стиль 3 — акцент 6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6"/>
              </a:solidFill>
            </a:ln>
          </a:left>
          <a:right>
            <a:ln w="12700" cmpd="sng">
              <a:solidFill>
                <a:schemeClr val="accent6"/>
              </a:solidFill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 w="12700" cmpd="sng">
              <a:solidFill>
                <a:schemeClr val="accent6"/>
              </a:solidFill>
            </a:ln>
          </a:insideH>
          <a:insideV>
            <a:ln w="12700" cmpd="sng">
              <a:solidFill>
                <a:schemeClr val="accent6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3" autoAdjust="0"/>
    <p:restoredTop sz="94630" autoAdjust="0"/>
  </p:normalViewPr>
  <p:slideViewPr>
    <p:cSldViewPr snapToGrid="0">
      <p:cViewPr varScale="1">
        <p:scale>
          <a:sx n="109" d="100"/>
          <a:sy n="109" d="100"/>
        </p:scale>
        <p:origin x="126" y="1074"/>
      </p:cViewPr>
      <p:guideLst/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commentAuthors" Target="commentAuthor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presProps" Target="presProps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EF5437-F444-4613-A039-4AD69D91C86A}" type="datetimeFigureOut">
              <a:rPr lang="ru-RU" smtClean="0"/>
              <a:t>07.09.2025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07EAB29-8E86-49C7-96F5-7C9D72076108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658860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2985639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198735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9351994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26677889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66686973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0975655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540565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9178830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057591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1912717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7462103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775127593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6854873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6635720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99544144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58342630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17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64673324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18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7611439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19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58351268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20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5856129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21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19971067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22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2700100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31931978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24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57958874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25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1204449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07EAB29-8E86-49C7-96F5-7C9D72076108}" type="slidenum">
              <a:rPr lang="ru-RU" smtClean="0"/>
              <a:t>26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4782321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0478310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96502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8121124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9940423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07.09.2025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0088873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07.09.2025</a:t>
            </a:fld>
            <a:endParaRPr lang="ru-RU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8205358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07.09.2025</a:t>
            </a:fld>
            <a:endParaRPr lang="ru-RU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890321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062958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07.09.2025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12008801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0957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8BF7D01-7D49-4F37-AA30-F04C65571A4A}" type="datetimeFigureOut">
              <a:rPr lang="ru-RU" smtClean="0"/>
              <a:t>07.09.2025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0099987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BF7D01-7D49-4F37-AA30-F04C65571A4A}" type="datetimeFigureOut">
              <a:rPr lang="ru-RU" smtClean="0"/>
              <a:t>07.09.2025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D6C3A23-AFCE-4B49-9CB1-3B0B6D1FEC4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251790666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2406314"/>
            <a:ext cx="9144000" cy="1578811"/>
          </a:xfrm>
        </p:spPr>
        <p:txBody>
          <a:bodyPr/>
          <a:lstStyle/>
          <a:p>
            <a:r>
              <a:rPr lang="en-US" dirty="0"/>
              <a:t>C Programming</a:t>
            </a:r>
            <a:br>
              <a:rPr lang="en-US" dirty="0"/>
            </a:br>
            <a:r>
              <a:rPr lang="en-US" sz="3200" dirty="0"/>
              <a:t>1_conditions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67876211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2E0D6B0E-2565-4C08-9911-5AB313FD3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5713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Заголовок 3">
            <a:extLst>
              <a:ext uri="{FF2B5EF4-FFF2-40B4-BE49-F238E27FC236}">
                <a16:creationId xmlns:a16="http://schemas.microsoft.com/office/drawing/2014/main" id="{44D9C8AE-0A3E-4056-813F-36670D18429A}"/>
              </a:ext>
            </a:extLst>
          </p:cNvPr>
          <p:cNvSpPr txBox="1">
            <a:spLocks/>
          </p:cNvSpPr>
          <p:nvPr/>
        </p:nvSpPr>
        <p:spPr>
          <a:xfrm>
            <a:off x="1589314" y="34122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Keyboard input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4AA12355-4B5E-4F80-AF45-9947CFC9BCF4}"/>
              </a:ext>
            </a:extLst>
          </p:cNvPr>
          <p:cNvSpPr txBox="1"/>
          <p:nvPr/>
        </p:nvSpPr>
        <p:spPr>
          <a:xfrm>
            <a:off x="1299167" y="2214042"/>
            <a:ext cx="9937164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8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scanf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ф-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ия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ввода с клавиатуры, состоит из двух слов `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scan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` и `f` (</a:t>
            </a:r>
            <a:r>
              <a:rPr lang="ru-RU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format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  <a:b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записи в переменную значения введенного с клавиатуры в </a:t>
            </a:r>
            <a:r>
              <a:rPr lang="en-U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scanf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перед переменной необходимо ставить знак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амперсанда '&amp;'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где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&amp;</a:t>
            </a:r>
            <a:r>
              <a:rPr lang="ru-RU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в языке Си это </a:t>
            </a:r>
            <a:r>
              <a:rPr lang="ru-RU" sz="28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операция взятия адреса переменной</a:t>
            </a:r>
            <a:endParaRPr lang="ru-RU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2524849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2E0D6B0E-2565-4C08-9911-5AB313FD3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5713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Заголовок 3">
            <a:extLst>
              <a:ext uri="{FF2B5EF4-FFF2-40B4-BE49-F238E27FC236}">
                <a16:creationId xmlns:a16="http://schemas.microsoft.com/office/drawing/2014/main" id="{44D9C8AE-0A3E-4056-813F-36670D18429A}"/>
              </a:ext>
            </a:extLst>
          </p:cNvPr>
          <p:cNvSpPr txBox="1">
            <a:spLocks/>
          </p:cNvSpPr>
          <p:nvPr/>
        </p:nvSpPr>
        <p:spPr>
          <a:xfrm>
            <a:off x="1589314" y="34122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Keyboard input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5F2FB4-06B2-4D9F-B9F4-E49C37A634A1}"/>
              </a:ext>
            </a:extLst>
          </p:cNvPr>
          <p:cNvSpPr txBox="1"/>
          <p:nvPr/>
        </p:nvSpPr>
        <p:spPr>
          <a:xfrm>
            <a:off x="3095507" y="2459476"/>
            <a:ext cx="6000984" cy="23083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pt-BR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a;</a:t>
            </a:r>
            <a:endParaRPr lang="pt-B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"type a:"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pt-B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pt-B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a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pt-B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pt-BR" sz="3600" b="0" dirty="0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pt-BR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 = </a:t>
            </a:r>
            <a:r>
              <a:rPr lang="pt-BR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pt-BR" sz="36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pt-BR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pt-BR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a);</a:t>
            </a:r>
            <a:endParaRPr lang="pt-BR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1507508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2E0D6B0E-2565-4C08-9911-5AB313FD3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5713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Заголовок 3">
            <a:extLst>
              <a:ext uri="{FF2B5EF4-FFF2-40B4-BE49-F238E27FC236}">
                <a16:creationId xmlns:a16="http://schemas.microsoft.com/office/drawing/2014/main" id="{44D9C8AE-0A3E-4056-813F-36670D18429A}"/>
              </a:ext>
            </a:extLst>
          </p:cNvPr>
          <p:cNvSpPr txBox="1">
            <a:spLocks/>
          </p:cNvSpPr>
          <p:nvPr/>
        </p:nvSpPr>
        <p:spPr>
          <a:xfrm>
            <a:off x="1589314" y="34122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Keyboard input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5F2FB4-06B2-4D9F-B9F4-E49C37A634A1}"/>
              </a:ext>
            </a:extLst>
          </p:cNvPr>
          <p:cNvSpPr txBox="1"/>
          <p:nvPr/>
        </p:nvSpPr>
        <p:spPr>
          <a:xfrm>
            <a:off x="2066807" y="2701307"/>
            <a:ext cx="8058383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x, y;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"Give me 2 numbers: 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36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scanf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</a:t>
            </a:r>
            <a:r>
              <a:rPr lang="en-US" sz="3600" b="0" dirty="0" err="1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d%d</a:t>
            </a:r>
            <a:r>
              <a:rPr lang="en-US" sz="36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x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&amp;</a:t>
            </a:r>
            <a:r>
              <a:rPr lang="en-US" sz="36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y</a:t>
            </a:r>
            <a:r>
              <a:rPr lang="en-US" sz="36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126971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2E0D6B0E-2565-4C08-9911-5AB313FD3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5713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Заголовок 3">
            <a:extLst>
              <a:ext uri="{FF2B5EF4-FFF2-40B4-BE49-F238E27FC236}">
                <a16:creationId xmlns:a16="http://schemas.microsoft.com/office/drawing/2014/main" id="{44D9C8AE-0A3E-4056-813F-36670D18429A}"/>
              </a:ext>
            </a:extLst>
          </p:cNvPr>
          <p:cNvSpPr txBox="1">
            <a:spLocks/>
          </p:cNvSpPr>
          <p:nvPr/>
        </p:nvSpPr>
        <p:spPr>
          <a:xfrm>
            <a:off x="1589314" y="34122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Comments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5F2FB4-06B2-4D9F-B9F4-E49C37A634A1}"/>
              </a:ext>
            </a:extLst>
          </p:cNvPr>
          <p:cNvSpPr txBox="1"/>
          <p:nvPr/>
        </p:nvSpPr>
        <p:spPr>
          <a:xfrm>
            <a:off x="2066807" y="2551837"/>
            <a:ext cx="8058383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endParaRPr lang="en-US" sz="36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E84E2EAA-C469-4DE4-8E6B-ED2126BC926B}"/>
              </a:ext>
            </a:extLst>
          </p:cNvPr>
          <p:cNvSpPr txBox="1"/>
          <p:nvPr/>
        </p:nvSpPr>
        <p:spPr>
          <a:xfrm>
            <a:off x="1231898" y="2020810"/>
            <a:ext cx="97282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программировании есть возможность комментировать код - такой код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компилятор/интерпретатор полностью игнорирует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т.е. комментарии используются разработчиками для разработчиков 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b="0" dirty="0">
                <a:solidFill>
                  <a:srgbClr val="6A995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// Вся эта строка будет игнорироваться компилятором</a:t>
            </a:r>
            <a:endParaRPr lang="ru-RU" sz="24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b="0" dirty="0">
                <a:solidFill>
                  <a:srgbClr val="6A995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/* Такой комментарий открывается через слеш звездочку</a:t>
            </a:r>
            <a:endParaRPr lang="ru-RU" sz="24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b="0" dirty="0">
                <a:solidFill>
                  <a:srgbClr val="6A995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и будет комментировать все</a:t>
            </a:r>
            <a:endParaRPr lang="ru-RU" sz="24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b="0" dirty="0">
                <a:solidFill>
                  <a:srgbClr val="6A9955"/>
                </a:solidFill>
                <a:effectLst/>
                <a:latin typeface="Times New Roman" panose="02020603050405020304" pitchFamily="18" charset="0"/>
                <a:cs typeface="Times New Roman" panose="02020603050405020304" pitchFamily="18" charset="0"/>
              </a:rPr>
              <a:t>пока не встретим звездочку слеш */</a:t>
            </a:r>
            <a:endParaRPr lang="ru-RU" sz="2400" b="0" dirty="0">
              <a:solidFill>
                <a:srgbClr val="CCCCCC"/>
              </a:solidFill>
              <a:effectLst/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0675676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63288" y="1106317"/>
            <a:ext cx="9465424" cy="1091779"/>
          </a:xfrm>
        </p:spPr>
        <p:txBody>
          <a:bodyPr>
            <a:noAutofit/>
          </a:bodyPr>
          <a:lstStyle/>
          <a:p>
            <a:r>
              <a:rPr lang="en-US" sz="4800" dirty="0"/>
              <a:t>Type casting (</a:t>
            </a:r>
            <a:r>
              <a:rPr lang="ru-RU" sz="4800" dirty="0"/>
              <a:t>Приведение типов)</a:t>
            </a:r>
          </a:p>
        </p:txBody>
      </p:sp>
      <p:cxnSp>
        <p:nvCxnSpPr>
          <p:cNvPr id="5" name="Прямая со стрелкой 4">
            <a:extLst>
              <a:ext uri="{FF2B5EF4-FFF2-40B4-BE49-F238E27FC236}">
                <a16:creationId xmlns:a16="http://schemas.microsoft.com/office/drawing/2014/main" id="{565F0AC0-C3B4-4858-A9E9-AD1F7AFD2C7D}"/>
              </a:ext>
            </a:extLst>
          </p:cNvPr>
          <p:cNvCxnSpPr>
            <a:cxnSpLocks/>
            <a:stCxn id="3" idx="2"/>
            <a:endCxn id="7" idx="0"/>
          </p:cNvCxnSpPr>
          <p:nvPr/>
        </p:nvCxnSpPr>
        <p:spPr>
          <a:xfrm flipH="1">
            <a:off x="4534286" y="2198096"/>
            <a:ext cx="1561714" cy="626402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603F949E-4DF5-431E-8D20-F4176ECDBAB5}"/>
              </a:ext>
            </a:extLst>
          </p:cNvPr>
          <p:cNvSpPr txBox="1"/>
          <p:nvPr/>
        </p:nvSpPr>
        <p:spPr>
          <a:xfrm>
            <a:off x="3307027" y="2824498"/>
            <a:ext cx="2454518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/>
              <a:t>implicit (</a:t>
            </a:r>
            <a:r>
              <a:rPr lang="ru-RU" sz="2400" dirty="0"/>
              <a:t>неявное)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BBA8C0A8-4871-4718-AAFF-5D37C35FCFB5}"/>
              </a:ext>
            </a:extLst>
          </p:cNvPr>
          <p:cNvSpPr txBox="1"/>
          <p:nvPr/>
        </p:nvSpPr>
        <p:spPr>
          <a:xfrm>
            <a:off x="6522024" y="2812338"/>
            <a:ext cx="233450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dirty="0"/>
              <a:t>explicit (</a:t>
            </a:r>
            <a:r>
              <a:rPr lang="ru-RU" sz="2400" dirty="0"/>
              <a:t>явное)</a:t>
            </a:r>
          </a:p>
        </p:txBody>
      </p:sp>
      <p:cxnSp>
        <p:nvCxnSpPr>
          <p:cNvPr id="12" name="Прямая со стрелкой 11">
            <a:extLst>
              <a:ext uri="{FF2B5EF4-FFF2-40B4-BE49-F238E27FC236}">
                <a16:creationId xmlns:a16="http://schemas.microsoft.com/office/drawing/2014/main" id="{C01B7C5F-7E31-49CB-B635-981C1F32EA74}"/>
              </a:ext>
            </a:extLst>
          </p:cNvPr>
          <p:cNvCxnSpPr>
            <a:cxnSpLocks/>
            <a:stCxn id="3" idx="2"/>
            <a:endCxn id="10" idx="0"/>
          </p:cNvCxnSpPr>
          <p:nvPr/>
        </p:nvCxnSpPr>
        <p:spPr>
          <a:xfrm>
            <a:off x="6096000" y="2198096"/>
            <a:ext cx="1593274" cy="614242"/>
          </a:xfrm>
          <a:prstGeom prst="straightConnector1">
            <a:avLst/>
          </a:prstGeom>
          <a:ln w="3492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" name="TextBox 17">
            <a:extLst>
              <a:ext uri="{FF2B5EF4-FFF2-40B4-BE49-F238E27FC236}">
                <a16:creationId xmlns:a16="http://schemas.microsoft.com/office/drawing/2014/main" id="{350760D2-E79A-47C6-8AA5-2E6184750DE0}"/>
              </a:ext>
            </a:extLst>
          </p:cNvPr>
          <p:cNvSpPr txBox="1"/>
          <p:nvPr/>
        </p:nvSpPr>
        <p:spPr>
          <a:xfrm>
            <a:off x="2014538" y="3274003"/>
            <a:ext cx="3838575" cy="20313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y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x;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</a:t>
            </a:r>
            <a:endParaRPr lang="ru-RU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x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y;</a:t>
            </a:r>
          </a:p>
          <a:p>
            <a:endParaRPr lang="en-US" dirty="0">
              <a:solidFill>
                <a:srgbClr val="9CDCFE"/>
              </a:solidFill>
              <a:latin typeface="Consolas" panose="020B0609020204030204" pitchFamily="49" charset="0"/>
            </a:endParaRPr>
          </a:p>
          <a:p>
            <a:r>
              <a:rPr lang="pl-PL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pl-PL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z = x / </a:t>
            </a:r>
            <a:r>
              <a:rPr lang="pl-PL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pl-PL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pl-PL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z = 2.0</a:t>
            </a:r>
            <a:b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   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FDD3AF3A-4079-4860-8A16-DD73C0AD8BEB}"/>
              </a:ext>
            </a:extLst>
          </p:cNvPr>
          <p:cNvSpPr txBox="1"/>
          <p:nvPr/>
        </p:nvSpPr>
        <p:spPr>
          <a:xfrm>
            <a:off x="6638080" y="3274003"/>
            <a:ext cx="4780588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12.3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;</a:t>
            </a:r>
          </a:p>
          <a:p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b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 a;</a:t>
            </a:r>
            <a:endParaRPr lang="ru-RU" dirty="0">
              <a:solidFill>
                <a:srgbClr val="D4D4D4"/>
              </a:solidFill>
              <a:latin typeface="Consolas" panose="020B0609020204030204" pitchFamily="49" charset="0"/>
            </a:endParaRPr>
          </a:p>
          <a:p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a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=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en-US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  <a:t>) </a:t>
            </a:r>
            <a:r>
              <a:rPr lang="en-US" dirty="0">
                <a:solidFill>
                  <a:srgbClr val="D4D4D4"/>
                </a:solidFill>
                <a:latin typeface="Consolas" panose="020B0609020204030204" pitchFamily="49" charset="0"/>
              </a:rPr>
              <a:t>b;</a:t>
            </a:r>
          </a:p>
          <a:p>
            <a:endParaRPr lang="en-US" dirty="0">
              <a:solidFill>
                <a:srgbClr val="9CDCFE"/>
              </a:solidFill>
              <a:latin typeface="Consolas" panose="020B0609020204030204" pitchFamily="49" charset="0"/>
            </a:endParaRPr>
          </a:p>
          <a:p>
            <a:r>
              <a:rPr lang="fr-F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c = (</a:t>
            </a:r>
            <a:r>
              <a:rPr lang="fr-FR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double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)a / </a:t>
            </a:r>
            <a:r>
              <a:rPr lang="fr-FR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fr-FR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r>
              <a:rPr lang="fr-FR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c = 2.5</a:t>
            </a:r>
            <a:endParaRPr lang="fr-FR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29207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>
            <a:extLst>
              <a:ext uri="{FF2B5EF4-FFF2-40B4-BE49-F238E27FC236}">
                <a16:creationId xmlns:a16="http://schemas.microsoft.com/office/drawing/2014/main" id="{7CDAA855-3F1A-414C-A436-DE0E28B35FC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289061" y="876299"/>
            <a:ext cx="4902939" cy="54582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Заголовок 2">
            <a:extLst>
              <a:ext uri="{FF2B5EF4-FFF2-40B4-BE49-F238E27FC236}">
                <a16:creationId xmlns:a16="http://schemas.microsoft.com/office/drawing/2014/main" id="{A813CAB2-2AD3-CBC2-8DE8-2FF5AB76B7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886596" y="330410"/>
            <a:ext cx="6418807" cy="1091779"/>
          </a:xfrm>
        </p:spPr>
        <p:txBody>
          <a:bodyPr>
            <a:normAutofit/>
          </a:bodyPr>
          <a:lstStyle/>
          <a:p>
            <a:r>
              <a:rPr lang="en-US" dirty="0"/>
              <a:t>Conditions</a:t>
            </a:r>
            <a:endParaRPr lang="ru-RU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BDC974B-0D2D-4DD4-9A22-FF1563E9CF6F}"/>
              </a:ext>
            </a:extLst>
          </p:cNvPr>
          <p:cNvSpPr txBox="1"/>
          <p:nvPr/>
        </p:nvSpPr>
        <p:spPr>
          <a:xfrm>
            <a:off x="622300" y="1809749"/>
            <a:ext cx="6972300" cy="3416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 программировании </a:t>
            </a:r>
            <a:r>
              <a:rPr lang="ru-RU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условия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позволяют контролировать ход выполнения программы на основе этих условий</a:t>
            </a:r>
          </a:p>
          <a:p>
            <a:endParaRPr lang="ru-RU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ru-RU" sz="2400" dirty="0"/>
              <a:t>Чаще всего можно встретить следующие типы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условий</a:t>
            </a:r>
            <a:endParaRPr lang="ru-RU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 err="1"/>
              <a:t>if</a:t>
            </a:r>
            <a:r>
              <a:rPr lang="ru-RU" sz="2400" dirty="0"/>
              <a:t>, </a:t>
            </a:r>
            <a:r>
              <a:rPr lang="ru-RU" sz="2400" dirty="0" err="1"/>
              <a:t>if-else</a:t>
            </a:r>
            <a:r>
              <a:rPr lang="ru-RU" sz="2400" dirty="0"/>
              <a:t> и прочие</a:t>
            </a:r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 err="1"/>
              <a:t>switch-case</a:t>
            </a:r>
            <a:endParaRPr lang="ru-RU" sz="2400" dirty="0"/>
          </a:p>
          <a:p>
            <a:pPr marL="457200" indent="-457200">
              <a:buFont typeface="Arial" panose="020B0604020202020204" pitchFamily="34" charset="0"/>
              <a:buChar char="•"/>
            </a:pPr>
            <a:r>
              <a:rPr lang="ru-RU" sz="2400" dirty="0" err="1"/>
              <a:t>ternary</a:t>
            </a:r>
            <a:r>
              <a:rPr lang="ru-RU" sz="2400" dirty="0"/>
              <a:t> </a:t>
            </a:r>
            <a:r>
              <a:rPr lang="ru-RU" sz="2400" dirty="0" err="1"/>
              <a:t>operator</a:t>
            </a:r>
            <a:r>
              <a:rPr lang="ru-RU" sz="2400" dirty="0"/>
              <a:t> (тернарный оператор)</a:t>
            </a:r>
          </a:p>
        </p:txBody>
      </p:sp>
    </p:spTree>
    <p:extLst>
      <p:ext uri="{BB962C8B-B14F-4D97-AF65-F5344CB8AC3E}">
        <p14:creationId xmlns:p14="http://schemas.microsoft.com/office/powerpoint/2010/main" val="258269343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C26B5A0-004A-47C5-B036-8D55CC13A9E7}"/>
              </a:ext>
            </a:extLst>
          </p:cNvPr>
          <p:cNvSpPr txBox="1">
            <a:spLocks/>
          </p:cNvSpPr>
          <p:nvPr/>
        </p:nvSpPr>
        <p:spPr>
          <a:xfrm>
            <a:off x="1589314" y="15562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If statement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18E68F6-8ACF-47C6-AE47-82DF08B6DE79}"/>
              </a:ext>
            </a:extLst>
          </p:cNvPr>
          <p:cNvSpPr txBox="1"/>
          <p:nvPr/>
        </p:nvSpPr>
        <p:spPr>
          <a:xfrm>
            <a:off x="6778870" y="4172410"/>
            <a:ext cx="4695092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&gt;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 &gt; 5!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after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C0836A62-86AA-4130-AA3F-FD1BAD8CCA90}"/>
              </a:ext>
            </a:extLst>
          </p:cNvPr>
          <p:cNvSpPr txBox="1"/>
          <p:nvPr/>
        </p:nvSpPr>
        <p:spPr>
          <a:xfrm>
            <a:off x="1061672" y="2255048"/>
            <a:ext cx="5717198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(condition)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if condition is true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after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42488195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44048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If-else</a:t>
            </a:r>
            <a:endParaRPr lang="ru-RU" dirty="0"/>
          </a:p>
        </p:txBody>
      </p:sp>
      <p:graphicFrame>
        <p:nvGraphicFramePr>
          <p:cNvPr id="3" name="Таблица 3">
            <a:extLst>
              <a:ext uri="{FF2B5EF4-FFF2-40B4-BE49-F238E27FC236}">
                <a16:creationId xmlns:a16="http://schemas.microsoft.com/office/drawing/2014/main" id="{7ADA51D2-8515-4986-889A-2CC9110209D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99932119"/>
              </p:ext>
            </p:extLst>
          </p:nvPr>
        </p:nvGraphicFramePr>
        <p:xfrm>
          <a:off x="2717798" y="2107670"/>
          <a:ext cx="8158748" cy="329184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4079374">
                  <a:extLst>
                    <a:ext uri="{9D8B030D-6E8A-4147-A177-3AD203B41FA5}">
                      <a16:colId xmlns:a16="http://schemas.microsoft.com/office/drawing/2014/main" val="3801352832"/>
                    </a:ext>
                  </a:extLst>
                </a:gridCol>
                <a:gridCol w="4079374">
                  <a:extLst>
                    <a:ext uri="{9D8B030D-6E8A-4147-A177-3AD203B41FA5}">
                      <a16:colId xmlns:a16="http://schemas.microsoft.com/office/drawing/2014/main" val="338980184"/>
                    </a:ext>
                  </a:extLst>
                </a:gridCol>
              </a:tblGrid>
              <a:tr h="373204"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 is true (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истина)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Expression is false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(ложь)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381553"/>
                  </a:ext>
                </a:extLst>
              </a:tr>
              <a:tr h="1279607"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doorCode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= 555;</a:t>
                      </a:r>
                    </a:p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if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doorCode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== 555)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// body of if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}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else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// body of else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}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int 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doorCode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= 123;</a:t>
                      </a:r>
                    </a:p>
                    <a:p>
                      <a:endParaRPr lang="en-US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if (</a:t>
                      </a:r>
                      <a:r>
                        <a:rPr lang="en-US" dirty="0" err="1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doorCode</a:t>
                      </a:r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== 555)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 // body of if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}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else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{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   // body of else</a:t>
                      </a:r>
                    </a:p>
                    <a:p>
                      <a:r>
                        <a:rPr lang="en-US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}</a:t>
                      </a:r>
                      <a:endParaRPr lang="ru-RU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620712219"/>
                  </a:ext>
                </a:extLst>
              </a:tr>
            </a:tbl>
          </a:graphicData>
        </a:graphic>
      </p:graphicFrame>
      <p:grpSp>
        <p:nvGrpSpPr>
          <p:cNvPr id="32" name="Группа 31">
            <a:extLst>
              <a:ext uri="{FF2B5EF4-FFF2-40B4-BE49-F238E27FC236}">
                <a16:creationId xmlns:a16="http://schemas.microsoft.com/office/drawing/2014/main" id="{D03A6B0B-4FF1-4FE1-941B-49A5373632B2}"/>
              </a:ext>
            </a:extLst>
          </p:cNvPr>
          <p:cNvGrpSpPr/>
          <p:nvPr/>
        </p:nvGrpSpPr>
        <p:grpSpPr>
          <a:xfrm>
            <a:off x="2378071" y="4148139"/>
            <a:ext cx="323850" cy="1476375"/>
            <a:chOff x="1708149" y="4486275"/>
            <a:chExt cx="323850" cy="1476375"/>
          </a:xfrm>
        </p:grpSpPr>
        <p:cxnSp>
          <p:nvCxnSpPr>
            <p:cNvPr id="14" name="Прямая со стрелкой 13">
              <a:extLst>
                <a:ext uri="{FF2B5EF4-FFF2-40B4-BE49-F238E27FC236}">
                  <a16:creationId xmlns:a16="http://schemas.microsoft.com/office/drawing/2014/main" id="{B3E97A39-0559-4201-B7B6-0172600AC34F}"/>
                </a:ext>
              </a:extLst>
            </p:cNvPr>
            <p:cNvCxnSpPr>
              <a:cxnSpLocks/>
            </p:cNvCxnSpPr>
            <p:nvPr/>
          </p:nvCxnSpPr>
          <p:spPr>
            <a:xfrm>
              <a:off x="1708149" y="5962650"/>
              <a:ext cx="32385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5" name="Прямая соединительная линия 14">
              <a:extLst>
                <a:ext uri="{FF2B5EF4-FFF2-40B4-BE49-F238E27FC236}">
                  <a16:creationId xmlns:a16="http://schemas.microsoft.com/office/drawing/2014/main" id="{786C836B-A931-4EBB-9883-CD9BEBFADD9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08150" y="4486275"/>
              <a:ext cx="32384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" name="Прямая соединительная линия 16">
              <a:extLst>
                <a:ext uri="{FF2B5EF4-FFF2-40B4-BE49-F238E27FC236}">
                  <a16:creationId xmlns:a16="http://schemas.microsoft.com/office/drawing/2014/main" id="{CC92B68A-9577-46F4-B4EE-DC9AE70A56B4}"/>
                </a:ext>
              </a:extLst>
            </p:cNvPr>
            <p:cNvCxnSpPr/>
            <p:nvPr/>
          </p:nvCxnSpPr>
          <p:spPr>
            <a:xfrm flipV="1">
              <a:off x="1708149" y="4486275"/>
              <a:ext cx="0" cy="1476375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3" name="Группа 32">
            <a:extLst>
              <a:ext uri="{FF2B5EF4-FFF2-40B4-BE49-F238E27FC236}">
                <a16:creationId xmlns:a16="http://schemas.microsoft.com/office/drawing/2014/main" id="{9D39193B-7728-416D-ABD5-B3CF8EAB0462}"/>
              </a:ext>
            </a:extLst>
          </p:cNvPr>
          <p:cNvGrpSpPr/>
          <p:nvPr/>
        </p:nvGrpSpPr>
        <p:grpSpPr>
          <a:xfrm>
            <a:off x="2378072" y="3286125"/>
            <a:ext cx="323850" cy="335880"/>
            <a:chOff x="1708149" y="3695700"/>
            <a:chExt cx="323850" cy="504826"/>
          </a:xfrm>
        </p:grpSpPr>
        <p:cxnSp>
          <p:nvCxnSpPr>
            <p:cNvPr id="13" name="Прямая со стрелкой 12">
              <a:extLst>
                <a:ext uri="{FF2B5EF4-FFF2-40B4-BE49-F238E27FC236}">
                  <a16:creationId xmlns:a16="http://schemas.microsoft.com/office/drawing/2014/main" id="{A599A7E3-F5EF-4725-BCA2-F399B7967949}"/>
                </a:ext>
              </a:extLst>
            </p:cNvPr>
            <p:cNvCxnSpPr>
              <a:cxnSpLocks/>
            </p:cNvCxnSpPr>
            <p:nvPr/>
          </p:nvCxnSpPr>
          <p:spPr>
            <a:xfrm>
              <a:off x="1708149" y="4200525"/>
              <a:ext cx="32385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Прямая соединительная линия 19">
              <a:extLst>
                <a:ext uri="{FF2B5EF4-FFF2-40B4-BE49-F238E27FC236}">
                  <a16:creationId xmlns:a16="http://schemas.microsoft.com/office/drawing/2014/main" id="{6478B19B-518B-4D12-81D7-C41D3CC3EDC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708149" y="3695700"/>
              <a:ext cx="32384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Прямая соединительная линия 20">
              <a:extLst>
                <a:ext uri="{FF2B5EF4-FFF2-40B4-BE49-F238E27FC236}">
                  <a16:creationId xmlns:a16="http://schemas.microsoft.com/office/drawing/2014/main" id="{46C39B3F-8A28-492A-B01A-522D86EFC70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708149" y="3695700"/>
              <a:ext cx="0" cy="50482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1" name="Группа 30">
            <a:extLst>
              <a:ext uri="{FF2B5EF4-FFF2-40B4-BE49-F238E27FC236}">
                <a16:creationId xmlns:a16="http://schemas.microsoft.com/office/drawing/2014/main" id="{A81304DF-ACF2-42A8-8245-C8EBAC131D9F}"/>
              </a:ext>
            </a:extLst>
          </p:cNvPr>
          <p:cNvGrpSpPr/>
          <p:nvPr/>
        </p:nvGrpSpPr>
        <p:grpSpPr>
          <a:xfrm>
            <a:off x="6534149" y="5231653"/>
            <a:ext cx="323850" cy="428627"/>
            <a:chOff x="5867400" y="5686425"/>
            <a:chExt cx="323850" cy="428627"/>
          </a:xfrm>
        </p:grpSpPr>
        <p:cxnSp>
          <p:nvCxnSpPr>
            <p:cNvPr id="12" name="Прямая со стрелкой 11">
              <a:extLst>
                <a:ext uri="{FF2B5EF4-FFF2-40B4-BE49-F238E27FC236}">
                  <a16:creationId xmlns:a16="http://schemas.microsoft.com/office/drawing/2014/main" id="{0EA72912-DC3F-40FB-985D-55C83FA7E4B4}"/>
                </a:ext>
              </a:extLst>
            </p:cNvPr>
            <p:cNvCxnSpPr>
              <a:cxnSpLocks/>
            </p:cNvCxnSpPr>
            <p:nvPr/>
          </p:nvCxnSpPr>
          <p:spPr>
            <a:xfrm>
              <a:off x="5867400" y="6115050"/>
              <a:ext cx="32385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Прямая соединительная линия 22">
              <a:extLst>
                <a:ext uri="{FF2B5EF4-FFF2-40B4-BE49-F238E27FC236}">
                  <a16:creationId xmlns:a16="http://schemas.microsoft.com/office/drawing/2014/main" id="{031EB678-5655-42D9-B4D6-5BF5A35162E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7400" y="5686425"/>
              <a:ext cx="0" cy="428627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Прямая соединительная линия 25">
              <a:extLst>
                <a:ext uri="{FF2B5EF4-FFF2-40B4-BE49-F238E27FC236}">
                  <a16:creationId xmlns:a16="http://schemas.microsoft.com/office/drawing/2014/main" id="{04392C45-56CE-4AC1-B81E-A6574BC7583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7400" y="5686425"/>
              <a:ext cx="32384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30" name="Группа 29">
            <a:extLst>
              <a:ext uri="{FF2B5EF4-FFF2-40B4-BE49-F238E27FC236}">
                <a16:creationId xmlns:a16="http://schemas.microsoft.com/office/drawing/2014/main" id="{A9586272-B614-42BB-B1D2-6A20F760CFD9}"/>
              </a:ext>
            </a:extLst>
          </p:cNvPr>
          <p:cNvGrpSpPr/>
          <p:nvPr/>
        </p:nvGrpSpPr>
        <p:grpSpPr>
          <a:xfrm>
            <a:off x="6527798" y="3305175"/>
            <a:ext cx="330201" cy="1371600"/>
            <a:chOff x="5861049" y="3771900"/>
            <a:chExt cx="330201" cy="1247776"/>
          </a:xfrm>
        </p:grpSpPr>
        <p:cxnSp>
          <p:nvCxnSpPr>
            <p:cNvPr id="7" name="Прямая со стрелкой 6">
              <a:extLst>
                <a:ext uri="{FF2B5EF4-FFF2-40B4-BE49-F238E27FC236}">
                  <a16:creationId xmlns:a16="http://schemas.microsoft.com/office/drawing/2014/main" id="{8C37BF57-DE80-415D-98EF-D0BFAE609CFF}"/>
                </a:ext>
              </a:extLst>
            </p:cNvPr>
            <p:cNvCxnSpPr>
              <a:cxnSpLocks/>
            </p:cNvCxnSpPr>
            <p:nvPr/>
          </p:nvCxnSpPr>
          <p:spPr>
            <a:xfrm>
              <a:off x="5867400" y="5019675"/>
              <a:ext cx="323850" cy="0"/>
            </a:xfrm>
            <a:prstGeom prst="straightConnector1">
              <a:avLst/>
            </a:prstGeom>
            <a:ln>
              <a:solidFill>
                <a:schemeClr val="tx1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Прямая соединительная линия 27">
              <a:extLst>
                <a:ext uri="{FF2B5EF4-FFF2-40B4-BE49-F238E27FC236}">
                  <a16:creationId xmlns:a16="http://schemas.microsoft.com/office/drawing/2014/main" id="{4EF0266C-0FBB-4B86-87BF-F40FDACF2E2C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5861049" y="3771900"/>
              <a:ext cx="0" cy="1247776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Прямая соединительная линия 28">
              <a:extLst>
                <a:ext uri="{FF2B5EF4-FFF2-40B4-BE49-F238E27FC236}">
                  <a16:creationId xmlns:a16="http://schemas.microsoft.com/office/drawing/2014/main" id="{9AA9B6D1-89D5-40C7-AB62-C91F0A639B1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5861049" y="3771900"/>
              <a:ext cx="323849" cy="0"/>
            </a:xfrm>
            <a:prstGeom prst="line">
              <a:avLst/>
            </a:prstGeom>
            <a:ln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0923930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C26B5A0-004A-47C5-B036-8D55CC13A9E7}"/>
              </a:ext>
            </a:extLst>
          </p:cNvPr>
          <p:cNvSpPr txBox="1">
            <a:spLocks/>
          </p:cNvSpPr>
          <p:nvPr/>
        </p:nvSpPr>
        <p:spPr>
          <a:xfrm>
            <a:off x="1589314" y="15562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If-else-if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401CBB9-A224-4A2A-A2B6-0489A2775889}"/>
              </a:ext>
            </a:extLst>
          </p:cNvPr>
          <p:cNvSpPr txBox="1"/>
          <p:nvPr/>
        </p:nvSpPr>
        <p:spPr>
          <a:xfrm>
            <a:off x="2035491" y="2134105"/>
            <a:ext cx="8877153" cy="30469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(c ==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'y'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for condition1 is true (c = 'y')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(c == 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'n'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for condition2 (c != 'y' and c = 'n')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for else (c != 'y' and c != 'n')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code after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457080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EC26B5A0-004A-47C5-B036-8D55CC13A9E7}"/>
              </a:ext>
            </a:extLst>
          </p:cNvPr>
          <p:cNvSpPr txBox="1">
            <a:spLocks/>
          </p:cNvSpPr>
          <p:nvPr/>
        </p:nvSpPr>
        <p:spPr>
          <a:xfrm>
            <a:off x="1589313" y="233059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True and False (1 and 0)</a:t>
            </a:r>
            <a:endParaRPr lang="ru-RU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BD665F7-802F-4589-9608-1341F83F5351}"/>
              </a:ext>
            </a:extLst>
          </p:cNvPr>
          <p:cNvSpPr txBox="1"/>
          <p:nvPr/>
        </p:nvSpPr>
        <p:spPr>
          <a:xfrm>
            <a:off x="1589313" y="2148888"/>
            <a:ext cx="25230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(1)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?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 else {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?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F35C12E-845B-495C-86BD-1BAADF455157}"/>
              </a:ext>
            </a:extLst>
          </p:cNvPr>
          <p:cNvSpPr txBox="1"/>
          <p:nvPr/>
        </p:nvSpPr>
        <p:spPr>
          <a:xfrm>
            <a:off x="5105501" y="2075313"/>
            <a:ext cx="25230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(0)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?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 else {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?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11E008-20F7-4185-8EE2-6F4AAADDF85F}"/>
              </a:ext>
            </a:extLst>
          </p:cNvPr>
          <p:cNvSpPr txBox="1"/>
          <p:nvPr/>
        </p:nvSpPr>
        <p:spPr>
          <a:xfrm>
            <a:off x="8621690" y="1997839"/>
            <a:ext cx="2523040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 (-1)</a:t>
            </a:r>
            <a:r>
              <a:rPr lang="ru-RU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{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?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 else {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	// ?</a:t>
            </a:r>
          </a:p>
          <a:p>
            <a:r>
              <a:rPr lang="en-US" sz="3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}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9AE73912-4570-4820-B410-92D3EA7B5752}"/>
              </a:ext>
            </a:extLst>
          </p:cNvPr>
          <p:cNvSpPr txBox="1"/>
          <p:nvPr/>
        </p:nvSpPr>
        <p:spPr>
          <a:xfrm>
            <a:off x="1594241" y="5688595"/>
            <a:ext cx="609746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1 == истина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0 ==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ложь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-1 = ?</a:t>
            </a:r>
          </a:p>
        </p:txBody>
      </p:sp>
    </p:spTree>
    <p:extLst>
      <p:ext uri="{BB962C8B-B14F-4D97-AF65-F5344CB8AC3E}">
        <p14:creationId xmlns:p14="http://schemas.microsoft.com/office/powerpoint/2010/main" val="2784522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57961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Operators</a:t>
            </a:r>
            <a:endParaRPr lang="ru-RU" dirty="0"/>
          </a:p>
        </p:txBody>
      </p:sp>
      <p:graphicFrame>
        <p:nvGraphicFramePr>
          <p:cNvPr id="2" name="Таблица 2">
            <a:extLst>
              <a:ext uri="{FF2B5EF4-FFF2-40B4-BE49-F238E27FC236}">
                <a16:creationId xmlns:a16="http://schemas.microsoft.com/office/drawing/2014/main" id="{E254EB63-E563-4283-9B96-057DE566EB1D}"/>
              </a:ext>
            </a:extLst>
          </p:cNvPr>
          <p:cNvGraphicFramePr>
            <a:graphicFrameLocks noGrp="1"/>
          </p:cNvGraphicFramePr>
          <p:nvPr/>
        </p:nvGraphicFramePr>
        <p:xfrm>
          <a:off x="2625333" y="2240641"/>
          <a:ext cx="8078251" cy="3325048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505232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6573019">
                  <a:extLst>
                    <a:ext uri="{9D8B030D-6E8A-4147-A177-3AD203B41FA5}">
                      <a16:colId xmlns:a16="http://schemas.microsoft.com/office/drawing/2014/main" val="3822017701"/>
                    </a:ext>
                  </a:extLst>
                </a:gridCol>
              </a:tblGrid>
              <a:tr h="398180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&amp;&amp;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 (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AND)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40748124"/>
                  </a:ext>
                </a:extLst>
              </a:tr>
              <a:tr h="488894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||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ИЛИ (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OR)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3282311"/>
                  </a:ext>
                </a:extLst>
              </a:tr>
              <a:tr h="488894">
                <a:tc>
                  <a:txBody>
                    <a:bodyPr/>
                    <a:lstStyle/>
                    <a:p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!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 (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NOT)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642808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32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==, !=</a:t>
                      </a:r>
                      <a:endParaRPr lang="ru-RU" sz="32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Равно (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EQUAL),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Не равно 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(NOT EQUAL)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797670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&gt;, &lt;</a:t>
                      </a:r>
                    </a:p>
                    <a:p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&gt;=, &lt;=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Больше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Меньше</a:t>
                      </a:r>
                      <a:b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Больше либо равно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,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Меньше либо равно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588788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951791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34505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Operators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9F4EF9B-3D1F-45EF-8D6F-32A1896C5545}"/>
              </a:ext>
            </a:extLst>
          </p:cNvPr>
          <p:cNvSpPr txBox="1"/>
          <p:nvPr/>
        </p:nvSpPr>
        <p:spPr>
          <a:xfrm>
            <a:off x="1140802" y="2037281"/>
            <a:ext cx="9831997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Операторы &amp;&amp; (И) и || (ИЛИ) позволяют проверять несколько условий внутри одного блока. Вариант слева заменяем на вариант справа.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9557E6B-0A94-40B7-BDB1-2BD5E2BF2CF5}"/>
              </a:ext>
            </a:extLst>
          </p:cNvPr>
          <p:cNvSpPr txBox="1"/>
          <p:nvPr/>
        </p:nvSpPr>
        <p:spPr>
          <a:xfrm>
            <a:off x="1589314" y="3305906"/>
            <a:ext cx="3580667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'y’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endParaRPr lang="ru-RU" sz="20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31ABF05B-D62D-4403-A927-D24837EC0622}"/>
              </a:ext>
            </a:extLst>
          </p:cNvPr>
          <p:cNvSpPr txBox="1"/>
          <p:nvPr/>
        </p:nvSpPr>
        <p:spPr>
          <a:xfrm>
            <a:off x="6095999" y="3305906"/>
            <a:ext cx="4045562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|| 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'Y'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0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34D9720F-580B-495A-9DD0-6DD1D265B78B}"/>
              </a:ext>
            </a:extLst>
          </p:cNvPr>
          <p:cNvSpPr txBox="1"/>
          <p:nvPr/>
        </p:nvSpPr>
        <p:spPr>
          <a:xfrm>
            <a:off x="801931" y="5589620"/>
            <a:ext cx="10588136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b="1" dirty="0"/>
              <a:t>Важно</a:t>
            </a:r>
            <a:r>
              <a:rPr lang="ru-RU" dirty="0"/>
              <a:t>: ставить ровно две палки `||` или ровно два амперсанда `&amp;&amp;`, т.к. в Си одна палка `|` и один амперсанд `&amp;` - это не</a:t>
            </a:r>
            <a:r>
              <a:rPr lang="ru-RU" b="1" dirty="0"/>
              <a:t> логические операторы</a:t>
            </a: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82552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C9C83711-8CB1-4EDD-AC80-01C8BF2DAF0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12566" y="113640"/>
            <a:ext cx="5072576" cy="6199815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1294E16C-7EFD-453E-8349-7A31AF4D03AE}"/>
              </a:ext>
            </a:extLst>
          </p:cNvPr>
          <p:cNvSpPr txBox="1"/>
          <p:nvPr/>
        </p:nvSpPr>
        <p:spPr>
          <a:xfrm>
            <a:off x="1324528" y="6375028"/>
            <a:ext cx="443763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https://pvs-studio.com/en/blog/terms/0064/</a:t>
            </a:r>
            <a:endParaRPr lang="ru-RU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FE2E1094-BF6D-4D6B-8CDB-8C47EF672EF7}"/>
              </a:ext>
            </a:extLst>
          </p:cNvPr>
          <p:cNvSpPr txBox="1"/>
          <p:nvPr/>
        </p:nvSpPr>
        <p:spPr>
          <a:xfrm>
            <a:off x="7026520" y="980274"/>
            <a:ext cx="4596910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Если не знаете (или не уверены) в каком порядке будут выполнены действия - используйте `()` для обозначения задуманного вами порядка действий. </a:t>
            </a:r>
            <a:r>
              <a:rPr lang="ru-RU" sz="2400" b="1" dirty="0"/>
              <a:t>Лишняя пара скобок хуже не сделает</a:t>
            </a:r>
          </a:p>
        </p:txBody>
      </p:sp>
    </p:spTree>
    <p:extLst>
      <p:ext uri="{BB962C8B-B14F-4D97-AF65-F5344CB8AC3E}">
        <p14:creationId xmlns:p14="http://schemas.microsoft.com/office/powerpoint/2010/main" val="1486967085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BF9AC4A-D22B-4E46-8EDB-01256CC5470B}"/>
              </a:ext>
            </a:extLst>
          </p:cNvPr>
          <p:cNvSpPr txBox="1">
            <a:spLocks/>
          </p:cNvSpPr>
          <p:nvPr/>
        </p:nvSpPr>
        <p:spPr>
          <a:xfrm>
            <a:off x="1589314" y="34505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is even?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C37E650-6184-4AD9-A37C-505EF778C6F1}"/>
              </a:ext>
            </a:extLst>
          </p:cNvPr>
          <p:cNvSpPr txBox="1"/>
          <p:nvPr/>
        </p:nvSpPr>
        <p:spPr>
          <a:xfrm>
            <a:off x="2727444" y="2090172"/>
            <a:ext cx="6737105" cy="26776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0" dirty="0">
                <a:solidFill>
                  <a:srgbClr val="569CD6"/>
                </a:solidFill>
                <a:effectLst/>
                <a:latin typeface="Consolas" panose="020B0609020204030204" pitchFamily="49" charset="0"/>
              </a:rPr>
              <a:t>int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number 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en-US" sz="2400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(number %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</a:t>
            </a:r>
            <a:r>
              <a:rPr lang="en-US" sz="24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0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is even.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number);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</a:t>
            </a:r>
            <a:r>
              <a:rPr lang="en-US" sz="2400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9CDCFE"/>
                </a:solidFill>
                <a:effectLst/>
                <a:latin typeface="Consolas" panose="020B0609020204030204" pitchFamily="49" charset="0"/>
              </a:rPr>
              <a:t>%d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 is odd.</a:t>
            </a:r>
            <a:r>
              <a:rPr lang="en-US" sz="2400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sz="24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, number);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303034D-C295-4006-A5E0-97AE7521DE42}"/>
              </a:ext>
            </a:extLst>
          </p:cNvPr>
          <p:cNvSpPr txBox="1"/>
          <p:nvPr/>
        </p:nvSpPr>
        <p:spPr>
          <a:xfrm>
            <a:off x="1990905" y="5394400"/>
            <a:ext cx="821018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Символ </a:t>
            </a:r>
            <a:r>
              <a:rPr lang="ru-RU" b="1" dirty="0"/>
              <a:t>%</a:t>
            </a:r>
            <a:r>
              <a:rPr lang="ru-RU" dirty="0"/>
              <a:t> - арифметический оператор, дающий остаток от деления целых чисел</a:t>
            </a:r>
          </a:p>
          <a:p>
            <a:r>
              <a:rPr lang="ru-RU" dirty="0"/>
              <a:t>(1 % 2 = 1, 2 % 2 = 0, 3 % 2 = 1, 4 % 2 = 0 и т.д..) </a:t>
            </a:r>
          </a:p>
        </p:txBody>
      </p:sp>
    </p:spTree>
    <p:extLst>
      <p:ext uri="{BB962C8B-B14F-4D97-AF65-F5344CB8AC3E}">
        <p14:creationId xmlns:p14="http://schemas.microsoft.com/office/powerpoint/2010/main" val="105795519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>
            <a:extLst>
              <a:ext uri="{FF2B5EF4-FFF2-40B4-BE49-F238E27FC236}">
                <a16:creationId xmlns:a16="http://schemas.microsoft.com/office/drawing/2014/main" id="{0BF9AC4A-D22B-4E46-8EDB-01256CC5470B}"/>
              </a:ext>
            </a:extLst>
          </p:cNvPr>
          <p:cNvSpPr txBox="1">
            <a:spLocks/>
          </p:cNvSpPr>
          <p:nvPr/>
        </p:nvSpPr>
        <p:spPr>
          <a:xfrm>
            <a:off x="1589314" y="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ru-RU" dirty="0"/>
              <a:t>Так не надо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77DE2786-AFF3-4CA7-BCE5-07ED29D057C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b="24322"/>
          <a:stretch/>
        </p:blipFill>
        <p:spPr>
          <a:xfrm>
            <a:off x="3110279" y="1310420"/>
            <a:ext cx="6534150" cy="49233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0544583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544566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error (=)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CF885-CAE3-41FA-82B3-6A1979A7A6C1}"/>
              </a:ext>
            </a:extLst>
          </p:cNvPr>
          <p:cNvSpPr txBox="1"/>
          <p:nvPr/>
        </p:nvSpPr>
        <p:spPr>
          <a:xfrm>
            <a:off x="3449322" y="2362118"/>
            <a:ext cx="4275529" cy="132343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sz="2000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bad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 </a:t>
            </a:r>
            <a:r>
              <a:rPr lang="ru-RU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Условие всегда истинно</a:t>
            </a: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6AE600B-FF98-4776-ACF0-12C47C784F7E}"/>
              </a:ext>
            </a:extLst>
          </p:cNvPr>
          <p:cNvSpPr txBox="1"/>
          <p:nvPr/>
        </p:nvSpPr>
        <p:spPr>
          <a:xfrm>
            <a:off x="3449322" y="4330975"/>
            <a:ext cx="4931018" cy="132343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not bad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</a:t>
            </a:r>
            <a:r>
              <a:rPr lang="ru-RU" sz="2000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6</a:t>
            </a:r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== a) {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6 ==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a </a:t>
            </a:r>
            <a:r>
              <a:rPr lang="ru-RU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оберегает от ошибок</a:t>
            </a:r>
            <a:endParaRPr lang="en-US" sz="2000" b="0" dirty="0">
              <a:solidFill>
                <a:srgbClr val="6A9955"/>
              </a:solidFill>
              <a:effectLst/>
              <a:latin typeface="Consolas" panose="020B0609020204030204" pitchFamily="49" charset="0"/>
            </a:endParaRPr>
          </a:p>
          <a:p>
            <a:r>
              <a:rPr lang="ru-RU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ru-RU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54536036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291057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error (!= || !=)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CF885-CAE3-41FA-82B3-6A1979A7A6C1}"/>
              </a:ext>
            </a:extLst>
          </p:cNvPr>
          <p:cNvSpPr txBox="1"/>
          <p:nvPr/>
        </p:nvSpPr>
        <p:spPr>
          <a:xfrm>
            <a:off x="1256037" y="2226658"/>
            <a:ext cx="511229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любых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всегда истина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ru-RU" sz="2400" b="0" dirty="0">
              <a:solidFill>
                <a:srgbClr val="C586C0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(var != s1 || var != s2)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7" name="Таблица 2">
            <a:extLst>
              <a:ext uri="{FF2B5EF4-FFF2-40B4-BE49-F238E27FC236}">
                <a16:creationId xmlns:a16="http://schemas.microsoft.com/office/drawing/2014/main" id="{8DD34CA0-0E85-41CE-B392-A5EF89FC5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08707676"/>
              </p:ext>
            </p:extLst>
          </p:nvPr>
        </p:nvGraphicFramePr>
        <p:xfrm>
          <a:off x="6195485" y="4123593"/>
          <a:ext cx="5357606" cy="203771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06311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1472493">
                  <a:extLst>
                    <a:ext uri="{9D8B030D-6E8A-4147-A177-3AD203B41FA5}">
                      <a16:colId xmlns:a16="http://schemas.microsoft.com/office/drawing/2014/main" val="2740136529"/>
                    </a:ext>
                  </a:extLst>
                </a:gridCol>
                <a:gridCol w="1403919">
                  <a:extLst>
                    <a:ext uri="{9D8B030D-6E8A-4147-A177-3AD203B41FA5}">
                      <a16:colId xmlns:a16="http://schemas.microsoft.com/office/drawing/2014/main" val="2813667351"/>
                    </a:ext>
                  </a:extLst>
                </a:gridCol>
                <a:gridCol w="1274883">
                  <a:extLst>
                    <a:ext uri="{9D8B030D-6E8A-4147-A177-3AD203B41FA5}">
                      <a16:colId xmlns:a16="http://schemas.microsoft.com/office/drawing/2014/main" val="1863206875"/>
                    </a:ext>
                  </a:extLst>
                </a:gridCol>
              </a:tblGrid>
              <a:tr h="457319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!= 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!= 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||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45731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457319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342332"/>
                  </a:ext>
                </a:extLst>
              </a:tr>
              <a:tr h="665754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812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6642674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3" y="26468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error (</a:t>
            </a:r>
            <a:r>
              <a:rPr lang="ru-RU" dirty="0"/>
              <a:t>=</a:t>
            </a:r>
            <a:r>
              <a:rPr lang="en-US" dirty="0"/>
              <a:t>= &amp;&amp; ==)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CF885-CAE3-41FA-82B3-6A1979A7A6C1}"/>
              </a:ext>
            </a:extLst>
          </p:cNvPr>
          <p:cNvSpPr txBox="1"/>
          <p:nvPr/>
        </p:nvSpPr>
        <p:spPr>
          <a:xfrm>
            <a:off x="1265057" y="2090172"/>
            <a:ext cx="511229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Для любых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 </a:t>
            </a:r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всегда ложь</a:t>
            </a:r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(var == s1 &amp;&amp; var == s2)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7" name="Таблица 2">
            <a:extLst>
              <a:ext uri="{FF2B5EF4-FFF2-40B4-BE49-F238E27FC236}">
                <a16:creationId xmlns:a16="http://schemas.microsoft.com/office/drawing/2014/main" id="{8DD34CA0-0E85-41CE-B392-A5EF89FC5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2101128"/>
              </p:ext>
            </p:extLst>
          </p:nvPr>
        </p:nvGraphicFramePr>
        <p:xfrm>
          <a:off x="6175134" y="4173840"/>
          <a:ext cx="5703277" cy="203718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84141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1567498">
                  <a:extLst>
                    <a:ext uri="{9D8B030D-6E8A-4147-A177-3AD203B41FA5}">
                      <a16:colId xmlns:a16="http://schemas.microsoft.com/office/drawing/2014/main" val="2740136529"/>
                    </a:ext>
                  </a:extLst>
                </a:gridCol>
                <a:gridCol w="1524000">
                  <a:extLst>
                    <a:ext uri="{9D8B030D-6E8A-4147-A177-3AD203B41FA5}">
                      <a16:colId xmlns:a16="http://schemas.microsoft.com/office/drawing/2014/main" val="2813667351"/>
                    </a:ext>
                  </a:extLst>
                </a:gridCol>
                <a:gridCol w="1327638">
                  <a:extLst>
                    <a:ext uri="{9D8B030D-6E8A-4147-A177-3AD203B41FA5}">
                      <a16:colId xmlns:a16="http://schemas.microsoft.com/office/drawing/2014/main" val="1863206875"/>
                    </a:ext>
                  </a:extLst>
                </a:gridCol>
              </a:tblGrid>
              <a:tr h="4391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 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 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&amp;&amp;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4391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4391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342332"/>
                  </a:ext>
                </a:extLst>
              </a:tr>
              <a:tr h="6655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812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71079179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2" y="460953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error (== || !=)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CF885-CAE3-41FA-82B3-6A1979A7A6C1}"/>
              </a:ext>
            </a:extLst>
          </p:cNvPr>
          <p:cNvSpPr txBox="1"/>
          <p:nvPr/>
        </p:nvSpPr>
        <p:spPr>
          <a:xfrm>
            <a:off x="1071623" y="2090172"/>
            <a:ext cx="511229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 не зависит от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 == s1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(var == s1 || var != s2)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7" name="Таблица 2">
            <a:extLst>
              <a:ext uri="{FF2B5EF4-FFF2-40B4-BE49-F238E27FC236}">
                <a16:creationId xmlns:a16="http://schemas.microsoft.com/office/drawing/2014/main" id="{8DD34CA0-0E85-41CE-B392-A5EF89FC5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267068837"/>
              </p:ext>
            </p:extLst>
          </p:nvPr>
        </p:nvGraphicFramePr>
        <p:xfrm>
          <a:off x="6291538" y="4246359"/>
          <a:ext cx="5571736" cy="203718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54524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1531344">
                  <a:extLst>
                    <a:ext uri="{9D8B030D-6E8A-4147-A177-3AD203B41FA5}">
                      <a16:colId xmlns:a16="http://schemas.microsoft.com/office/drawing/2014/main" val="2740136529"/>
                    </a:ext>
                  </a:extLst>
                </a:gridCol>
                <a:gridCol w="1684379">
                  <a:extLst>
                    <a:ext uri="{9D8B030D-6E8A-4147-A177-3AD203B41FA5}">
                      <a16:colId xmlns:a16="http://schemas.microsoft.com/office/drawing/2014/main" val="2813667351"/>
                    </a:ext>
                  </a:extLst>
                </a:gridCol>
                <a:gridCol w="1101489">
                  <a:extLst>
                    <a:ext uri="{9D8B030D-6E8A-4147-A177-3AD203B41FA5}">
                      <a16:colId xmlns:a16="http://schemas.microsoft.com/office/drawing/2014/main" val="1863206875"/>
                    </a:ext>
                  </a:extLst>
                </a:gridCol>
              </a:tblGrid>
              <a:tr h="4391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 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!= 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||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4391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4391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342332"/>
                  </a:ext>
                </a:extLst>
              </a:tr>
              <a:tr h="6655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812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815261540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466848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Logical error (== &amp;&amp; !=)</a:t>
            </a:r>
            <a:endParaRPr lang="ru-RU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17CF885-CAE3-41FA-82B3-6A1979A7A6C1}"/>
              </a:ext>
            </a:extLst>
          </p:cNvPr>
          <p:cNvSpPr txBox="1"/>
          <p:nvPr/>
        </p:nvSpPr>
        <p:spPr>
          <a:xfrm>
            <a:off x="983702" y="2179351"/>
            <a:ext cx="5112297" cy="2677656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Результат не зависит от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var == s2</a:t>
            </a:r>
          </a:p>
          <a:p>
            <a:endParaRPr lang="en-US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(var == s1 &amp;&amp; var != s2)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4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4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4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4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graphicFrame>
        <p:nvGraphicFramePr>
          <p:cNvPr id="7" name="Таблица 2">
            <a:extLst>
              <a:ext uri="{FF2B5EF4-FFF2-40B4-BE49-F238E27FC236}">
                <a16:creationId xmlns:a16="http://schemas.microsoft.com/office/drawing/2014/main" id="{8DD34CA0-0E85-41CE-B392-A5EF89FC582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476760"/>
              </p:ext>
            </p:extLst>
          </p:nvPr>
        </p:nvGraphicFramePr>
        <p:xfrm>
          <a:off x="6369997" y="4209009"/>
          <a:ext cx="5411695" cy="2037181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218489">
                  <a:extLst>
                    <a:ext uri="{9D8B030D-6E8A-4147-A177-3AD203B41FA5}">
                      <a16:colId xmlns:a16="http://schemas.microsoft.com/office/drawing/2014/main" val="308611735"/>
                    </a:ext>
                  </a:extLst>
                </a:gridCol>
                <a:gridCol w="1487359">
                  <a:extLst>
                    <a:ext uri="{9D8B030D-6E8A-4147-A177-3AD203B41FA5}">
                      <a16:colId xmlns:a16="http://schemas.microsoft.com/office/drawing/2014/main" val="2740136529"/>
                    </a:ext>
                  </a:extLst>
                </a:gridCol>
                <a:gridCol w="1393772">
                  <a:extLst>
                    <a:ext uri="{9D8B030D-6E8A-4147-A177-3AD203B41FA5}">
                      <a16:colId xmlns:a16="http://schemas.microsoft.com/office/drawing/2014/main" val="2813667351"/>
                    </a:ext>
                  </a:extLst>
                </a:gridCol>
                <a:gridCol w="1312075">
                  <a:extLst>
                    <a:ext uri="{9D8B030D-6E8A-4147-A177-3AD203B41FA5}">
                      <a16:colId xmlns:a16="http://schemas.microsoft.com/office/drawing/2014/main" val="1863206875"/>
                    </a:ext>
                  </a:extLst>
                </a:gridCol>
              </a:tblGrid>
              <a:tr h="439171"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</a:t>
                      </a: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</a:t>
                      </a: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= 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var != 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&amp;&amp;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69654681"/>
                  </a:ext>
                </a:extLst>
              </a:tr>
              <a:tr h="4391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87360729"/>
                  </a:ext>
                </a:extLst>
              </a:tr>
              <a:tr h="43917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s2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30342332"/>
                  </a:ext>
                </a:extLst>
              </a:tr>
              <a:tr h="665581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none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ru-RU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8181257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22705429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225071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{} </a:t>
            </a:r>
            <a:r>
              <a:rPr lang="ru-RU" dirty="0"/>
              <a:t>и </a:t>
            </a:r>
            <a:r>
              <a:rPr lang="en-US" dirty="0"/>
              <a:t>if-else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B108A81-D3CF-469A-A112-82D8C30C4E56}"/>
              </a:ext>
            </a:extLst>
          </p:cNvPr>
          <p:cNvSpPr txBox="1"/>
          <p:nvPr/>
        </p:nvSpPr>
        <p:spPr>
          <a:xfrm>
            <a:off x="807094" y="2534947"/>
            <a:ext cx="1016130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b="0" dirty="0" err="1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ru-RU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 == 5!</a:t>
            </a:r>
            <a:r>
              <a:rPr lang="ru-RU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Выполниться если a равно 5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br>
              <a:rPr lang="ru-RU" b="0" dirty="0">
                <a:solidFill>
                  <a:srgbClr val="CCCCCC"/>
                </a:solidFill>
                <a:effectLst/>
                <a:latin typeface="Consolas" panose="020B0609020204030204" pitchFamily="49" charset="0"/>
              </a:rPr>
            </a:b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ru-RU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 err="1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hello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!</a:t>
            </a:r>
            <a:r>
              <a:rPr lang="ru-RU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ru-RU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Выполнится в любом случае (</a:t>
            </a:r>
            <a:r>
              <a:rPr lang="ru-RU" b="0" dirty="0" err="1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табы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/пробелы не важны)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3950650F-B919-49E1-86AD-0C63295B9809}"/>
              </a:ext>
            </a:extLst>
          </p:cNvPr>
          <p:cNvSpPr txBox="1"/>
          <p:nvPr/>
        </p:nvSpPr>
        <p:spPr>
          <a:xfrm>
            <a:off x="807094" y="4320038"/>
            <a:ext cx="10891070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"a == 5!</a:t>
            </a:r>
            <a:r>
              <a:rPr lang="en-US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Ок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"hello!</a:t>
            </a:r>
            <a:r>
              <a:rPr lang="en-US" b="0" dirty="0">
                <a:solidFill>
                  <a:srgbClr val="D7BA7D"/>
                </a:solidFill>
                <a:effectLst/>
                <a:latin typeface="Consolas" panose="020B0609020204030204" pitchFamily="49" charset="0"/>
              </a:rPr>
              <a:t>\n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Ошибка! Больше одной инструкции без фигурных скобок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 err="1">
                <a:solidFill>
                  <a:srgbClr val="DCDCAA"/>
                </a:solidFill>
                <a:effectLst/>
                <a:latin typeface="Consolas" panose="020B0609020204030204" pitchFamily="49" charset="0"/>
              </a:rPr>
              <a:t>printf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(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"else here"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);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</a:t>
            </a:r>
            <a:r>
              <a:rPr lang="ru-RU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Ок</a:t>
            </a:r>
            <a:endParaRPr lang="ru-RU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7877D67B-D456-48FE-B1CC-B37D55E6D9E8}"/>
              </a:ext>
            </a:extLst>
          </p:cNvPr>
          <p:cNvSpPr txBox="1"/>
          <p:nvPr/>
        </p:nvSpPr>
        <p:spPr>
          <a:xfrm>
            <a:off x="776320" y="1621290"/>
            <a:ext cx="10952617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Фигурные скобки в условных выражениях на языке Си опциональны и если их не поставить, то это будет означать, что мы хотим выполнить самую первую ближайшую инструкцию под </a:t>
            </a:r>
            <a:r>
              <a:rPr lang="ru-RU" dirty="0" err="1"/>
              <a:t>if</a:t>
            </a:r>
            <a:r>
              <a:rPr lang="ru-RU" dirty="0"/>
              <a:t> (или </a:t>
            </a:r>
            <a:r>
              <a:rPr lang="ru-RU" dirty="0" err="1"/>
              <a:t>else</a:t>
            </a:r>
            <a:r>
              <a:rPr lang="ru-RU" dirty="0"/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2659756043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14594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Ternary Operator</a:t>
            </a:r>
            <a:endParaRPr lang="ru-RU" dirty="0"/>
          </a:p>
        </p:txBody>
      </p:sp>
      <p:graphicFrame>
        <p:nvGraphicFramePr>
          <p:cNvPr id="3" name="Таблица 3">
            <a:extLst>
              <a:ext uri="{FF2B5EF4-FFF2-40B4-BE49-F238E27FC236}">
                <a16:creationId xmlns:a16="http://schemas.microsoft.com/office/drawing/2014/main" id="{6241942A-9108-41C2-9DC3-65FA16C4D16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561684416"/>
              </p:ext>
            </p:extLst>
          </p:nvPr>
        </p:nvGraphicFramePr>
        <p:xfrm>
          <a:off x="2244968" y="2329962"/>
          <a:ext cx="7702061" cy="3540369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736729">
                  <a:extLst>
                    <a:ext uri="{9D8B030D-6E8A-4147-A177-3AD203B41FA5}">
                      <a16:colId xmlns:a16="http://schemas.microsoft.com/office/drawing/2014/main" val="612971784"/>
                    </a:ext>
                  </a:extLst>
                </a:gridCol>
                <a:gridCol w="3965332">
                  <a:extLst>
                    <a:ext uri="{9D8B030D-6E8A-4147-A177-3AD203B41FA5}">
                      <a16:colId xmlns:a16="http://schemas.microsoft.com/office/drawing/2014/main" val="2096649484"/>
                    </a:ext>
                  </a:extLst>
                </a:gridCol>
              </a:tblGrid>
              <a:tr h="518847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if .. else 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80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Ternary Operator</a:t>
                      </a:r>
                      <a:endParaRPr lang="ru-RU" sz="28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786829"/>
                  </a:ext>
                </a:extLst>
              </a:tr>
              <a:tr h="3021522"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 a = </a:t>
                      </a:r>
                      <a:r>
                        <a:rPr lang="en-US" sz="2400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 b = </a:t>
                      </a:r>
                      <a:r>
                        <a:rPr lang="en-US" sz="2400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400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 max;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br>
                        <a:rPr lang="en-US" sz="2400" b="0" dirty="0">
                          <a:solidFill>
                            <a:srgbClr val="CCCCCC"/>
                          </a:solidFill>
                          <a:effectLst/>
                          <a:latin typeface="Consolas" panose="020B0609020204030204" pitchFamily="49" charset="0"/>
                        </a:rPr>
                      </a:br>
                      <a:r>
                        <a:rPr lang="en-US" sz="2400" b="0" dirty="0">
                          <a:solidFill>
                            <a:srgbClr val="C586C0"/>
                          </a:solidFill>
                          <a:effectLst/>
                          <a:latin typeface="Consolas" panose="020B0609020204030204" pitchFamily="49" charset="0"/>
                        </a:rPr>
                        <a:t>if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 (a &gt; b) {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  max = a;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} </a:t>
                      </a:r>
                      <a:r>
                        <a:rPr lang="en-US" sz="2400" b="0" dirty="0">
                          <a:solidFill>
                            <a:srgbClr val="C586C0"/>
                          </a:solidFill>
                          <a:effectLst/>
                          <a:latin typeface="Consolas" panose="020B0609020204030204" pitchFamily="49" charset="0"/>
                        </a:rPr>
                        <a:t>else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 {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   max = b;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}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2400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 a = </a:t>
                      </a:r>
                      <a:r>
                        <a:rPr lang="en-US" sz="2400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3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, b = </a:t>
                      </a:r>
                      <a:r>
                        <a:rPr lang="en-US" sz="2400" b="0" dirty="0">
                          <a:solidFill>
                            <a:srgbClr val="B5CEA8"/>
                          </a:solidFill>
                          <a:effectLst/>
                          <a:latin typeface="Consolas" panose="020B0609020204030204" pitchFamily="49" charset="0"/>
                        </a:rPr>
                        <a:t>5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;</a:t>
                      </a:r>
                      <a:endParaRPr lang="en-US" sz="2400" b="0" dirty="0">
                        <a:solidFill>
                          <a:srgbClr val="CCCCCC"/>
                        </a:solidFill>
                        <a:effectLst/>
                        <a:latin typeface="Consolas" panose="020B0609020204030204" pitchFamily="49" charset="0"/>
                      </a:endParaRPr>
                    </a:p>
                    <a:p>
                      <a:r>
                        <a:rPr lang="en-US" sz="2400" b="0" dirty="0">
                          <a:solidFill>
                            <a:srgbClr val="569CD6"/>
                          </a:solidFill>
                          <a:effectLst/>
                          <a:latin typeface="Consolas" panose="020B0609020204030204" pitchFamily="49" charset="0"/>
                        </a:rPr>
                        <a:t>int</a:t>
                      </a:r>
                      <a:r>
                        <a:rPr lang="en-US" sz="2400" b="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</a:rPr>
                        <a:t> max;</a:t>
                      </a: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2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kern="1200" dirty="0">
                          <a:solidFill>
                            <a:srgbClr val="D4D4D4"/>
                          </a:solidFill>
                          <a:effectLst/>
                          <a:latin typeface="Consolas" panose="020B0609020204030204" pitchFamily="49" charset="0"/>
                          <a:ea typeface="+mn-ea"/>
                          <a:cs typeface="+mn-cs"/>
                        </a:rPr>
                        <a:t>max = a &gt; b ? a : b;</a:t>
                      </a:r>
                      <a:endParaRPr lang="ru-RU" sz="2400" b="0" kern="1200" dirty="0">
                        <a:solidFill>
                          <a:srgbClr val="D4D4D4"/>
                        </a:solidFill>
                        <a:effectLst/>
                        <a:latin typeface="Consolas" panose="020B0609020204030204" pitchFamily="49" charset="0"/>
                        <a:ea typeface="+mn-ea"/>
                        <a:cs typeface="+mn-cs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82633077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FA64EF14-AFB6-48A4-8AE4-6924957D265A}"/>
              </a:ext>
            </a:extLst>
          </p:cNvPr>
          <p:cNvSpPr txBox="1"/>
          <p:nvPr/>
        </p:nvSpPr>
        <p:spPr>
          <a:xfrm>
            <a:off x="1589314" y="1688095"/>
            <a:ext cx="930435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Тернарный оператор (от латинского </a:t>
            </a:r>
            <a:r>
              <a:rPr lang="ru-RU" b="1" dirty="0"/>
              <a:t>тройной</a:t>
            </a:r>
            <a:r>
              <a:rPr lang="ru-RU" dirty="0"/>
              <a:t>)</a:t>
            </a:r>
            <a:r>
              <a:rPr lang="en-US" dirty="0"/>
              <a:t>. </a:t>
            </a:r>
            <a:r>
              <a:rPr lang="ru-RU" dirty="0"/>
              <a:t>Означает следующее: Если </a:t>
            </a:r>
            <a:r>
              <a:rPr lang="en-US" b="1" dirty="0"/>
              <a:t>Q</a:t>
            </a:r>
            <a:r>
              <a:rPr lang="ru-RU" dirty="0"/>
              <a:t>, то </a:t>
            </a:r>
            <a:r>
              <a:rPr lang="en-US" b="1" dirty="0"/>
              <a:t>P1</a:t>
            </a:r>
            <a:r>
              <a:rPr lang="ru-RU" dirty="0"/>
              <a:t>, иначе </a:t>
            </a:r>
            <a:r>
              <a:rPr lang="en-US" b="1" dirty="0"/>
              <a:t>P</a:t>
            </a:r>
            <a:r>
              <a:rPr lang="ru-RU" b="1" dirty="0"/>
              <a:t>2</a:t>
            </a:r>
            <a:r>
              <a:rPr lang="ru-RU" dirty="0"/>
              <a:t> </a:t>
            </a:r>
            <a:r>
              <a:rPr lang="en-US" dirty="0"/>
              <a:t> 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06414165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1">
            <a:extLst>
              <a:ext uri="{FF2B5EF4-FFF2-40B4-BE49-F238E27FC236}">
                <a16:creationId xmlns:a16="http://schemas.microsoft.com/office/drawing/2014/main" id="{2E0D6B0E-2565-4C08-9911-5AB313FD391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25713" y="1825625"/>
            <a:ext cx="12192000" cy="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br>
              <a:rPr kumimoji="0" lang="ru-RU" altLang="ru-RU" sz="1800" b="0" i="0" u="none" strike="noStrike" cap="none" normalizeH="0" baseline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</a:br>
            <a:endParaRPr kumimoji="0" lang="ru-RU" altLang="ru-RU" sz="1800" b="0" i="0" u="none" strike="noStrike" cap="none" normalizeH="0" baseline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7" name="Заголовок 3">
            <a:extLst>
              <a:ext uri="{FF2B5EF4-FFF2-40B4-BE49-F238E27FC236}">
                <a16:creationId xmlns:a16="http://schemas.microsoft.com/office/drawing/2014/main" id="{44D9C8AE-0A3E-4056-813F-36670D18429A}"/>
              </a:ext>
            </a:extLst>
          </p:cNvPr>
          <p:cNvSpPr txBox="1">
            <a:spLocks/>
          </p:cNvSpPr>
          <p:nvPr/>
        </p:nvSpPr>
        <p:spPr>
          <a:xfrm>
            <a:off x="1589312" y="0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switch .. case</a:t>
            </a:r>
            <a:endParaRPr lang="ru-RU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9A5F2FB4-06B2-4D9F-B9F4-E49C37A634A1}"/>
              </a:ext>
            </a:extLst>
          </p:cNvPr>
          <p:cNvSpPr txBox="1"/>
          <p:nvPr/>
        </p:nvSpPr>
        <p:spPr>
          <a:xfrm>
            <a:off x="1589312" y="1796366"/>
            <a:ext cx="4116035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'c'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 == </a:t>
            </a:r>
            <a:r>
              <a:rPr lang="en-US" sz="2000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'd'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sz="2000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sz="2000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sz="2000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sz="2000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12B50DB-57B9-45EE-9853-17CFEB019EF4}"/>
              </a:ext>
            </a:extLst>
          </p:cNvPr>
          <p:cNvSpPr txBox="1"/>
          <p:nvPr/>
        </p:nvSpPr>
        <p:spPr>
          <a:xfrm>
            <a:off x="7033724" y="1166842"/>
            <a:ext cx="2750526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switch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(a)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'a'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'b'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'c'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case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E9178"/>
                </a:solidFill>
                <a:effectLst/>
                <a:latin typeface="Consolas" panose="020B0609020204030204" pitchFamily="49" charset="0"/>
              </a:rPr>
              <a:t>'d'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break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;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default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: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// ...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EB53889D-4B41-4B17-89B9-EB46964CE7E0}"/>
              </a:ext>
            </a:extLst>
          </p:cNvPr>
          <p:cNvSpPr txBox="1"/>
          <p:nvPr/>
        </p:nvSpPr>
        <p:spPr>
          <a:xfrm>
            <a:off x="900479" y="5691157"/>
            <a:ext cx="108636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ru-RU" dirty="0"/>
              <a:t>Если не поставить </a:t>
            </a:r>
            <a:r>
              <a:rPr lang="ru-RU" b="1" dirty="0" err="1"/>
              <a:t>break</a:t>
            </a:r>
            <a:r>
              <a:rPr lang="ru-RU" dirty="0"/>
              <a:t>, то после выполнения кода текущего </a:t>
            </a:r>
            <a:r>
              <a:rPr lang="ru-RU" dirty="0" err="1"/>
              <a:t>case</a:t>
            </a:r>
            <a:r>
              <a:rPr lang="ru-RU" dirty="0"/>
              <a:t> вы провалитесь в нижестоящий </a:t>
            </a:r>
            <a:r>
              <a:rPr lang="ru-RU" dirty="0" err="1"/>
              <a:t>case</a:t>
            </a:r>
            <a:r>
              <a:rPr lang="en-US" dirty="0"/>
              <a:t>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break (</a:t>
            </a:r>
            <a:r>
              <a:rPr lang="ru-RU" dirty="0"/>
              <a:t>ломать) – остановить</a:t>
            </a:r>
            <a:r>
              <a:rPr lang="en-US" dirty="0"/>
              <a:t>/</a:t>
            </a:r>
            <a:r>
              <a:rPr lang="ru-RU" dirty="0"/>
              <a:t>выйти из </a:t>
            </a:r>
            <a:r>
              <a:rPr lang="en-US" dirty="0"/>
              <a:t>switch;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switch-case </a:t>
            </a:r>
            <a:r>
              <a:rPr lang="ru-RU" dirty="0"/>
              <a:t>использует</a:t>
            </a:r>
            <a:r>
              <a:rPr lang="en-US" dirty="0"/>
              <a:t> </a:t>
            </a:r>
            <a:r>
              <a:rPr lang="ru-RU" b="1" dirty="0"/>
              <a:t>хэш-таблицы</a:t>
            </a:r>
            <a:r>
              <a:rPr lang="ru-RU" dirty="0"/>
              <a:t> и </a:t>
            </a:r>
            <a:r>
              <a:rPr lang="ru-RU" b="1" dirty="0"/>
              <a:t>бинарный поиск</a:t>
            </a:r>
            <a:r>
              <a:rPr lang="ru-RU" dirty="0"/>
              <a:t> под капотом</a:t>
            </a:r>
            <a:r>
              <a:rPr lang="en-US" dirty="0"/>
              <a:t>;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165264177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589314" y="497632"/>
            <a:ext cx="9013371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sz="6000" dirty="0"/>
              <a:t>Branch prediction</a:t>
            </a:r>
            <a:endParaRPr lang="ru-RU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62890D43-D513-48E6-B98F-43CC74F5BC97}"/>
              </a:ext>
            </a:extLst>
          </p:cNvPr>
          <p:cNvSpPr txBox="1"/>
          <p:nvPr/>
        </p:nvSpPr>
        <p:spPr>
          <a:xfrm>
            <a:off x="3823416" y="2320789"/>
            <a:ext cx="4545166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800" dirty="0"/>
              <a:t>Предсказатель переходов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87C2922-F06A-4AA2-92EB-A2BEA8CCF560}"/>
              </a:ext>
            </a:extLst>
          </p:cNvPr>
          <p:cNvSpPr txBox="1"/>
          <p:nvPr/>
        </p:nvSpPr>
        <p:spPr>
          <a:xfrm>
            <a:off x="6542808" y="3671059"/>
            <a:ext cx="4755307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Динамическое предсказание</a:t>
            </a:r>
          </a:p>
          <a:p>
            <a:endParaRPr lang="ru-RU" sz="2400" dirty="0"/>
          </a:p>
          <a:p>
            <a:r>
              <a:rPr lang="ru-RU" sz="2400" dirty="0"/>
              <a:t>Набираем статистику тех кто чаще выполняется</a:t>
            </a:r>
            <a:r>
              <a:rPr lang="en-US" sz="2400" dirty="0"/>
              <a:t> </a:t>
            </a:r>
            <a:r>
              <a:rPr lang="ru-RU" sz="2400" dirty="0"/>
              <a:t>и их кладем в кэш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1600BF0B-9268-4159-A5DF-85A3B0F7DC8D}"/>
              </a:ext>
            </a:extLst>
          </p:cNvPr>
          <p:cNvSpPr txBox="1"/>
          <p:nvPr/>
        </p:nvSpPr>
        <p:spPr>
          <a:xfrm>
            <a:off x="1589314" y="3671059"/>
            <a:ext cx="4061773" cy="15696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/>
              <a:t>Статическое предсказание</a:t>
            </a:r>
          </a:p>
          <a:p>
            <a:endParaRPr lang="ru-RU" sz="2400" dirty="0"/>
          </a:p>
          <a:p>
            <a:r>
              <a:rPr lang="ru-RU" sz="2400" dirty="0"/>
              <a:t>Выбираем одну из веток и только она в кэш кладется</a:t>
            </a:r>
          </a:p>
        </p:txBody>
      </p:sp>
      <p:cxnSp>
        <p:nvCxnSpPr>
          <p:cNvPr id="9" name="Прямая со стрелкой 8">
            <a:extLst>
              <a:ext uri="{FF2B5EF4-FFF2-40B4-BE49-F238E27FC236}">
                <a16:creationId xmlns:a16="http://schemas.microsoft.com/office/drawing/2014/main" id="{BEC571D9-E00D-472C-B4A1-22ED9B8F8A5F}"/>
              </a:ext>
            </a:extLst>
          </p:cNvPr>
          <p:cNvCxnSpPr>
            <a:cxnSpLocks/>
            <a:stCxn id="11" idx="2"/>
            <a:endCxn id="8" idx="0"/>
          </p:cNvCxnSpPr>
          <p:nvPr/>
        </p:nvCxnSpPr>
        <p:spPr>
          <a:xfrm flipH="1">
            <a:off x="3620201" y="2844009"/>
            <a:ext cx="2475798" cy="827050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" name="Прямая со стрелкой 12">
            <a:extLst>
              <a:ext uri="{FF2B5EF4-FFF2-40B4-BE49-F238E27FC236}">
                <a16:creationId xmlns:a16="http://schemas.microsoft.com/office/drawing/2014/main" id="{654227B5-86A5-4E87-9535-01E35985136C}"/>
              </a:ext>
            </a:extLst>
          </p:cNvPr>
          <p:cNvCxnSpPr>
            <a:cxnSpLocks/>
            <a:stCxn id="11" idx="2"/>
            <a:endCxn id="6" idx="0"/>
          </p:cNvCxnSpPr>
          <p:nvPr/>
        </p:nvCxnSpPr>
        <p:spPr>
          <a:xfrm>
            <a:off x="6095999" y="2844009"/>
            <a:ext cx="2824463" cy="827050"/>
          </a:xfrm>
          <a:prstGeom prst="straightConnector1">
            <a:avLst/>
          </a:prstGeom>
          <a:ln w="412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841417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Заголовок 3">
            <a:extLst>
              <a:ext uri="{FF2B5EF4-FFF2-40B4-BE49-F238E27FC236}">
                <a16:creationId xmlns:a16="http://schemas.microsoft.com/office/drawing/2014/main" id="{8259CF3A-AC4E-4FB4-B194-DC7CBFC75277}"/>
              </a:ext>
            </a:extLst>
          </p:cNvPr>
          <p:cNvSpPr txBox="1">
            <a:spLocks/>
          </p:cNvSpPr>
          <p:nvPr/>
        </p:nvSpPr>
        <p:spPr>
          <a:xfrm>
            <a:off x="1100922" y="307484"/>
            <a:ext cx="9990155" cy="1164869"/>
          </a:xfrm>
          <a:prstGeom prst="rect">
            <a:avLst/>
          </a:prstGeom>
        </p:spPr>
        <p:txBody>
          <a:bodyPr vert="horz" lIns="91440" tIns="45720" rIns="91440" bIns="45720" rtlCol="0" anchor="b">
            <a:normAutofit fontScale="77500" lnSpcReduction="20000"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/>
              <a:t>Branch misprediction and cache misses</a:t>
            </a:r>
            <a:endParaRPr lang="ru-RU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D445D8F6-0FC8-4543-B3FD-EF5730DD398B}"/>
              </a:ext>
            </a:extLst>
          </p:cNvPr>
          <p:cNvSpPr txBox="1"/>
          <p:nvPr/>
        </p:nvSpPr>
        <p:spPr>
          <a:xfrm>
            <a:off x="827945" y="1735809"/>
            <a:ext cx="6097464" cy="45243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(e1) { 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(e2)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    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(e2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2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   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(e3) {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(e4) {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/*...*/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/*...*/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(e2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3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    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    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(e2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4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/*...*/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if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(e2</a:t>
            </a:r>
            <a:r>
              <a:rPr lang="ru-RU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_</a:t>
            </a:r>
            <a:r>
              <a:rPr lang="en-US" b="0" dirty="0">
                <a:solidFill>
                  <a:srgbClr val="B5CEA8"/>
                </a:solidFill>
                <a:effectLst/>
                <a:latin typeface="Consolas" panose="020B0609020204030204" pitchFamily="49" charset="0"/>
              </a:rPr>
              <a:t>5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)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/*...*/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 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 </a:t>
            </a:r>
            <a:r>
              <a:rPr lang="en-US" b="0" dirty="0">
                <a:solidFill>
                  <a:srgbClr val="C586C0"/>
                </a:solidFill>
                <a:effectLst/>
                <a:latin typeface="Consolas" panose="020B0609020204030204" pitchFamily="49" charset="0"/>
              </a:rPr>
              <a:t>else</a:t>
            </a:r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 {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    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D4D4D4"/>
                </a:solidFill>
                <a:effectLst/>
                <a:latin typeface="Consolas" panose="020B0609020204030204" pitchFamily="49" charset="0"/>
              </a:rPr>
              <a:t>}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  <a:p>
            <a:r>
              <a:rPr lang="en-US" b="0" dirty="0">
                <a:solidFill>
                  <a:srgbClr val="6A9955"/>
                </a:solidFill>
                <a:effectLst/>
                <a:latin typeface="Consolas" panose="020B0609020204030204" pitchFamily="49" charset="0"/>
              </a:rPr>
              <a:t>/*...*/</a:t>
            </a:r>
            <a:endParaRPr lang="en-US" b="0" dirty="0">
              <a:solidFill>
                <a:srgbClr val="CCCCCC"/>
              </a:solidFill>
              <a:effectLst/>
              <a:latin typeface="Consolas" panose="020B0609020204030204" pitchFamily="49" charset="0"/>
            </a:endParaRP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AFC2035-78E9-4A47-B4A7-E4303DF7F786}"/>
              </a:ext>
            </a:extLst>
          </p:cNvPr>
          <p:cNvSpPr txBox="1"/>
          <p:nvPr/>
        </p:nvSpPr>
        <p:spPr>
          <a:xfrm>
            <a:off x="6884376" y="1764720"/>
            <a:ext cx="5125758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dirty="0"/>
              <a:t>Процессор такому не обрадуется (</a:t>
            </a:r>
            <a:r>
              <a:rPr lang="ru-RU" sz="2000" b="1" dirty="0"/>
              <a:t>особенно если такое условие проверяется много раз</a:t>
            </a:r>
            <a:r>
              <a:rPr lang="ru-RU" sz="2000" dirty="0"/>
              <a:t>) и будет частенько простаивать из-за промахов, поэтому обычно </a:t>
            </a:r>
            <a:r>
              <a:rPr lang="ru-RU" sz="2000" b="1" dirty="0"/>
              <a:t>хорошим тоном</a:t>
            </a:r>
            <a:r>
              <a:rPr lang="ru-RU" sz="2000" dirty="0"/>
              <a:t> является не писать много </a:t>
            </a:r>
            <a:r>
              <a:rPr lang="ru-RU" sz="2000" b="1" dirty="0"/>
              <a:t>вложенных условий</a:t>
            </a:r>
            <a:r>
              <a:rPr lang="ru-RU" sz="2000" dirty="0"/>
              <a:t> (условия в условиях), а ограничиваться до 3-4, если выходит больше, то возможно мы делаем что-то не правильно 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89ACE211-8FD0-4B8A-A8B7-05A06B6EC363}"/>
              </a:ext>
            </a:extLst>
          </p:cNvPr>
          <p:cNvSpPr txBox="1"/>
          <p:nvPr/>
        </p:nvSpPr>
        <p:spPr>
          <a:xfrm>
            <a:off x="3516605" y="5486509"/>
            <a:ext cx="8493529" cy="9233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dirty="0"/>
              <a:t>Подобные промахи процессора в кэше называют </a:t>
            </a:r>
            <a:r>
              <a:rPr lang="ru-RU" b="1" dirty="0" err="1"/>
              <a:t>cache</a:t>
            </a:r>
            <a:r>
              <a:rPr lang="ru-RU" b="1" dirty="0"/>
              <a:t> </a:t>
            </a:r>
            <a:r>
              <a:rPr lang="ru-RU" b="1" dirty="0" err="1"/>
              <a:t>miss</a:t>
            </a:r>
            <a:r>
              <a:rPr lang="ru-RU" b="1" dirty="0"/>
              <a:t> (промах кэша)</a:t>
            </a:r>
            <a:r>
              <a:rPr lang="ru-RU" dirty="0"/>
              <a:t>, когда процессор вынужден загрузить данные из более медленной памяти (например оперативной памяти), т.к. нужных данных не оказалось в кэше процессора</a:t>
            </a:r>
          </a:p>
        </p:txBody>
      </p:sp>
    </p:spTree>
    <p:extLst>
      <p:ext uri="{BB962C8B-B14F-4D97-AF65-F5344CB8AC3E}">
        <p14:creationId xmlns:p14="http://schemas.microsoft.com/office/powerpoint/2010/main" val="80889717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Тема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Тема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Тема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F46216B-77A9-411A-B9D3-5023FCB70208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1944</TotalTime>
  <Words>1813</Words>
  <Application>Microsoft Office PowerPoint</Application>
  <PresentationFormat>Широкоэкранный</PresentationFormat>
  <Paragraphs>350</Paragraphs>
  <Slides>26</Slides>
  <Notes>26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26</vt:i4>
      </vt:variant>
    </vt:vector>
  </HeadingPairs>
  <TitlesOfParts>
    <vt:vector size="32" baseType="lpstr">
      <vt:lpstr>Arial</vt:lpstr>
      <vt:lpstr>Calibri</vt:lpstr>
      <vt:lpstr>Calibri Light</vt:lpstr>
      <vt:lpstr>Consolas</vt:lpstr>
      <vt:lpstr>Times New Roman</vt:lpstr>
      <vt:lpstr>Office Theme</vt:lpstr>
      <vt:lpstr>C Programming 1_conditions</vt:lpstr>
      <vt:lpstr>Презентация PowerPoint</vt:lpstr>
      <vt:lpstr>Презентация PowerPoint</vt:lpstr>
      <vt:lpstr>Презентация PowerPoint</vt:lpstr>
      <vt:lpstr>Презентация PowerPoint</vt:lpstr>
      <vt:lpstr>Type casting (Приведение типов)</vt:lpstr>
      <vt:lpstr>Conditions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Презентация PowerPoint</dc:title>
  <dc:creator>Andrey Veyler</dc:creator>
  <cp:lastModifiedBy>Andrey Veyler</cp:lastModifiedBy>
  <cp:revision>457</cp:revision>
  <dcterms:created xsi:type="dcterms:W3CDTF">2019-12-17T14:15:21Z</dcterms:created>
  <dcterms:modified xsi:type="dcterms:W3CDTF">2025-09-06T19:21:14Z</dcterms:modified>
</cp:coreProperties>
</file>