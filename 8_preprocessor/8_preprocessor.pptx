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309" r:id="rId3"/>
    <p:sldId id="310" r:id="rId4"/>
    <p:sldId id="311" r:id="rId5"/>
    <p:sldId id="317" r:id="rId6"/>
    <p:sldId id="318" r:id="rId7"/>
    <p:sldId id="315" r:id="rId8"/>
    <p:sldId id="313" r:id="rId9"/>
    <p:sldId id="319" r:id="rId10"/>
    <p:sldId id="316" r:id="rId11"/>
    <p:sldId id="314" r:id="rId12"/>
    <p:sldId id="290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109" d="100"/>
          <a:sy n="109" d="100"/>
        </p:scale>
        <p:origin x="126" y="10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87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9411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6929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65519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25398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63131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581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3343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28677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09816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8_preprocessor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95D51B6C-91AE-4569-B8E6-A8FC50FEB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0047" y="360287"/>
            <a:ext cx="6711906" cy="927688"/>
          </a:xfrm>
        </p:spPr>
        <p:txBody>
          <a:bodyPr>
            <a:normAutofit/>
          </a:bodyPr>
          <a:lstStyle/>
          <a:p>
            <a:r>
              <a:rPr lang="ru-RU" dirty="0"/>
              <a:t>Директива </a:t>
            </a:r>
            <a:r>
              <a:rPr lang="en-US" dirty="0"/>
              <a:t>#include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731325-4D6D-4981-862A-B80832DB552E}"/>
              </a:ext>
            </a:extLst>
          </p:cNvPr>
          <p:cNvSpPr txBox="1"/>
          <p:nvPr/>
        </p:nvSpPr>
        <p:spPr>
          <a:xfrm>
            <a:off x="6290441" y="1846611"/>
            <a:ext cx="562205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my_header.h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prog.c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-o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prog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./include/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A033A7-12E0-4617-BDE1-89A1C922B95D}"/>
              </a:ext>
            </a:extLst>
          </p:cNvPr>
          <p:cNvSpPr txBox="1"/>
          <p:nvPr/>
        </p:nvSpPr>
        <p:spPr>
          <a:xfrm>
            <a:off x="1011797" y="1569613"/>
            <a:ext cx="5278644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Заголовочный файл нужен только для: Описания прототипов функций либо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обьявления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новых типов данных (структуры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объединения)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Угловые скобки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говорит компилятору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искать в стандартных путях (обычно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/include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"" –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Искать в текущем каталоге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Опцией –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компилятору можно задать путь до заголовочных файлов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компилятору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чтобы 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прописывать полный путь до заголовочного файла.</a:t>
            </a:r>
          </a:p>
        </p:txBody>
      </p:sp>
    </p:spTree>
    <p:extLst>
      <p:ext uri="{BB962C8B-B14F-4D97-AF65-F5344CB8AC3E}">
        <p14:creationId xmlns:p14="http://schemas.microsoft.com/office/powerpoint/2010/main" val="146615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95D51B6C-91AE-4569-B8E6-A8FC50FEB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0047" y="360287"/>
            <a:ext cx="6711906" cy="927688"/>
          </a:xfrm>
        </p:spPr>
        <p:txBody>
          <a:bodyPr>
            <a:normAutofit/>
          </a:bodyPr>
          <a:lstStyle/>
          <a:p>
            <a:r>
              <a:rPr lang="en-US" dirty="0"/>
              <a:t>#define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7DC13E-1B12-4A89-BCA0-38B326AED599}"/>
              </a:ext>
            </a:extLst>
          </p:cNvPr>
          <p:cNvSpPr txBox="1"/>
          <p:nvPr/>
        </p:nvSpPr>
        <p:spPr>
          <a:xfrm>
            <a:off x="2498134" y="4370105"/>
            <a:ext cx="719573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ru-RU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K </a:t>
            </a:r>
            <a:r>
              <a:rPr lang="ru-RU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K определена как 123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..</a:t>
            </a:r>
          </a:p>
          <a:p>
            <a:b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#undef</a:t>
            </a:r>
            <a:r>
              <a:rPr lang="ru-RU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K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а теперь K больше не существует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209C5-AB53-4307-98BB-96F3AB40AFD0}"/>
              </a:ext>
            </a:extLst>
          </p:cNvPr>
          <p:cNvSpPr txBox="1"/>
          <p:nvPr/>
        </p:nvSpPr>
        <p:spPr>
          <a:xfrm>
            <a:off x="925557" y="1287975"/>
            <a:ext cx="1032128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#define –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директива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предназначенная для макро определений.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точки зрения хорошего стиля кода принято все макро определения пишут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большими буквами.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#define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используется обычно в двух случаях: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определения констант (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#define N 5)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определения макросов (подобие функции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 не это не функция!)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7783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F3F923-E378-4E2B-8163-B35DAD8986EE}"/>
              </a:ext>
            </a:extLst>
          </p:cNvPr>
          <p:cNvSpPr txBox="1"/>
          <p:nvPr/>
        </p:nvSpPr>
        <p:spPr>
          <a:xfrm>
            <a:off x="1505215" y="1443841"/>
            <a:ext cx="918157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MIN(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((a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b)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b)</a:t>
            </a:r>
          </a:p>
          <a:p>
            <a:endParaRPr lang="en-US" sz="36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//-&gt;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((1 &lt; 2) ? (1 : 2))</a:t>
            </a:r>
            <a:endParaRPr lang="en-US" sz="36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endParaRPr lang="en-US" sz="36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it-IT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it-IT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ADD(</a:t>
            </a:r>
            <a:r>
              <a:rPr lang="it-IT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it-IT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it-IT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a </a:t>
            </a:r>
            <a:r>
              <a:rPr lang="it-IT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it-IT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b</a:t>
            </a:r>
            <a:endParaRPr lang="it-IT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 = </a:t>
            </a:r>
            <a:r>
              <a:rPr lang="ru-RU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dirty="0">
                <a:solidFill>
                  <a:srgbClr val="6A9955"/>
                </a:solidFill>
                <a:latin typeface="Consolas" panose="020B0609020204030204" pitchFamily="49" charset="0"/>
              </a:rPr>
              <a:t>//-&gt; 5 + 3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5126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F3F923-E378-4E2B-8163-B35DAD8986EE}"/>
              </a:ext>
            </a:extLst>
          </p:cNvPr>
          <p:cNvSpPr txBox="1"/>
          <p:nvPr/>
        </p:nvSpPr>
        <p:spPr>
          <a:xfrm>
            <a:off x="2259022" y="2274838"/>
            <a:ext cx="767395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ADD(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a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b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b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(a, b);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c?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(a, b);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d?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071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337626-3EEF-4724-83B7-12D071FFD19F}"/>
              </a:ext>
            </a:extLst>
          </p:cNvPr>
          <p:cNvSpPr txBox="1"/>
          <p:nvPr/>
        </p:nvSpPr>
        <p:spPr>
          <a:xfrm>
            <a:off x="1672370" y="2397948"/>
            <a:ext cx="94674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MIN(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 ((a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b)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b)</a:t>
            </a:r>
          </a:p>
          <a:p>
            <a:endParaRPr lang="en-US" sz="36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endParaRPr lang="en-US" sz="36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94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95D51B6C-91AE-4569-B8E6-A8FC50FEB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141" y="289948"/>
            <a:ext cx="9925717" cy="927688"/>
          </a:xfrm>
        </p:spPr>
        <p:txBody>
          <a:bodyPr>
            <a:normAutofit fontScale="90000"/>
          </a:bodyPr>
          <a:lstStyle/>
          <a:p>
            <a:r>
              <a:rPr lang="ru-RU" dirty="0"/>
              <a:t>Предопределенные константы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A50410-1F36-4DE4-8750-8B4FD9E3D8F8}"/>
              </a:ext>
            </a:extLst>
          </p:cNvPr>
          <p:cNvSpPr txBox="1"/>
          <p:nvPr/>
        </p:nvSpPr>
        <p:spPr>
          <a:xfrm>
            <a:off x="845991" y="1562532"/>
            <a:ext cx="1092690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LINE__                  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номер строки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__FILE__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- имя файла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__FUNCTION__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- имя функции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 at LINE=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FILE=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function=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sz="2000" dirty="0">
                <a:solidFill>
                  <a:srgbClr val="D4D4D4"/>
                </a:solidFill>
                <a:latin typeface="Consolas" panose="020B0609020204030204" pitchFamily="49" charset="0"/>
              </a:rPr>
              <a:t>					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__LINE__, __FILE__, __FUNCTION__);</a:t>
            </a:r>
          </a:p>
          <a:p>
            <a:endParaRPr lang="en-US" sz="20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__FILE__, __LINE__);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CTRL+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ЛКМ по этой ссылке в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VSCode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__DATE__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- дата компиляции программы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__TIME__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- дата компиляции программы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"Compilation time: date=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time=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__DATE__, __TIME__);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906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95D51B6C-91AE-4569-B8E6-A8FC50FEB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1682" y="213215"/>
            <a:ext cx="7808635" cy="927688"/>
          </a:xfrm>
        </p:spPr>
        <p:txBody>
          <a:bodyPr>
            <a:normAutofit/>
          </a:bodyPr>
          <a:lstStyle/>
          <a:p>
            <a:r>
              <a:rPr lang="ru-RU" dirty="0"/>
              <a:t>Условная компиляция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A50410-1F36-4DE4-8750-8B4FD9E3D8F8}"/>
              </a:ext>
            </a:extLst>
          </p:cNvPr>
          <p:cNvSpPr txBox="1"/>
          <p:nvPr/>
        </p:nvSpPr>
        <p:spPr>
          <a:xfrm>
            <a:off x="1085978" y="1613920"/>
            <a:ext cx="480113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#if</a:t>
            </a:r>
            <a:r>
              <a:rPr lang="ru-RU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ru-RU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#else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r>
              <a:rPr lang="ru-RU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sz="2400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C586C0"/>
              </a:solidFill>
              <a:latin typeface="Consolas" panose="020B0609020204030204" pitchFamily="49" charset="0"/>
            </a:endParaRPr>
          </a:p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src/cond.c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-DB=5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F339AF-F892-4818-9711-FAF8BB866B1B}"/>
              </a:ext>
            </a:extLst>
          </p:cNvPr>
          <p:cNvSpPr txBox="1"/>
          <p:nvPr/>
        </p:nvSpPr>
        <p:spPr>
          <a:xfrm>
            <a:off x="6095999" y="1723049"/>
            <a:ext cx="436684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#ifdef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DEBUG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#endif</a:t>
            </a:r>
          </a:p>
          <a:p>
            <a:endParaRPr lang="en-US" sz="2400" dirty="0">
              <a:solidFill>
                <a:srgbClr val="C586C0"/>
              </a:solidFill>
              <a:latin typeface="Consolas" panose="020B0609020204030204" pitchFamily="49" charset="0"/>
            </a:endParaRPr>
          </a:p>
          <a:p>
            <a:endParaRPr lang="en-US" sz="2400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C586C0"/>
              </a:solidFill>
              <a:latin typeface="Consolas" panose="020B0609020204030204" pitchFamily="49" charset="0"/>
            </a:endParaRPr>
          </a:p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src/cond.c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-DDEBUG=1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72156-670C-4A34-A7C2-C5153A67CBA9}"/>
              </a:ext>
            </a:extLst>
          </p:cNvPr>
          <p:cNvSpPr txBox="1"/>
          <p:nvPr/>
        </p:nvSpPr>
        <p:spPr>
          <a:xfrm>
            <a:off x="9072328" y="1723049"/>
            <a:ext cx="25758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#ifndef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DEBUG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#else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2FA70-FBE0-46FE-BB52-1FCCE92D138A}"/>
              </a:ext>
            </a:extLst>
          </p:cNvPr>
          <p:cNvSpPr txBox="1"/>
          <p:nvPr/>
        </p:nvSpPr>
        <p:spPr>
          <a:xfrm>
            <a:off x="1067331" y="4705854"/>
            <a:ext cx="1073034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эти директивы выполняются во время компиляции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не во время работы программы!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Т.е. директивы не будут работать с внутренними переменными языка Си.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Полезно для добавления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дебаг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кода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переносимости на различные архитектуры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учитывания версии библиотек и т.д.</a:t>
            </a:r>
          </a:p>
        </p:txBody>
      </p:sp>
    </p:spTree>
    <p:extLst>
      <p:ext uri="{BB962C8B-B14F-4D97-AF65-F5344CB8AC3E}">
        <p14:creationId xmlns:p14="http://schemas.microsoft.com/office/powerpoint/2010/main" val="2362904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C441DDB-A800-4B6A-9C30-328DBF9CC4AD}"/>
              </a:ext>
            </a:extLst>
          </p:cNvPr>
          <p:cNvSpPr txBox="1"/>
          <p:nvPr/>
        </p:nvSpPr>
        <p:spPr>
          <a:xfrm>
            <a:off x="1088780" y="1351508"/>
            <a:ext cx="1001443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sum = x + y;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#ifdef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DEBUG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этот код будет скомпилирован только если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DEBUG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определен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"DEBUG: Value of x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 x);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"DEBUG: Value of y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 y);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"DEBUG: Sum calculated as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 sum);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sum;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044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07E007-5C4D-4B00-90B5-D6990C14FE08}"/>
              </a:ext>
            </a:extLst>
          </p:cNvPr>
          <p:cNvSpPr txBox="1"/>
          <p:nvPr/>
        </p:nvSpPr>
        <p:spPr>
          <a:xfrm>
            <a:off x="617859" y="1057034"/>
            <a:ext cx="1095628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PRINT_DEBUG(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 ...) </a:t>
            </a:r>
            <a:r>
              <a:rPr lang="ru-RU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(): "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format, __FILE__, __LINE__, __FUNCTION__, ##__VA_ARGS__); </a:t>
            </a: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  <a:p>
            <a:r>
              <a:rPr lang="ru-RU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PRINT_DEBUG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ru-RU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ru-RU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ru-RU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ru-RU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`;` точка с запятой обязательно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{ if (1)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("%s:%d:%s(): a !=%d\n", "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cond.c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5, "main()", a); } while(0);</a:t>
            </a:r>
          </a:p>
        </p:txBody>
      </p:sp>
    </p:spTree>
    <p:extLst>
      <p:ext uri="{BB962C8B-B14F-4D97-AF65-F5344CB8AC3E}">
        <p14:creationId xmlns:p14="http://schemas.microsoft.com/office/powerpoint/2010/main" val="283196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95D51B6C-91AE-4569-B8E6-A8FC50FEB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141" y="289948"/>
            <a:ext cx="9925717" cy="927688"/>
          </a:xfrm>
        </p:spPr>
        <p:txBody>
          <a:bodyPr>
            <a:normAutofit fontScale="90000"/>
          </a:bodyPr>
          <a:lstStyle/>
          <a:p>
            <a:r>
              <a:rPr lang="ru-RU" dirty="0"/>
              <a:t>Защита от повторного включения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A50410-1F36-4DE4-8750-8B4FD9E3D8F8}"/>
              </a:ext>
            </a:extLst>
          </p:cNvPr>
          <p:cNvSpPr txBox="1"/>
          <p:nvPr/>
        </p:nvSpPr>
        <p:spPr>
          <a:xfrm>
            <a:off x="676206" y="1734374"/>
            <a:ext cx="443931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test.h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#ifndef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_TEST_H_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#define _TEST_H_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 a;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определение чего-либо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endif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_TEST_H_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14112-49D2-4720-B0A9-033B9EC714A7}"/>
              </a:ext>
            </a:extLst>
          </p:cNvPr>
          <p:cNvSpPr txBox="1"/>
          <p:nvPr/>
        </p:nvSpPr>
        <p:spPr>
          <a:xfrm>
            <a:off x="4788874" y="1735972"/>
            <a:ext cx="321212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test2.h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test.h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AA398-1F92-4CF3-BF4F-C04C32629789}"/>
              </a:ext>
            </a:extLst>
          </p:cNvPr>
          <p:cNvSpPr txBox="1"/>
          <p:nvPr/>
        </p:nvSpPr>
        <p:spPr>
          <a:xfrm>
            <a:off x="8324448" y="1664884"/>
            <a:ext cx="377376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test.c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test.h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"test2.h"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8801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2265</TotalTime>
  <Words>836</Words>
  <Application>Microsoft Office PowerPoint</Application>
  <PresentationFormat>Широкоэкранный</PresentationFormat>
  <Paragraphs>132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Consolas</vt:lpstr>
      <vt:lpstr>Times New Roman</vt:lpstr>
      <vt:lpstr>Office Theme</vt:lpstr>
      <vt:lpstr>C Programming 8_preprocessor</vt:lpstr>
      <vt:lpstr>Директива #include</vt:lpstr>
      <vt:lpstr>#define</vt:lpstr>
      <vt:lpstr>Презентация PowerPoint</vt:lpstr>
      <vt:lpstr>Презентация PowerPoint</vt:lpstr>
      <vt:lpstr>Презентация PowerPoint</vt:lpstr>
      <vt:lpstr>Предопределенные константы</vt:lpstr>
      <vt:lpstr>Условная компиляция</vt:lpstr>
      <vt:lpstr>Презентация PowerPoint</vt:lpstr>
      <vt:lpstr>Презентация PowerPoint</vt:lpstr>
      <vt:lpstr>Защита от повторного включения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629</cp:revision>
  <dcterms:created xsi:type="dcterms:W3CDTF">2019-12-17T14:15:21Z</dcterms:created>
  <dcterms:modified xsi:type="dcterms:W3CDTF">2025-10-22T04:20:36Z</dcterms:modified>
</cp:coreProperties>
</file>