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320" r:id="rId20"/>
    <p:sldId id="309" r:id="rId3"/>
    <p:sldId id="310" r:id="rId4"/>
    <p:sldId id="311" r:id="rId5"/>
    <p:sldId id="317" r:id="rId6"/>
    <p:sldId id="318" r:id="rId7"/>
    <p:sldId id="321" r:id="rId21"/>
    <p:sldId id="315" r:id="rId8"/>
    <p:sldId id="313" r:id="rId9"/>
    <p:sldId id="319" r:id="rId10"/>
    <p:sldId id="316" r:id="rId11"/>
    <p:sldId id="314" r:id="rId12"/>
    <p:sldId id="322" r:id="rId22"/>
    <p:sldId id="290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30" autoAdjust="0"/>
  </p:normalViewPr>
  <p:slideViewPr>
    <p:cSldViewPr snapToGrid="0">
      <p:cViewPr varScale="1">
        <p:scale>
          <a:sx n="109" d="100"/>
          <a:sy n="109" d="100"/>
        </p:scale>
        <p:origin x="126" y="10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notesMaster" Target="notesMasters/notesMaster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2.xml"/><Relationship Id="rId21" Type="http://schemas.openxmlformats.org/officeDocument/2006/relationships/slide" Target="slides/slide8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873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411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929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551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539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313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581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343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867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981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/>
              <a:t>C Programming</a:t>
            </a:r>
            <a:br>
              <a:rPr lang="en-US" dirty="0"/>
            </a:br>
            <a:r>
              <a:rPr lang="en-US" sz="3200" dirty="0"/>
              <a:t>8_preprocessor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856" y="292608"/>
            <a:ext cx="9921240" cy="923544"/>
          </a:xfrm>
        </p:spPr>
        <p:txBody>
          <a:bodyPr/>
          <a:lstStyle/>
          <a:p>
            <a:r>
              <a:rPr sz="3200" b="1">
                <a:latin typeface="Times New Roman"/>
              </a:rPr>
              <a:t>Этапы сборки программы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latin typeface="Consolas"/>
              </a:rPr>
              <a:t>main.c --[препроцессор]--&gt; main.i --[компилятор]--&gt; main.s</a:t>
            </a:r>
          </a:p>
          <a:p>
            <a:pPr>
              <a:spcAft>
                <a:spcPts val="600"/>
              </a:spcAft>
            </a:pPr>
            <a:r>
              <a:rPr sz="1800">
                <a:latin typeface="Consolas"/>
              </a:rPr>
              <a:t>main.s --[ассемблер]--&gt; main.o --[линковщик]--&gt; a.out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Times New Roman"/>
              </a:rPr>
              <a:t>- препроцессор: раскрывает #include, #define, #if (текст - текст)</a:t>
            </a:r>
          </a:p>
          <a:p>
            <a:pPr>
              <a:spcAft>
                <a:spcPts val="800"/>
              </a:spcAft>
            </a:pPr>
            <a:r>
              <a:rPr sz="2000">
                <a:latin typeface="Times New Roman"/>
              </a:rPr>
              <a:t>- компилятор: Си - ассемблер</a:t>
            </a:r>
          </a:p>
          <a:p>
            <a:pPr>
              <a:spcAft>
                <a:spcPts val="800"/>
              </a:spcAft>
            </a:pPr>
            <a:r>
              <a:rPr sz="2000">
                <a:latin typeface="Times New Roman"/>
              </a:rPr>
              <a:t>- ассемблер: ассемблер - объектный файл .o</a:t>
            </a:r>
          </a:p>
          <a:p>
            <a:pPr>
              <a:spcAft>
                <a:spcPts val="800"/>
              </a:spcAft>
            </a:pPr>
            <a:r>
              <a:rPr sz="2000">
                <a:latin typeface="Times New Roman"/>
              </a:rPr>
              <a:t>- линковщик: склеивает .o и библиотеки в исполняемый файл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latin typeface="Times New Roman"/>
              </a:rPr>
              <a:t>Флаг -E останавливает сборку сразу после препроцессора:</a:t>
            </a:r>
          </a:p>
          <a:p>
            <a:pPr>
              <a:spcAft>
                <a:spcPts val="800"/>
              </a:spcAft>
            </a:pPr>
            <a:r>
              <a:rPr sz="2000">
                <a:latin typeface="Times New Roman"/>
              </a:rPr>
              <a:t>gcc main.c -E -o main.i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0047" y="360287"/>
            <a:ext cx="6711906" cy="927688"/>
          </a:xfrm>
        </p:spPr>
        <p:txBody>
          <a:bodyPr>
            <a:normAutofit/>
          </a:bodyPr>
          <a:lstStyle/>
          <a:p>
            <a:r>
              <a:rPr lang="ru-RU" dirty="0"/>
              <a:t>Директива </a:t>
            </a:r>
            <a:r>
              <a:rPr lang="en-US" dirty="0"/>
              <a:t>#include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31325-4D6D-4981-862A-B80832DB552E}"/>
              </a:ext>
            </a:extLst>
          </p:cNvPr>
          <p:cNvSpPr txBox="1"/>
          <p:nvPr/>
        </p:nvSpPr>
        <p:spPr>
          <a:xfrm>
            <a:off x="6290441" y="1846611"/>
            <a:ext cx="5622052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my_header.h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prog.c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-o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prog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./include/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033A7-12E0-4617-BDE1-89A1C922B95D}"/>
              </a:ext>
            </a:extLst>
          </p:cNvPr>
          <p:cNvSpPr txBox="1"/>
          <p:nvPr/>
        </p:nvSpPr>
        <p:spPr>
          <a:xfrm>
            <a:off x="1011797" y="1569613"/>
            <a:ext cx="527864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Заголовочный файл нужен только для: Описания прототипов функций либо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объявления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новых типов данных (структуры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объединения)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Угловые скобки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&lt;&gt;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говорит компилятору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искать в стандартных путях (обычно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/include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""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Искать в текущем каталоге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Опцией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компилятору можно задать путь до заголовочных файлов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компилятору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прописывать полный путь до заголовочного файла.</a:t>
            </a:r>
          </a:p>
        </p:txBody>
      </p:sp>
    </p:spTree>
    <p:extLst>
      <p:ext uri="{BB962C8B-B14F-4D97-AF65-F5344CB8AC3E}">
        <p14:creationId xmlns:p14="http://schemas.microsoft.com/office/powerpoint/2010/main" val="146615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0047" y="360287"/>
            <a:ext cx="6711906" cy="927688"/>
          </a:xfrm>
        </p:spPr>
        <p:txBody>
          <a:bodyPr>
            <a:normAutofit/>
          </a:bodyPr>
          <a:lstStyle/>
          <a:p>
            <a:r>
              <a:rPr lang="en-US" dirty="0"/>
              <a:t>#define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DC13E-1B12-4A89-BCA0-38B326AED599}"/>
              </a:ext>
            </a:extLst>
          </p:cNvPr>
          <p:cNvSpPr txBox="1"/>
          <p:nvPr/>
        </p:nvSpPr>
        <p:spPr>
          <a:xfrm>
            <a:off x="2498134" y="4370105"/>
            <a:ext cx="71957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ru-RU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K </a:t>
            </a:r>
            <a:r>
              <a:rPr lang="ru-RU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K определена как 123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..</a:t>
            </a:r>
          </a:p>
          <a:p>
            <a:br>
              <a:rPr lang="ru-R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#undef</a:t>
            </a:r>
            <a:r>
              <a:rPr lang="ru-RU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K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а теперь K больше не существует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209C5-AB53-4307-98BB-96F3AB40AFD0}"/>
              </a:ext>
            </a:extLst>
          </p:cNvPr>
          <p:cNvSpPr txBox="1"/>
          <p:nvPr/>
        </p:nvSpPr>
        <p:spPr>
          <a:xfrm>
            <a:off x="925557" y="1287975"/>
            <a:ext cx="103212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директива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предназначенная для макро определений.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точки зрения хорошего стиля кода принято все макро определения пишут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большими буквами.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обычно в двух случаях: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определения констант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N 5)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определения макросов (подобие функции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не это не функция!)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783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F3F923-E378-4E2B-8163-B35DAD8986EE}"/>
              </a:ext>
            </a:extLst>
          </p:cNvPr>
          <p:cNvSpPr txBox="1"/>
          <p:nvPr/>
        </p:nvSpPr>
        <p:spPr>
          <a:xfrm>
            <a:off x="1505215" y="1443841"/>
            <a:ext cx="91815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MIN(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 ((a 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b) 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b)</a:t>
            </a:r>
          </a:p>
          <a:p>
            <a:endParaRPr lang="en-US" sz="3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3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//-&gt;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3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((1 &lt; 2) ? (1 : 2))</a:t>
            </a:r>
            <a:endParaRPr lang="en-US" sz="36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en-US" sz="36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r>
              <a:rPr lang="it-IT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it-IT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ADD(</a:t>
            </a:r>
            <a:r>
              <a:rPr lang="it-IT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it-IT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 a </a:t>
            </a:r>
            <a:r>
              <a:rPr lang="it-IT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it-IT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b</a:t>
            </a:r>
            <a:endParaRPr lang="it-IT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ru-RU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dirty="0">
                <a:solidFill>
                  <a:srgbClr val="6A9955"/>
                </a:solidFill>
                <a:latin typeface="Consolas" panose="020B0609020204030204" pitchFamily="49" charset="0"/>
              </a:rPr>
              <a:t>//-&gt; 5 + 3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126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F3F923-E378-4E2B-8163-B35DAD8986EE}"/>
              </a:ext>
            </a:extLst>
          </p:cNvPr>
          <p:cNvSpPr txBox="1"/>
          <p:nvPr/>
        </p:nvSpPr>
        <p:spPr>
          <a:xfrm>
            <a:off x="2259022" y="2274838"/>
            <a:ext cx="76739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ADD(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 a 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b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b =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 = </a:t>
            </a:r>
            <a:r>
              <a:rPr lang="en-US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(a, b);</a:t>
            </a:r>
            <a:r>
              <a:rPr lang="en-US" sz="3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c?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 =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(a, b);</a:t>
            </a:r>
            <a:r>
              <a:rPr lang="en-US" sz="3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d?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07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337626-3EEF-4724-83B7-12D071FFD19F}"/>
              </a:ext>
            </a:extLst>
          </p:cNvPr>
          <p:cNvSpPr txBox="1"/>
          <p:nvPr/>
        </p:nvSpPr>
        <p:spPr>
          <a:xfrm>
            <a:off x="1672370" y="2397948"/>
            <a:ext cx="94674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MIN(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 ((a 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b) 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b)</a:t>
            </a:r>
          </a:p>
          <a:p>
            <a:endParaRPr lang="en-US" sz="3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endParaRPr lang="en-US" sz="36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func1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func2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94407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856" y="292608"/>
            <a:ext cx="9921240" cy="923544"/>
          </a:xfrm>
        </p:spPr>
        <p:txBody>
          <a:bodyPr/>
          <a:lstStyle/>
          <a:p>
            <a:r>
              <a:rPr sz="3200" b="1">
                <a:latin typeface="Times New Roman"/>
              </a:rPr>
              <a:t>Правила для макросов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latin typeface="Consolas"/>
              </a:rPr>
              <a:t>#define ADD(a, b) ((a) + (b))   // 4 * ADD(a, b) = 32, а не 23</a:t>
            </a:r>
          </a:p>
          <a:p>
            <a:pPr>
              <a:spcAft>
                <a:spcPts val="1400"/>
              </a:spcAft>
            </a:pPr>
            <a:r>
              <a:rPr sz="1800">
                <a:latin typeface="Consolas"/>
              </a:rPr>
              <a:t>MIN(i++, 10);                   // i увеличится дважды</a:t>
            </a:r>
          </a:p>
          <a:p>
            <a:pPr>
              <a:spcAft>
                <a:spcPts val="1400"/>
              </a:spcAft>
            </a:pPr>
            <a:r>
              <a:rPr sz="1800">
                <a:latin typeface="Consolas"/>
              </a:rPr>
              <a:t>#define LOG(x) do { ... } while (0)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Times New Roman"/>
              </a:rPr>
              <a:t>- скобки вокруг каждого аргумента и вокруг всего выражения</a:t>
            </a:r>
          </a:p>
          <a:p>
            <a:pPr>
              <a:spcAft>
                <a:spcPts val="1000"/>
              </a:spcAft>
            </a:pPr>
            <a:r>
              <a:rPr sz="2000">
                <a:latin typeface="Times New Roman"/>
              </a:rPr>
              <a:t>- аргумент подставляется столько раз, сколько встречается в теле</a:t>
            </a:r>
          </a:p>
          <a:p>
            <a:pPr>
              <a:spcAft>
                <a:spcPts val="1000"/>
              </a:spcAft>
            </a:pPr>
            <a:r>
              <a:rPr sz="2000">
                <a:latin typeface="Times New Roman"/>
              </a:rPr>
              <a:t>- несколько операторов - в do { ... } while (0)</a:t>
            </a:r>
          </a:p>
          <a:p>
            <a:pPr>
              <a:spcAft>
                <a:spcPts val="1000"/>
              </a:spcAft>
            </a:pPr>
            <a:r>
              <a:rPr sz="2000">
                <a:latin typeface="Times New Roman"/>
              </a:rPr>
              <a:t>- нужна функция - пишите функцию, а макрос оставьте константам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Предопределенные константы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50410-1F36-4DE4-8750-8B4FD9E3D8F8}"/>
              </a:ext>
            </a:extLst>
          </p:cNvPr>
          <p:cNvSpPr txBox="1"/>
          <p:nvPr/>
        </p:nvSpPr>
        <p:spPr>
          <a:xfrm>
            <a:off x="845991" y="1562532"/>
            <a:ext cx="109269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LINE__                  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номер строки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__FILE__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- имя файла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__FUNCTION__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 имя функции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 at LINE=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FILE=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function=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					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__LINE__, __FILE__, __FUNCTION__);</a:t>
            </a:r>
          </a:p>
          <a:p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__FILE__, __LINE__);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CTRL+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ЛКМ по этой ссылке в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VSCode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__DATE__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 дата компиляции программы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__TIME__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 дата компиляции программы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"Compilation time: date=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time=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__DATE__, __TIME__);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06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1682" y="213215"/>
            <a:ext cx="7808635" cy="927688"/>
          </a:xfrm>
        </p:spPr>
        <p:txBody>
          <a:bodyPr>
            <a:normAutofit/>
          </a:bodyPr>
          <a:lstStyle/>
          <a:p>
            <a:r>
              <a:rPr lang="ru-RU" dirty="0"/>
              <a:t>Условная компиляция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50410-1F36-4DE4-8750-8B4FD9E3D8F8}"/>
              </a:ext>
            </a:extLst>
          </p:cNvPr>
          <p:cNvSpPr txBox="1"/>
          <p:nvPr/>
        </p:nvSpPr>
        <p:spPr>
          <a:xfrm>
            <a:off x="1085978" y="1613920"/>
            <a:ext cx="480113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#if</a:t>
            </a:r>
            <a:r>
              <a:rPr lang="ru-RU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ru-RU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#else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r>
              <a:rPr lang="ru-RU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sz="2400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C586C0"/>
              </a:solidFill>
              <a:latin typeface="Consolas" panose="020B0609020204030204" pitchFamily="49" charset="0"/>
            </a:endParaRPr>
          </a:p>
          <a:p>
            <a:r>
              <a:rPr lang="pt-B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pt-B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src/cond.c</a:t>
            </a:r>
            <a:r>
              <a:rPr lang="pt-B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-DB=5</a:t>
            </a:r>
            <a:endParaRPr lang="pt-B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339AF-F892-4818-9711-FAF8BB866B1B}"/>
              </a:ext>
            </a:extLst>
          </p:cNvPr>
          <p:cNvSpPr txBox="1"/>
          <p:nvPr/>
        </p:nvSpPr>
        <p:spPr>
          <a:xfrm>
            <a:off x="6095999" y="1723049"/>
            <a:ext cx="43668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#ifdef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DEBUG 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#endif</a:t>
            </a:r>
          </a:p>
          <a:p>
            <a:endParaRPr lang="en-US" sz="2400" dirty="0">
              <a:solidFill>
                <a:srgbClr val="C586C0"/>
              </a:solidFill>
              <a:latin typeface="Consolas" panose="020B0609020204030204" pitchFamily="49" charset="0"/>
            </a:endParaRPr>
          </a:p>
          <a:p>
            <a:endParaRPr lang="en-US" sz="2400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C586C0"/>
              </a:solidFill>
              <a:latin typeface="Consolas" panose="020B0609020204030204" pitchFamily="49" charset="0"/>
            </a:endParaRPr>
          </a:p>
          <a:p>
            <a:r>
              <a:rPr lang="pt-B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gcc</a:t>
            </a:r>
            <a:r>
              <a:rPr lang="pt-B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src/cond.c</a:t>
            </a:r>
            <a:r>
              <a:rPr lang="pt-B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-DDEBUG=1</a:t>
            </a:r>
            <a:endParaRPr lang="pt-B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72156-670C-4A34-A7C2-C5153A67CBA9}"/>
              </a:ext>
            </a:extLst>
          </p:cNvPr>
          <p:cNvSpPr txBox="1"/>
          <p:nvPr/>
        </p:nvSpPr>
        <p:spPr>
          <a:xfrm>
            <a:off x="9072328" y="1723049"/>
            <a:ext cx="25758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#ifndef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DEBUG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#else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2FA70-FBE0-46FE-BB52-1FCCE92D138A}"/>
              </a:ext>
            </a:extLst>
          </p:cNvPr>
          <p:cNvSpPr txBox="1"/>
          <p:nvPr/>
        </p:nvSpPr>
        <p:spPr>
          <a:xfrm>
            <a:off x="1067331" y="4705854"/>
            <a:ext cx="1073034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эти директивы выполняются во время компиляции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не во время работы программы!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Т.е. директивы не будут работать с внутренними переменными языка Си.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Полезно для добавления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дебаг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переносимости на различные архитектуры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учитывания версии библиотек и т.д.</a:t>
            </a:r>
          </a:p>
        </p:txBody>
      </p:sp>
    </p:spTree>
    <p:extLst>
      <p:ext uri="{BB962C8B-B14F-4D97-AF65-F5344CB8AC3E}">
        <p14:creationId xmlns:p14="http://schemas.microsoft.com/office/powerpoint/2010/main" val="2362904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C441DDB-A800-4B6A-9C30-328DBF9CC4AD}"/>
              </a:ext>
            </a:extLst>
          </p:cNvPr>
          <p:cNvSpPr txBox="1"/>
          <p:nvPr/>
        </p:nvSpPr>
        <p:spPr>
          <a:xfrm>
            <a:off x="1088780" y="1351508"/>
            <a:ext cx="1001443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sz="2400" b="0">
                <a:latin typeface="Consolas"/>
              </a:rPr>
              <a:t>    int res = x + y;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#ifdef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DEBUG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этот код будет скомпилирован только если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DEBUG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определен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"DEBUG: Value of x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 x);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"DEBUG: Value of y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 y);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sz="2400" b="0">
                <a:latin typeface="Consolas"/>
              </a:rPr>
              <a:t>    printf("DEBUG: Sum calculated as %d\n", res);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sz="2400" b="0">
                <a:latin typeface="Consolas"/>
              </a:rPr>
              <a:t>    return res;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044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07E007-5C4D-4B00-90B5-D6990C14FE08}"/>
              </a:ext>
            </a:extLst>
          </p:cNvPr>
          <p:cNvSpPr txBox="1"/>
          <p:nvPr/>
        </p:nvSpPr>
        <p:spPr>
          <a:xfrm>
            <a:off x="617859" y="1057034"/>
            <a:ext cx="109562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PRINT_DEBUG(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 ...) </a:t>
            </a:r>
            <a:r>
              <a:rPr lang="ru-RU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(): "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format, __FILE__, __LINE__, __FUNCTION__, ##__VA_ARGS__); </a:t>
            </a: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r>
              <a:rPr lang="ru-RU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PRINT_DEBUG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ru-RU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ru-RU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ru-RU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ru-RU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`;` точка с запятой обязательно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{ if (1)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("%s:%d:%s(): a !=%d\n", 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cond.c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5, "main()", a); } while(0);</a:t>
            </a:r>
          </a:p>
        </p:txBody>
      </p:sp>
    </p:spTree>
    <p:extLst>
      <p:ext uri="{BB962C8B-B14F-4D97-AF65-F5344CB8AC3E}">
        <p14:creationId xmlns:p14="http://schemas.microsoft.com/office/powerpoint/2010/main" val="28319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rmAutofit fontScale="90000"/>
          </a:bodyPr>
          <a:lstStyle/>
          <a:p>
            <a:r>
              <a:rPr lang="ru-RU" dirty="0"/>
              <a:t>Защита от повторного включения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50410-1F36-4DE4-8750-8B4FD9E3D8F8}"/>
              </a:ext>
            </a:extLst>
          </p:cNvPr>
          <p:cNvSpPr txBox="1"/>
          <p:nvPr/>
        </p:nvSpPr>
        <p:spPr>
          <a:xfrm>
            <a:off x="676206" y="1734374"/>
            <a:ext cx="443931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test.h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#ifndef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TEST_H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#define TEST_H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 a;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определение чего-либо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endif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TEST_H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F14112-49D2-4720-B0A9-033B9EC714A7}"/>
              </a:ext>
            </a:extLst>
          </p:cNvPr>
          <p:cNvSpPr txBox="1"/>
          <p:nvPr/>
        </p:nvSpPr>
        <p:spPr>
          <a:xfrm>
            <a:off x="4788874" y="1735972"/>
            <a:ext cx="32121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test2.h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test.h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AA398-1F92-4CF3-BF4F-C04C32629789}"/>
              </a:ext>
            </a:extLst>
          </p:cNvPr>
          <p:cNvSpPr txBox="1"/>
          <p:nvPr/>
        </p:nvSpPr>
        <p:spPr>
          <a:xfrm>
            <a:off x="8324448" y="1664884"/>
            <a:ext cx="37737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test.c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test.h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"test2.h"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5287854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latin typeface="Consolas"/>
              </a:rPr>
              <a:t>// современная альтернатива</a:t>
            </a:r>
          </a:p>
          <a:p>
            <a:pPr>
              <a:spcAft>
                <a:spcPts val="400"/>
              </a:spcAft>
            </a:pPr>
            <a:r>
              <a:rPr sz="1400">
                <a:latin typeface="Consolas"/>
              </a:rPr>
              <a:t>#pragma once</a:t>
            </a:r>
          </a:p>
        </p:txBody>
      </p:sp>
    </p:spTree>
    <p:extLst>
      <p:ext uri="{BB962C8B-B14F-4D97-AF65-F5344CB8AC3E}">
        <p14:creationId xmlns:p14="http://schemas.microsoft.com/office/powerpoint/2010/main" val="156880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13CAB2-2AD3-CBC2-8DE8-2FF5AB76B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708" y="732353"/>
            <a:ext cx="2503404" cy="927688"/>
          </a:xfrm>
        </p:spPr>
        <p:txBody>
          <a:bodyPr/>
          <a:lstStyle/>
          <a:p>
            <a:r>
              <a:rPr lang="en-US" dirty="0" err="1"/>
              <a:t>Github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3105916" y="1798093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551" y="2459365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856" y="292608"/>
            <a:ext cx="9921240" cy="923544"/>
          </a:xfrm>
        </p:spPr>
        <p:txBody>
          <a:bodyPr/>
          <a:lstStyle/>
          <a:p>
            <a:r>
              <a:rPr sz="3200" b="1">
                <a:latin typeface="Times New Roman"/>
              </a:rPr>
              <a:t>Итого: препроцессор общается с компилятором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latin typeface="Times New Roman"/>
              </a:rPr>
              <a:t>Все директивы отрабатывают до сборки. К моменту запуска программы их уже нет.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latin typeface="Times New Roman"/>
              </a:rPr>
              <a:t>- в бинарнике нет #include, #define и #if - только результат подстановки</a:t>
            </a:r>
          </a:p>
          <a:p>
            <a:pPr>
              <a:spcAft>
                <a:spcPts val="1200"/>
              </a:spcAft>
            </a:pPr>
            <a:r>
              <a:rPr sz="2000">
                <a:latin typeface="Times New Roman"/>
              </a:rPr>
              <a:t>- #if не видит переменные: их еще не существует, есть только текст</a:t>
            </a:r>
          </a:p>
          <a:p>
            <a:pPr>
              <a:spcAft>
                <a:spcPts val="1200"/>
              </a:spcAft>
            </a:pPr>
            <a:r>
              <a:rPr sz="2000">
                <a:latin typeface="Times New Roman"/>
              </a:rPr>
              <a:t>- #define не занимает память и не имеет адреса</a:t>
            </a:r>
          </a:p>
          <a:p>
            <a:pPr>
              <a:spcAft>
                <a:spcPts val="1200"/>
              </a:spcAft>
            </a:pPr>
            <a:r>
              <a:rPr sz="2000">
                <a:latin typeface="Times New Roman"/>
              </a:rPr>
              <a:t>- код под #ifdef DEBUG в релизной сборке исчезает целиком</a:t>
            </a:r>
          </a:p>
          <a:p>
            <a:pPr>
              <a:spcAft>
                <a:spcPts val="1200"/>
              </a:spcAft>
            </a:pPr>
            <a:r>
              <a:rPr sz="2000">
                <a:latin typeface="Times New Roman"/>
              </a:rPr>
              <a:t>- странное поведение директивы - ищите ошибку в тексте, а не в логике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latin typeface="Consolas"/>
              </a:rPr>
              <a:t>gcc main.c -E -o main.i   # посмотреть, что получилось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2265</TotalTime>
  <Words>836</Words>
  <Application>Microsoft Office PowerPoint</Application>
  <PresentationFormat>Широкоэкранный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Times New Roman</vt:lpstr>
      <vt:lpstr>Office Theme</vt:lpstr>
      <vt:lpstr>C Programming 8_preprocessor</vt:lpstr>
      <vt:lpstr>Директива #include</vt:lpstr>
      <vt:lpstr>#define</vt:lpstr>
      <vt:lpstr>Презентация PowerPoint</vt:lpstr>
      <vt:lpstr>Презентация PowerPoint</vt:lpstr>
      <vt:lpstr>Презентация PowerPoint</vt:lpstr>
      <vt:lpstr>Предопределенные константы</vt:lpstr>
      <vt:lpstr>Условная компиляция</vt:lpstr>
      <vt:lpstr>Презентация PowerPoint</vt:lpstr>
      <vt:lpstr>Презентация PowerPoint</vt:lpstr>
      <vt:lpstr>Защита от повторного включения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629</cp:revision>
  <dcterms:created xsi:type="dcterms:W3CDTF">2019-12-17T14:15:21Z</dcterms:created>
  <dcterms:modified xsi:type="dcterms:W3CDTF">2025-10-22T04:20:36Z</dcterms:modified>
</cp:coreProperties>
</file>