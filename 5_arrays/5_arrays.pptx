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6"/>
  </p:notesMasterIdLst>
  <p:sldIdLst>
    <p:sldId id="256" r:id="rId2"/>
    <p:sldId id="289" r:id="rId3"/>
    <p:sldId id="285" r:id="rId4"/>
    <p:sldId id="306" r:id="rId5"/>
    <p:sldId id="307" r:id="rId6"/>
    <p:sldId id="286" r:id="rId7"/>
    <p:sldId id="287" r:id="rId8"/>
    <p:sldId id="299" r:id="rId9"/>
    <p:sldId id="308" r:id="rId10"/>
    <p:sldId id="298" r:id="rId11"/>
    <p:sldId id="309" r:id="rId12"/>
    <p:sldId id="311" r:id="rId13"/>
    <p:sldId id="312" r:id="rId14"/>
    <p:sldId id="313" r:id="rId15"/>
    <p:sldId id="315" r:id="rId16"/>
    <p:sldId id="316" r:id="rId17"/>
    <p:sldId id="317" r:id="rId18"/>
    <p:sldId id="318" r:id="rId19"/>
    <p:sldId id="319" r:id="rId20"/>
    <p:sldId id="321" r:id="rId21"/>
    <p:sldId id="322" r:id="rId22"/>
    <p:sldId id="325" r:id="rId23"/>
    <p:sldId id="323" r:id="rId24"/>
    <p:sldId id="324" r:id="rId25"/>
    <p:sldId id="326" r:id="rId26"/>
    <p:sldId id="327" r:id="rId27"/>
    <p:sldId id="328" r:id="rId28"/>
    <p:sldId id="329" r:id="rId29"/>
    <p:sldId id="330" r:id="rId30"/>
    <p:sldId id="331" r:id="rId31"/>
    <p:sldId id="337" r:id="rId32"/>
    <p:sldId id="334" r:id="rId33"/>
    <p:sldId id="335" r:id="rId34"/>
    <p:sldId id="336" r:id="rId35"/>
    <p:sldId id="332" r:id="rId36"/>
    <p:sldId id="340" r:id="rId37"/>
    <p:sldId id="333" r:id="rId38"/>
    <p:sldId id="338" r:id="rId39"/>
    <p:sldId id="339" r:id="rId40"/>
    <p:sldId id="341" r:id="rId41"/>
    <p:sldId id="342" r:id="rId42"/>
    <p:sldId id="344" r:id="rId43"/>
    <p:sldId id="343" r:id="rId44"/>
    <p:sldId id="290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92" d="100"/>
          <a:sy n="92" d="100"/>
        </p:scale>
        <p:origin x="576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107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0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788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285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96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92017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687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829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220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990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8732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60124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004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92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316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712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1035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4359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8723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40619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6747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66412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04302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00786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63466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1851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9331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9782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8673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3228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999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6375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1740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8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1783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8028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6214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276427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901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0249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49834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6423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08.10.2025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gif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5_arrays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373551" y="565840"/>
            <a:ext cx="5444897" cy="9896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Average score?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8EDF93-7467-4E58-8C98-1F6C286D5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797122"/>
              </p:ext>
            </p:extLst>
          </p:nvPr>
        </p:nvGraphicFramePr>
        <p:xfrm>
          <a:off x="3145501" y="3265716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C874585-C7FF-45BC-BF39-2E03AD9776DD}"/>
              </a:ext>
            </a:extLst>
          </p:cNvPr>
          <p:cNvSpPr txBox="1"/>
          <p:nvPr/>
        </p:nvSpPr>
        <p:spPr>
          <a:xfrm>
            <a:off x="4457752" y="2804051"/>
            <a:ext cx="3409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score1     score2      score3</a:t>
            </a:r>
            <a:endParaRPr lang="ru-RU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A1B44-E38A-484C-A771-5B6838396CB0}"/>
              </a:ext>
            </a:extLst>
          </p:cNvPr>
          <p:cNvSpPr txBox="1"/>
          <p:nvPr/>
        </p:nvSpPr>
        <p:spPr>
          <a:xfrm>
            <a:off x="4457752" y="3931524"/>
            <a:ext cx="329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Паша</a:t>
            </a:r>
            <a:r>
              <a:rPr lang="en-US" sz="2400" dirty="0"/>
              <a:t>     </a:t>
            </a:r>
            <a:r>
              <a:rPr lang="ru-RU" sz="2400" dirty="0"/>
              <a:t>  Маша</a:t>
            </a:r>
            <a:r>
              <a:rPr lang="en-US" sz="2400" dirty="0"/>
              <a:t>      </a:t>
            </a:r>
            <a:r>
              <a:rPr lang="ru-RU" sz="2400" dirty="0"/>
              <a:t>Даша</a:t>
            </a:r>
          </a:p>
        </p:txBody>
      </p:sp>
    </p:spTree>
    <p:extLst>
      <p:ext uri="{BB962C8B-B14F-4D97-AF65-F5344CB8AC3E}">
        <p14:creationId xmlns:p14="http://schemas.microsoft.com/office/powerpoint/2010/main" val="1936855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1938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6C6242-349F-4DEF-B29F-D1B55C2F5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4344" y="3642705"/>
            <a:ext cx="2677656" cy="26776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E967A3-EB9B-4772-8A6F-9F23FEC66B48}"/>
              </a:ext>
            </a:extLst>
          </p:cNvPr>
          <p:cNvSpPr txBox="1"/>
          <p:nvPr/>
        </p:nvSpPr>
        <p:spPr>
          <a:xfrm>
            <a:off x="989409" y="1208588"/>
            <a:ext cx="105120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используются для хранения нескольких значений в одной переменной вместо объявления отдельных переменных для каждого значения.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переменная - это коробка со значением, то массив - это шкаф с этими коробками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8D4524-799F-43E1-B8E8-E160598C4AA1}"/>
              </a:ext>
            </a:extLst>
          </p:cNvPr>
          <p:cNvSpPr txBox="1"/>
          <p:nvPr/>
        </p:nvSpPr>
        <p:spPr>
          <a:xfrm>
            <a:off x="989409" y="4195361"/>
            <a:ext cx="875466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во многих ЯП (в том числе Си) умеют хранить значения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одного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типа данных, т.е. один массив не может хранить сразу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вещественные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1071959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1C49727-06C1-4034-9EBC-AB23EA1ED5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433404"/>
              </p:ext>
            </p:extLst>
          </p:nvPr>
        </p:nvGraphicFramePr>
        <p:xfrm>
          <a:off x="3562349" y="3699104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2352675" y="1805678"/>
            <a:ext cx="82500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fr-F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[0]     [1]     [2]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0357C7-8D59-409D-B585-83E0D2E6F05B}"/>
              </a:ext>
            </a:extLst>
          </p:cNvPr>
          <p:cNvSpPr txBox="1"/>
          <p:nvPr/>
        </p:nvSpPr>
        <p:spPr>
          <a:xfrm>
            <a:off x="4895849" y="4452183"/>
            <a:ext cx="36612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200    204     208                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97631A-3C5E-4C47-ADAF-474D009BAA5A}"/>
              </a:ext>
            </a:extLst>
          </p:cNvPr>
          <p:cNvSpPr txBox="1"/>
          <p:nvPr/>
        </p:nvSpPr>
        <p:spPr>
          <a:xfrm>
            <a:off x="2352675" y="3699103"/>
            <a:ext cx="1476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7C466-47C5-4A17-B6E4-D5DDE23BE5C7}"/>
              </a:ext>
            </a:extLst>
          </p:cNvPr>
          <p:cNvSpPr txBox="1"/>
          <p:nvPr/>
        </p:nvSpPr>
        <p:spPr>
          <a:xfrm>
            <a:off x="2352675" y="4452183"/>
            <a:ext cx="180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F920B1-A4B2-4784-8D4F-7BFD9C789AB5}"/>
              </a:ext>
            </a:extLst>
          </p:cNvPr>
          <p:cNvSpPr txBox="1"/>
          <p:nvPr/>
        </p:nvSpPr>
        <p:spPr>
          <a:xfrm>
            <a:off x="211503" y="5587236"/>
            <a:ext cx="120233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 C/C++, Python, Java, Go и многих других ЯП индексируются с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Исключения, где массивы начинаются с индекса 1: MATLAB,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lua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Julia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135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E2F26AA-FD4F-4145-BA97-4DEA89F2186E}"/>
              </a:ext>
            </a:extLst>
          </p:cNvPr>
          <p:cNvSpPr txBox="1"/>
          <p:nvPr/>
        </p:nvSpPr>
        <p:spPr>
          <a:xfrm>
            <a:off x="2108299" y="1997839"/>
            <a:ext cx="79754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"Scores: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40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EFBB6C5-F199-4ED5-8C84-0016B46D921F}"/>
              </a:ext>
            </a:extLst>
          </p:cNvPr>
          <p:cNvSpPr txBox="1"/>
          <p:nvPr/>
        </p:nvSpPr>
        <p:spPr>
          <a:xfrm>
            <a:off x="2377379" y="1443841"/>
            <a:ext cx="743724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0227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D4E7EFE-F88B-4B6A-BBD5-99B24D4F48D2}"/>
              </a:ext>
            </a:extLst>
          </p:cNvPr>
          <p:cNvSpPr txBox="1"/>
          <p:nvPr/>
        </p:nvSpPr>
        <p:spPr>
          <a:xfrm>
            <a:off x="2618536" y="814574"/>
            <a:ext cx="729961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 = a;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Error,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Ok, possible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9C3B6A-A057-4D93-BB7A-62CE463F5CC7}"/>
              </a:ext>
            </a:extLst>
          </p:cNvPr>
          <p:cNvSpPr txBox="1"/>
          <p:nvPr/>
        </p:nvSpPr>
        <p:spPr>
          <a:xfrm>
            <a:off x="344686" y="5424426"/>
            <a:ext cx="118473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egmentation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fault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ошибка во время выполнения программы, когда программа попыталась обратиться к памяти, к которой доступ не разрешен.</a:t>
            </a:r>
          </a:p>
        </p:txBody>
      </p:sp>
    </p:spTree>
    <p:extLst>
      <p:ext uri="{BB962C8B-B14F-4D97-AF65-F5344CB8AC3E}">
        <p14:creationId xmlns:p14="http://schemas.microsoft.com/office/powerpoint/2010/main" val="3740427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 size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987136" y="2951946"/>
            <a:ext cx="107649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3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элемента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array_size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(m) /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12/4=3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7618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Delete/insert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1161616" y="2397948"/>
            <a:ext cx="98687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В "обычном" массиве нельзя удалить элемент и уменьшить/увеличить размер самого массива. Такое можно будет делать с </a:t>
            </a:r>
            <a:r>
              <a:rPr lang="ru-RU" sz="3200" b="1" dirty="0"/>
              <a:t>динамическими массивами</a:t>
            </a:r>
            <a:r>
              <a:rPr lang="ru-RU" sz="3200" dirty="0"/>
              <a:t>, скоро их посмотрим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678486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8A0727-1C7E-4B94-A7B1-3E57B599AB73}"/>
              </a:ext>
            </a:extLst>
          </p:cNvPr>
          <p:cNvSpPr txBox="1"/>
          <p:nvPr/>
        </p:nvSpPr>
        <p:spPr>
          <a:xfrm>
            <a:off x="1140745" y="1874728"/>
            <a:ext cx="991051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nn-NO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nn-NO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 &lt; n; i++)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"array[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i,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35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420BDBE-C0EC-46DA-A234-8F58435F0BF2}"/>
              </a:ext>
            </a:extLst>
          </p:cNvPr>
          <p:cNvSpPr txBox="1"/>
          <p:nvPr/>
        </p:nvSpPr>
        <p:spPr>
          <a:xfrm>
            <a:off x="1146029" y="2151727"/>
            <a:ext cx="98999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(N, scores);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[M]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(M, array);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2844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Random numbers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C67EDD-74E6-4090-833D-C9D5A534E1CE}"/>
              </a:ext>
            </a:extLst>
          </p:cNvPr>
          <p:cNvSpPr txBox="1"/>
          <p:nvPr/>
        </p:nvSpPr>
        <p:spPr>
          <a:xfrm>
            <a:off x="3048865" y="2551837"/>
            <a:ext cx="60942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3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random =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BAA43-2BF9-431E-AA12-CD336AD89460}"/>
              </a:ext>
            </a:extLst>
          </p:cNvPr>
          <p:cNvSpPr txBox="1"/>
          <p:nvPr/>
        </p:nvSpPr>
        <p:spPr>
          <a:xfrm>
            <a:off x="465425" y="5042048"/>
            <a:ext cx="112611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возвращает случайное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целое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число (целое в диапазоне от 0 до RAND_MAX, где RAND_MAX - определен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31039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Random numbers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692726" y="2358737"/>
            <a:ext cx="1080654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(семя) для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псевдорандома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некоторое число, что каким-то образом влияет на формулу случайных чисел        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возвращающая кол-во секунд прошедших с 00:00:00 UTC, 1 Января, 1970 года, называется - Unix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временная метка).         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977A2-B459-442D-AE90-5AEF2CA2F5A6}"/>
              </a:ext>
            </a:extLst>
          </p:cNvPr>
          <p:cNvSpPr txBox="1"/>
          <p:nvPr/>
        </p:nvSpPr>
        <p:spPr>
          <a:xfrm>
            <a:off x="4252911" y="5728938"/>
            <a:ext cx="3686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https://www.unixtimestamp.com/ </a:t>
            </a:r>
          </a:p>
        </p:txBody>
      </p:sp>
    </p:spTree>
    <p:extLst>
      <p:ext uri="{BB962C8B-B14F-4D97-AF65-F5344CB8AC3E}">
        <p14:creationId xmlns:p14="http://schemas.microsoft.com/office/powerpoint/2010/main" val="1059099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1118754" y="2305615"/>
            <a:ext cx="99544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достаточно сделать 1 раз</a:t>
            </a:r>
          </a:p>
          <a:p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"Unix timestamp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"Random [0..99]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%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8F2334-4467-4F4D-9C2D-8F8BBB89039A}"/>
              </a:ext>
            </a:extLst>
          </p:cNvPr>
          <p:cNvSpPr txBox="1"/>
          <p:nvPr/>
        </p:nvSpPr>
        <p:spPr>
          <a:xfrm>
            <a:off x="270811" y="5835225"/>
            <a:ext cx="11650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Самостоятельно:</a:t>
            </a:r>
            <a:r>
              <a:rPr lang="ru-RU" dirty="0"/>
              <a:t> заполнить массив размером N случайными числами от 0 до 999 и найти в нем минимальный элемент - вывести его на экран            </a:t>
            </a:r>
          </a:p>
        </p:txBody>
      </p:sp>
    </p:spTree>
    <p:extLst>
      <p:ext uri="{BB962C8B-B14F-4D97-AF65-F5344CB8AC3E}">
        <p14:creationId xmlns:p14="http://schemas.microsoft.com/office/powerpoint/2010/main" val="3971628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Complex Numbers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E84824E-BF54-4DAC-8F81-3E6299D69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35" y="1680728"/>
            <a:ext cx="7215195" cy="360759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2893D7-7BF0-428B-B62B-07D06D9C40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227" r="27546"/>
          <a:stretch/>
        </p:blipFill>
        <p:spPr>
          <a:xfrm>
            <a:off x="8206896" y="1670982"/>
            <a:ext cx="3407542" cy="36075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4732C14-43E7-42E5-9D85-6EC8EED6119F}"/>
              </a:ext>
            </a:extLst>
          </p:cNvPr>
          <p:cNvSpPr txBox="1"/>
          <p:nvPr/>
        </p:nvSpPr>
        <p:spPr>
          <a:xfrm>
            <a:off x="716972" y="5667419"/>
            <a:ext cx="11250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Комплексное число </a:t>
            </a:r>
            <a:r>
              <a:rPr lang="ru-RU" dirty="0"/>
              <a:t>– выражение вида a + </a:t>
            </a:r>
            <a:r>
              <a:rPr lang="ru-RU" dirty="0" err="1"/>
              <a:t>bi</a:t>
            </a:r>
            <a:r>
              <a:rPr lang="ru-RU" dirty="0"/>
              <a:t>, где a и b некоторые целые либо вещественные числа, а i это корень из -1.</a:t>
            </a:r>
          </a:p>
        </p:txBody>
      </p:sp>
    </p:spTree>
    <p:extLst>
      <p:ext uri="{BB962C8B-B14F-4D97-AF65-F5344CB8AC3E}">
        <p14:creationId xmlns:p14="http://schemas.microsoft.com/office/powerpoint/2010/main" val="598237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1EEC80F-B909-48C3-A0D3-2B038285C3F1}"/>
              </a:ext>
            </a:extLst>
          </p:cNvPr>
          <p:cNvSpPr txBox="1"/>
          <p:nvPr/>
        </p:nvSpPr>
        <p:spPr>
          <a:xfrm>
            <a:off x="698787" y="845790"/>
            <a:ext cx="11126066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представить комплексное число и положить его в компьютер? 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создают из двух чисел – a и b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пропускается. Соответственно массив из 3 комплексных чисел есть массив из 6 обычных чисел. И тогда числа под четными индексами — это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реальная часть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комплексного числа, а нечетные индексы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мнимая часть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9F015-93C6-40E8-8AD5-BA5861DF5745}"/>
              </a:ext>
            </a:extLst>
          </p:cNvPr>
          <p:cNvSpPr txBox="1"/>
          <p:nvPr/>
        </p:nvSpPr>
        <p:spPr>
          <a:xfrm>
            <a:off x="2589933" y="4447546"/>
            <a:ext cx="753081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[RE0, IM0, RE1, IM1, RE2, IM2],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– Real (реальная часть),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 –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imaginary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мнимая часть).</a:t>
            </a:r>
          </a:p>
        </p:txBody>
      </p:sp>
    </p:spTree>
    <p:extLst>
      <p:ext uri="{BB962C8B-B14F-4D97-AF65-F5344CB8AC3E}">
        <p14:creationId xmlns:p14="http://schemas.microsoft.com/office/powerpoint/2010/main" val="798858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31A9CB-C349-45FD-9071-14AC8A0A94B7}"/>
              </a:ext>
            </a:extLst>
          </p:cNvPr>
          <p:cNvSpPr txBox="1"/>
          <p:nvPr/>
        </p:nvSpPr>
        <p:spPr>
          <a:xfrm>
            <a:off x="410105" y="877853"/>
            <a:ext cx="113717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Так, например, наши с вами телефоны из воздуха достают большие массивы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комплексных чисел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когда работают с беспроводными сетями типа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-Fi или 4G, 5G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Эти комплексные числа образуют различные "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созвездия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которые затем преобразуются в более понятные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анные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`0` и `1` 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AF32C1F-6388-4BC6-8E9D-E370681BC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287" y="3071330"/>
            <a:ext cx="9081426" cy="349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08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C6A0A6D-CABF-4FDD-9BE0-6AEBF7DB8D48}"/>
              </a:ext>
            </a:extLst>
          </p:cNvPr>
          <p:cNvSpPr txBox="1"/>
          <p:nvPr/>
        </p:nvSpPr>
        <p:spPr>
          <a:xfrm>
            <a:off x="948170" y="2509088"/>
            <a:ext cx="102956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 нам из воздуха пришло 10 комплексных целых чисел, где реальная и мнимая части занимают по 16 бит, как мы можем упаковать их в массив?          </a:t>
            </a:r>
          </a:p>
        </p:txBody>
      </p:sp>
    </p:spTree>
    <p:extLst>
      <p:ext uri="{BB962C8B-B14F-4D97-AF65-F5344CB8AC3E}">
        <p14:creationId xmlns:p14="http://schemas.microsoft.com/office/powerpoint/2010/main" val="370638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9FA1554-9E87-4ADB-AB04-01E05815F574}"/>
              </a:ext>
            </a:extLst>
          </p:cNvPr>
          <p:cNvSpPr txBox="1"/>
          <p:nvPr/>
        </p:nvSpPr>
        <p:spPr>
          <a:xfrm>
            <a:off x="740352" y="1131187"/>
            <a:ext cx="6094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7F88B8-0548-439A-9E05-1F65DA30B035}"/>
              </a:ext>
            </a:extLst>
          </p:cNvPr>
          <p:cNvSpPr txBox="1"/>
          <p:nvPr/>
        </p:nvSpPr>
        <p:spPr>
          <a:xfrm>
            <a:off x="740352" y="1815782"/>
            <a:ext cx="76243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четный_индекс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реальная часть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нечетный_индекс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мнимая часть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8724E-B9D3-45B6-BD27-AFDDE59924FE}"/>
              </a:ext>
            </a:extLst>
          </p:cNvPr>
          <p:cNvSpPr txBox="1"/>
          <p:nvPr/>
        </p:nvSpPr>
        <p:spPr>
          <a:xfrm>
            <a:off x="3691371" y="4041944"/>
            <a:ext cx="37874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9F6A71-2008-43B9-997B-446A344A2F50}"/>
              </a:ext>
            </a:extLst>
          </p:cNvPr>
          <p:cNvSpPr txBox="1"/>
          <p:nvPr/>
        </p:nvSpPr>
        <p:spPr>
          <a:xfrm>
            <a:off x="3787486" y="4565164"/>
            <a:ext cx="797762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&amp; 0xffff)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реальная часть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&gt;&gt; 16) &amp; 0xffff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мнимая часть</a:t>
            </a:r>
          </a:p>
        </p:txBody>
      </p:sp>
    </p:spTree>
    <p:extLst>
      <p:ext uri="{BB962C8B-B14F-4D97-AF65-F5344CB8AC3E}">
        <p14:creationId xmlns:p14="http://schemas.microsoft.com/office/powerpoint/2010/main" val="2799131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9F55BD0-BA43-49F4-A169-92453CF0CB7A}"/>
              </a:ext>
            </a:extLst>
          </p:cNvPr>
          <p:cNvSpPr txBox="1"/>
          <p:nvPr/>
        </p:nvSpPr>
        <p:spPr>
          <a:xfrm>
            <a:off x="1088880" y="1098159"/>
            <a:ext cx="100142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алгоритмы для упорядочивания данных в массивах (по возрастанию или убыванию).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Алгоритмов сортировок существует очень много и с разными данными они работают с разной эффективностью (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сложностью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С отсортированными данными обычно проще и быстрее работать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EB7C-7388-4EAC-9CD5-7DB5E076D366}"/>
              </a:ext>
            </a:extLst>
          </p:cNvPr>
          <p:cNvSpPr txBox="1"/>
          <p:nvPr/>
        </p:nvSpPr>
        <p:spPr>
          <a:xfrm>
            <a:off x="1088880" y="3408218"/>
            <a:ext cx="60942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Пару алгоритмов сортировок: </a:t>
            </a:r>
            <a:endParaRPr lang="en-US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Bubble Sort - </a:t>
            </a:r>
            <a:r>
              <a:rPr lang="ru-RU" sz="2400" dirty="0"/>
              <a:t>Пузырьковая 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Insertion Sort - </a:t>
            </a:r>
            <a:r>
              <a:rPr lang="ru-RU" sz="2400" dirty="0"/>
              <a:t>Сортировка вставками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Selection Sort - </a:t>
            </a:r>
            <a:r>
              <a:rPr lang="ru-RU" sz="2400" dirty="0"/>
              <a:t>Сортировка выбором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Counting Sort - </a:t>
            </a:r>
            <a:r>
              <a:rPr lang="ru-RU" sz="2400" dirty="0"/>
              <a:t>Сортировка подсчетом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Radix Sort - </a:t>
            </a:r>
            <a:r>
              <a:rPr lang="ru-RU" sz="2400" dirty="0" err="1"/>
              <a:t>Поразрадная</a:t>
            </a:r>
            <a:r>
              <a:rPr lang="ru-RU" sz="2400" dirty="0"/>
              <a:t> 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Merge Sort - </a:t>
            </a:r>
            <a:r>
              <a:rPr lang="ru-RU" sz="2400" dirty="0"/>
              <a:t>Сортировка слиянием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Quick Sort - </a:t>
            </a:r>
            <a:r>
              <a:rPr lang="ru-RU" sz="2400" dirty="0"/>
              <a:t>Быстрая сортировка</a:t>
            </a:r>
          </a:p>
        </p:txBody>
      </p:sp>
    </p:spTree>
    <p:extLst>
      <p:ext uri="{BB962C8B-B14F-4D97-AF65-F5344CB8AC3E}">
        <p14:creationId xmlns:p14="http://schemas.microsoft.com/office/powerpoint/2010/main" val="2308073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swap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07232-2097-453C-AE5B-A219626D9E00}"/>
              </a:ext>
            </a:extLst>
          </p:cNvPr>
          <p:cNvSpPr txBox="1"/>
          <p:nvPr/>
        </p:nvSpPr>
        <p:spPr>
          <a:xfrm>
            <a:off x="3650455" y="2644170"/>
            <a:ext cx="489108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temp =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temp;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FEFB5-052A-4EA9-9E8D-C90CEE47ED0B}"/>
              </a:ext>
            </a:extLst>
          </p:cNvPr>
          <p:cNvSpPr txBox="1"/>
          <p:nvPr/>
        </p:nvSpPr>
        <p:spPr>
          <a:xfrm>
            <a:off x="813089" y="6068103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или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tmp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от слова временный (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temporary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            </a:t>
            </a:r>
          </a:p>
        </p:txBody>
      </p:sp>
    </p:spTree>
    <p:extLst>
      <p:ext uri="{BB962C8B-B14F-4D97-AF65-F5344CB8AC3E}">
        <p14:creationId xmlns:p14="http://schemas.microsoft.com/office/powerpoint/2010/main" val="473134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Bubble sort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47827-71C0-44F0-8DF8-D0E586969D53}"/>
              </a:ext>
            </a:extLst>
          </p:cNvPr>
          <p:cNvSpPr txBox="1"/>
          <p:nvPr/>
        </p:nvSpPr>
        <p:spPr>
          <a:xfrm>
            <a:off x="1921018" y="2083061"/>
            <a:ext cx="834996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ДЛЯ i от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до n-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ДЛЯ j от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до n-i-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ЕСЛИ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[j+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поменять местами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[j+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Визуализация сортировки массива чисел алгоритмом сортировки пузырьком">
            <a:extLst>
              <a:ext uri="{FF2B5EF4-FFF2-40B4-BE49-F238E27FC236}">
                <a16:creationId xmlns:a16="http://schemas.microsoft.com/office/drawing/2014/main" id="{C46A5F77-08E8-4697-B943-9089E275A88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459" y="4337384"/>
            <a:ext cx="3719080" cy="222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098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Bubble sort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03F600-0ABF-4D8D-B958-854BE43B30C5}"/>
              </a:ext>
            </a:extLst>
          </p:cNvPr>
          <p:cNvSpPr txBox="1"/>
          <p:nvPr/>
        </p:nvSpPr>
        <p:spPr>
          <a:xfrm>
            <a:off x="2491868" y="2009470"/>
            <a:ext cx="720826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bubble_sort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[size])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size;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size -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=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DC2995-7421-46B2-B1B4-458EB390801B}"/>
              </a:ext>
            </a:extLst>
          </p:cNvPr>
          <p:cNvSpPr txBox="1"/>
          <p:nvPr/>
        </p:nvSpPr>
        <p:spPr>
          <a:xfrm>
            <a:off x="781916" y="6098417"/>
            <a:ext cx="7489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*В функцию </a:t>
            </a:r>
            <a:r>
              <a:rPr lang="ru-RU" b="1" dirty="0"/>
              <a:t>можно передать массив</a:t>
            </a:r>
            <a:r>
              <a:rPr lang="ru-RU" dirty="0"/>
              <a:t>, но из функции </a:t>
            </a:r>
            <a:r>
              <a:rPr lang="ru-RU" b="1" dirty="0"/>
              <a:t>нельзя его вернуть</a:t>
            </a:r>
          </a:p>
        </p:txBody>
      </p:sp>
    </p:spTree>
    <p:extLst>
      <p:ext uri="{BB962C8B-B14F-4D97-AF65-F5344CB8AC3E}">
        <p14:creationId xmlns:p14="http://schemas.microsoft.com/office/powerpoint/2010/main" val="2850235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369003" y="158698"/>
            <a:ext cx="7453992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Insertion Sort</a:t>
            </a:r>
            <a:r>
              <a:rPr lang="ru-RU" dirty="0"/>
              <a:t> (вставками)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736EC2-6F28-40FE-A624-4E4820BABCF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8881" y="1776325"/>
            <a:ext cx="7234237" cy="4340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91103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729221" y="98448"/>
            <a:ext cx="6733557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Selection sort (</a:t>
            </a:r>
            <a:r>
              <a:rPr lang="ru-RU" dirty="0"/>
              <a:t>выбором)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E9B665-9B70-41C7-AA41-F7C9FFEAEF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5455" y="1481952"/>
            <a:ext cx="1433946" cy="4773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4260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677267" y="181574"/>
            <a:ext cx="6837466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Counting sort (</a:t>
            </a:r>
            <a:r>
              <a:rPr lang="ru-RU" dirty="0"/>
              <a:t>Подсчетом)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0CF67C-4C0C-4CF8-9C29-49A701F2D8B8}"/>
              </a:ext>
            </a:extLst>
          </p:cNvPr>
          <p:cNvSpPr txBox="1"/>
          <p:nvPr/>
        </p:nvSpPr>
        <p:spPr>
          <a:xfrm>
            <a:off x="2677267" y="1638823"/>
            <a:ext cx="6837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[i]]++;</a:t>
            </a: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 - индекс, </a:t>
            </a: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- оригинальный сортируемый массив, 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- массив для подсчета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744CF4C-8185-45D4-A7DB-CCBA32D1AC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13" t="11577" r="2043" b="9485"/>
          <a:stretch/>
        </p:blipFill>
        <p:spPr>
          <a:xfrm>
            <a:off x="2246169" y="3131532"/>
            <a:ext cx="7699662" cy="354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183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27934" y="254311"/>
            <a:ext cx="6536129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Radix sort (</a:t>
            </a:r>
            <a:r>
              <a:rPr lang="ru-RU" dirty="0"/>
              <a:t>поразрядная)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A3E23CE-8539-4866-BFDB-FCE066C0D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16" y="1984664"/>
            <a:ext cx="10503367" cy="416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74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264353" y="174369"/>
            <a:ext cx="56632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Quick sort</a:t>
            </a:r>
            <a:r>
              <a:rPr lang="ru-RU" dirty="0"/>
              <a:t> (быстрая)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424CB4-C106-4924-ADEB-146AB0971D79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955" y="4568165"/>
            <a:ext cx="2996045" cy="2289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8F71EC1-0BA4-46C4-AAB9-BCFE62CF96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11" t="14129" r="13312" b="8390"/>
          <a:stretch/>
        </p:blipFill>
        <p:spPr>
          <a:xfrm>
            <a:off x="147781" y="1485900"/>
            <a:ext cx="9048174" cy="479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77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170835" y="0"/>
            <a:ext cx="5850329" cy="9570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Merge sort (</a:t>
            </a:r>
            <a:r>
              <a:rPr lang="ru-RU" dirty="0"/>
              <a:t>слиянием)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1CA28ED-939E-44B5-A55F-44993ED4E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14" y="1112959"/>
            <a:ext cx="5886450" cy="566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3724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07153" y="243920"/>
            <a:ext cx="65776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Bogo sort (</a:t>
            </a:r>
            <a:r>
              <a:rPr lang="ru-RU" dirty="0"/>
              <a:t>непрактичная)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3AF1A96-76DF-4231-9C29-38D35F29CD2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165" y="1643496"/>
            <a:ext cx="4341668" cy="434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6A9053-CE3A-48D7-A737-A83BFC6DC7E9}"/>
              </a:ext>
            </a:extLst>
          </p:cNvPr>
          <p:cNvSpPr txBox="1"/>
          <p:nvPr/>
        </p:nvSpPr>
        <p:spPr>
          <a:xfrm>
            <a:off x="543356" y="6327876"/>
            <a:ext cx="11313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 такой сортировкой отсортировать массив любого размера можно с 1 раза, однако шанс не велик.. </a:t>
            </a:r>
            <a:r>
              <a:rPr lang="ru-RU" b="1" dirty="0"/>
              <a:t>но он есть</a:t>
            </a:r>
            <a:r>
              <a:rPr lang="ru-RU" dirty="0"/>
              <a:t>         </a:t>
            </a:r>
          </a:p>
        </p:txBody>
      </p:sp>
    </p:spTree>
    <p:extLst>
      <p:ext uri="{BB962C8B-B14F-4D97-AF65-F5344CB8AC3E}">
        <p14:creationId xmlns:p14="http://schemas.microsoft.com/office/powerpoint/2010/main" val="704768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07153" y="243920"/>
            <a:ext cx="65776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Bogo sort (</a:t>
            </a:r>
            <a:r>
              <a:rPr lang="ru-RU" dirty="0"/>
              <a:t>непрактичная)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E63EA211-F566-4FF1-BE78-AC7B0D7485E7}"/>
              </a:ext>
            </a:extLst>
          </p:cNvPr>
          <p:cNvGrpSpPr/>
          <p:nvPr/>
        </p:nvGrpSpPr>
        <p:grpSpPr>
          <a:xfrm>
            <a:off x="257608" y="1704974"/>
            <a:ext cx="11723110" cy="5059507"/>
            <a:chOff x="257608" y="1704975"/>
            <a:chExt cx="10245459" cy="4362450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62CD93E4-D995-4C02-A901-3C52B6C19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608" y="1704975"/>
              <a:ext cx="6543675" cy="4362450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0AF879D5-9A98-4642-8A41-D802ADE53D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99499" y="2052638"/>
              <a:ext cx="7403568" cy="4014787"/>
            </a:xfrm>
            <a:prstGeom prst="rect">
              <a:avLst/>
            </a:prstGeom>
          </p:spPr>
        </p:pic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9152C8D2-02B6-4D2D-A4ED-5D3952A0015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98" y="3319312"/>
            <a:ext cx="2545773" cy="2545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3179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0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Matrix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B224B9-E7C6-4CA1-BE38-87CF9D43988F}"/>
              </a:ext>
            </a:extLst>
          </p:cNvPr>
          <p:cNvSpPr txBox="1"/>
          <p:nvPr/>
        </p:nvSpPr>
        <p:spPr>
          <a:xfrm>
            <a:off x="782347" y="1149188"/>
            <a:ext cx="1062730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Переменная - коробка, массив - шкаф с коробками, матрица - комната со шкафами..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могут быть не только одномерными, могут быть двумерными.. n-мерными. Двумерные массивы обычно называют словом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т.к. они похожи на матрицы (или таблицы) со строками и столбцами. Индексы все также начинаются с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нуля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 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597FEA4-3EAF-457D-854C-AAC50C21F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9" y="3782557"/>
            <a:ext cx="7048500" cy="2686050"/>
          </a:xfrm>
          <a:prstGeom prst="rect">
            <a:avLst/>
          </a:prstGeom>
        </p:spPr>
      </p:pic>
      <p:pic>
        <p:nvPicPr>
          <p:cNvPr id="6146" name="Picture 2" descr="Free Storage Room Boxes Image | Download at StockCake">
            <a:extLst>
              <a:ext uri="{FF2B5EF4-FFF2-40B4-BE49-F238E27FC236}">
                <a16:creationId xmlns:a16="http://schemas.microsoft.com/office/drawing/2014/main" id="{F549F1E9-6FD5-4D34-9190-8D4D63B6E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473" y="4174814"/>
            <a:ext cx="3837913" cy="21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9973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84175D-0972-4C4D-ADEC-BC946A87D67B}"/>
              </a:ext>
            </a:extLst>
          </p:cNvPr>
          <p:cNvSpPr txBox="1"/>
          <p:nvPr/>
        </p:nvSpPr>
        <p:spPr>
          <a:xfrm>
            <a:off x="2793206" y="982176"/>
            <a:ext cx="66055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[N][N];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 =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j +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7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Memory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514898-4112-4DA8-84F0-8C3D2C6E3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5" y="1720643"/>
            <a:ext cx="12084627" cy="476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773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874179-1CD3-4AE9-B84C-263EEAD7E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903094"/>
            <a:ext cx="9886950" cy="3009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594C62-BEB6-4532-9385-F1BBA89AD475}"/>
              </a:ext>
            </a:extLst>
          </p:cNvPr>
          <p:cNvSpPr txBox="1"/>
          <p:nvPr/>
        </p:nvSpPr>
        <p:spPr>
          <a:xfrm>
            <a:off x="3048866" y="4356437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j)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861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2FE43-3D6F-4119-B128-3FC529E4C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009" y="459436"/>
            <a:ext cx="6331982" cy="4395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70173B-C4F6-4321-A44F-3D7A1FF67263}"/>
              </a:ext>
            </a:extLst>
          </p:cNvPr>
          <p:cNvSpPr txBox="1"/>
          <p:nvPr/>
        </p:nvSpPr>
        <p:spPr>
          <a:xfrm>
            <a:off x="933017" y="5154050"/>
            <a:ext cx="103259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3D массив - это уже будет квартира с комнатами со шкафами с коробками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4D –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дом с квартирами.. и так продолжать можно долго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724684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E66F06-A0A1-4BF6-A4A2-B2F68CB7B1EA}"/>
              </a:ext>
            </a:extLst>
          </p:cNvPr>
          <p:cNvSpPr txBox="1"/>
          <p:nvPr/>
        </p:nvSpPr>
        <p:spPr>
          <a:xfrm>
            <a:off x="1353848" y="1536174"/>
            <a:ext cx="94843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c1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c2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'i'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c3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pt-BR" sz="4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pt-BR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c1, c2, c3);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c1, c2, c3);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352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String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33A4AA-94BC-45E9-B17D-D9AF1B37AFAB}"/>
              </a:ext>
            </a:extLst>
          </p:cNvPr>
          <p:cNvSpPr txBox="1"/>
          <p:nvPr/>
        </p:nvSpPr>
        <p:spPr>
          <a:xfrm>
            <a:off x="3048865" y="2777897"/>
            <a:ext cx="609426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pt-BR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"Hi!"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pt-BR" sz="4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s);</a:t>
            </a:r>
            <a:endParaRPr lang="pt-BR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BC1FCA-42BE-4683-988E-66927009937F}"/>
              </a:ext>
            </a:extLst>
          </p:cNvPr>
          <p:cNvSpPr txBox="1"/>
          <p:nvPr/>
        </p:nvSpPr>
        <p:spPr>
          <a:xfrm>
            <a:off x="1260329" y="4659074"/>
            <a:ext cx="99826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"%s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позволяет выводить строки на экран (от слова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понять где строка закончится?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656171-10DF-474C-9A12-5B994AFA8EEC}"/>
              </a:ext>
            </a:extLst>
          </p:cNvPr>
          <p:cNvSpPr txBox="1"/>
          <p:nvPr/>
        </p:nvSpPr>
        <p:spPr>
          <a:xfrm>
            <a:off x="1260329" y="1696940"/>
            <a:ext cx="94011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языке Си строка - есть массив символов.</a:t>
            </a:r>
          </a:p>
        </p:txBody>
      </p:sp>
    </p:spTree>
    <p:extLst>
      <p:ext uri="{BB962C8B-B14F-4D97-AF65-F5344CB8AC3E}">
        <p14:creationId xmlns:p14="http://schemas.microsoft.com/office/powerpoint/2010/main" val="28971976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6" y="-84215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NUL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DAA7BC-528F-4404-B973-8A0655B562CA}"/>
              </a:ext>
            </a:extLst>
          </p:cNvPr>
          <p:cNvSpPr txBox="1"/>
          <p:nvPr/>
        </p:nvSpPr>
        <p:spPr>
          <a:xfrm>
            <a:off x="2185115" y="5870864"/>
            <a:ext cx="83986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Нул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-терминатор ('\0') - это символ конца строки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8EA5E36-51EA-49C8-981D-DF887E426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952" y="987136"/>
            <a:ext cx="8722092" cy="442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9809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String array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485404"/>
            <a:ext cx="96980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"Hi!"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"Bye!"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c%c%c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c%c%c%c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956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A9D1BF-8B4E-43AE-9CD9-8018C05EA0FF}"/>
              </a:ext>
            </a:extLst>
          </p:cNvPr>
          <p:cNvSpPr txBox="1"/>
          <p:nvPr/>
        </p:nvSpPr>
        <p:spPr>
          <a:xfrm>
            <a:off x="881063" y="872995"/>
            <a:ext cx="10429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считывает до пробела, используем формат %s, не используем амперсанд, т.к. имя массива нам даст адрес переменной массива.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fgets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считывает с пробелами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21557-1C1C-43C2-B08B-17C556B377B9}"/>
              </a:ext>
            </a:extLst>
          </p:cNvPr>
          <p:cNvSpPr txBox="1"/>
          <p:nvPr/>
        </p:nvSpPr>
        <p:spPr>
          <a:xfrm>
            <a:off x="1086499" y="2277392"/>
            <a:ext cx="60942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"Enter name: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"Your name is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F4314-B104-4CC0-846D-0E02C3E00B1C}"/>
              </a:ext>
            </a:extLst>
          </p:cNvPr>
          <p:cNvSpPr txBox="1"/>
          <p:nvPr/>
        </p:nvSpPr>
        <p:spPr>
          <a:xfrm>
            <a:off x="5732318" y="4051121"/>
            <a:ext cx="59124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"Enter name: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(name), stdin);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"My name is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0306EC-55E3-4F5B-8A05-ECCFE5BB9A8D}"/>
              </a:ext>
            </a:extLst>
          </p:cNvPr>
          <p:cNvSpPr txBox="1"/>
          <p:nvPr/>
        </p:nvSpPr>
        <p:spPr>
          <a:xfrm>
            <a:off x="1086499" y="5384840"/>
            <a:ext cx="10019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stdin</a:t>
            </a:r>
            <a:r>
              <a:rPr lang="en-US" sz="2400" dirty="0"/>
              <a:t> </a:t>
            </a:r>
            <a:r>
              <a:rPr lang="ru-RU" sz="2400" dirty="0"/>
              <a:t>– стандартный ввод</a:t>
            </a:r>
            <a:r>
              <a:rPr lang="en-US" sz="2400" dirty="0"/>
              <a:t>, </a:t>
            </a:r>
            <a:r>
              <a:rPr lang="ru-RU" sz="2400" dirty="0"/>
              <a:t>то куда попадают наши вводимые данные в ОС</a:t>
            </a:r>
          </a:p>
          <a:p>
            <a:r>
              <a:rPr lang="en-US" sz="2400" b="1" dirty="0" err="1"/>
              <a:t>stdout</a:t>
            </a:r>
            <a:r>
              <a:rPr lang="en-US" sz="2400" dirty="0"/>
              <a:t> – </a:t>
            </a:r>
            <a:r>
              <a:rPr lang="ru-RU" sz="2400" dirty="0"/>
              <a:t>стандартный вывод</a:t>
            </a:r>
            <a:endParaRPr lang="en-US" sz="2400" dirty="0"/>
          </a:p>
          <a:p>
            <a:r>
              <a:rPr lang="en-US" sz="2400" b="1" dirty="0"/>
              <a:t>stderr</a:t>
            </a:r>
            <a:r>
              <a:rPr lang="en-US" sz="2400" dirty="0"/>
              <a:t> – </a:t>
            </a:r>
            <a:r>
              <a:rPr lang="ru-RU" sz="2400" dirty="0"/>
              <a:t>стандартный вывод для ошибок</a:t>
            </a:r>
          </a:p>
        </p:txBody>
      </p:sp>
    </p:spTree>
    <p:extLst>
      <p:ext uri="{BB962C8B-B14F-4D97-AF65-F5344CB8AC3E}">
        <p14:creationId xmlns:p14="http://schemas.microsoft.com/office/powerpoint/2010/main" val="31827115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71F9F95-E116-4369-8710-708FE8B80E52}"/>
              </a:ext>
            </a:extLst>
          </p:cNvPr>
          <p:cNvSpPr txBox="1"/>
          <p:nvPr/>
        </p:nvSpPr>
        <p:spPr>
          <a:xfrm>
            <a:off x="1353416" y="1950073"/>
            <a:ext cx="56916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195D3-9BF1-44B5-A643-27B915643E01}"/>
              </a:ext>
            </a:extLst>
          </p:cNvPr>
          <p:cNvSpPr txBox="1"/>
          <p:nvPr/>
        </p:nvSpPr>
        <p:spPr>
          <a:xfrm>
            <a:off x="5759159" y="4131116"/>
            <a:ext cx="56916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%7s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454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string.h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F1C584-24DF-4F5C-9387-568AD1E5BF59}"/>
              </a:ext>
            </a:extLst>
          </p:cNvPr>
          <p:cNvSpPr txBox="1"/>
          <p:nvPr/>
        </p:nvSpPr>
        <p:spPr>
          <a:xfrm>
            <a:off x="1247528" y="2108723"/>
            <a:ext cx="1051498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Для работы с функциями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обработки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Длина строки, не включая '\0'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Копирование одной строки в другую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strncpy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Тоже самое, но не выходя за размер n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Вывод на экран строки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// Ввод с клавиатуры строки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Сравнение двух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Объединение двух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622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2245</TotalTime>
  <Words>2263</Words>
  <Application>Microsoft Office PowerPoint</Application>
  <PresentationFormat>Широкоэкранный</PresentationFormat>
  <Paragraphs>259</Paragraphs>
  <Slides>44</Slides>
  <Notes>44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Times New Roman</vt:lpstr>
      <vt:lpstr>Office Theme</vt:lpstr>
      <vt:lpstr>C Programming 5_arrays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598</cp:revision>
  <dcterms:created xsi:type="dcterms:W3CDTF">2019-12-17T14:15:21Z</dcterms:created>
  <dcterms:modified xsi:type="dcterms:W3CDTF">2025-10-08T02:39:22Z</dcterms:modified>
</cp:coreProperties>
</file>