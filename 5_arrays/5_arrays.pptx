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256" r:id="rId2"/>
    <p:sldId id="289" r:id="rId3"/>
    <p:sldId id="285" r:id="rId4"/>
    <p:sldId id="306" r:id="rId5"/>
    <p:sldId id="307" r:id="rId6"/>
    <p:sldId id="286" r:id="rId7"/>
    <p:sldId id="287" r:id="rId8"/>
    <p:sldId id="299" r:id="rId9"/>
    <p:sldId id="308" r:id="rId10"/>
    <p:sldId id="298" r:id="rId11"/>
    <p:sldId id="309" r:id="rId12"/>
    <p:sldId id="345" r:id="rId13"/>
    <p:sldId id="346" r:id="rId14"/>
    <p:sldId id="315" r:id="rId15"/>
    <p:sldId id="318" r:id="rId18"/>
    <p:sldId id="319" r:id="rId19"/>
    <p:sldId id="363" r:id="rId20"/>
    <p:sldId id="311" r:id="rId21"/>
    <p:sldId id="312" r:id="rId22"/>
    <p:sldId id="313" r:id="rId23"/>
    <p:sldId id="334" r:id="rId24"/>
    <p:sldId id="335" r:id="rId25"/>
    <p:sldId id="336" r:id="rId26"/>
    <p:sldId id="332" r:id="rId27"/>
    <p:sldId id="340" r:id="rId28"/>
    <p:sldId id="357" r:id="rId29"/>
    <p:sldId id="358" r:id="rId30"/>
    <p:sldId id="333" r:id="rId31"/>
    <p:sldId id="338" r:id="rId32"/>
    <p:sldId id="339" r:id="rId33"/>
    <p:sldId id="341" r:id="rId34"/>
    <p:sldId id="342" r:id="rId35"/>
    <p:sldId id="344" r:id="rId36"/>
    <p:sldId id="343" r:id="rId37"/>
    <p:sldId id="360" r:id="rId38"/>
    <p:sldId id="321" r:id="rId39"/>
    <p:sldId id="322" r:id="rId40"/>
    <p:sldId id="325" r:id="rId41"/>
    <p:sldId id="323" r:id="rId42"/>
    <p:sldId id="324" r:id="rId43"/>
    <p:sldId id="326" r:id="rId44"/>
    <p:sldId id="327" r:id="rId45"/>
    <p:sldId id="328" r:id="rId46"/>
    <p:sldId id="329" r:id="rId47"/>
    <p:sldId id="330" r:id="rId48"/>
    <p:sldId id="331" r:id="rId49"/>
    <p:sldId id="352" r:id="rId51"/>
    <p:sldId id="347" r:id="rId56"/>
    <p:sldId id="290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30" autoAdjust="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1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9" Type="http://schemas.openxmlformats.org/officeDocument/2006/relationships/commentAuthors" Target="commentAuthors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10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20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88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285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960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201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68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829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220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990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92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035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435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873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012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004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1999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637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174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241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178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02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621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764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90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0249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9834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642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8723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061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6747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6412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4302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0786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3466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8510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9331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9782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8673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gi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gif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gif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gif"/><Relationship Id="rId4" Type="http://schemas.openxmlformats.org/officeDocument/2006/relationships/image" Target="../media/image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5_arrays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373551" y="565840"/>
            <a:ext cx="5444897" cy="989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Average score?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8EDF93-7467-4E58-8C98-1F6C286D5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97122"/>
              </p:ext>
            </p:extLst>
          </p:nvPr>
        </p:nvGraphicFramePr>
        <p:xfrm>
          <a:off x="3145501" y="3265716"/>
          <a:ext cx="5895976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30572259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43500332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3168708848"/>
                    </a:ext>
                  </a:extLst>
                </a:gridCol>
                <a:gridCol w="1177291">
                  <a:extLst>
                    <a:ext uri="{9D8B030D-6E8A-4147-A177-3AD203B41FA5}">
                      <a16:colId xmlns:a16="http://schemas.microsoft.com/office/drawing/2014/main" val="114037271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algn="ctr"/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874585-C7FF-45BC-BF39-2E03AD9776DD}"/>
              </a:ext>
            </a:extLst>
          </p:cNvPr>
          <p:cNvSpPr txBox="1"/>
          <p:nvPr/>
        </p:nvSpPr>
        <p:spPr>
          <a:xfrm>
            <a:off x="4457752" y="2804051"/>
            <a:ext cx="340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score1     score2      score3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A1B44-E38A-484C-A771-5B6838396CB0}"/>
              </a:ext>
            </a:extLst>
          </p:cNvPr>
          <p:cNvSpPr txBox="1"/>
          <p:nvPr/>
        </p:nvSpPr>
        <p:spPr>
          <a:xfrm>
            <a:off x="4457752" y="3931524"/>
            <a:ext cx="329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Паша</a:t>
            </a:r>
            <a:r>
              <a:rPr lang="en-US" sz="2400" dirty="0"/>
              <a:t>     </a:t>
            </a:r>
            <a:r>
              <a:rPr lang="ru-RU" sz="2400" dirty="0"/>
              <a:t>  Маша</a:t>
            </a:r>
            <a:r>
              <a:rPr lang="en-US" sz="2400" dirty="0"/>
              <a:t>      </a:t>
            </a:r>
            <a:r>
              <a:rPr lang="ru-RU" sz="2400" dirty="0"/>
              <a:t>Даша</a:t>
            </a:r>
          </a:p>
        </p:txBody>
      </p:sp>
      <p:sp>
        <p:nvSpPr>
          <p:cNvPr id="101" name="TextBox 8">
            <a:extLst>
              <a:ext uri="{FF2B5EF4-FFF2-40B4-BE49-F238E27FC236}">
                <a16:creationId xmlns:a16="http://schemas.microsoft.com/office/drawing/2014/main" id="{7A430B26-B248-4FB5-98D3-5730EE71F6C7}"/>
              </a:ext>
            </a:extLst>
          </p:cNvPr>
          <p:cNvSpPr txBox="1"/>
          <p:nvPr/>
        </p:nvSpPr>
        <p:spPr>
          <a:xfrm>
            <a:off x="3898803" y="5037491"/>
            <a:ext cx="4389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200" dirty="0">
                <a:latin typeface="Times New Roman"/>
              </a:rPr>
              <a:t>avg = (s1 + s2 + s3) /</a:t>
            </a:r>
            <a:r>
              <a:rPr lang="ru-RU" sz="3200" dirty="0">
                <a:latin typeface="Times New Roman"/>
              </a:rPr>
              <a:t> 3.0</a:t>
            </a:r>
            <a:endParaRPr sz="32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685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1938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Arrays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6C6242-349F-4DEF-B29F-D1B55C2F5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344" y="3642705"/>
            <a:ext cx="2677656" cy="2677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E967A3-EB9B-4772-8A6F-9F23FEC66B48}"/>
              </a:ext>
            </a:extLst>
          </p:cNvPr>
          <p:cNvSpPr txBox="1"/>
          <p:nvPr/>
        </p:nvSpPr>
        <p:spPr>
          <a:xfrm>
            <a:off x="989409" y="1208588"/>
            <a:ext cx="10512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Массивы используются для хранения нескольких значений в одной переменной вместо объявления отдельных переменных для каждого значения.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переменная - это коробка со значением, то массив - это шкаф с этими коробками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8D4524-799F-43E1-B8E8-E160598C4AA1}"/>
              </a:ext>
            </a:extLst>
          </p:cNvPr>
          <p:cNvSpPr txBox="1"/>
          <p:nvPr/>
        </p:nvSpPr>
        <p:spPr>
          <a:xfrm>
            <a:off x="989409" y="4195361"/>
            <a:ext cx="87546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Массивы во многих ЯП (в том числе Си) умеют хранить значения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одного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типа данных, т.е. один массив не может хранить сразу и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целые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вещественные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7195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Arrays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1C49727-06C1-4034-9EBC-AB23EA1ED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433404"/>
              </p:ext>
            </p:extLst>
          </p:nvPr>
        </p:nvGraphicFramePr>
        <p:xfrm>
          <a:off x="3562349" y="3699104"/>
          <a:ext cx="5895976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195">
                  <a:extLst>
                    <a:ext uri="{9D8B030D-6E8A-4147-A177-3AD203B41FA5}">
                      <a16:colId xmlns:a16="http://schemas.microsoft.com/office/drawing/2014/main" val="30572259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435003322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3168708848"/>
                    </a:ext>
                  </a:extLst>
                </a:gridCol>
                <a:gridCol w="1177291">
                  <a:extLst>
                    <a:ext uri="{9D8B030D-6E8A-4147-A177-3AD203B41FA5}">
                      <a16:colId xmlns:a16="http://schemas.microsoft.com/office/drawing/2014/main" val="1140372714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algn="ctr"/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32A1DF-7197-4725-9750-20E2F39C8C4A}"/>
              </a:ext>
            </a:extLst>
          </p:cNvPr>
          <p:cNvSpPr txBox="1"/>
          <p:nvPr/>
        </p:nvSpPr>
        <p:spPr>
          <a:xfrm>
            <a:off x="2352675" y="1805678"/>
            <a:ext cx="8250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fr-F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[0]     [1]     [2]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357C7-8D59-409D-B585-83E0D2E6F05B}"/>
              </a:ext>
            </a:extLst>
          </p:cNvPr>
          <p:cNvSpPr txBox="1"/>
          <p:nvPr/>
        </p:nvSpPr>
        <p:spPr>
          <a:xfrm>
            <a:off x="4895849" y="4452183"/>
            <a:ext cx="3661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200    204     208                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7631A-3C5E-4C47-ADAF-474D009BAA5A}"/>
              </a:ext>
            </a:extLst>
          </p:cNvPr>
          <p:cNvSpPr txBox="1"/>
          <p:nvPr/>
        </p:nvSpPr>
        <p:spPr>
          <a:xfrm>
            <a:off x="2352675" y="3699103"/>
            <a:ext cx="1476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7C466-47C5-4A17-B6E4-D5DDE23BE5C7}"/>
              </a:ext>
            </a:extLst>
          </p:cNvPr>
          <p:cNvSpPr txBox="1"/>
          <p:nvPr/>
        </p:nvSpPr>
        <p:spPr>
          <a:xfrm>
            <a:off x="2352675" y="4452183"/>
            <a:ext cx="1800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F920B1-A4B2-4784-8D4F-7BFD9C789AB5}"/>
              </a:ext>
            </a:extLst>
          </p:cNvPr>
          <p:cNvSpPr txBox="1"/>
          <p:nvPr/>
        </p:nvSpPr>
        <p:spPr>
          <a:xfrm>
            <a:off x="211503" y="5587236"/>
            <a:ext cx="12023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Массивы в C/C++, Python, Java, Go и многих других ЯП индексируются с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Исключения, где массивы начинаются с индекса 1: MATLAB,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3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2F26AA-FD4F-4145-BA97-4DEA89F2186E}"/>
              </a:ext>
            </a:extLst>
          </p:cNvPr>
          <p:cNvSpPr txBox="1"/>
          <p:nvPr/>
        </p:nvSpPr>
        <p:spPr>
          <a:xfrm>
            <a:off x="2108299" y="1997839"/>
            <a:ext cx="79754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"Scores: "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40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E3EF2-F8E6-48BF-A07B-510A50AF785D}"/>
              </a:ext>
            </a:extLst>
          </p:cNvPr>
          <p:cNvSpPr txBox="1"/>
          <p:nvPr/>
        </p:nvSpPr>
        <p:spPr>
          <a:xfrm>
            <a:off x="2278767" y="439798"/>
            <a:ext cx="74372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3.2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{[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227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9C3B6A-A057-4D93-BB7A-62CE463F5CC7}"/>
              </a:ext>
            </a:extLst>
          </p:cNvPr>
          <p:cNvSpPr txBox="1"/>
          <p:nvPr/>
        </p:nvSpPr>
        <p:spPr>
          <a:xfrm>
            <a:off x="344686" y="5600307"/>
            <a:ext cx="118473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egmentation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ошибка во время выполнения программы, когда программа попыталась обратиться к памяти, к которой доступ не разрешен.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504A4-6534-4FC6-B660-84D6DF2BB470}"/>
              </a:ext>
            </a:extLst>
          </p:cNvPr>
          <p:cNvSpPr txBox="1"/>
          <p:nvPr/>
        </p:nvSpPr>
        <p:spPr>
          <a:xfrm>
            <a:off x="2618536" y="303586"/>
            <a:ext cx="72426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 = a;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Error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Error</a:t>
            </a:r>
            <a:endParaRPr lang="ru-RU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Ok</a:t>
            </a:r>
            <a:endParaRPr lang="ru-RU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Error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4000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Error, </a:t>
            </a:r>
            <a:r>
              <a:rPr lang="en-US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segfault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Ok, possible </a:t>
            </a:r>
            <a:r>
              <a:rPr lang="en-US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segfault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427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array size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2A1DF-7197-4725-9750-20E2F39C8C4A}"/>
              </a:ext>
            </a:extLst>
          </p:cNvPr>
          <p:cNvSpPr txBox="1"/>
          <p:nvPr/>
        </p:nvSpPr>
        <p:spPr>
          <a:xfrm>
            <a:off x="987136" y="2951946"/>
            <a:ext cx="107649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3 </a:t>
            </a:r>
            <a:r>
              <a:rPr lang="en-US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элемента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array_size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(m) / </a:t>
            </a:r>
            <a:r>
              <a:rPr lang="en-US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12/4=3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18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delete/insert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7E8FA-18D9-4CAD-939A-8E1EEFBF165C}"/>
              </a:ext>
            </a:extLst>
          </p:cNvPr>
          <p:cNvSpPr txBox="1"/>
          <p:nvPr/>
        </p:nvSpPr>
        <p:spPr>
          <a:xfrm>
            <a:off x="878540" y="1698228"/>
            <a:ext cx="10434917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>
                <a:latin typeface="Times New Roman"/>
              </a:rPr>
              <a:t>В </a:t>
            </a:r>
            <a:r>
              <a:rPr lang="ru-RU" sz="2800" dirty="0">
                <a:latin typeface="Times New Roman"/>
              </a:rPr>
              <a:t>статическом (обычном) </a:t>
            </a:r>
            <a:r>
              <a:rPr sz="2800" dirty="0" err="1">
                <a:latin typeface="Times New Roman"/>
              </a:rPr>
              <a:t>массиве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размер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фиксирован</a:t>
            </a:r>
            <a:r>
              <a:rPr sz="2800" dirty="0">
                <a:latin typeface="Times New Roman"/>
              </a:rPr>
              <a:t>: </a:t>
            </a:r>
            <a:endParaRPr lang="ru-RU" sz="28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2800" dirty="0">
                <a:latin typeface="Times New Roman"/>
              </a:rPr>
              <a:t>сократить или расширить длину массива невозможно</a:t>
            </a:r>
            <a:endParaRPr lang="en-US" sz="28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sz="28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>
                <a:latin typeface="Times New Roman"/>
              </a:rPr>
              <a:t>"</a:t>
            </a:r>
            <a:r>
              <a:rPr sz="2800" dirty="0" err="1">
                <a:latin typeface="Times New Roman"/>
              </a:rPr>
              <a:t>Удалить</a:t>
            </a:r>
            <a:r>
              <a:rPr sz="2800" dirty="0">
                <a:latin typeface="Times New Roman"/>
              </a:rPr>
              <a:t>" </a:t>
            </a:r>
            <a:r>
              <a:rPr sz="2800" dirty="0" err="1">
                <a:latin typeface="Times New Roman"/>
              </a:rPr>
              <a:t>можно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сдвигом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хвоста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влево</a:t>
            </a:r>
            <a:r>
              <a:rPr sz="2800" dirty="0">
                <a:latin typeface="Times New Roman"/>
              </a:rPr>
              <a:t>:</a:t>
            </a:r>
          </a:p>
          <a:p>
            <a:r>
              <a:rPr sz="2800" dirty="0">
                <a:latin typeface="Times New Roman"/>
              </a:rPr>
              <a:t>     </a:t>
            </a:r>
            <a:r>
              <a:rPr lang="nn-NO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nn-NO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 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pos; i 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i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n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[i] 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[i </a:t>
            </a:r>
            <a:r>
              <a:rPr lang="nn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dirty="0">
                <a:latin typeface="Times New Roman"/>
              </a:rPr>
              <a:t>а актуальную длину держать</a:t>
            </a:r>
            <a:r>
              <a:rPr lang="en-US" sz="2800" dirty="0">
                <a:latin typeface="Times New Roman"/>
              </a:rPr>
              <a:t> </a:t>
            </a:r>
            <a:r>
              <a:rPr lang="ru-RU" sz="2800" dirty="0">
                <a:latin typeface="Times New Roman"/>
              </a:rPr>
              <a:t>в отдельной переменной (n--).</a:t>
            </a:r>
          </a:p>
        </p:txBody>
      </p:sp>
    </p:spTree>
    <p:extLst>
      <p:ext uri="{BB962C8B-B14F-4D97-AF65-F5344CB8AC3E}">
        <p14:creationId xmlns:p14="http://schemas.microsoft.com/office/powerpoint/2010/main" val="167848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8A0727-1C7E-4B94-A7B1-3E57B599AB73}"/>
              </a:ext>
            </a:extLst>
          </p:cNvPr>
          <p:cNvSpPr txBox="1"/>
          <p:nvPr/>
        </p:nvSpPr>
        <p:spPr>
          <a:xfrm>
            <a:off x="1140745" y="1874728"/>
            <a:ext cx="99105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print_arr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[n]) {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nn-NO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nn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i &lt; n; i++) {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n-NO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"array[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nn-NO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nn-NO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nn-NO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i, 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[i]);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n-NO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nn-NO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35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20BDBE-C0EC-46DA-A234-8F58435F0BF2}"/>
              </a:ext>
            </a:extLst>
          </p:cNvPr>
          <p:cNvSpPr txBox="1"/>
          <p:nvPr/>
        </p:nvSpPr>
        <p:spPr>
          <a:xfrm>
            <a:off x="1146029" y="2151727"/>
            <a:ext cx="98999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[N] = {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55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fr-FR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3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print_arr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(N, scores);</a:t>
            </a:r>
            <a:endParaRPr lang="fr-FR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[M] = {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fr-FR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3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print_arr</a:t>
            </a:r>
            <a:r>
              <a:rPr lang="fr-FR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(M, array);</a:t>
            </a:r>
            <a:endParaRPr lang="fr-FR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44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Задачи на массивах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704170" y="1610910"/>
            <a:ext cx="89279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569CD6"/>
                </a:solidFill>
                <a:latin typeface="Consolas"/>
              </a:rPr>
              <a:t>long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 err="1">
                <a:solidFill>
                  <a:srgbClr val="569CD6"/>
                </a:solidFill>
                <a:latin typeface="Consolas"/>
              </a:rPr>
              <a:t>long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8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8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8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+=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569CD6"/>
                </a:solidFill>
                <a:latin typeface="Consolas"/>
              </a:rPr>
              <a:t>float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avg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(</a:t>
            </a:r>
            <a:r>
              <a:rPr sz="2800" b="0" dirty="0">
                <a:solidFill>
                  <a:srgbClr val="569CD6"/>
                </a:solidFill>
                <a:latin typeface="Consolas"/>
              </a:rPr>
              <a:t>float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)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   </a:t>
            </a:r>
            <a:r>
              <a:rPr sz="28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800" b="0" dirty="0" err="1">
                <a:solidFill>
                  <a:srgbClr val="6A9955"/>
                </a:solidFill>
                <a:latin typeface="Consolas"/>
              </a:rPr>
              <a:t>не</a:t>
            </a:r>
            <a:r>
              <a:rPr sz="2800" b="0" dirty="0">
                <a:solidFill>
                  <a:srgbClr val="6A9955"/>
                </a:solidFill>
                <a:latin typeface="Consolas"/>
              </a:rPr>
              <a:t> sum / n!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8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max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];             </a:t>
            </a:r>
            <a:r>
              <a:rPr sz="28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800" b="0" dirty="0" err="1">
                <a:solidFill>
                  <a:srgbClr val="6A9955"/>
                </a:solidFill>
                <a:latin typeface="Consolas"/>
              </a:rPr>
              <a:t>не</a:t>
            </a:r>
            <a:r>
              <a:rPr sz="2800" b="0" dirty="0">
                <a:solidFill>
                  <a:srgbClr val="6A9955"/>
                </a:solidFill>
                <a:latin typeface="Consolas"/>
              </a:rPr>
              <a:t> 0!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8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8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800" b="0" dirty="0">
                <a:solidFill>
                  <a:srgbClr val="C586C0"/>
                </a:solidFill>
                <a:latin typeface="Consolas"/>
              </a:rPr>
              <a:t>if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] &gt;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max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) </a:t>
            </a:r>
            <a:r>
              <a:rPr sz="2800" b="0" dirty="0">
                <a:solidFill>
                  <a:srgbClr val="9CDCFE"/>
                </a:solidFill>
                <a:latin typeface="Consolas"/>
              </a:rPr>
              <a:t>max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Задачи на массивах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2703295" y="1476439"/>
            <a:ext cx="67854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линейный</a:t>
            </a:r>
            <a:r>
              <a:rPr sz="26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поиск</a:t>
            </a:r>
            <a:r>
              <a:rPr lang="ru-RU" sz="2600" b="0" dirty="0">
                <a:solidFill>
                  <a:srgbClr val="6A9955"/>
                </a:solidFill>
                <a:latin typeface="Consolas"/>
              </a:rPr>
              <a:t> </a:t>
            </a:r>
            <a:endParaRPr lang="nn-NO" sz="26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26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lang="nn-NO"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nn-NO" sz="2600" b="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lang="nn-NO" sz="26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nn-NO" sz="2600" b="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lang="nn-NO"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lang="nn-NO" sz="2600" b="0" dirty="0">
                <a:solidFill>
                  <a:srgbClr val="9CDCFE"/>
                </a:solidFill>
                <a:latin typeface="Consolas"/>
              </a:rPr>
              <a:t>i</a:t>
            </a:r>
            <a:r>
              <a:rPr lang="nn-NO" sz="26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600" b="0" dirty="0">
                <a:solidFill>
                  <a:srgbClr val="C586C0"/>
                </a:solidFill>
                <a:latin typeface="Consolas"/>
              </a:rPr>
              <a:t>if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 ==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value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) </a:t>
            </a:r>
            <a:r>
              <a:rPr sz="260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-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600" b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lang="ru-RU" sz="2600" b="0" dirty="0">
                <a:solidFill>
                  <a:srgbClr val="6A9955"/>
                </a:solidFill>
                <a:latin typeface="Consolas"/>
              </a:rPr>
              <a:t>переворот</a:t>
            </a:r>
            <a:endParaRPr sz="26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2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tmp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   =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     =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-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arr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-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-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tmp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Массивы в реальном мире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84824E-BF54-4DAC-8F81-3E6299D69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35" y="1680728"/>
            <a:ext cx="7215195" cy="36075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2893D7-7BF0-428B-B62B-07D06D9C40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227" r="27546"/>
          <a:stretch/>
        </p:blipFill>
        <p:spPr>
          <a:xfrm>
            <a:off x="8206896" y="1670982"/>
            <a:ext cx="3407542" cy="36075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732C14-43E7-42E5-9D85-6EC8EED6119F}"/>
              </a:ext>
            </a:extLst>
          </p:cNvPr>
          <p:cNvSpPr txBox="1"/>
          <p:nvPr/>
        </p:nvSpPr>
        <p:spPr>
          <a:xfrm>
            <a:off x="2133602" y="5505933"/>
            <a:ext cx="12769834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 dirty="0" err="1">
                <a:latin typeface="Times New Roman"/>
              </a:rPr>
              <a:t>Телефоны</a:t>
            </a:r>
            <a:r>
              <a:rPr sz="2400" b="1" dirty="0">
                <a:latin typeface="Times New Roman"/>
              </a:rPr>
              <a:t> "</a:t>
            </a:r>
            <a:r>
              <a:rPr sz="2400" b="1" dirty="0" err="1">
                <a:latin typeface="Times New Roman"/>
              </a:rPr>
              <a:t>из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воздуха</a:t>
            </a:r>
            <a:r>
              <a:rPr sz="2400" b="1" dirty="0">
                <a:latin typeface="Times New Roman"/>
              </a:rPr>
              <a:t>" </a:t>
            </a:r>
            <a:r>
              <a:rPr sz="2400" b="1" dirty="0" err="1">
                <a:latin typeface="Times New Roman"/>
              </a:rPr>
              <a:t>достают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большие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массивы</a:t>
            </a:r>
            <a:endParaRPr sz="2400" b="1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 dirty="0" err="1">
                <a:latin typeface="Times New Roman"/>
              </a:rPr>
              <a:t>комплексных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чисел</a:t>
            </a:r>
            <a:r>
              <a:rPr sz="2400" b="1" dirty="0">
                <a:latin typeface="Times New Roman"/>
              </a:rPr>
              <a:t>, </a:t>
            </a:r>
            <a:r>
              <a:rPr sz="2400" b="1" dirty="0" err="1">
                <a:latin typeface="Times New Roman"/>
              </a:rPr>
              <a:t>когда</a:t>
            </a:r>
            <a:r>
              <a:rPr sz="2400" b="1" dirty="0">
                <a:latin typeface="Times New Roman"/>
              </a:rPr>
              <a:t> </a:t>
            </a:r>
            <a:r>
              <a:rPr sz="2400" b="1" dirty="0" err="1">
                <a:latin typeface="Times New Roman"/>
              </a:rPr>
              <a:t>работают</a:t>
            </a:r>
            <a:r>
              <a:rPr sz="2400" b="1" dirty="0">
                <a:latin typeface="Times New Roman"/>
              </a:rPr>
              <a:t> с Wi-Fi, 4G и 5G.</a:t>
            </a:r>
          </a:p>
        </p:txBody>
      </p:sp>
    </p:spTree>
    <p:extLst>
      <p:ext uri="{BB962C8B-B14F-4D97-AF65-F5344CB8AC3E}">
        <p14:creationId xmlns:p14="http://schemas.microsoft.com/office/powerpoint/2010/main" val="598237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6A0A6D-CABF-4FDD-9BE0-6AEBF7DB8D48}"/>
              </a:ext>
            </a:extLst>
          </p:cNvPr>
          <p:cNvSpPr txBox="1"/>
          <p:nvPr/>
        </p:nvSpPr>
        <p:spPr>
          <a:xfrm>
            <a:off x="1206260" y="1235874"/>
            <a:ext cx="10465788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4000" dirty="0">
                <a:latin typeface="Times New Roman"/>
              </a:rPr>
              <a:t>Реальный п</a:t>
            </a:r>
            <a:r>
              <a:rPr sz="4000" dirty="0" err="1">
                <a:latin typeface="Times New Roman"/>
              </a:rPr>
              <a:t>риёмник</a:t>
            </a:r>
            <a:r>
              <a:rPr sz="4000" dirty="0">
                <a:latin typeface="Times New Roman"/>
              </a:rPr>
              <a:t> </a:t>
            </a:r>
            <a:r>
              <a:rPr sz="4000" dirty="0" err="1">
                <a:latin typeface="Times New Roman"/>
              </a:rPr>
              <a:t>получает</a:t>
            </a:r>
            <a:r>
              <a:rPr sz="4000" dirty="0">
                <a:latin typeface="Times New Roman"/>
              </a:rPr>
              <a:t> IQ-</a:t>
            </a:r>
            <a:r>
              <a:rPr sz="4000" dirty="0" err="1">
                <a:latin typeface="Times New Roman"/>
              </a:rPr>
              <a:t>поток</a:t>
            </a:r>
            <a:r>
              <a:rPr sz="4000" dirty="0">
                <a:latin typeface="Times New Roman"/>
              </a:rPr>
              <a:t>: </a:t>
            </a:r>
            <a:r>
              <a:rPr sz="4000" dirty="0" err="1">
                <a:latin typeface="Times New Roman"/>
              </a:rPr>
              <a:t>десятки</a:t>
            </a:r>
            <a:r>
              <a:rPr sz="4000" dirty="0">
                <a:latin typeface="Times New Roman"/>
              </a:rPr>
              <a:t> </a:t>
            </a:r>
            <a:r>
              <a:rPr sz="4000" dirty="0" err="1">
                <a:latin typeface="Times New Roman"/>
              </a:rPr>
              <a:t>миллионов</a:t>
            </a:r>
            <a:r>
              <a:rPr lang="ru-RU" sz="4000" dirty="0">
                <a:latin typeface="Times New Roman"/>
              </a:rPr>
              <a:t> </a:t>
            </a:r>
            <a:r>
              <a:rPr sz="4000" dirty="0" err="1">
                <a:latin typeface="Times New Roman"/>
              </a:rPr>
              <a:t>значений</a:t>
            </a:r>
            <a:r>
              <a:rPr sz="4000" dirty="0">
                <a:latin typeface="Times New Roman"/>
              </a:rPr>
              <a:t> в </a:t>
            </a:r>
            <a:r>
              <a:rPr sz="4000" dirty="0" err="1">
                <a:latin typeface="Times New Roman"/>
              </a:rPr>
              <a:t>секунду</a:t>
            </a:r>
            <a:r>
              <a:rPr lang="ru-RU" sz="4000" dirty="0">
                <a:latin typeface="Times New Roman"/>
              </a:rPr>
              <a:t> и записывает их </a:t>
            </a:r>
            <a:r>
              <a:rPr sz="4000" dirty="0" err="1">
                <a:latin typeface="Times New Roman"/>
              </a:rPr>
              <a:t>массив</a:t>
            </a:r>
            <a:r>
              <a:rPr lang="ru-RU" sz="4000" dirty="0">
                <a:latin typeface="Times New Roman"/>
              </a:rPr>
              <a:t>ы</a:t>
            </a:r>
            <a:r>
              <a:rPr sz="4000" dirty="0">
                <a:latin typeface="Times New Roman"/>
              </a:rPr>
              <a:t>.</a:t>
            </a:r>
            <a:endParaRPr lang="ru-RU" sz="40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lang="ru-RU" sz="40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4000" dirty="0">
                <a:latin typeface="Times New Roman"/>
              </a:rPr>
              <a:t>Допустим нам пришло 10 комплексных чисел, по 16 бит на часть. </a:t>
            </a:r>
            <a:r>
              <a:rPr sz="4000" dirty="0" err="1">
                <a:latin typeface="Times New Roman"/>
              </a:rPr>
              <a:t>Как</a:t>
            </a:r>
            <a:r>
              <a:rPr sz="4000" dirty="0">
                <a:latin typeface="Times New Roman"/>
              </a:rPr>
              <a:t> </a:t>
            </a:r>
            <a:r>
              <a:rPr sz="4000" dirty="0" err="1">
                <a:latin typeface="Times New Roman"/>
              </a:rPr>
              <a:t>упаковать</a:t>
            </a:r>
            <a:r>
              <a:rPr sz="4000" dirty="0">
                <a:latin typeface="Times New Roman"/>
              </a:rPr>
              <a:t> </a:t>
            </a:r>
            <a:r>
              <a:rPr sz="4000" dirty="0" err="1">
                <a:latin typeface="Times New Roman"/>
              </a:rPr>
              <a:t>их</a:t>
            </a:r>
            <a:r>
              <a:rPr sz="4000" dirty="0">
                <a:latin typeface="Times New Roman"/>
              </a:rPr>
              <a:t> в </a:t>
            </a:r>
            <a:r>
              <a:rPr sz="4000" dirty="0" err="1">
                <a:latin typeface="Times New Roman"/>
              </a:rPr>
              <a:t>массив</a:t>
            </a:r>
            <a:r>
              <a:rPr sz="4000" dirty="0">
                <a:latin typeface="Times New Roman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063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9FA1554-9E87-4ADB-AB04-01E05815F574}"/>
              </a:ext>
            </a:extLst>
          </p:cNvPr>
          <p:cNvSpPr txBox="1"/>
          <p:nvPr/>
        </p:nvSpPr>
        <p:spPr>
          <a:xfrm>
            <a:off x="740352" y="1131187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69CD6"/>
                </a:solidFill>
                <a:latin typeface="Consolas"/>
              </a:rPr>
              <a:t>short</a:t>
            </a:r>
            <a:r>
              <a:rPr sz="2800" b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>
                <a:solidFill>
                  <a:srgbClr val="9CDCFE"/>
                </a:solidFill>
                <a:latin typeface="Consolas"/>
              </a:rPr>
              <a:t>iq</a:t>
            </a:r>
            <a:r>
              <a:rPr sz="2800" b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>
                <a:solidFill>
                  <a:srgbClr val="B5CEA8"/>
                </a:solidFill>
                <a:latin typeface="Consolas"/>
              </a:rPr>
              <a:t>20</a:t>
            </a:r>
            <a:r>
              <a:rPr sz="2800" b="0">
                <a:solidFill>
                  <a:srgbClr val="D4D4D4"/>
                </a:solidFill>
                <a:latin typeface="Consolas"/>
              </a:rPr>
              <a:t>];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7F88B8-0548-439A-9E05-1F65DA30B035}"/>
              </a:ext>
            </a:extLst>
          </p:cNvPr>
          <p:cNvSpPr txBox="1"/>
          <p:nvPr/>
        </p:nvSpPr>
        <p:spPr>
          <a:xfrm>
            <a:off x="740352" y="1815782"/>
            <a:ext cx="76243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iq</a:t>
            </a:r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i]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I (реальная часть)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iq</a:t>
            </a:r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u-RU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Q (мнимая часть)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78724E-B9D3-45B6-BD27-AFDDE59924FE}"/>
              </a:ext>
            </a:extLst>
          </p:cNvPr>
          <p:cNvSpPr txBox="1"/>
          <p:nvPr/>
        </p:nvSpPr>
        <p:spPr>
          <a:xfrm>
            <a:off x="3787486" y="4212273"/>
            <a:ext cx="37874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800" b="0" dirty="0" err="1">
                <a:solidFill>
                  <a:srgbClr val="9CDCFE"/>
                </a:solidFill>
                <a:latin typeface="Consolas"/>
              </a:rPr>
              <a:t>iq_packed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800" b="0" dirty="0">
                <a:solidFill>
                  <a:srgbClr val="B5CEA8"/>
                </a:solidFill>
                <a:latin typeface="Consolas"/>
              </a:rPr>
              <a:t>10</a:t>
            </a:r>
            <a:r>
              <a:rPr sz="2800" b="0" dirty="0">
                <a:solidFill>
                  <a:srgbClr val="D4D4D4"/>
                </a:solidFill>
                <a:latin typeface="Consolas"/>
              </a:rPr>
              <a:t>];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9F6A71-2008-43B9-997B-446A344A2F50}"/>
              </a:ext>
            </a:extLst>
          </p:cNvPr>
          <p:cNvSpPr txBox="1"/>
          <p:nvPr/>
        </p:nvSpPr>
        <p:spPr>
          <a:xfrm>
            <a:off x="3787486" y="5049258"/>
            <a:ext cx="79776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iq_packed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0xffff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I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iq_packed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0xffff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Q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3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Массив чисел = вектор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246969" y="1485404"/>
            <a:ext cx="96980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C586C0"/>
                </a:solidFill>
                <a:latin typeface="Consolas"/>
              </a:rPr>
              <a:t>#define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DIM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768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  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// у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реальных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векторов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-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сотни-тысячи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чисел</a:t>
            </a:r>
            <a:endParaRPr sz="22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2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скалярное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произведение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= "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похожесть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"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двух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векторов</a:t>
            </a:r>
            <a:endParaRPr sz="22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dot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const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a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], 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const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b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+=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a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 *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b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return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200" b="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6A9955"/>
                </a:solidFill>
                <a:latin typeface="Consolas"/>
              </a:rPr>
              <a:t>// "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кот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", "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кошка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", "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трактор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"...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чей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вектор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ближе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к "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котёнку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"?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так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работает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поиск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по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смыслу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,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рекомендации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и </a:t>
            </a:r>
            <a:r>
              <a:rPr sz="2200" b="0" dirty="0" err="1">
                <a:solidFill>
                  <a:srgbClr val="6A9955"/>
                </a:solidFill>
                <a:latin typeface="Consolas"/>
              </a:rPr>
              <a:t>весь</a:t>
            </a:r>
            <a:r>
              <a:rPr sz="2200" b="0" dirty="0">
                <a:solidFill>
                  <a:srgbClr val="6A9955"/>
                </a:solidFill>
                <a:latin typeface="Consolas"/>
              </a:rPr>
              <a:t> ИИ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67EDD-74E6-4090-833D-C9D5A534E1CE}"/>
              </a:ext>
            </a:extLst>
          </p:cNvPr>
          <p:cNvSpPr txBox="1"/>
          <p:nvPr/>
        </p:nvSpPr>
        <p:spPr>
          <a:xfrm>
            <a:off x="3048865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lang="en-US" sz="3600" b="0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600" b="0" dirty="0" err="1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3600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36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...</a:t>
            </a:r>
            <a:endParaRPr lang="en-US" sz="36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0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random = </a:t>
            </a:r>
            <a:r>
              <a:rPr lang="en-US" sz="3600" b="0" dirty="0">
                <a:solidFill>
                  <a:srgbClr val="DCDC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en-US" sz="3600" b="0" dirty="0">
                <a:solidFill>
                  <a:srgbClr val="D4D4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36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BAA43-2BF9-431E-AA12-CD336AD89460}"/>
              </a:ext>
            </a:extLst>
          </p:cNvPr>
          <p:cNvSpPr txBox="1"/>
          <p:nvPr/>
        </p:nvSpPr>
        <p:spPr>
          <a:xfrm>
            <a:off x="465425" y="5042048"/>
            <a:ext cx="112611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ф-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возвращает случайное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целое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(целое в диапазоне от 0 до RAND_MAX, где RAND_MAX - определен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1039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CE52-100B-4F81-938E-6DE3E5A05F91}"/>
              </a:ext>
            </a:extLst>
          </p:cNvPr>
          <p:cNvSpPr txBox="1"/>
          <p:nvPr/>
        </p:nvSpPr>
        <p:spPr>
          <a:xfrm>
            <a:off x="692726" y="2358737"/>
            <a:ext cx="108065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задания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(семя) для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псевдорандома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некоторое число, что каким-то образом влияет на формулу случайных чисел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возвращающая кол-во секунд прошедших с 00:00:00 UTC, 1 Января, 1970 года, называется - Unix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временная метка).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977A2-B459-442D-AE90-5AEF2CA2F5A6}"/>
              </a:ext>
            </a:extLst>
          </p:cNvPr>
          <p:cNvSpPr txBox="1"/>
          <p:nvPr/>
        </p:nvSpPr>
        <p:spPr>
          <a:xfrm>
            <a:off x="4252911" y="5728938"/>
            <a:ext cx="368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https://www.unixtimestamp.com/ </a:t>
            </a:r>
          </a:p>
        </p:txBody>
      </p:sp>
    </p:spTree>
    <p:extLst>
      <p:ext uri="{BB962C8B-B14F-4D97-AF65-F5344CB8AC3E}">
        <p14:creationId xmlns:p14="http://schemas.microsoft.com/office/powerpoint/2010/main" val="1059099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F6CE52-100B-4F81-938E-6DE3E5A05F91}"/>
              </a:ext>
            </a:extLst>
          </p:cNvPr>
          <p:cNvSpPr txBox="1"/>
          <p:nvPr/>
        </p:nvSpPr>
        <p:spPr>
          <a:xfrm>
            <a:off x="1118754" y="2305615"/>
            <a:ext cx="995449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srand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достаточно сделать 1 раз</a:t>
            </a:r>
          </a:p>
          <a:p>
            <a:endParaRPr lang="ru-RU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"Unix timestamp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endParaRPr lang="ru-RU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ru-RU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"Random [0..99]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%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F2334-4467-4F4D-9C2D-8F8BBB89039A}"/>
              </a:ext>
            </a:extLst>
          </p:cNvPr>
          <p:cNvSpPr txBox="1"/>
          <p:nvPr/>
        </p:nvSpPr>
        <p:spPr>
          <a:xfrm>
            <a:off x="270811" y="5835225"/>
            <a:ext cx="116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Самостоятельно:</a:t>
            </a:r>
            <a:r>
              <a:rPr lang="ru-RU" dirty="0"/>
              <a:t> заполнить массив размером N случайными числами от 0 до 999 и найти в нем минимальный элемент - вывести его на экран            </a:t>
            </a:r>
          </a:p>
        </p:txBody>
      </p:sp>
    </p:spTree>
    <p:extLst>
      <p:ext uri="{BB962C8B-B14F-4D97-AF65-F5344CB8AC3E}">
        <p14:creationId xmlns:p14="http://schemas.microsoft.com/office/powerpoint/2010/main" val="397162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0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Matrix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224B9-E7C6-4CA1-BE38-87CF9D43988F}"/>
              </a:ext>
            </a:extLst>
          </p:cNvPr>
          <p:cNvSpPr txBox="1"/>
          <p:nvPr/>
        </p:nvSpPr>
        <p:spPr>
          <a:xfrm>
            <a:off x="782347" y="1149188"/>
            <a:ext cx="106273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Переменная - коробка, массив - шкаф с коробками, матрица - комната со шкафами..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Массивы могут быть не только одномерными, могут быть двумерными.. n-мерными. Двумерные массивы обычно называют словом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т.к. они похожи на матрицы (или таблицы) со строками и столбцами. Индексы все также начинаются с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нуля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597FEA4-3EAF-457D-854C-AAC50C21F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9" y="3782557"/>
            <a:ext cx="7048500" cy="2686050"/>
          </a:xfrm>
          <a:prstGeom prst="rect">
            <a:avLst/>
          </a:prstGeom>
        </p:spPr>
      </p:pic>
      <p:pic>
        <p:nvPicPr>
          <p:cNvPr id="6146" name="Picture 2" descr="Free Storage Room Boxes Image | Download at StockCake">
            <a:extLst>
              <a:ext uri="{FF2B5EF4-FFF2-40B4-BE49-F238E27FC236}">
                <a16:creationId xmlns:a16="http://schemas.microsoft.com/office/drawing/2014/main" id="{F549F1E9-6FD5-4D34-9190-8D4D63B6E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473" y="4174814"/>
            <a:ext cx="3837913" cy="21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973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84175D-0972-4C4D-ADEC-BC946A87D67B}"/>
              </a:ext>
            </a:extLst>
          </p:cNvPr>
          <p:cNvSpPr txBox="1"/>
          <p:nvPr/>
        </p:nvSpPr>
        <p:spPr>
          <a:xfrm>
            <a:off x="2793206" y="982176"/>
            <a:ext cx="66055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[N][N];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j +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][j]);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97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Memory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514898-4112-4DA8-84F0-8C3D2C6E3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5" y="1720643"/>
            <a:ext cx="12084627" cy="476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73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874179-1CD3-4AE9-B84C-263EEAD7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903094"/>
            <a:ext cx="9886950" cy="3009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594C62-BEB6-4532-9385-F1BBA89AD475}"/>
              </a:ext>
            </a:extLst>
          </p:cNvPr>
          <p:cNvSpPr txBox="1"/>
          <p:nvPr/>
        </p:nvSpPr>
        <p:spPr>
          <a:xfrm>
            <a:off x="3048866" y="4356437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N;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j)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][j]);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61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82FE43-3D6F-4119-B128-3FC529E4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09" y="459436"/>
            <a:ext cx="6331982" cy="43953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70173B-C4F6-4321-A44F-3D7A1FF67263}"/>
              </a:ext>
            </a:extLst>
          </p:cNvPr>
          <p:cNvSpPr txBox="1"/>
          <p:nvPr/>
        </p:nvSpPr>
        <p:spPr>
          <a:xfrm>
            <a:off x="933017" y="5154050"/>
            <a:ext cx="103259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массив - это уже будет квартира с комнатами со шкафами с коробками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4D -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 с квартирами... и так продолжать можно долго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24684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Транспонирование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246969" y="1913613"/>
            <a:ext cx="969805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6A9955"/>
                </a:solidFill>
                <a:latin typeface="Consolas"/>
              </a:rPr>
              <a:t>//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квадратная</a:t>
            </a:r>
            <a:r>
              <a:rPr sz="26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матрица</a:t>
            </a:r>
            <a:r>
              <a:rPr sz="2600" b="0" dirty="0">
                <a:solidFill>
                  <a:srgbClr val="6A9955"/>
                </a:solidFill>
                <a:latin typeface="Consolas"/>
              </a:rPr>
              <a:t> N × N,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на</a:t>
            </a:r>
            <a:r>
              <a:rPr sz="2600" b="0" dirty="0">
                <a:solidFill>
                  <a:srgbClr val="6A9955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6A9955"/>
                </a:solidFill>
                <a:latin typeface="Consolas"/>
              </a:rPr>
              <a:t>месте</a:t>
            </a:r>
            <a:endParaRPr sz="2600" b="0" dirty="0">
              <a:solidFill>
                <a:srgbClr val="6A995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6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+ </a:t>
            </a:r>
            <a:r>
              <a:rPr sz="26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N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 err="1">
                <a:solidFill>
                  <a:srgbClr val="D4D4D4"/>
                </a:solidFill>
                <a:latin typeface="Consolas"/>
              </a:rPr>
              <a:t>++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) {  </a:t>
            </a:r>
            <a:r>
              <a:rPr sz="2600" b="0" dirty="0">
                <a:solidFill>
                  <a:srgbClr val="6A9955"/>
                </a:solidFill>
                <a:latin typeface="Consolas"/>
              </a:rPr>
              <a:t>// j = i+1!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6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tmp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m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m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m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m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6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2600" b="0" dirty="0" err="1">
                <a:solidFill>
                  <a:srgbClr val="9CDCFE"/>
                </a:solidFill>
                <a:latin typeface="Consolas"/>
              </a:rPr>
              <a:t>tmp</a:t>
            </a:r>
            <a:r>
              <a:rPr sz="26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Свёртка: размытие 3×3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246969" y="1485404"/>
            <a:ext cx="96980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h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w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j</a:t>
            </a:r>
            <a:r>
              <a:rPr sz="2200" b="0" dirty="0" err="1">
                <a:solidFill>
                  <a:srgbClr val="D4D4D4"/>
                </a:solidFill>
                <a:latin typeface="Consolas"/>
              </a:rPr>
              <a:t>++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cnt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-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for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dj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-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dj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1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dj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200" b="0" dirty="0">
                <a:solidFill>
                  <a:srgbClr val="569CD6"/>
                </a:solidFill>
                <a:latin typeface="Consolas"/>
              </a:rPr>
              <a:t>int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+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di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,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=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+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dj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  </a:t>
            </a:r>
            <a:r>
              <a:rPr sz="2200" b="0" dirty="0">
                <a:solidFill>
                  <a:srgbClr val="C586C0"/>
                </a:solidFill>
                <a:latin typeface="Consolas"/>
              </a:rPr>
              <a:t>if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(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&amp;&amp;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h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&amp;&amp;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&gt;= </a:t>
            </a:r>
            <a:r>
              <a:rPr sz="2200" b="0" dirty="0">
                <a:solidFill>
                  <a:srgbClr val="B5CEA8"/>
                </a:solidFill>
                <a:latin typeface="Consolas"/>
              </a:rPr>
              <a:t>0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&amp;&amp;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&lt;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w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      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+=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src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nj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];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cnt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  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  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  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dst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[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i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][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j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] = </a:t>
            </a:r>
            <a:r>
              <a:rPr sz="2200" b="0" dirty="0">
                <a:solidFill>
                  <a:srgbClr val="9CDCFE"/>
                </a:solidFill>
                <a:latin typeface="Consolas"/>
              </a:rPr>
              <a:t>sum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 / </a:t>
            </a:r>
            <a:r>
              <a:rPr sz="2200" b="0" dirty="0" err="1">
                <a:solidFill>
                  <a:srgbClr val="9CDCFE"/>
                </a:solidFill>
                <a:latin typeface="Consolas"/>
              </a:rPr>
              <a:t>cnt</a:t>
            </a:r>
            <a:r>
              <a:rPr sz="2200" b="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  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1A779-7925-4AA9-BCF1-DCD6C994FEFB}"/>
              </a:ext>
            </a:extLst>
          </p:cNvPr>
          <p:cNvSpPr txBox="1"/>
          <p:nvPr/>
        </p:nvSpPr>
        <p:spPr>
          <a:xfrm>
            <a:off x="6176683" y="5372596"/>
            <a:ext cx="60960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latin typeface="Times New Roman"/>
              </a:rPr>
              <a:t>У крайних пикселей нет 9 соседей.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latin typeface="Times New Roman"/>
              </a:rPr>
              <a:t>Результат нужно писать в отдельную матрицу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latin typeface="Times New Roman"/>
              </a:rPr>
              <a:t>Так работают фильтры и первые слои нейросетей (CNN)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66F06-A0A1-4BF6-A4A2-B2F68CB7B1EA}"/>
              </a:ext>
            </a:extLst>
          </p:cNvPr>
          <p:cNvSpPr txBox="1"/>
          <p:nvPr/>
        </p:nvSpPr>
        <p:spPr>
          <a:xfrm>
            <a:off x="1353848" y="1536174"/>
            <a:ext cx="9484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c1 = 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c2 = 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'i'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c3 = 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pt-BR" sz="4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c1, c2, c3);</a:t>
            </a:r>
            <a:endParaRPr lang="pt-BR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4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c1, c2, c3);</a:t>
            </a:r>
            <a:endParaRPr lang="pt-BR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352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3A4AA-94BC-45E9-B17D-D9AF1B37AFAB}"/>
              </a:ext>
            </a:extLst>
          </p:cNvPr>
          <p:cNvSpPr txBox="1"/>
          <p:nvPr/>
        </p:nvSpPr>
        <p:spPr>
          <a:xfrm>
            <a:off x="3048865" y="2777897"/>
            <a:ext cx="60942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</a:t>
            </a:r>
            <a:r>
              <a:rPr lang="pt-BR" sz="4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pt-BR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sz="4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"Hi!"</a:t>
            </a:r>
            <a:r>
              <a:rPr lang="pt-BR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4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4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pt-BR" sz="4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4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s);</a:t>
            </a:r>
            <a:endParaRPr lang="pt-BR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C1FCA-42BE-4683-988E-66927009937F}"/>
              </a:ext>
            </a:extLst>
          </p:cNvPr>
          <p:cNvSpPr txBox="1"/>
          <p:nvPr/>
        </p:nvSpPr>
        <p:spPr>
          <a:xfrm>
            <a:off x="1260329" y="4659074"/>
            <a:ext cx="99826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"%s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выводить строки на экран (от слова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понять где строка закончится?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656171-10DF-474C-9A12-5B994AFA8EEC}"/>
              </a:ext>
            </a:extLst>
          </p:cNvPr>
          <p:cNvSpPr txBox="1"/>
          <p:nvPr/>
        </p:nvSpPr>
        <p:spPr>
          <a:xfrm>
            <a:off x="1260329" y="1696940"/>
            <a:ext cx="9401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языке Си строка - есть массив символов.</a:t>
            </a:r>
          </a:p>
        </p:txBody>
      </p:sp>
    </p:spTree>
    <p:extLst>
      <p:ext uri="{BB962C8B-B14F-4D97-AF65-F5344CB8AC3E}">
        <p14:creationId xmlns:p14="http://schemas.microsoft.com/office/powerpoint/2010/main" val="2897197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6" y="-84215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NUL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AA7BC-528F-4404-B973-8A0655B562CA}"/>
              </a:ext>
            </a:extLst>
          </p:cNvPr>
          <p:cNvSpPr txBox="1"/>
          <p:nvPr/>
        </p:nvSpPr>
        <p:spPr>
          <a:xfrm>
            <a:off x="2185115" y="5870864"/>
            <a:ext cx="83986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-терминатор ('\0') - это символ конца строки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EA5E36-51EA-49C8-981D-DF887E426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952" y="987136"/>
            <a:ext cx="8722092" cy="442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80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String array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246969" y="1485404"/>
            <a:ext cx="96980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"Hi!"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"Bye!"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c%c%c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					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c%c%c%c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				  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095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A9D1BF-8B4E-43AE-9CD9-8018C05EA0FF}"/>
              </a:ext>
            </a:extLst>
          </p:cNvPr>
          <p:cNvSpPr txBox="1"/>
          <p:nvPr/>
        </p:nvSpPr>
        <p:spPr>
          <a:xfrm>
            <a:off x="881063" y="872995"/>
            <a:ext cx="104298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считывает до пробела, используем формат %s, не используем амперсанд, т.к. имя массива нам даст адрес переменной массива.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считывает с пробелами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21557-1C1C-43C2-B08B-17C556B377B9}"/>
              </a:ext>
            </a:extLst>
          </p:cNvPr>
          <p:cNvSpPr txBox="1"/>
          <p:nvPr/>
        </p:nvSpPr>
        <p:spPr>
          <a:xfrm>
            <a:off x="1086499" y="2277392"/>
            <a:ext cx="60942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name: 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name);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 name is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name);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F4314-B104-4CC0-846D-0E02C3E00B1C}"/>
              </a:ext>
            </a:extLst>
          </p:cNvPr>
          <p:cNvSpPr txBox="1"/>
          <p:nvPr/>
        </p:nvSpPr>
        <p:spPr>
          <a:xfrm>
            <a:off x="5732318" y="4051121"/>
            <a:ext cx="5912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name: 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(name,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(name), stdin);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name is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name);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306EC-55E3-4F5B-8A05-ECCFE5BB9A8D}"/>
              </a:ext>
            </a:extLst>
          </p:cNvPr>
          <p:cNvSpPr txBox="1"/>
          <p:nvPr/>
        </p:nvSpPr>
        <p:spPr>
          <a:xfrm>
            <a:off x="1086499" y="5384840"/>
            <a:ext cx="10019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stdin</a:t>
            </a:r>
            <a:r>
              <a:rPr lang="en-US" sz="2400" dirty="0"/>
              <a:t> </a:t>
            </a:r>
            <a:r>
              <a:rPr lang="ru-RU" sz="2400" dirty="0"/>
              <a:t> - стандартный ввод</a:t>
            </a:r>
            <a:r>
              <a:rPr lang="en-US" sz="2400" dirty="0"/>
              <a:t>, </a:t>
            </a:r>
            <a:r>
              <a:rPr lang="ru-RU" sz="2400" dirty="0"/>
              <a:t>то куда попадают наши вводимые данные в ОС</a:t>
            </a:r>
          </a:p>
          <a:p>
            <a:r>
              <a:rPr lang="en-US" sz="2400" b="1" dirty="0" err="1"/>
              <a:t>stdout</a:t>
            </a:r>
            <a:r>
              <a:rPr lang="en-US" sz="2400" dirty="0"/>
              <a:t> - </a:t>
            </a:r>
            <a:r>
              <a:rPr lang="ru-RU" sz="2400" dirty="0"/>
              <a:t>стандартный вывод</a:t>
            </a:r>
            <a:endParaRPr lang="en-US" sz="2400" dirty="0"/>
          </a:p>
          <a:p>
            <a:r>
              <a:rPr lang="en-US" sz="2400" b="1" dirty="0"/>
              <a:t>stderr</a:t>
            </a:r>
            <a:r>
              <a:rPr lang="en-US" sz="2400" dirty="0"/>
              <a:t> - </a:t>
            </a:r>
            <a:r>
              <a:rPr lang="ru-RU" sz="2400" dirty="0"/>
              <a:t>стандартный вывод для ошибок</a:t>
            </a:r>
          </a:p>
        </p:txBody>
      </p:sp>
    </p:spTree>
    <p:extLst>
      <p:ext uri="{BB962C8B-B14F-4D97-AF65-F5344CB8AC3E}">
        <p14:creationId xmlns:p14="http://schemas.microsoft.com/office/powerpoint/2010/main" val="3182711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1F9F95-E116-4369-8710-708FE8B80E52}"/>
              </a:ext>
            </a:extLst>
          </p:cNvPr>
          <p:cNvSpPr txBox="1"/>
          <p:nvPr/>
        </p:nvSpPr>
        <p:spPr>
          <a:xfrm>
            <a:off x="1353416" y="1950073"/>
            <a:ext cx="5691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ru-RU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195D3-9BF1-44B5-A643-27B915643E01}"/>
              </a:ext>
            </a:extLst>
          </p:cNvPr>
          <p:cNvSpPr txBox="1"/>
          <p:nvPr/>
        </p:nvSpPr>
        <p:spPr>
          <a:xfrm>
            <a:off x="5759159" y="4131116"/>
            <a:ext cx="5691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3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%7s</a:t>
            </a:r>
            <a:r>
              <a:rPr lang="ru-RU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ru-RU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45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string.h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1C584-24DF-4F5C-9387-568AD1E5BF59}"/>
              </a:ext>
            </a:extLst>
          </p:cNvPr>
          <p:cNvSpPr txBox="1"/>
          <p:nvPr/>
        </p:nvSpPr>
        <p:spPr>
          <a:xfrm>
            <a:off x="1247528" y="2108723"/>
            <a:ext cx="105149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ru-RU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ru-RU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Для работы с функциями 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обработки строк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Длина строки, не включая '\0'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Копирование одной строки в другую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strncpy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Тоже самое, но не выходя за размер n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puts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Вывод на экран строки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// Ввод с клавиатуры строки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Сравнение двух строк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Объединение двух строк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362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ctype.h и snprintf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1233-44BD-4C0E-B6D9-6B61595C8F42}"/>
              </a:ext>
            </a:extLst>
          </p:cNvPr>
          <p:cNvSpPr txBox="1"/>
          <p:nvPr/>
        </p:nvSpPr>
        <p:spPr>
          <a:xfrm>
            <a:off x="1246969" y="1485404"/>
            <a:ext cx="969805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586C0"/>
                </a:solidFill>
                <a:latin typeface="Consolas"/>
              </a:rPr>
              <a:t>#include</a:t>
            </a:r>
            <a:r>
              <a:rPr sz="2400" b="0">
                <a:solidFill>
                  <a:srgbClr val="D4D4D4"/>
                </a:solidFill>
                <a:latin typeface="Consolas"/>
              </a:rPr>
              <a:t> &lt;</a:t>
            </a:r>
            <a:r>
              <a:rPr sz="2400" b="0">
                <a:solidFill>
                  <a:srgbClr val="9CDCFE"/>
                </a:solidFill>
                <a:latin typeface="Consolas"/>
              </a:rPr>
              <a:t>ctype</a:t>
            </a:r>
            <a:r>
              <a:rPr sz="2400" b="0">
                <a:solidFill>
                  <a:srgbClr val="D4D4D4"/>
                </a:solidFill>
                <a:latin typeface="Consolas"/>
              </a:rPr>
              <a:t>.</a:t>
            </a:r>
            <a:r>
              <a:rPr sz="2400" b="0">
                <a:solidFill>
                  <a:srgbClr val="9CDCFE"/>
                </a:solidFill>
                <a:latin typeface="Consolas"/>
              </a:rPr>
              <a:t>h</a:t>
            </a:r>
            <a:r>
              <a:rPr sz="2400" b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400" b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CDCAA"/>
                </a:solidFill>
                <a:latin typeface="Consolas"/>
              </a:rPr>
              <a:t>isalpha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 </a:t>
            </a:r>
            <a:r>
              <a:rPr sz="2400" b="0">
                <a:solidFill>
                  <a:srgbClr val="DCDCAA"/>
                </a:solidFill>
                <a:latin typeface="Consolas"/>
              </a:rPr>
              <a:t>isdigit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 </a:t>
            </a:r>
            <a:r>
              <a:rPr sz="2400" b="0">
                <a:solidFill>
                  <a:srgbClr val="DCDCAA"/>
                </a:solidFill>
                <a:latin typeface="Consolas"/>
              </a:rPr>
              <a:t>isspace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CDCAA"/>
                </a:solidFill>
                <a:latin typeface="Consolas"/>
              </a:rPr>
              <a:t>isupper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 </a:t>
            </a:r>
            <a:r>
              <a:rPr sz="2400" b="0">
                <a:solidFill>
                  <a:srgbClr val="DCDCAA"/>
                </a:solidFill>
                <a:latin typeface="Consolas"/>
              </a:rPr>
              <a:t>toupper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 </a:t>
            </a:r>
            <a:r>
              <a:rPr sz="2400" b="0">
                <a:solidFill>
                  <a:srgbClr val="DCDCAA"/>
                </a:solidFill>
                <a:latin typeface="Consolas"/>
              </a:rPr>
              <a:t>tolower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c</a:t>
            </a:r>
            <a:r>
              <a:rPr sz="240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400" b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D6"/>
                </a:solidFill>
                <a:latin typeface="Consolas"/>
              </a:rPr>
              <a:t>int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count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0</a:t>
            </a:r>
            <a:r>
              <a:rPr sz="240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586C0"/>
                </a:solidFill>
                <a:latin typeface="Consolas"/>
              </a:rPr>
              <a:t>for</a:t>
            </a:r>
            <a:r>
              <a:rPr sz="2400" b="0">
                <a:solidFill>
                  <a:srgbClr val="D4D4D4"/>
                </a:solidFill>
                <a:latin typeface="Consolas"/>
              </a:rPr>
              <a:t> (</a:t>
            </a:r>
            <a:r>
              <a:rPr sz="2400" b="0">
                <a:solidFill>
                  <a:srgbClr val="569CD6"/>
                </a:solidFill>
                <a:latin typeface="Consolas"/>
              </a:rPr>
              <a:t>int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i</a:t>
            </a:r>
            <a:r>
              <a:rPr sz="2400" b="0">
                <a:solidFill>
                  <a:srgbClr val="D4D4D4"/>
                </a:solidFill>
                <a:latin typeface="Consolas"/>
              </a:rPr>
              <a:t> = </a:t>
            </a:r>
            <a:r>
              <a:rPr sz="2400" b="0">
                <a:solidFill>
                  <a:srgbClr val="B5CEA8"/>
                </a:solidFill>
                <a:latin typeface="Consolas"/>
              </a:rPr>
              <a:t>0</a:t>
            </a:r>
            <a:r>
              <a:rPr sz="2400" b="0">
                <a:solidFill>
                  <a:srgbClr val="D4D4D4"/>
                </a:solidFill>
                <a:latin typeface="Consolas"/>
              </a:rPr>
              <a:t>; </a:t>
            </a:r>
            <a:r>
              <a:rPr sz="2400" b="0">
                <a:solidFill>
                  <a:srgbClr val="9CDCFE"/>
                </a:solidFill>
                <a:latin typeface="Consolas"/>
              </a:rPr>
              <a:t>s</a:t>
            </a:r>
            <a:r>
              <a:rPr sz="2400" b="0">
                <a:solidFill>
                  <a:srgbClr val="D4D4D4"/>
                </a:solidFill>
                <a:latin typeface="Consolas"/>
              </a:rPr>
              <a:t>[</a:t>
            </a:r>
            <a:r>
              <a:rPr sz="2400" b="0">
                <a:solidFill>
                  <a:srgbClr val="9CDCFE"/>
                </a:solidFill>
                <a:latin typeface="Consolas"/>
              </a:rPr>
              <a:t>i</a:t>
            </a:r>
            <a:r>
              <a:rPr sz="2400" b="0">
                <a:solidFill>
                  <a:srgbClr val="D4D4D4"/>
                </a:solidFill>
                <a:latin typeface="Consolas"/>
              </a:rPr>
              <a:t>] != </a:t>
            </a:r>
            <a:r>
              <a:rPr sz="2400" b="0">
                <a:solidFill>
                  <a:srgbClr val="CE9178"/>
                </a:solidFill>
                <a:latin typeface="Consolas"/>
              </a:rPr>
              <a:t>'</a:t>
            </a:r>
            <a:r>
              <a:rPr sz="2400" b="0">
                <a:solidFill>
                  <a:srgbClr val="D7BA7D"/>
                </a:solidFill>
                <a:latin typeface="Consolas"/>
              </a:rPr>
              <a:t>\0</a:t>
            </a:r>
            <a:r>
              <a:rPr sz="2400" b="0">
                <a:solidFill>
                  <a:srgbClr val="CE9178"/>
                </a:solidFill>
                <a:latin typeface="Consolas"/>
              </a:rPr>
              <a:t>'</a:t>
            </a:r>
            <a:r>
              <a:rPr sz="2400" b="0">
                <a:solidFill>
                  <a:srgbClr val="D4D4D4"/>
                </a:solidFill>
                <a:latin typeface="Consolas"/>
              </a:rPr>
              <a:t>; </a:t>
            </a:r>
            <a:r>
              <a:rPr sz="2400" b="0">
                <a:solidFill>
                  <a:srgbClr val="9CDCFE"/>
                </a:solidFill>
                <a:latin typeface="Consolas"/>
              </a:rPr>
              <a:t>i</a:t>
            </a:r>
            <a:r>
              <a:rPr sz="2400" b="0">
                <a:solidFill>
                  <a:srgbClr val="D4D4D4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    </a:t>
            </a:r>
            <a:r>
              <a:rPr sz="2400" b="0">
                <a:solidFill>
                  <a:srgbClr val="C586C0"/>
                </a:solidFill>
                <a:latin typeface="Consolas"/>
              </a:rPr>
              <a:t>if</a:t>
            </a:r>
            <a:r>
              <a:rPr sz="2400" b="0">
                <a:solidFill>
                  <a:srgbClr val="D4D4D4"/>
                </a:solidFill>
                <a:latin typeface="Consolas"/>
              </a:rPr>
              <a:t> (</a:t>
            </a:r>
            <a:r>
              <a:rPr sz="2400" b="0">
                <a:solidFill>
                  <a:srgbClr val="DCDCAA"/>
                </a:solidFill>
                <a:latin typeface="Consolas"/>
              </a:rPr>
              <a:t>isupper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s</a:t>
            </a:r>
            <a:r>
              <a:rPr sz="2400" b="0">
                <a:solidFill>
                  <a:srgbClr val="D4D4D4"/>
                </a:solidFill>
                <a:latin typeface="Consolas"/>
              </a:rPr>
              <a:t>[</a:t>
            </a:r>
            <a:r>
              <a:rPr sz="2400" b="0">
                <a:solidFill>
                  <a:srgbClr val="9CDCFE"/>
                </a:solidFill>
                <a:latin typeface="Consolas"/>
              </a:rPr>
              <a:t>i</a:t>
            </a:r>
            <a:r>
              <a:rPr sz="2400" b="0">
                <a:solidFill>
                  <a:srgbClr val="D4D4D4"/>
                </a:solidFill>
                <a:latin typeface="Consolas"/>
              </a:rPr>
              <a:t>])) </a:t>
            </a:r>
            <a:r>
              <a:rPr sz="2400" b="0">
                <a:solidFill>
                  <a:srgbClr val="9CDCFE"/>
                </a:solidFill>
                <a:latin typeface="Consolas"/>
              </a:rPr>
              <a:t>count</a:t>
            </a:r>
            <a:r>
              <a:rPr sz="2400" b="0">
                <a:solidFill>
                  <a:srgbClr val="D4D4D4"/>
                </a:solidFill>
                <a:latin typeface="Consolas"/>
              </a:rPr>
              <a:t>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400" b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586C0"/>
                </a:solidFill>
                <a:latin typeface="Consolas"/>
              </a:rPr>
              <a:t>#include</a:t>
            </a:r>
            <a:r>
              <a:rPr sz="2400" b="0">
                <a:solidFill>
                  <a:srgbClr val="D4D4D4"/>
                </a:solidFill>
                <a:latin typeface="Consolas"/>
              </a:rPr>
              <a:t> &lt;</a:t>
            </a:r>
            <a:r>
              <a:rPr sz="2400" b="0">
                <a:solidFill>
                  <a:srgbClr val="9CDCFE"/>
                </a:solidFill>
                <a:latin typeface="Consolas"/>
              </a:rPr>
              <a:t>stdio</a:t>
            </a:r>
            <a:r>
              <a:rPr sz="2400" b="0">
                <a:solidFill>
                  <a:srgbClr val="D4D4D4"/>
                </a:solidFill>
                <a:latin typeface="Consolas"/>
              </a:rPr>
              <a:t>.</a:t>
            </a:r>
            <a:r>
              <a:rPr sz="2400" b="0">
                <a:solidFill>
                  <a:srgbClr val="9CDCFE"/>
                </a:solidFill>
                <a:latin typeface="Consolas"/>
              </a:rPr>
              <a:t>h</a:t>
            </a:r>
            <a:r>
              <a:rPr sz="2400" b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69CD6"/>
                </a:solidFill>
                <a:latin typeface="Consolas"/>
              </a:rPr>
              <a:t>char</a:t>
            </a:r>
            <a:r>
              <a:rPr sz="2400" b="0">
                <a:solidFill>
                  <a:srgbClr val="D4D4D4"/>
                </a:solidFill>
                <a:latin typeface="Consolas"/>
              </a:rPr>
              <a:t> </a:t>
            </a:r>
            <a:r>
              <a:rPr sz="2400" b="0">
                <a:solidFill>
                  <a:srgbClr val="9CDCFE"/>
                </a:solidFill>
                <a:latin typeface="Consolas"/>
              </a:rPr>
              <a:t>buf</a:t>
            </a:r>
            <a:r>
              <a:rPr sz="2400" b="0">
                <a:solidFill>
                  <a:srgbClr val="D4D4D4"/>
                </a:solidFill>
                <a:latin typeface="Consolas"/>
              </a:rPr>
              <a:t>[</a:t>
            </a:r>
            <a:r>
              <a:rPr sz="2400" b="0">
                <a:solidFill>
                  <a:srgbClr val="B5CEA8"/>
                </a:solidFill>
                <a:latin typeface="Consolas"/>
              </a:rPr>
              <a:t>64</a:t>
            </a:r>
            <a:r>
              <a:rPr sz="2400" b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CDCAA"/>
                </a:solidFill>
                <a:latin typeface="Consolas"/>
              </a:rPr>
              <a:t>snprintf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buf</a:t>
            </a:r>
            <a:r>
              <a:rPr sz="2400" b="0">
                <a:solidFill>
                  <a:srgbClr val="D4D4D4"/>
                </a:solidFill>
                <a:latin typeface="Consolas"/>
              </a:rPr>
              <a:t>, </a:t>
            </a:r>
            <a:r>
              <a:rPr sz="2400" b="0">
                <a:solidFill>
                  <a:srgbClr val="DCDCAA"/>
                </a:solidFill>
                <a:latin typeface="Consolas"/>
              </a:rPr>
              <a:t>sizeof</a:t>
            </a:r>
            <a:r>
              <a:rPr sz="2400" b="0">
                <a:solidFill>
                  <a:srgbClr val="D4D4D4"/>
                </a:solidFill>
                <a:latin typeface="Consolas"/>
              </a:rPr>
              <a:t>(</a:t>
            </a:r>
            <a:r>
              <a:rPr sz="2400" b="0">
                <a:solidFill>
                  <a:srgbClr val="9CDCFE"/>
                </a:solidFill>
                <a:latin typeface="Consolas"/>
              </a:rPr>
              <a:t>buf</a:t>
            </a:r>
            <a:r>
              <a:rPr sz="2400" b="0">
                <a:solidFill>
                  <a:srgbClr val="D4D4D4"/>
                </a:solidFill>
                <a:latin typeface="Consolas"/>
              </a:rPr>
              <a:t>), </a:t>
            </a:r>
            <a:r>
              <a:rPr sz="2400" b="0">
                <a:solidFill>
                  <a:srgbClr val="CE9178"/>
                </a:solidFill>
                <a:latin typeface="Consolas"/>
              </a:rPr>
              <a:t>"x = %d"</a:t>
            </a:r>
            <a:r>
              <a:rPr sz="2400" b="0">
                <a:solidFill>
                  <a:srgbClr val="D4D4D4"/>
                </a:solidFill>
                <a:latin typeface="Consolas"/>
              </a:rPr>
              <a:t>, </a:t>
            </a:r>
            <a:r>
              <a:rPr sz="2400" b="0">
                <a:solidFill>
                  <a:srgbClr val="B5CEA8"/>
                </a:solidFill>
                <a:latin typeface="Consolas"/>
              </a:rPr>
              <a:t>10</a:t>
            </a:r>
            <a:r>
              <a:rPr sz="2400" b="0">
                <a:solidFill>
                  <a:srgbClr val="D4D4D4"/>
                </a:solidFill>
                <a:latin typeface="Consolas"/>
              </a:rPr>
              <a:t>);  </a:t>
            </a:r>
            <a:r>
              <a:rPr sz="2400" b="0">
                <a:solidFill>
                  <a:srgbClr val="6A9955"/>
                </a:solidFill>
                <a:latin typeface="Consolas"/>
              </a:rPr>
              <a:t>// безопасно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9F55BD0-BA43-49F4-A169-92453CF0CB7A}"/>
              </a:ext>
            </a:extLst>
          </p:cNvPr>
          <p:cNvSpPr txBox="1"/>
          <p:nvPr/>
        </p:nvSpPr>
        <p:spPr>
          <a:xfrm>
            <a:off x="1088880" y="1607346"/>
            <a:ext cx="100142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алгоритмы для упорядочивания данных в массивах (по возрастанию или убыванию). С отсортированными данными обычно проще и быстрее работать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DEB7C-7388-4EAC-9CD5-7DB5E076D366}"/>
              </a:ext>
            </a:extLst>
          </p:cNvPr>
          <p:cNvSpPr txBox="1"/>
          <p:nvPr/>
        </p:nvSpPr>
        <p:spPr>
          <a:xfrm>
            <a:off x="2968181" y="3249706"/>
            <a:ext cx="60942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Пару алгоритмов сортировок: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Пузырьковая сортировка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вставками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выбором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подсчетом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Radix Sort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Поразрадная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сортировка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слиянием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Быстрая сортировка</a:t>
            </a:r>
          </a:p>
        </p:txBody>
      </p:sp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7FBC2CB2-4573-4974-A0DE-2B3A7B97D376}"/>
              </a:ext>
            </a:extLst>
          </p:cNvPr>
          <p:cNvSpPr txBox="1">
            <a:spLocks/>
          </p:cNvSpPr>
          <p:nvPr/>
        </p:nvSpPr>
        <p:spPr>
          <a:xfrm>
            <a:off x="3514323" y="131814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Sorting time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073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swap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07232-2097-453C-AE5B-A219626D9E00}"/>
              </a:ext>
            </a:extLst>
          </p:cNvPr>
          <p:cNvSpPr txBox="1"/>
          <p:nvPr/>
        </p:nvSpPr>
        <p:spPr>
          <a:xfrm>
            <a:off x="3182630" y="2299736"/>
            <a:ext cx="62314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temp =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temp;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FEFB5-052A-4EA9-9E8D-C90CEE47ED0B}"/>
              </a:ext>
            </a:extLst>
          </p:cNvPr>
          <p:cNvSpPr txBox="1"/>
          <p:nvPr/>
        </p:nvSpPr>
        <p:spPr>
          <a:xfrm>
            <a:off x="813089" y="6068103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от слова временный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temporary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</a:t>
            </a:r>
          </a:p>
        </p:txBody>
      </p:sp>
    </p:spTree>
    <p:extLst>
      <p:ext uri="{BB962C8B-B14F-4D97-AF65-F5344CB8AC3E}">
        <p14:creationId xmlns:p14="http://schemas.microsoft.com/office/powerpoint/2010/main" val="473134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Bubble sort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47827-71C0-44F0-8DF8-D0E586969D53}"/>
              </a:ext>
            </a:extLst>
          </p:cNvPr>
          <p:cNvSpPr txBox="1"/>
          <p:nvPr/>
        </p:nvSpPr>
        <p:spPr>
          <a:xfrm>
            <a:off x="1921018" y="2083061"/>
            <a:ext cx="83499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ДЛЯ i от 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до n-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ДЛЯ j от 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до n-i-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ЕСЛИ </a:t>
            </a:r>
            <a:r>
              <a:rPr lang="ru-RU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 &gt; </a:t>
            </a:r>
            <a:r>
              <a:rPr lang="ru-RU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[j+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поменять местами </a:t>
            </a:r>
            <a:r>
              <a:rPr lang="ru-RU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 и </a:t>
            </a:r>
            <a:r>
              <a:rPr lang="ru-RU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[j+</a:t>
            </a:r>
            <a:r>
              <a:rPr lang="ru-RU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Визуализация сортировки массива чисел алгоритмом сортировки пузырьком">
            <a:extLst>
              <a:ext uri="{FF2B5EF4-FFF2-40B4-BE49-F238E27FC236}">
                <a16:creationId xmlns:a16="http://schemas.microsoft.com/office/drawing/2014/main" id="{C46A5F77-08E8-4697-B943-9089E275A8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459" y="4337384"/>
            <a:ext cx="3719080" cy="222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98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595007" y="233529"/>
            <a:ext cx="500198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Bubble sort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3F600-0ABF-4D8D-B958-854BE43B30C5}"/>
              </a:ext>
            </a:extLst>
          </p:cNvPr>
          <p:cNvSpPr txBox="1"/>
          <p:nvPr/>
        </p:nvSpPr>
        <p:spPr>
          <a:xfrm>
            <a:off x="1620253" y="1828801"/>
            <a:ext cx="84969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bubble_sort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[size])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size;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size -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 &gt;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 +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 =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 +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 +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C2995-7421-46B2-B1B4-458EB390801B}"/>
              </a:ext>
            </a:extLst>
          </p:cNvPr>
          <p:cNvSpPr txBox="1"/>
          <p:nvPr/>
        </p:nvSpPr>
        <p:spPr>
          <a:xfrm>
            <a:off x="781916" y="6098417"/>
            <a:ext cx="7489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*В функцию </a:t>
            </a:r>
            <a:r>
              <a:rPr lang="ru-RU" b="1" dirty="0"/>
              <a:t>можно передать массив</a:t>
            </a:r>
            <a:r>
              <a:rPr lang="ru-RU" dirty="0"/>
              <a:t>, но из функции </a:t>
            </a:r>
            <a:r>
              <a:rPr lang="ru-RU" b="1" dirty="0"/>
              <a:t>нельзя его вернуть</a:t>
            </a:r>
          </a:p>
        </p:txBody>
      </p:sp>
    </p:spTree>
    <p:extLst>
      <p:ext uri="{BB962C8B-B14F-4D97-AF65-F5344CB8AC3E}">
        <p14:creationId xmlns:p14="http://schemas.microsoft.com/office/powerpoint/2010/main" val="2850235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369003" y="158698"/>
            <a:ext cx="7453992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Insertion Sort</a:t>
            </a:r>
            <a:r>
              <a:rPr lang="ru-RU" dirty="0"/>
              <a:t> (вставками)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736EC2-6F28-40FE-A624-4E4820BABCF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881" y="1776325"/>
            <a:ext cx="7234237" cy="434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110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729221" y="98448"/>
            <a:ext cx="6733557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Selection sort (</a:t>
            </a:r>
            <a:r>
              <a:rPr lang="ru-RU" dirty="0"/>
              <a:t>выбором)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E9B665-9B70-41C7-AA41-F7C9FFEAEF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455" y="1481952"/>
            <a:ext cx="1433946" cy="477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42600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677267" y="181574"/>
            <a:ext cx="6837466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Counting sort (</a:t>
            </a:r>
            <a:r>
              <a:rPr lang="ru-RU" dirty="0"/>
              <a:t>Подсчетом)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CF67C-4C0C-4CF8-9C29-49A701F2D8B8}"/>
              </a:ext>
            </a:extLst>
          </p:cNvPr>
          <p:cNvSpPr txBox="1"/>
          <p:nvPr/>
        </p:nvSpPr>
        <p:spPr>
          <a:xfrm>
            <a:off x="2677267" y="1638823"/>
            <a:ext cx="6837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[i]]++;</a:t>
            </a:r>
          </a:p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 - индекс, </a:t>
            </a:r>
            <a:endParaRPr lang="en-US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массив 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 оригинальный сортируемый массив, 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 массив для подсчета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44CF4C-8185-45D4-A7DB-CCBA32D1AC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3" t="11577" r="2043" b="9485"/>
          <a:stretch/>
        </p:blipFill>
        <p:spPr>
          <a:xfrm>
            <a:off x="2246169" y="3131532"/>
            <a:ext cx="7699662" cy="35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83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827934" y="254311"/>
            <a:ext cx="6536129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Radix sort (</a:t>
            </a:r>
            <a:r>
              <a:rPr lang="ru-RU" dirty="0"/>
              <a:t>поразрядная)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3E23CE-8539-4866-BFDB-FCE066C0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16" y="1984664"/>
            <a:ext cx="10503367" cy="416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4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264353" y="174369"/>
            <a:ext cx="5663293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Quick sort</a:t>
            </a:r>
            <a:r>
              <a:rPr lang="ru-RU" dirty="0"/>
              <a:t> (быстрая)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424CB4-C106-4924-ADEB-146AB0971D7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955" y="4568165"/>
            <a:ext cx="2996045" cy="228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F71EC1-0BA4-46C4-AAB9-BCFE62CF96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11" t="14129" r="13312" b="8390"/>
          <a:stretch/>
        </p:blipFill>
        <p:spPr>
          <a:xfrm>
            <a:off x="147781" y="1485900"/>
            <a:ext cx="9048174" cy="47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779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170835" y="0"/>
            <a:ext cx="5850329" cy="9570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Merge sort (</a:t>
            </a:r>
            <a:r>
              <a:rPr lang="ru-RU" dirty="0"/>
              <a:t>слиянием)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CA28ED-939E-44B5-A55F-44993ED4E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714" y="1112959"/>
            <a:ext cx="58864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72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2807153" y="243920"/>
            <a:ext cx="6577693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Bogo sort (</a:t>
            </a:r>
            <a:r>
              <a:rPr lang="ru-RU" dirty="0"/>
              <a:t>непрактичная)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3AF1A96-76DF-4231-9C29-38D35F29CD2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165" y="1643496"/>
            <a:ext cx="4341668" cy="434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6A9053-CE3A-48D7-A737-A83BFC6DC7E9}"/>
              </a:ext>
            </a:extLst>
          </p:cNvPr>
          <p:cNvSpPr txBox="1"/>
          <p:nvPr/>
        </p:nvSpPr>
        <p:spPr>
          <a:xfrm>
            <a:off x="543356" y="6327876"/>
            <a:ext cx="1131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 такой сортировкой отсортировать массив любого размера можно с 1 раза, однако шанс не велик.. </a:t>
            </a:r>
            <a:r>
              <a:rPr lang="ru-RU" b="1" dirty="0"/>
              <a:t>но он есть</a:t>
            </a:r>
            <a:r>
              <a:rPr lang="ru-RU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704768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сортировки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30B26-B248-4FB5-98D3-5730EE71F6C7}"/>
              </a:ext>
            </a:extLst>
          </p:cNvPr>
          <p:cNvSpPr txBox="1"/>
          <p:nvPr/>
        </p:nvSpPr>
        <p:spPr>
          <a:xfrm>
            <a:off x="2171122" y="2462116"/>
            <a:ext cx="8431563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dirty="0" err="1">
                <a:latin typeface="Times New Roman"/>
              </a:rPr>
              <a:t>Thanos</a:t>
            </a:r>
            <a:r>
              <a:rPr sz="2600" dirty="0">
                <a:latin typeface="Times New Roman"/>
              </a:rPr>
              <a:t> sort - </a:t>
            </a:r>
            <a:r>
              <a:rPr sz="2600" dirty="0" err="1">
                <a:latin typeface="Times New Roman"/>
              </a:rPr>
              <a:t>удаляем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половину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массива</a:t>
            </a:r>
            <a:endParaRPr sz="26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dirty="0">
                <a:latin typeface="Times New Roman"/>
              </a:rPr>
              <a:t>Sleep sort - </a:t>
            </a:r>
            <a:r>
              <a:rPr sz="2600" dirty="0" err="1">
                <a:latin typeface="Times New Roman"/>
              </a:rPr>
              <a:t>число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секунд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сна</a:t>
            </a:r>
            <a:r>
              <a:rPr sz="2600" dirty="0">
                <a:latin typeface="Times New Roman"/>
              </a:rPr>
              <a:t>, </a:t>
            </a:r>
            <a:r>
              <a:rPr sz="2600" dirty="0" err="1">
                <a:latin typeface="Times New Roman"/>
              </a:rPr>
              <a:t>потом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печать</a:t>
            </a:r>
            <a:endParaRPr sz="26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dirty="0">
                <a:latin typeface="Times New Roman"/>
              </a:rPr>
              <a:t>Miracle sort - </a:t>
            </a:r>
            <a:r>
              <a:rPr sz="2600" dirty="0" err="1">
                <a:latin typeface="Times New Roman"/>
              </a:rPr>
              <a:t>ждём</a:t>
            </a:r>
            <a:r>
              <a:rPr sz="2600" dirty="0">
                <a:latin typeface="Times New Roman"/>
              </a:rPr>
              <a:t>, </a:t>
            </a:r>
            <a:r>
              <a:rPr sz="2600" dirty="0" err="1">
                <a:latin typeface="Times New Roman"/>
              </a:rPr>
              <a:t>вдруг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отсортируется</a:t>
            </a:r>
            <a:endParaRPr sz="26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dirty="0">
                <a:latin typeface="Times New Roman"/>
              </a:rPr>
              <a:t>Quantum </a:t>
            </a:r>
            <a:r>
              <a:rPr sz="2600" dirty="0" err="1">
                <a:latin typeface="Times New Roman"/>
              </a:rPr>
              <a:t>bogosort</a:t>
            </a:r>
            <a:r>
              <a:rPr sz="2600" dirty="0">
                <a:latin typeface="Times New Roman"/>
              </a:rPr>
              <a:t> - </a:t>
            </a:r>
            <a:r>
              <a:rPr sz="2600" dirty="0" err="1">
                <a:latin typeface="Times New Roman"/>
              </a:rPr>
              <a:t>все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перестановки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во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всех</a:t>
            </a:r>
            <a:r>
              <a:rPr sz="2600" dirty="0">
                <a:latin typeface="Times New Roman"/>
              </a:rPr>
              <a:t> </a:t>
            </a:r>
            <a:r>
              <a:rPr sz="2600" dirty="0" err="1">
                <a:latin typeface="Times New Roman"/>
              </a:rPr>
              <a:t>вселенных</a:t>
            </a:r>
            <a:endParaRPr lang="en-US" sz="26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600" dirty="0">
                <a:latin typeface="Times New Roman"/>
              </a:rPr>
              <a:t>...</a:t>
            </a:r>
            <a:endParaRPr sz="2600" dirty="0">
              <a:latin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166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t>Окно и префиксные суммы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30B26-B248-4FB5-98D3-5730EE71F6C7}"/>
              </a:ext>
            </a:extLst>
          </p:cNvPr>
          <p:cNvSpPr txBox="1"/>
          <p:nvPr/>
        </p:nvSpPr>
        <p:spPr>
          <a:xfrm>
            <a:off x="1159271" y="2080410"/>
            <a:ext cx="987345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 err="1">
                <a:latin typeface="Times New Roman"/>
              </a:rPr>
              <a:t>Кофейня</a:t>
            </a:r>
            <a:r>
              <a:rPr sz="2800" dirty="0">
                <a:latin typeface="Times New Roman"/>
              </a:rPr>
              <a:t>: </a:t>
            </a:r>
            <a:r>
              <a:rPr sz="2800" dirty="0" err="1">
                <a:latin typeface="Times New Roman"/>
              </a:rPr>
              <a:t>какие</a:t>
            </a:r>
            <a:r>
              <a:rPr sz="2800" dirty="0">
                <a:latin typeface="Times New Roman"/>
              </a:rPr>
              <a:t> 3 </a:t>
            </a:r>
            <a:r>
              <a:rPr sz="2800" dirty="0" err="1">
                <a:latin typeface="Times New Roman"/>
              </a:rPr>
              <a:t>дня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подряд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дали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больше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всего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выручки</a:t>
            </a:r>
            <a:r>
              <a:rPr sz="2800" dirty="0">
                <a:latin typeface="Times New Roman"/>
              </a:rPr>
              <a:t>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>
                <a:latin typeface="Times New Roman"/>
              </a:rPr>
              <a:t>В </a:t>
            </a:r>
            <a:r>
              <a:rPr sz="2800" dirty="0" err="1">
                <a:latin typeface="Times New Roman"/>
              </a:rPr>
              <a:t>лоб</a:t>
            </a:r>
            <a:r>
              <a:rPr sz="2800" dirty="0">
                <a:latin typeface="Times New Roman"/>
              </a:rPr>
              <a:t> - </a:t>
            </a:r>
            <a:r>
              <a:rPr sz="2800" dirty="0" err="1">
                <a:latin typeface="Times New Roman"/>
              </a:rPr>
              <a:t>складывать</a:t>
            </a:r>
            <a:r>
              <a:rPr sz="2800" dirty="0">
                <a:latin typeface="Times New Roman"/>
              </a:rPr>
              <a:t> 3 </a:t>
            </a:r>
            <a:r>
              <a:rPr sz="2800" dirty="0" err="1">
                <a:latin typeface="Times New Roman"/>
              </a:rPr>
              <a:t>числа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на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каждую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позицию</a:t>
            </a:r>
            <a:r>
              <a:rPr sz="2800" dirty="0">
                <a:latin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 err="1">
                <a:latin typeface="Times New Roman"/>
              </a:rPr>
              <a:t>Сдвинули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окно</a:t>
            </a:r>
            <a:r>
              <a:rPr sz="2800" dirty="0">
                <a:latin typeface="Times New Roman"/>
              </a:rPr>
              <a:t>: </a:t>
            </a:r>
            <a:r>
              <a:rPr sz="2800" dirty="0" err="1">
                <a:latin typeface="Times New Roman"/>
              </a:rPr>
              <a:t>ушёл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старый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день</a:t>
            </a:r>
            <a:r>
              <a:rPr sz="2800" dirty="0">
                <a:latin typeface="Times New Roman"/>
              </a:rPr>
              <a:t>, </a:t>
            </a:r>
            <a:r>
              <a:rPr sz="2800" dirty="0" err="1">
                <a:latin typeface="Times New Roman"/>
              </a:rPr>
              <a:t>пришёл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новый</a:t>
            </a:r>
            <a:r>
              <a:rPr sz="2800" dirty="0">
                <a:latin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 err="1">
                <a:latin typeface="Times New Roman"/>
              </a:rPr>
              <a:t>Префиксные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суммы</a:t>
            </a:r>
            <a:r>
              <a:rPr sz="2800" dirty="0">
                <a:latin typeface="Times New Roman"/>
              </a:rPr>
              <a:t> - </a:t>
            </a:r>
            <a:r>
              <a:rPr sz="2800" dirty="0" err="1">
                <a:latin typeface="Times New Roman"/>
              </a:rPr>
              <a:t>накопительный</a:t>
            </a:r>
            <a:r>
              <a:rPr sz="2800" dirty="0">
                <a:latin typeface="Times New Roman"/>
              </a:rPr>
              <a:t> </a:t>
            </a:r>
            <a:r>
              <a:rPr sz="2800" dirty="0" err="1">
                <a:latin typeface="Times New Roman"/>
              </a:rPr>
              <a:t>итог</a:t>
            </a:r>
            <a:r>
              <a:rPr sz="2800" dirty="0">
                <a:latin typeface="Times New Roman"/>
              </a:rPr>
              <a:t>, </a:t>
            </a:r>
            <a:r>
              <a:rPr sz="2800" dirty="0" err="1">
                <a:latin typeface="Times New Roman"/>
              </a:rPr>
              <a:t>как</a:t>
            </a:r>
            <a:r>
              <a:rPr sz="2800" dirty="0">
                <a:latin typeface="Times New Roman"/>
              </a:rPr>
              <a:t> в </a:t>
            </a:r>
            <a:r>
              <a:rPr sz="2800" dirty="0" err="1">
                <a:latin typeface="Times New Roman"/>
              </a:rPr>
              <a:t>чеке</a:t>
            </a:r>
            <a:r>
              <a:rPr sz="2800" dirty="0">
                <a:latin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800" dirty="0" err="1">
                <a:latin typeface="Times New Roman"/>
              </a:rPr>
              <a:t>Дни</a:t>
            </a:r>
            <a:r>
              <a:rPr sz="2800" dirty="0">
                <a:latin typeface="Times New Roman"/>
              </a:rPr>
              <a:t> 2..4: prefix[4] - prefix[1] = 6400 - 1500 = 4900</a:t>
            </a:r>
            <a:endParaRPr lang="en-US" sz="28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Times New Roman"/>
              </a:rPr>
              <a:t>5_arrays/</a:t>
            </a:r>
            <a:r>
              <a:rPr lang="en-US" sz="2800" dirty="0" err="1">
                <a:latin typeface="Times New Roman"/>
              </a:rPr>
              <a:t>src</a:t>
            </a:r>
            <a:r>
              <a:rPr lang="en-US" sz="2800" dirty="0">
                <a:latin typeface="Times New Roman"/>
              </a:rPr>
              <a:t>/</a:t>
            </a:r>
            <a:r>
              <a:rPr lang="en-US" sz="2800" dirty="0" err="1">
                <a:latin typeface="Times New Roman"/>
              </a:rPr>
              <a:t>array_advanced.c</a:t>
            </a:r>
            <a:endParaRPr sz="2800" dirty="0">
              <a:latin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2283</TotalTime>
  <Words>3431</Words>
  <Application>Microsoft Office PowerPoint</Application>
  <PresentationFormat>Широкоэкранный</PresentationFormat>
  <Paragraphs>396</Paragraphs>
  <Slides>56</Slides>
  <Notes>44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Times New Roman</vt:lpstr>
      <vt:lpstr>Office Theme</vt:lpstr>
      <vt:lpstr>C Programming 5_arrays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645</cp:revision>
  <dcterms:created xsi:type="dcterms:W3CDTF">2019-12-17T14:15:21Z</dcterms:created>
  <dcterms:modified xsi:type="dcterms:W3CDTF">2026-09-29T18:38:27Z</dcterms:modified>
</cp:coreProperties>
</file>